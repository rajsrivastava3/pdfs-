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Budget</c:v>
                </c:pt>
              </c:strCache>
            </c:strRef>
          </c:tx>
          <c:dPt>
            <c:idx val="0"/>
            <c:spPr>
              <a:solidFill>
                <a:srgbClr val="0071C1"/>
              </a:solidFill>
              <a:ln w="25400">
                <a:solidFill>
                  <a:srgbClr val="FFFFFF"/>
                </a:solidFill>
              </a:ln>
            </c:spPr>
          </c:dPt>
          <c:dPt>
            <c:idx val="1"/>
            <c:spPr>
              <a:solidFill>
                <a:srgbClr val="ED7D31"/>
              </a:solidFill>
              <a:ln w="25400">
                <a:solidFill>
                  <a:srgbClr val="FFFFFF"/>
                </a:solidFill>
              </a:ln>
            </c:spPr>
          </c:dPt>
          <c:dPt>
            <c:idx val="2"/>
            <c:spPr>
              <a:solidFill>
                <a:srgbClr val="1B3A4B"/>
              </a:solidFill>
              <a:ln w="25400">
                <a:solidFill>
                  <a:srgbClr val="FFFFFF"/>
                </a:solidFill>
              </a:ln>
            </c:spPr>
          </c:dPt>
          <c:dPt>
            <c:idx val="3"/>
            <c:spPr>
              <a:solidFill>
                <a:srgbClr val="A6A6A6"/>
              </a:solidFill>
              <a:ln w="25400">
                <a:solidFill>
                  <a:srgbClr val="FFFFFF"/>
                </a:solidFill>
              </a:ln>
            </c:spPr>
          </c:dPt>
          <c:dPt>
            <c:idx val="4"/>
            <c:spPr>
              <a:solidFill>
                <a:srgbClr val="FFC000"/>
              </a:solidFill>
              <a:ln w="25400">
                <a:solidFill>
                  <a:srgbClr val="FFFFFF"/>
                </a:solidFill>
              </a:ln>
            </c:spPr>
          </c:dPt>
          <c:cat>
            <c:strRef>
              <c:f>Sheet1!$A$2:$A$6</c:f>
              <c:strCache>
                <c:ptCount val="5"/>
                <c:pt idx="0">
                  <c:v>Project assistants</c:v>
                </c:pt>
                <c:pt idx="1">
                  <c:v>Equipment</c:v>
                </c:pt>
                <c:pt idx="2">
                  <c:v>Consumables</c:v>
                </c:pt>
                <c:pt idx="3">
                  <c:v>Contingency</c:v>
                </c:pt>
                <c:pt idx="4">
                  <c:v>Travel</c:v>
                </c:pt>
              </c:strCache>
            </c:strRef>
          </c:cat>
          <c:val>
            <c:numRef>
              <c:f>Sheet1!$B$2:$B$6</c:f>
              <c:numCache>
                <c:formatCode>General</c:formatCode>
                <c:ptCount val="5"/>
                <c:pt idx="0">
                  <c:v>7.2</c:v>
                </c:pt>
                <c:pt idx="1">
                  <c:v>3.5</c:v>
                </c:pt>
                <c:pt idx="2">
                  <c:v>1.5</c:v>
                </c:pt>
                <c:pt idx="3">
                  <c:v>1.5</c:v>
                </c:pt>
                <c:pt idx="4">
                  <c:v>1.3</c:v>
                </c:pt>
              </c:numCache>
            </c:numRef>
          </c:val>
        </c:ser>
        <c:dLbls>
          <c:showLegendKey val="0"/>
          <c:showVal val="0"/>
          <c:showCatName val="0"/>
          <c:showSerName val="0"/>
          <c:showPercent val="0"/>
          <c:showBubbleSize val="0"/>
          <c:showLeaderLines val="1"/>
        </c:dLbls>
        <c:firstSliceAng val="0"/>
        <c:holeSize val="62"/>
      </c:doughnutChart>
    </c:plotArea>
    <c:plotVisOnly val="1"/>
    <c:dispBlanksAs val="gap"/>
    <c:showDLblsOverMax val="0"/>
  </c:chart>
  <c:txPr>
    <a:bodyPr/>
    <a:lstStyle/>
    <a:p>
      <a:pPr>
        <a:defRPr sz="1800"/>
      </a:pPr>
      <a:endParaR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project in one line: a hybrid link that carries live video on free-space optics and keeps an alert path on LoRa for underground mines. The ask is ₹15 lakh for 24 months, taking the work from TRL 2 to TRL 5. An industry letter is not attached; the plan for getting one is on slide 11. An auto-tracking FSO prototype already exists in the department and is the starting point.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objective once, then the four boxes. The existing auto-tracking prototype is the base for the second objective. The last box is the limit of this grant: a lab prototype and a test in a tunnel-like or underground setting. A trial in a working mine comes after that.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Mines today use wired phones, leaky-feeder cable and low-rate radio. These are fine for voice on an intact drift. When a fall or water cuts the cable, the link goes with it, and none of them shows the face. Wi-Fi and LTE do not pass through rock. So the need is a link that carries video where there is line of sight and still sends an alert when the cable or the beam is lost.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 down the last column. A cable reaches the surface until it is cut. LoRa can carry an alert but not video. FSO can carry video but loses it when the beam moves. This proposal combines the two and keeps the beam aligned with a feedback loop. It is a system for one heading, not a replacement for voice across the whole mine. The focus area is 4S Mining, shown in the four tiles at the bottom.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time on cards 2 and 3. They answer the usual question of how free-space optics can work underground: the beam runs along the open tunnel for 50 to 100 m and the next node picks it up. The IMU mount deals with misalignment, and a first version already runs in the department. Cards 1, 4 and 5 are the hybrid architecture, video as a safety tool, and the cyber-physical design.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Fig. 1 from the proposal. Walk through it from left to right. Each underground node has a laser, an IMU, a motorized alignment mount and a LoRa module. The orange beam between nodes carries the video, 50 to 100 m per hop. The dotted LoRa link carries control signals and alerts to the surface base station. If a hop is blocked, the video on that hop stops but the alert still arrives. Bit rate and latency targets will be fixed in the first three months, once the camera and laser are chosen.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camera node packs one JPEG into a small frame: start mark, length, sequence number, the JPEG and a CRC. The Pi sends it over UART to a 650 nm laser that is switched on and off with the bits. At the relay, a photodiode, amplifier and comparator turn the light back into bits. A second Pi checks the CRC, keeps the JPEG and sends the same frame out on its own laser. The relay does not amplify the light; it rebuilds the picture. The base does the same and shows the JPEG on a screen. Three separate jobs: the laser carries the JPEG, the IMU holds the camera head at its angle, and LoRa sends five-byte messages such as lock, lost and alert.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working auto-tracking FSO unit in our laboratory. We will reuse it instead of starting alignment from scratch. The grant adds video, LoRa, relay nodes, a surface station and an enclosure for the underground trial. The first milestone is a bench setup: camera node, one new relay and a base, 2 to 5 m apart. The relay laser is aimed by hand and the IMU loop is off for the first JPEG. If the picture appears on the base screen, both hops work. Quote a range or accuracy for the existing unit only if we have the measured number.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the gates rather than every row: month 3 hardware, month 7 architecture, month 11 tracking, month 16 integrated prototype, month 19 lab validation, month 22 tunnel-like test, month 24 report and patent filing. Point at row 3 (tracking reuses the existing prototype) and row 6 (the tunnel test depends on the lab results). The three risks at the bottom are from the proposal: LoRa backup with modular hardware, phased testing, and conservative budget margins.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TRL numbers exact. The integrated system is at TRL 2 today. The auto-tracking unit is a working subsystem, not the whole link. The target at month 24 is TRL 5, a tunnel-like or underground test. TRL 6 needs a partner or TEXMiN test mine and is outside this grant. What we will measure: hop length against 50 to 100 m, video continuity, time to realign, whether the alert arrives when the beam is blocked, and energy per node.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first: an industry letter is not attached. The plan is to find an underground operator and a mine-communication maker in months 1 to 6, hold a workshop with their engineer in months 6 to 12 so that mounting, power, dust and gas-zone limits are known before the enclosure is frozen, and run the trial with them present in months 18 to 22. Avoid naming any company as a partner. From TEXMiN we ask for mentorship on standards, commercialization guidance and test-mine access if possible. Regulatory clearance is taken before any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trial gives four measurements: video continuity, alert delivery when the hop is cut, time to realign, and energy per node. We do not yet have figures for lives saved, downtime or rupee savings, so none are quoted. The commercial path is this grant, a supervised pilot, a licence or FTBI incubation, and then growth by adding hops. Video analytics, gas-trend monitoring and drone or robot nodes are future work and are not part of the 24-month deliverables.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line on credibility: the PI works on optical links and hardware testbeds, with two ongoing DoT/TCoE 6G projects and a published Indian patent application. There is no mining co-PI. Mining practice will come from TEXMiN mentors and from the industry engineer in the month-6 workshop. Two project assistants: one for hardware, one for software.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Total ₹15 lakh with no institute overhead. Year 1 is 7.60 and year 2 is 7.40. The two project assistants are the largest head at 7.20 lakh, because this is a build project. Equipment is 3.50 lakh, consumables 1.50, contingency 1.50 and travel 1.30, which is higher in year 2 for the tunnel trials. Gas, temperature and humidity sensors are covered within equipment and consumables.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request once and invite questions. Likely questions and short answers. Industry letter: not in the file; the plan is on slide 11. Why FSO underground: the beam runs down the open tunnel for 50 to 100 m and relays follow the heading. Leaky feeder: still useful for voice; this adds a picture and an alert path on one heading. TRL: the integrated system is TRL 2, the target is TRL 5, and TRL 6 needs a partner site. Laser safety: power, enclosure and exposure are part of the month-6 workshop, with clearance before any deployment. Audio: the new capacity is live video; LoRa carries alerts and control.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jp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9.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4.jpg"/><Relationship Id="rId8" Type="http://schemas.openxmlformats.org/officeDocument/2006/relationships/image" Target="../media/image6.png"/><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2.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9.png"/><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4.png"/><Relationship Id="rId4" Type="http://schemas.openxmlformats.org/officeDocument/2006/relationships/image" Target="../media/image7.png"/><Relationship Id="rId5" Type="http://schemas.openxmlformats.org/officeDocument/2006/relationships/image" Target="../media/image10.png"/><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9.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Top rule"/>
          <p:cNvSpPr/>
          <p:nvPr/>
        </p:nvSpPr>
        <p:spPr>
          <a:xfrm>
            <a:off x="0" y="0"/>
            <a:ext cx="12191695" cy="73152"/>
          </a:xfrm>
          <a:prstGeom prst="rect">
            <a:avLst/>
          </a:prstGeom>
          <a:solidFill>
            <a:srgbClr val="1B3A4B"/>
          </a:solidFill>
          <a:ln>
            <a:noFill/>
          </a:ln>
        </p:spPr>
        <p:txBody>
          <a:bodyPr rtlCol="0" anchor="ctr"/>
          <a:lstStyle/>
          <a:p>
            <a:pPr algn="ctr"/>
          </a:p>
        </p:txBody>
      </p:sp>
      <p:pic>
        <p:nvPicPr>
          <p:cNvPr id="4" name="Picture" descr="NIT Rourkela logo"/>
          <p:cNvPicPr>
            <a:picLocks noChangeAspect="1"/>
          </p:cNvPicPr>
          <p:nvPr/>
        </p:nvPicPr>
        <p:blipFill>
          <a:blip r:embed="rId2"/>
          <a:stretch>
            <a:fillRect/>
          </a:stretch>
        </p:blipFill>
        <p:spPr>
          <a:xfrm>
            <a:off x="411480" y="256032"/>
            <a:ext cx="740664" cy="713232"/>
          </a:xfrm>
          <a:prstGeom prst="rect">
            <a:avLst/>
          </a:prstGeom>
        </p:spPr>
      </p:pic>
      <p:pic>
        <p:nvPicPr>
          <p:cNvPr id="5" name="Picture" descr="FTBI logo"/>
          <p:cNvPicPr>
            <a:picLocks noChangeAspect="1"/>
          </p:cNvPicPr>
          <p:nvPr/>
        </p:nvPicPr>
        <p:blipFill>
          <a:blip r:embed="rId3"/>
          <a:stretch>
            <a:fillRect/>
          </a:stretch>
        </p:blipFill>
        <p:spPr>
          <a:xfrm>
            <a:off x="1325880" y="292608"/>
            <a:ext cx="566928" cy="658368"/>
          </a:xfrm>
          <a:prstGeom prst="rect">
            <a:avLst/>
          </a:prstGeom>
        </p:spPr>
      </p:pic>
      <p:pic>
        <p:nvPicPr>
          <p:cNvPr id="6" name="Picture" descr="TEXMiN logo"/>
          <p:cNvPicPr>
            <a:picLocks noChangeAspect="1"/>
          </p:cNvPicPr>
          <p:nvPr/>
        </p:nvPicPr>
        <p:blipFill>
          <a:blip r:embed="rId4"/>
          <a:stretch>
            <a:fillRect/>
          </a:stretch>
        </p:blipFill>
        <p:spPr>
          <a:xfrm>
            <a:off x="9646920" y="292608"/>
            <a:ext cx="2002536" cy="640080"/>
          </a:xfrm>
          <a:prstGeom prst="rect">
            <a:avLst/>
          </a:prstGeom>
        </p:spPr>
      </p:pic>
      <p:sp>
        <p:nvSpPr>
          <p:cNvPr id="7" name="TextBox 6"/>
          <p:cNvSpPr txBox="1"/>
          <p:nvPr/>
        </p:nvSpPr>
        <p:spPr>
          <a:xfrm>
            <a:off x="457200" y="1143000"/>
            <a:ext cx="6400800" cy="274320"/>
          </a:xfrm>
          <a:prstGeom prst="rect">
            <a:avLst/>
          </a:prstGeom>
          <a:noFill/>
        </p:spPr>
        <p:txBody>
          <a:bodyPr wrap="square" lIns="45720" rIns="45720" tIns="27432" bIns="27432" anchor="t">
            <a:spAutoFit/>
          </a:bodyPr>
          <a:lstStyle/>
          <a:p>
            <a:pPr algn="l"/>
            <a:r>
              <a:rPr sz="1300" b="1" i="0">
                <a:solidFill>
                  <a:srgbClr val="B5740A"/>
                </a:solidFill>
                <a:latin typeface="Calibri"/>
              </a:rPr>
              <a:t>TECHNOLOGY DEVELOPMENT PROPOSAL    ·    FTBI–TEXMiN MINING CPS CoE</a:t>
            </a:r>
          </a:p>
        </p:txBody>
      </p:sp>
      <p:sp>
        <p:nvSpPr>
          <p:cNvPr id="8" name="TextBox 7"/>
          <p:cNvSpPr txBox="1"/>
          <p:nvPr/>
        </p:nvSpPr>
        <p:spPr>
          <a:xfrm>
            <a:off x="438912" y="1508760"/>
            <a:ext cx="6126480" cy="2103120"/>
          </a:xfrm>
          <a:prstGeom prst="rect">
            <a:avLst/>
          </a:prstGeom>
          <a:noFill/>
        </p:spPr>
        <p:txBody>
          <a:bodyPr wrap="square" lIns="45720" rIns="45720" tIns="27432" bIns="27432" anchor="t">
            <a:spAutoFit/>
          </a:bodyPr>
          <a:lstStyle/>
          <a:p>
            <a:pPr algn="l"/>
            <a:r>
              <a:rPr sz="3200" b="1" i="0">
                <a:solidFill>
                  <a:srgbClr val="1B3A4B"/>
                </a:solidFill>
                <a:latin typeface="Calibri"/>
              </a:rPr>
              <a:t>Underground Audio/Video</a:t>
            </a:r>
          </a:p>
          <a:p>
            <a:pPr algn="l"/>
            <a:r>
              <a:rPr sz="3200" b="1" i="0">
                <a:solidFill>
                  <a:srgbClr val="1B3A4B"/>
                </a:solidFill>
                <a:latin typeface="Calibri"/>
              </a:rPr>
              <a:t>Communication System</a:t>
            </a:r>
          </a:p>
          <a:p>
            <a:pPr algn="l"/>
            <a:r>
              <a:rPr sz="3200" b="1" i="0">
                <a:solidFill>
                  <a:srgbClr val="1B3A4B"/>
                </a:solidFill>
                <a:latin typeface="Calibri"/>
              </a:rPr>
              <a:t>for Miner Safety</a:t>
            </a:r>
          </a:p>
          <a:p>
            <a:pPr algn="l"/>
            <a:r>
              <a:rPr sz="3200" b="1" i="0">
                <a:solidFill>
                  <a:srgbClr val="1B3A4B"/>
                </a:solidFill>
                <a:latin typeface="Calibri"/>
              </a:rPr>
              <a:t>and Monitoring</a:t>
            </a:r>
          </a:p>
        </p:txBody>
      </p:sp>
      <p:sp>
        <p:nvSpPr>
          <p:cNvPr id="9" name="TextBox 8"/>
          <p:cNvSpPr txBox="1"/>
          <p:nvPr/>
        </p:nvSpPr>
        <p:spPr>
          <a:xfrm>
            <a:off x="457200" y="3840480"/>
            <a:ext cx="5852160" cy="731520"/>
          </a:xfrm>
          <a:prstGeom prst="rect">
            <a:avLst/>
          </a:prstGeom>
          <a:noFill/>
        </p:spPr>
        <p:txBody>
          <a:bodyPr wrap="square" lIns="45720" rIns="45720" tIns="27432" bIns="27432" anchor="t">
            <a:spAutoFit/>
          </a:bodyPr>
          <a:lstStyle/>
          <a:p>
            <a:pPr algn="l"/>
            <a:r>
              <a:rPr sz="1700" b="0" i="0">
                <a:solidFill>
                  <a:srgbClr val="1C2430"/>
                </a:solidFill>
                <a:latin typeface="Calibri"/>
              </a:rPr>
              <a:t>Hybrid free-space optical and LoRa communication for real-time video and emergency alerts in underground mines.</a:t>
            </a:r>
          </a:p>
        </p:txBody>
      </p:sp>
      <p:sp>
        <p:nvSpPr>
          <p:cNvPr id="10" name="Rectangle 9"/>
          <p:cNvSpPr/>
          <p:nvPr/>
        </p:nvSpPr>
        <p:spPr>
          <a:xfrm>
            <a:off x="6720840" y="1188720"/>
            <a:ext cx="5029200" cy="566928"/>
          </a:xfrm>
          <a:prstGeom prst="rect">
            <a:avLst/>
          </a:prstGeom>
          <a:solidFill>
            <a:srgbClr val="F2F7FB"/>
          </a:solidFill>
          <a:ln>
            <a:noFill/>
          </a:ln>
        </p:spPr>
        <p:txBody>
          <a:bodyPr rtlCol="0" anchor="ctr"/>
          <a:lstStyle/>
          <a:p>
            <a:pPr algn="ctr"/>
          </a:p>
        </p:txBody>
      </p:sp>
      <p:sp>
        <p:nvSpPr>
          <p:cNvPr id="11" name="Rectangle 10"/>
          <p:cNvSpPr/>
          <p:nvPr/>
        </p:nvSpPr>
        <p:spPr>
          <a:xfrm>
            <a:off x="6720840" y="1755648"/>
            <a:ext cx="5029200" cy="73152"/>
          </a:xfrm>
          <a:prstGeom prst="rect">
            <a:avLst/>
          </a:prstGeom>
          <a:solidFill>
            <a:srgbClr val="7C9A5B"/>
          </a:solidFill>
          <a:ln>
            <a:noFill/>
          </a:ln>
        </p:spPr>
        <p:txBody>
          <a:bodyPr rtlCol="0" anchor="ctr"/>
          <a:lstStyle/>
          <a:p>
            <a:pPr algn="ctr"/>
          </a:p>
        </p:txBody>
      </p:sp>
      <p:pic>
        <p:nvPicPr>
          <p:cNvPr id="12" name="Picture" descr="Rock texture"/>
          <p:cNvPicPr>
            <a:picLocks noChangeAspect="1"/>
          </p:cNvPicPr>
          <p:nvPr/>
        </p:nvPicPr>
        <p:blipFill>
          <a:blip r:embed="rId5"/>
          <a:srcRect t="9642" b="30876"/>
          <a:stretch>
            <a:fillRect/>
          </a:stretch>
        </p:blipFill>
        <p:spPr>
          <a:xfrm>
            <a:off x="6720840" y="1828800"/>
            <a:ext cx="5029200" cy="502920"/>
          </a:xfrm>
          <a:prstGeom prst="rect">
            <a:avLst/>
          </a:prstGeom>
        </p:spPr>
      </p:pic>
      <p:sp>
        <p:nvSpPr>
          <p:cNvPr id="13" name="Rectangle 12"/>
          <p:cNvSpPr/>
          <p:nvPr/>
        </p:nvSpPr>
        <p:spPr>
          <a:xfrm>
            <a:off x="6720840" y="2331720"/>
            <a:ext cx="5029200" cy="1691640"/>
          </a:xfrm>
          <a:prstGeom prst="rect">
            <a:avLst/>
          </a:prstGeom>
          <a:solidFill>
            <a:srgbClr val="F4F1EC"/>
          </a:solidFill>
          <a:ln>
            <a:noFill/>
          </a:ln>
        </p:spPr>
        <p:txBody>
          <a:bodyPr rtlCol="0" anchor="ctr"/>
          <a:lstStyle/>
          <a:p>
            <a:pPr algn="ctr"/>
          </a:p>
        </p:txBody>
      </p:sp>
      <p:sp>
        <p:nvSpPr>
          <p:cNvPr id="14" name="Rectangle 13"/>
          <p:cNvSpPr/>
          <p:nvPr/>
        </p:nvSpPr>
        <p:spPr>
          <a:xfrm>
            <a:off x="6720840" y="3941064"/>
            <a:ext cx="5029200" cy="82296"/>
          </a:xfrm>
          <a:prstGeom prst="rect">
            <a:avLst/>
          </a:prstGeom>
          <a:solidFill>
            <a:srgbClr val="D8D2C6"/>
          </a:solidFill>
          <a:ln>
            <a:noFill/>
          </a:ln>
        </p:spPr>
        <p:txBody>
          <a:bodyPr rtlCol="0" anchor="ctr"/>
          <a:lstStyle/>
          <a:p>
            <a:pPr algn="ctr"/>
          </a:p>
        </p:txBody>
      </p:sp>
      <p:sp>
        <p:nvSpPr>
          <p:cNvPr id="15" name="Rectangle 14"/>
          <p:cNvSpPr/>
          <p:nvPr/>
        </p:nvSpPr>
        <p:spPr>
          <a:xfrm>
            <a:off x="6720840" y="2331720"/>
            <a:ext cx="5029200" cy="36576"/>
          </a:xfrm>
          <a:prstGeom prst="rect">
            <a:avLst/>
          </a:prstGeom>
          <a:solidFill>
            <a:srgbClr val="7A6350"/>
          </a:solidFill>
          <a:ln>
            <a:noFill/>
          </a:ln>
        </p:spPr>
        <p:txBody>
          <a:bodyPr rtlCol="0" anchor="ctr"/>
          <a:lstStyle/>
          <a:p>
            <a:pPr algn="ctr"/>
          </a:p>
        </p:txBody>
      </p:sp>
      <p:pic>
        <p:nvPicPr>
          <p:cNvPr id="16" name="Picture" descr="Rock texture"/>
          <p:cNvPicPr>
            <a:picLocks noChangeAspect="1"/>
          </p:cNvPicPr>
          <p:nvPr/>
        </p:nvPicPr>
        <p:blipFill>
          <a:blip r:embed="rId5"/>
          <a:srcRect t="7960" b="27150"/>
          <a:stretch>
            <a:fillRect/>
          </a:stretch>
        </p:blipFill>
        <p:spPr>
          <a:xfrm>
            <a:off x="6720840" y="4023360"/>
            <a:ext cx="5029200" cy="548640"/>
          </a:xfrm>
          <a:prstGeom prst="rect">
            <a:avLst/>
          </a:prstGeom>
        </p:spPr>
      </p:pic>
      <p:cxnSp>
        <p:nvCxnSpPr>
          <p:cNvPr id="17" name="Connector 16"/>
          <p:cNvCxnSpPr/>
          <p:nvPr/>
        </p:nvCxnSpPr>
        <p:spPr>
          <a:xfrm flipH="1">
            <a:off x="11122761" y="1024127"/>
            <a:ext cx="124359" cy="731521"/>
          </a:xfrm>
          <a:prstGeom prst="line">
            <a:avLst/>
          </a:prstGeom>
          <a:ln w="31750">
            <a:solidFill>
              <a:srgbClr val="1A1A1A"/>
            </a:solidFill>
          </a:ln>
        </p:spPr>
      </p:cxnSp>
      <p:cxnSp>
        <p:nvCxnSpPr>
          <p:cNvPr id="18" name="Connector 17"/>
          <p:cNvCxnSpPr/>
          <p:nvPr/>
        </p:nvCxnSpPr>
        <p:spPr>
          <a:xfrm>
            <a:off x="11247120" y="1024127"/>
            <a:ext cx="124358" cy="731521"/>
          </a:xfrm>
          <a:prstGeom prst="line">
            <a:avLst/>
          </a:prstGeom>
          <a:ln w="31750">
            <a:solidFill>
              <a:srgbClr val="1A1A1A"/>
            </a:solidFill>
          </a:ln>
        </p:spPr>
      </p:cxnSp>
      <p:cxnSp>
        <p:nvCxnSpPr>
          <p:cNvPr id="19" name="Connector 18"/>
          <p:cNvCxnSpPr/>
          <p:nvPr/>
        </p:nvCxnSpPr>
        <p:spPr>
          <a:xfrm>
            <a:off x="11173968" y="1536192"/>
            <a:ext cx="146304" cy="0"/>
          </a:xfrm>
          <a:prstGeom prst="line">
            <a:avLst/>
          </a:prstGeom>
          <a:ln w="19050">
            <a:solidFill>
              <a:srgbClr val="1A1A1A"/>
            </a:solidFill>
          </a:ln>
        </p:spPr>
      </p:cxnSp>
      <p:cxnSp>
        <p:nvCxnSpPr>
          <p:cNvPr id="20" name="Connector 19"/>
          <p:cNvCxnSpPr/>
          <p:nvPr/>
        </p:nvCxnSpPr>
        <p:spPr>
          <a:xfrm>
            <a:off x="11203228" y="1316736"/>
            <a:ext cx="87783" cy="0"/>
          </a:xfrm>
          <a:prstGeom prst="line">
            <a:avLst/>
          </a:prstGeom>
          <a:ln w="19050">
            <a:solidFill>
              <a:srgbClr val="1A1A1A"/>
            </a:solidFill>
          </a:ln>
        </p:spPr>
      </p:cxnSp>
      <p:sp>
        <p:nvSpPr>
          <p:cNvPr id="21" name="Oval 20"/>
          <p:cNvSpPr/>
          <p:nvPr/>
        </p:nvSpPr>
        <p:spPr>
          <a:xfrm>
            <a:off x="11195913" y="972921"/>
            <a:ext cx="102412" cy="102412"/>
          </a:xfrm>
          <a:prstGeom prst="ellipse">
            <a:avLst/>
          </a:prstGeom>
          <a:solidFill>
            <a:srgbClr val="E8445A"/>
          </a:solidFill>
          <a:ln>
            <a:noFill/>
          </a:ln>
        </p:spPr>
        <p:txBody>
          <a:bodyPr rtlCol="0" anchor="ctr"/>
          <a:lstStyle/>
          <a:p>
            <a:pPr algn="ctr"/>
          </a:p>
        </p:txBody>
      </p:sp>
      <p:pic>
        <p:nvPicPr>
          <p:cNvPr id="22" name="Picture" descr="Camera head on a tripod, laser facing right"/>
          <p:cNvPicPr>
            <a:picLocks noChangeAspect="1"/>
          </p:cNvPicPr>
          <p:nvPr/>
        </p:nvPicPr>
        <p:blipFill>
          <a:blip r:embed="rId6"/>
          <a:stretch>
            <a:fillRect/>
          </a:stretch>
        </p:blipFill>
        <p:spPr>
          <a:xfrm>
            <a:off x="7055192" y="2752344"/>
            <a:ext cx="702895" cy="1188720"/>
          </a:xfrm>
          <a:prstGeom prst="rect">
            <a:avLst/>
          </a:prstGeom>
        </p:spPr>
      </p:pic>
      <p:pic>
        <p:nvPicPr>
          <p:cNvPr id="23" name="Picture" descr="Camera head on a tripod, laser facing left"/>
          <p:cNvPicPr>
            <a:picLocks noChangeAspect="1"/>
          </p:cNvPicPr>
          <p:nvPr/>
        </p:nvPicPr>
        <p:blipFill>
          <a:blip r:embed="rId7"/>
          <a:stretch>
            <a:fillRect/>
          </a:stretch>
        </p:blipFill>
        <p:spPr>
          <a:xfrm>
            <a:off x="8472711" y="2752344"/>
            <a:ext cx="868282" cy="1188720"/>
          </a:xfrm>
          <a:prstGeom prst="rect">
            <a:avLst/>
          </a:prstGeom>
        </p:spPr>
      </p:pic>
      <p:pic>
        <p:nvPicPr>
          <p:cNvPr id="24" name="Picture" descr="Camera head on a tripod, laser facing right"/>
          <p:cNvPicPr>
            <a:picLocks noChangeAspect="1"/>
          </p:cNvPicPr>
          <p:nvPr/>
        </p:nvPicPr>
        <p:blipFill>
          <a:blip r:embed="rId6"/>
          <a:stretch>
            <a:fillRect/>
          </a:stretch>
        </p:blipFill>
        <p:spPr>
          <a:xfrm>
            <a:off x="9386713" y="2752344"/>
            <a:ext cx="702895" cy="1188720"/>
          </a:xfrm>
          <a:prstGeom prst="rect">
            <a:avLst/>
          </a:prstGeom>
        </p:spPr>
      </p:pic>
      <p:pic>
        <p:nvPicPr>
          <p:cNvPr id="25" name="Picture" descr="Camera head on a tripod, laser facing left"/>
          <p:cNvPicPr>
            <a:picLocks noChangeAspect="1"/>
          </p:cNvPicPr>
          <p:nvPr/>
        </p:nvPicPr>
        <p:blipFill>
          <a:blip r:embed="rId7"/>
          <a:stretch>
            <a:fillRect/>
          </a:stretch>
        </p:blipFill>
        <p:spPr>
          <a:xfrm>
            <a:off x="10492938" y="2752344"/>
            <a:ext cx="868282" cy="1188720"/>
          </a:xfrm>
          <a:prstGeom prst="rect">
            <a:avLst/>
          </a:prstGeom>
        </p:spPr>
      </p:pic>
      <p:sp>
        <p:nvSpPr>
          <p:cNvPr id="26" name="Rectangle 25"/>
          <p:cNvSpPr/>
          <p:nvPr/>
        </p:nvSpPr>
        <p:spPr>
          <a:xfrm>
            <a:off x="7758087" y="2802818"/>
            <a:ext cx="714623" cy="146304"/>
          </a:xfrm>
          <a:prstGeom prst="rect">
            <a:avLst/>
          </a:prstGeom>
          <a:solidFill>
            <a:srgbClr val="ED7D31">
              <a:alpha val="28000"/>
            </a:srgbClr>
          </a:solidFill>
          <a:ln>
            <a:noFill/>
          </a:ln>
        </p:spPr>
        <p:txBody>
          <a:bodyPr rtlCol="0" anchor="ctr"/>
          <a:lstStyle/>
          <a:p>
            <a:pPr algn="ctr"/>
          </a:p>
        </p:txBody>
      </p:sp>
      <p:sp>
        <p:nvSpPr>
          <p:cNvPr id="27" name="Rectangle 26"/>
          <p:cNvSpPr/>
          <p:nvPr/>
        </p:nvSpPr>
        <p:spPr>
          <a:xfrm>
            <a:off x="7758087" y="2853110"/>
            <a:ext cx="714623" cy="45720"/>
          </a:xfrm>
          <a:prstGeom prst="rect">
            <a:avLst/>
          </a:prstGeom>
          <a:solidFill>
            <a:srgbClr val="ED7D31"/>
          </a:solidFill>
          <a:ln>
            <a:noFill/>
          </a:ln>
        </p:spPr>
        <p:txBody>
          <a:bodyPr rtlCol="0" anchor="ctr"/>
          <a:lstStyle/>
          <a:p>
            <a:pPr algn="ctr"/>
          </a:p>
        </p:txBody>
      </p:sp>
      <p:sp>
        <p:nvSpPr>
          <p:cNvPr id="28" name="Rectangle 27"/>
          <p:cNvSpPr/>
          <p:nvPr/>
        </p:nvSpPr>
        <p:spPr>
          <a:xfrm>
            <a:off x="10089608" y="2802818"/>
            <a:ext cx="403329" cy="146304"/>
          </a:xfrm>
          <a:prstGeom prst="rect">
            <a:avLst/>
          </a:prstGeom>
          <a:solidFill>
            <a:srgbClr val="ED7D31">
              <a:alpha val="28000"/>
            </a:srgbClr>
          </a:solidFill>
          <a:ln>
            <a:noFill/>
          </a:ln>
        </p:spPr>
        <p:txBody>
          <a:bodyPr rtlCol="0" anchor="ctr"/>
          <a:lstStyle/>
          <a:p>
            <a:pPr algn="ctr"/>
          </a:p>
        </p:txBody>
      </p:sp>
      <p:sp>
        <p:nvSpPr>
          <p:cNvPr id="29" name="Rectangle 28"/>
          <p:cNvSpPr/>
          <p:nvPr/>
        </p:nvSpPr>
        <p:spPr>
          <a:xfrm>
            <a:off x="10089608" y="2853110"/>
            <a:ext cx="403329" cy="45720"/>
          </a:xfrm>
          <a:prstGeom prst="rect">
            <a:avLst/>
          </a:prstGeom>
          <a:solidFill>
            <a:srgbClr val="ED7D31"/>
          </a:solidFill>
          <a:ln>
            <a:noFill/>
          </a:ln>
        </p:spPr>
        <p:txBody>
          <a:bodyPr rtlCol="0" anchor="ctr"/>
          <a:lstStyle/>
          <a:p>
            <a:pPr algn="ctr"/>
          </a:p>
        </p:txBody>
      </p:sp>
      <p:cxnSp>
        <p:nvCxnSpPr>
          <p:cNvPr id="30" name="Connector 29"/>
          <p:cNvCxnSpPr/>
          <p:nvPr/>
        </p:nvCxnSpPr>
        <p:spPr>
          <a:xfrm flipV="1">
            <a:off x="7406640" y="1252728"/>
            <a:ext cx="3840480" cy="1499616"/>
          </a:xfrm>
          <a:prstGeom prst="line">
            <a:avLst/>
          </a:prstGeom>
          <a:ln w="15875">
            <a:solidFill>
              <a:srgbClr val="404040"/>
            </a:solidFill>
            <a:prstDash val="sysDot"/>
          </a:ln>
        </p:spPr>
      </p:cxnSp>
      <p:cxnSp>
        <p:nvCxnSpPr>
          <p:cNvPr id="31" name="Connector 30"/>
          <p:cNvCxnSpPr/>
          <p:nvPr/>
        </p:nvCxnSpPr>
        <p:spPr>
          <a:xfrm flipV="1">
            <a:off x="9281159" y="1252728"/>
            <a:ext cx="1965961" cy="1499616"/>
          </a:xfrm>
          <a:prstGeom prst="line">
            <a:avLst/>
          </a:prstGeom>
          <a:ln w="15875">
            <a:solidFill>
              <a:srgbClr val="404040"/>
            </a:solidFill>
            <a:prstDash val="sysDot"/>
          </a:ln>
        </p:spPr>
      </p:cxnSp>
      <p:sp>
        <p:nvSpPr>
          <p:cNvPr id="32" name="TextBox 31"/>
          <p:cNvSpPr txBox="1"/>
          <p:nvPr/>
        </p:nvSpPr>
        <p:spPr>
          <a:xfrm>
            <a:off x="6720840" y="1298448"/>
            <a:ext cx="2926080" cy="365760"/>
          </a:xfrm>
          <a:prstGeom prst="rect">
            <a:avLst/>
          </a:prstGeom>
          <a:noFill/>
        </p:spPr>
        <p:txBody>
          <a:bodyPr wrap="square" lIns="45720" rIns="45720" tIns="27432" bIns="27432" anchor="t">
            <a:spAutoFit/>
          </a:bodyPr>
          <a:lstStyle/>
          <a:p>
            <a:pPr algn="l"/>
            <a:r>
              <a:rPr sz="1300" b="1" i="0">
                <a:solidFill>
                  <a:srgbClr val="1B3A4B"/>
                </a:solidFill>
                <a:latin typeface="Calibri"/>
              </a:rPr>
              <a:t>Underground nodes  ·  50–100 m hops</a:t>
            </a:r>
          </a:p>
        </p:txBody>
      </p:sp>
      <p:sp>
        <p:nvSpPr>
          <p:cNvPr id="33" name="Rectangle 32"/>
          <p:cNvSpPr/>
          <p:nvPr/>
        </p:nvSpPr>
        <p:spPr>
          <a:xfrm>
            <a:off x="6720840" y="1188720"/>
            <a:ext cx="5029200" cy="3383280"/>
          </a:xfrm>
          <a:prstGeom prst="rect">
            <a:avLst/>
          </a:prstGeom>
          <a:noFill/>
          <a:ln w="9525">
            <a:solidFill>
              <a:srgbClr val="9A9A9A"/>
            </a:solidFill>
          </a:ln>
        </p:spPr>
        <p:txBody>
          <a:bodyPr rtlCol="0" anchor="ctr"/>
          <a:lstStyle/>
          <a:p>
            <a:pPr algn="ctr"/>
          </a:p>
        </p:txBody>
      </p:sp>
      <p:sp>
        <p:nvSpPr>
          <p:cNvPr id="34" name="Rectangle 33"/>
          <p:cNvSpPr/>
          <p:nvPr/>
        </p:nvSpPr>
        <p:spPr>
          <a:xfrm>
            <a:off x="457200" y="4663440"/>
            <a:ext cx="2011680" cy="18288"/>
          </a:xfrm>
          <a:prstGeom prst="rect">
            <a:avLst/>
          </a:prstGeom>
          <a:solidFill>
            <a:srgbClr val="ED7D31"/>
          </a:solidFill>
          <a:ln>
            <a:noFill/>
          </a:ln>
        </p:spPr>
        <p:txBody>
          <a:bodyPr rtlCol="0" anchor="ctr"/>
          <a:lstStyle/>
          <a:p>
            <a:pPr algn="ctr"/>
          </a:p>
        </p:txBody>
      </p:sp>
      <p:sp>
        <p:nvSpPr>
          <p:cNvPr id="35" name="TextBox 34"/>
          <p:cNvSpPr txBox="1"/>
          <p:nvPr/>
        </p:nvSpPr>
        <p:spPr>
          <a:xfrm>
            <a:off x="457200" y="4846320"/>
            <a:ext cx="2743200" cy="256032"/>
          </a:xfrm>
          <a:prstGeom prst="rect">
            <a:avLst/>
          </a:prstGeom>
          <a:noFill/>
        </p:spPr>
        <p:txBody>
          <a:bodyPr wrap="square" lIns="45720" rIns="45720" tIns="27432" bIns="27432" anchor="t">
            <a:spAutoFit/>
          </a:bodyPr>
          <a:lstStyle/>
          <a:p>
            <a:pPr algn="l"/>
            <a:r>
              <a:rPr sz="1200" b="1" i="0">
                <a:solidFill>
                  <a:srgbClr val="C55A11"/>
                </a:solidFill>
                <a:latin typeface="Calibri"/>
              </a:rPr>
              <a:t>Focus</a:t>
            </a:r>
          </a:p>
        </p:txBody>
      </p:sp>
      <p:sp>
        <p:nvSpPr>
          <p:cNvPr id="36" name="TextBox 35"/>
          <p:cNvSpPr txBox="1"/>
          <p:nvPr/>
        </p:nvSpPr>
        <p:spPr>
          <a:xfrm>
            <a:off x="457200" y="5102352"/>
            <a:ext cx="2743200" cy="731520"/>
          </a:xfrm>
          <a:prstGeom prst="rect">
            <a:avLst/>
          </a:prstGeom>
          <a:noFill/>
        </p:spPr>
        <p:txBody>
          <a:bodyPr wrap="square" lIns="45720" rIns="45720" tIns="27432" bIns="27432" anchor="t">
            <a:spAutoFit/>
          </a:bodyPr>
          <a:lstStyle/>
          <a:p>
            <a:pPr algn="l"/>
            <a:r>
              <a:rPr sz="1700" b="1" i="0">
                <a:solidFill>
                  <a:srgbClr val="1B3A4B"/>
                </a:solidFill>
                <a:latin typeface="Calibri"/>
              </a:rPr>
              <a:t>4S Mining</a:t>
            </a:r>
          </a:p>
          <a:p>
            <a:pPr algn="l"/>
            <a:r>
              <a:rPr sz="1400" b="0" i="0">
                <a:solidFill>
                  <a:srgbClr val="5C6770"/>
                </a:solidFill>
                <a:latin typeface="Calibri"/>
              </a:rPr>
              <a:t>Safe, Smart, Sustainable, Social</a:t>
            </a:r>
          </a:p>
        </p:txBody>
      </p:sp>
      <p:sp>
        <p:nvSpPr>
          <p:cNvPr id="37" name="TextBox 36"/>
          <p:cNvSpPr txBox="1"/>
          <p:nvPr/>
        </p:nvSpPr>
        <p:spPr>
          <a:xfrm>
            <a:off x="3291840" y="4846320"/>
            <a:ext cx="2743200" cy="256032"/>
          </a:xfrm>
          <a:prstGeom prst="rect">
            <a:avLst/>
          </a:prstGeom>
          <a:noFill/>
        </p:spPr>
        <p:txBody>
          <a:bodyPr wrap="square" lIns="45720" rIns="45720" tIns="27432" bIns="27432" anchor="t">
            <a:spAutoFit/>
          </a:bodyPr>
          <a:lstStyle/>
          <a:p>
            <a:pPr algn="l"/>
            <a:r>
              <a:rPr sz="1200" b="1" i="0">
                <a:solidFill>
                  <a:srgbClr val="C55A11"/>
                </a:solidFill>
                <a:latin typeface="Calibri"/>
              </a:rPr>
              <a:t>Funding</a:t>
            </a:r>
          </a:p>
        </p:txBody>
      </p:sp>
      <p:sp>
        <p:nvSpPr>
          <p:cNvPr id="38" name="TextBox 37"/>
          <p:cNvSpPr txBox="1"/>
          <p:nvPr/>
        </p:nvSpPr>
        <p:spPr>
          <a:xfrm>
            <a:off x="3291840" y="5102352"/>
            <a:ext cx="2743200" cy="731520"/>
          </a:xfrm>
          <a:prstGeom prst="rect">
            <a:avLst/>
          </a:prstGeom>
          <a:noFill/>
        </p:spPr>
        <p:txBody>
          <a:bodyPr wrap="square" lIns="45720" rIns="45720" tIns="27432" bIns="27432" anchor="t">
            <a:spAutoFit/>
          </a:bodyPr>
          <a:lstStyle/>
          <a:p>
            <a:pPr algn="l"/>
            <a:r>
              <a:rPr sz="1700" b="1" i="0">
                <a:solidFill>
                  <a:srgbClr val="1B3A4B"/>
                </a:solidFill>
                <a:latin typeface="Calibri"/>
              </a:rPr>
              <a:t>₹15 lakh</a:t>
            </a:r>
          </a:p>
          <a:p>
            <a:pPr algn="l"/>
            <a:r>
              <a:rPr sz="1400" b="0" i="0">
                <a:solidFill>
                  <a:srgbClr val="5C6770"/>
                </a:solidFill>
                <a:latin typeface="Calibri"/>
              </a:rPr>
              <a:t>24 months</a:t>
            </a:r>
          </a:p>
        </p:txBody>
      </p:sp>
      <p:sp>
        <p:nvSpPr>
          <p:cNvPr id="39" name="TextBox 38"/>
          <p:cNvSpPr txBox="1"/>
          <p:nvPr/>
        </p:nvSpPr>
        <p:spPr>
          <a:xfrm>
            <a:off x="6126480" y="4846320"/>
            <a:ext cx="2743200" cy="256032"/>
          </a:xfrm>
          <a:prstGeom prst="rect">
            <a:avLst/>
          </a:prstGeom>
          <a:noFill/>
        </p:spPr>
        <p:txBody>
          <a:bodyPr wrap="square" lIns="45720" rIns="45720" tIns="27432" bIns="27432" anchor="t">
            <a:spAutoFit/>
          </a:bodyPr>
          <a:lstStyle/>
          <a:p>
            <a:pPr algn="l"/>
            <a:r>
              <a:rPr sz="1200" b="1" i="0">
                <a:solidFill>
                  <a:srgbClr val="C55A11"/>
                </a:solidFill>
                <a:latin typeface="Calibri"/>
              </a:rPr>
              <a:t>Readiness</a:t>
            </a:r>
          </a:p>
        </p:txBody>
      </p:sp>
      <p:sp>
        <p:nvSpPr>
          <p:cNvPr id="40" name="TextBox 39"/>
          <p:cNvSpPr txBox="1"/>
          <p:nvPr/>
        </p:nvSpPr>
        <p:spPr>
          <a:xfrm>
            <a:off x="6126480" y="5102352"/>
            <a:ext cx="2743200" cy="731520"/>
          </a:xfrm>
          <a:prstGeom prst="rect">
            <a:avLst/>
          </a:prstGeom>
          <a:noFill/>
        </p:spPr>
        <p:txBody>
          <a:bodyPr wrap="square" lIns="45720" rIns="45720" tIns="27432" bIns="27432" anchor="t">
            <a:spAutoFit/>
          </a:bodyPr>
          <a:lstStyle/>
          <a:p>
            <a:pPr algn="l"/>
            <a:r>
              <a:rPr sz="1700" b="1" i="0">
                <a:solidFill>
                  <a:srgbClr val="1B3A4B"/>
                </a:solidFill>
                <a:latin typeface="Calibri"/>
              </a:rPr>
              <a:t>TRL 2  →  TRL 5</a:t>
            </a:r>
          </a:p>
          <a:p>
            <a:pPr algn="l"/>
            <a:r>
              <a:rPr sz="1400" b="0" i="0">
                <a:solidFill>
                  <a:srgbClr val="5C6770"/>
                </a:solidFill>
                <a:latin typeface="Calibri"/>
              </a:rPr>
              <a:t>Tunnel-level validation</a:t>
            </a:r>
          </a:p>
        </p:txBody>
      </p:sp>
      <p:sp>
        <p:nvSpPr>
          <p:cNvPr id="41" name="TextBox 40"/>
          <p:cNvSpPr txBox="1"/>
          <p:nvPr/>
        </p:nvSpPr>
        <p:spPr>
          <a:xfrm>
            <a:off x="8961120" y="4846320"/>
            <a:ext cx="2743200" cy="256032"/>
          </a:xfrm>
          <a:prstGeom prst="rect">
            <a:avLst/>
          </a:prstGeom>
          <a:noFill/>
        </p:spPr>
        <p:txBody>
          <a:bodyPr wrap="square" lIns="45720" rIns="45720" tIns="27432" bIns="27432" anchor="t">
            <a:spAutoFit/>
          </a:bodyPr>
          <a:lstStyle/>
          <a:p>
            <a:pPr algn="l"/>
            <a:r>
              <a:rPr sz="1200" b="1" i="0">
                <a:solidFill>
                  <a:srgbClr val="C55A11"/>
                </a:solidFill>
                <a:latin typeface="Calibri"/>
              </a:rPr>
              <a:t>Institute</a:t>
            </a:r>
          </a:p>
        </p:txBody>
      </p:sp>
      <p:sp>
        <p:nvSpPr>
          <p:cNvPr id="42" name="TextBox 41"/>
          <p:cNvSpPr txBox="1"/>
          <p:nvPr/>
        </p:nvSpPr>
        <p:spPr>
          <a:xfrm>
            <a:off x="8961120" y="5102352"/>
            <a:ext cx="2743200" cy="731520"/>
          </a:xfrm>
          <a:prstGeom prst="rect">
            <a:avLst/>
          </a:prstGeom>
          <a:noFill/>
        </p:spPr>
        <p:txBody>
          <a:bodyPr wrap="square" lIns="45720" rIns="45720" tIns="27432" bIns="27432" anchor="t">
            <a:spAutoFit/>
          </a:bodyPr>
          <a:lstStyle/>
          <a:p>
            <a:pPr algn="l"/>
            <a:r>
              <a:rPr sz="1700" b="1" i="0">
                <a:solidFill>
                  <a:srgbClr val="1B3A4B"/>
                </a:solidFill>
                <a:latin typeface="Calibri"/>
              </a:rPr>
              <a:t>NIT Rourkela</a:t>
            </a:r>
          </a:p>
          <a:p>
            <a:pPr algn="l"/>
            <a:r>
              <a:rPr sz="1400" b="0" i="0">
                <a:solidFill>
                  <a:srgbClr val="5C6770"/>
                </a:solidFill>
                <a:latin typeface="Calibri"/>
              </a:rPr>
              <a:t>Prof. Sadananda Behera, PI</a:t>
            </a:r>
          </a:p>
        </p:txBody>
      </p:sp>
      <p:sp>
        <p:nvSpPr>
          <p:cNvPr id="43" name="TextBox 42"/>
          <p:cNvSpPr txBox="1"/>
          <p:nvPr/>
        </p:nvSpPr>
        <p:spPr>
          <a:xfrm>
            <a:off x="457200" y="5989320"/>
            <a:ext cx="11155680" cy="365760"/>
          </a:xfrm>
          <a:prstGeom prst="rect">
            <a:avLst/>
          </a:prstGeom>
          <a:noFill/>
        </p:spPr>
        <p:txBody>
          <a:bodyPr wrap="square" lIns="45720" rIns="45720" tIns="27432" bIns="27432" anchor="t">
            <a:spAutoFit/>
          </a:bodyPr>
          <a:lstStyle/>
          <a:p>
            <a:pPr algn="l"/>
            <a:r>
              <a:rPr sz="1400" b="0" i="0">
                <a:solidFill>
                  <a:srgbClr val="5C6770"/>
                </a:solidFill>
                <a:latin typeface="Calibri"/>
              </a:rPr>
              <a:t>Prof. Sadananda Behera, Assistant Professor     ·     98610 77539     ·     No co-PI     ·     Industry letter: not attached</a:t>
            </a:r>
          </a:p>
        </p:txBody>
      </p:sp>
      <p:sp>
        <p:nvSpPr>
          <p:cNvPr id="44" name="Footer rule"/>
          <p:cNvSpPr/>
          <p:nvPr/>
        </p:nvSpPr>
        <p:spPr>
          <a:xfrm>
            <a:off x="457200" y="6565392"/>
            <a:ext cx="11292840" cy="9144"/>
          </a:xfrm>
          <a:prstGeom prst="rect">
            <a:avLst/>
          </a:prstGeom>
          <a:solidFill>
            <a:srgbClr val="D0D0D0"/>
          </a:solidFill>
          <a:ln>
            <a:noFill/>
          </a:ln>
        </p:spPr>
        <p:txBody>
          <a:bodyPr rtlCol="0" anchor="ctr"/>
          <a:lstStyle/>
          <a:p>
            <a:pPr algn="ctr"/>
          </a:p>
        </p:txBody>
      </p:sp>
      <p:sp>
        <p:nvSpPr>
          <p:cNvPr id="45"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Title</a:t>
            </a:r>
          </a:p>
        </p:txBody>
      </p:sp>
      <p:sp>
        <p:nvSpPr>
          <p:cNvPr id="46"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1  /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4" name="Section"/>
          <p:cNvSpPr txBox="1"/>
          <p:nvPr/>
        </p:nvSpPr>
        <p:spPr>
          <a:xfrm>
            <a:off x="457200" y="182880"/>
            <a:ext cx="11247120" cy="256032"/>
          </a:xfrm>
          <a:prstGeom prst="rect">
            <a:avLst/>
          </a:prstGeom>
          <a:noFill/>
        </p:spPr>
        <p:txBody>
          <a:bodyPr wrap="square" lIns="45720" rIns="45720" tIns="27432" bIns="27432" anchor="t">
            <a:spAutoFit/>
          </a:bodyPr>
          <a:lstStyle/>
          <a:p>
            <a:pPr algn="l"/>
            <a:r>
              <a:rPr sz="1300" b="1" i="0">
                <a:solidFill>
                  <a:srgbClr val="B5740A"/>
                </a:solidFill>
                <a:latin typeface="Calibri"/>
              </a:rPr>
              <a:t>01     ·     PROJECT TITLE AND OBJECTIVES</a:t>
            </a:r>
          </a:p>
        </p:txBody>
      </p:sp>
      <p:sp>
        <p:nvSpPr>
          <p:cNvPr id="5" name="Title"/>
          <p:cNvSpPr txBox="1"/>
          <p:nvPr/>
        </p:nvSpPr>
        <p:spPr>
          <a:xfrm>
            <a:off x="438912" y="420624"/>
            <a:ext cx="11338560" cy="502920"/>
          </a:xfrm>
          <a:prstGeom prst="rect">
            <a:avLst/>
          </a:prstGeom>
          <a:noFill/>
        </p:spPr>
        <p:txBody>
          <a:bodyPr wrap="square" lIns="45720" rIns="45720" tIns="27432" bIns="27432" anchor="t">
            <a:spAutoFit/>
          </a:bodyPr>
          <a:lstStyle/>
          <a:p>
            <a:pPr algn="l"/>
            <a:r>
              <a:rPr sz="2800" b="1" i="0">
                <a:solidFill>
                  <a:srgbClr val="1B3A4B"/>
                </a:solidFill>
                <a:latin typeface="Calibri"/>
              </a:rPr>
              <a:t>Objective</a:t>
            </a:r>
          </a:p>
        </p:txBody>
      </p:sp>
      <p:sp>
        <p:nvSpPr>
          <p:cNvPr id="6" name="Footer rule"/>
          <p:cNvSpPr/>
          <p:nvPr/>
        </p:nvSpPr>
        <p:spPr>
          <a:xfrm>
            <a:off x="457200" y="6565392"/>
            <a:ext cx="11292840" cy="9144"/>
          </a:xfrm>
          <a:prstGeom prst="rect">
            <a:avLst/>
          </a:prstGeom>
          <a:solidFill>
            <a:srgbClr val="D0D0D0"/>
          </a:solidFill>
          <a:ln>
            <a:noFill/>
          </a:ln>
        </p:spPr>
        <p:txBody>
          <a:bodyPr rtlCol="0" anchor="ctr"/>
          <a:lstStyle/>
          <a:p>
            <a:pPr algn="ctr"/>
          </a:p>
        </p:txBody>
      </p:sp>
      <p:sp>
        <p:nvSpPr>
          <p:cNvPr id="7"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Objectives</a:t>
            </a:r>
          </a:p>
        </p:txBody>
      </p:sp>
      <p:sp>
        <p:nvSpPr>
          <p:cNvPr id="8"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2  /  15</a:t>
            </a:r>
          </a:p>
        </p:txBody>
      </p:sp>
      <p:sp>
        <p:nvSpPr>
          <p:cNvPr id="9" name="Rounded Rectangle 8"/>
          <p:cNvSpPr/>
          <p:nvPr/>
        </p:nvSpPr>
        <p:spPr>
          <a:xfrm>
            <a:off x="457200" y="1097280"/>
            <a:ext cx="11292840" cy="1097280"/>
          </a:xfrm>
          <a:prstGeom prst="roundRect">
            <a:avLst>
              <a:gd name="adj" fmla="val 8000"/>
            </a:avLst>
          </a:prstGeom>
          <a:solidFill>
            <a:srgbClr val="0071C1"/>
          </a:solidFill>
          <a:ln w="9525">
            <a:solidFill>
              <a:srgbClr val="00548F"/>
            </a:solidFill>
          </a:ln>
        </p:spPr>
        <p:txBody>
          <a:bodyPr rtlCol="0" anchor="ctr"/>
          <a:lstStyle/>
          <a:p>
            <a:pPr algn="ctr"/>
          </a:p>
        </p:txBody>
      </p:sp>
      <p:sp>
        <p:nvSpPr>
          <p:cNvPr id="10" name="TextBox 9"/>
          <p:cNvSpPr txBox="1"/>
          <p:nvPr/>
        </p:nvSpPr>
        <p:spPr>
          <a:xfrm>
            <a:off x="731520" y="1170432"/>
            <a:ext cx="10789920" cy="960120"/>
          </a:xfrm>
          <a:prstGeom prst="rect">
            <a:avLst/>
          </a:prstGeom>
          <a:noFill/>
        </p:spPr>
        <p:txBody>
          <a:bodyPr wrap="square" lIns="45720" rIns="45720" tIns="27432" bIns="27432" anchor="ctr">
            <a:spAutoFit/>
          </a:bodyPr>
          <a:lstStyle/>
          <a:p>
            <a:pPr algn="l"/>
            <a:r>
              <a:rPr sz="2100" b="1" i="0">
                <a:solidFill>
                  <a:srgbClr val="FFFFFF"/>
                </a:solidFill>
                <a:latin typeface="Calibri"/>
              </a:rPr>
              <a:t>Real-time video from a mine heading to the surface on aligned free-space optical hops, with LoRa keeping the alert path alive.</a:t>
            </a:r>
          </a:p>
        </p:txBody>
      </p:sp>
      <p:sp>
        <p:nvSpPr>
          <p:cNvPr id="11" name="TextBox 10"/>
          <p:cNvSpPr txBox="1"/>
          <p:nvPr/>
        </p:nvSpPr>
        <p:spPr>
          <a:xfrm>
            <a:off x="457200" y="2423160"/>
            <a:ext cx="5486400" cy="365760"/>
          </a:xfrm>
          <a:prstGeom prst="rect">
            <a:avLst/>
          </a:prstGeom>
          <a:noFill/>
        </p:spPr>
        <p:txBody>
          <a:bodyPr wrap="square" lIns="45720" rIns="45720" tIns="27432" bIns="27432" anchor="t">
            <a:spAutoFit/>
          </a:bodyPr>
          <a:lstStyle/>
          <a:p>
            <a:pPr algn="l"/>
            <a:r>
              <a:rPr sz="1900" b="1" i="0">
                <a:solidFill>
                  <a:srgbClr val="1B3A4B"/>
                </a:solidFill>
                <a:latin typeface="Calibri"/>
              </a:rPr>
              <a:t>Specific objectives</a:t>
            </a:r>
          </a:p>
        </p:txBody>
      </p:sp>
      <p:sp>
        <p:nvSpPr>
          <p:cNvPr id="12" name="Rounded Rectangle 11"/>
          <p:cNvSpPr/>
          <p:nvPr/>
        </p:nvSpPr>
        <p:spPr>
          <a:xfrm>
            <a:off x="457200" y="2880360"/>
            <a:ext cx="2697480" cy="3337560"/>
          </a:xfrm>
          <a:prstGeom prst="roundRect">
            <a:avLst>
              <a:gd name="adj" fmla="val 8000"/>
            </a:avLst>
          </a:prstGeom>
          <a:solidFill>
            <a:srgbClr val="E9E9E9"/>
          </a:solidFill>
          <a:ln w="9525">
            <a:solidFill>
              <a:srgbClr val="9A9A9A"/>
            </a:solidFill>
          </a:ln>
        </p:spPr>
        <p:txBody>
          <a:bodyPr rtlCol="0" anchor="ctr"/>
          <a:lstStyle/>
          <a:p>
            <a:pPr algn="ctr"/>
          </a:p>
        </p:txBody>
      </p:sp>
      <p:sp>
        <p:nvSpPr>
          <p:cNvPr id="13" name="Oval 12"/>
          <p:cNvSpPr/>
          <p:nvPr/>
        </p:nvSpPr>
        <p:spPr>
          <a:xfrm>
            <a:off x="640080" y="3063240"/>
            <a:ext cx="384048" cy="384048"/>
          </a:xfrm>
          <a:prstGeom prst="ellipse">
            <a:avLst/>
          </a:prstGeom>
          <a:solidFill>
            <a:srgbClr val="ED7D31"/>
          </a:solidFill>
          <a:ln>
            <a:noFill/>
          </a:ln>
        </p:spPr>
        <p:txBody>
          <a:bodyPr rtlCol="0" anchor="ctr" lIns="36576" rIns="36576" tIns="0" bIns="0" wrap="square"/>
          <a:lstStyle/>
          <a:p>
            <a:pPr algn="ctr"/>
            <a:r>
              <a:rPr sz="1600" b="1">
                <a:solidFill>
                  <a:srgbClr val="FFFFFF"/>
                </a:solidFill>
                <a:latin typeface="Calibri"/>
              </a:rPr>
              <a:t>1</a:t>
            </a:r>
          </a:p>
        </p:txBody>
      </p:sp>
      <p:pic>
        <p:nvPicPr>
          <p:cNvPr id="14" name="Picture" descr="Camera head on a tripod, laser facing right"/>
          <p:cNvPicPr>
            <a:picLocks noChangeAspect="1"/>
          </p:cNvPicPr>
          <p:nvPr/>
        </p:nvPicPr>
        <p:blipFill>
          <a:blip r:embed="rId2"/>
          <a:stretch>
            <a:fillRect/>
          </a:stretch>
        </p:blipFill>
        <p:spPr>
          <a:xfrm>
            <a:off x="2423160" y="2971800"/>
            <a:ext cx="389295" cy="658368"/>
          </a:xfrm>
          <a:prstGeom prst="rect">
            <a:avLst/>
          </a:prstGeom>
        </p:spPr>
      </p:pic>
      <p:sp>
        <p:nvSpPr>
          <p:cNvPr id="15" name="TextBox 14"/>
          <p:cNvSpPr txBox="1"/>
          <p:nvPr/>
        </p:nvSpPr>
        <p:spPr>
          <a:xfrm>
            <a:off x="594360" y="3611880"/>
            <a:ext cx="2423160" cy="548640"/>
          </a:xfrm>
          <a:prstGeom prst="rect">
            <a:avLst/>
          </a:prstGeom>
          <a:noFill/>
        </p:spPr>
        <p:txBody>
          <a:bodyPr wrap="square" lIns="45720" rIns="45720" tIns="27432" bIns="27432" anchor="t">
            <a:spAutoFit/>
          </a:bodyPr>
          <a:lstStyle/>
          <a:p>
            <a:pPr algn="l"/>
            <a:r>
              <a:rPr sz="2800" b="1" i="0">
                <a:solidFill>
                  <a:srgbClr val="1B3A4B"/>
                </a:solidFill>
                <a:latin typeface="Calibri"/>
              </a:rPr>
              <a:t>50–100 m</a:t>
            </a:r>
          </a:p>
        </p:txBody>
      </p:sp>
      <p:sp>
        <p:nvSpPr>
          <p:cNvPr id="16" name="TextBox 15"/>
          <p:cNvSpPr txBox="1"/>
          <p:nvPr/>
        </p:nvSpPr>
        <p:spPr>
          <a:xfrm>
            <a:off x="594360" y="4251960"/>
            <a:ext cx="2423160" cy="1920240"/>
          </a:xfrm>
          <a:prstGeom prst="rect">
            <a:avLst/>
          </a:prstGeom>
          <a:noFill/>
        </p:spPr>
        <p:txBody>
          <a:bodyPr wrap="square" lIns="45720" rIns="45720" tIns="27432" bIns="27432" anchor="t">
            <a:spAutoFit/>
          </a:bodyPr>
          <a:lstStyle/>
          <a:p>
            <a:pPr algn="l"/>
            <a:r>
              <a:rPr sz="1800" b="0" i="0">
                <a:solidFill>
                  <a:srgbClr val="1C2430"/>
                </a:solidFill>
                <a:latin typeface="Calibri"/>
              </a:rPr>
              <a:t>Real-time video on FSO links between successive tunnel nodes</a:t>
            </a:r>
          </a:p>
        </p:txBody>
      </p:sp>
      <p:sp>
        <p:nvSpPr>
          <p:cNvPr id="17" name="Rounded Rectangle 16"/>
          <p:cNvSpPr/>
          <p:nvPr/>
        </p:nvSpPr>
        <p:spPr>
          <a:xfrm>
            <a:off x="3310128" y="2880360"/>
            <a:ext cx="2697480" cy="3337560"/>
          </a:xfrm>
          <a:prstGeom prst="roundRect">
            <a:avLst>
              <a:gd name="adj" fmla="val 8000"/>
            </a:avLst>
          </a:prstGeom>
          <a:solidFill>
            <a:srgbClr val="E9E9E9"/>
          </a:solidFill>
          <a:ln w="9525">
            <a:solidFill>
              <a:srgbClr val="9A9A9A"/>
            </a:solidFill>
          </a:ln>
        </p:spPr>
        <p:txBody>
          <a:bodyPr rtlCol="0" anchor="ctr"/>
          <a:lstStyle/>
          <a:p>
            <a:pPr algn="ctr"/>
          </a:p>
        </p:txBody>
      </p:sp>
      <p:sp>
        <p:nvSpPr>
          <p:cNvPr id="18" name="Oval 17"/>
          <p:cNvSpPr/>
          <p:nvPr/>
        </p:nvSpPr>
        <p:spPr>
          <a:xfrm>
            <a:off x="3493008" y="3063240"/>
            <a:ext cx="384048" cy="384048"/>
          </a:xfrm>
          <a:prstGeom prst="ellipse">
            <a:avLst/>
          </a:prstGeom>
          <a:solidFill>
            <a:srgbClr val="ED7D31"/>
          </a:solidFill>
          <a:ln>
            <a:noFill/>
          </a:ln>
        </p:spPr>
        <p:txBody>
          <a:bodyPr rtlCol="0" anchor="ctr" lIns="36576" rIns="36576" tIns="0" bIns="0" wrap="square"/>
          <a:lstStyle/>
          <a:p>
            <a:pPr algn="ctr"/>
            <a:r>
              <a:rPr sz="1600" b="1">
                <a:solidFill>
                  <a:srgbClr val="FFFFFF"/>
                </a:solidFill>
                <a:latin typeface="Calibri"/>
              </a:rPr>
              <a:t>2</a:t>
            </a:r>
          </a:p>
        </p:txBody>
      </p:sp>
      <p:pic>
        <p:nvPicPr>
          <p:cNvPr id="19" name="Picture" descr="IMU module"/>
          <p:cNvPicPr>
            <a:picLocks noChangeAspect="1"/>
          </p:cNvPicPr>
          <p:nvPr/>
        </p:nvPicPr>
        <p:blipFill>
          <a:blip r:embed="rId3"/>
          <a:stretch>
            <a:fillRect/>
          </a:stretch>
        </p:blipFill>
        <p:spPr>
          <a:xfrm>
            <a:off x="5230368" y="3017520"/>
            <a:ext cx="594360" cy="435863"/>
          </a:xfrm>
          <a:prstGeom prst="rect">
            <a:avLst/>
          </a:prstGeom>
        </p:spPr>
      </p:pic>
      <p:sp>
        <p:nvSpPr>
          <p:cNvPr id="20" name="TextBox 19"/>
          <p:cNvSpPr txBox="1"/>
          <p:nvPr/>
        </p:nvSpPr>
        <p:spPr>
          <a:xfrm>
            <a:off x="3447288" y="3611880"/>
            <a:ext cx="2423160" cy="548640"/>
          </a:xfrm>
          <a:prstGeom prst="rect">
            <a:avLst/>
          </a:prstGeom>
          <a:noFill/>
        </p:spPr>
        <p:txBody>
          <a:bodyPr wrap="square" lIns="45720" rIns="45720" tIns="27432" bIns="27432" anchor="t">
            <a:spAutoFit/>
          </a:bodyPr>
          <a:lstStyle/>
          <a:p>
            <a:pPr algn="l"/>
            <a:r>
              <a:rPr sz="2800" b="1" i="0">
                <a:solidFill>
                  <a:srgbClr val="1B3A4B"/>
                </a:solidFill>
                <a:latin typeface="Calibri"/>
              </a:rPr>
              <a:t>IMU</a:t>
            </a:r>
          </a:p>
        </p:txBody>
      </p:sp>
      <p:sp>
        <p:nvSpPr>
          <p:cNvPr id="21" name="TextBox 20"/>
          <p:cNvSpPr txBox="1"/>
          <p:nvPr/>
        </p:nvSpPr>
        <p:spPr>
          <a:xfrm>
            <a:off x="3447288" y="4251960"/>
            <a:ext cx="2423160" cy="1920240"/>
          </a:xfrm>
          <a:prstGeom prst="rect">
            <a:avLst/>
          </a:prstGeom>
          <a:noFill/>
        </p:spPr>
        <p:txBody>
          <a:bodyPr wrap="square" lIns="45720" rIns="45720" tIns="27432" bIns="27432" anchor="t">
            <a:spAutoFit/>
          </a:bodyPr>
          <a:lstStyle/>
          <a:p>
            <a:pPr algn="l"/>
            <a:r>
              <a:rPr sz="1800" b="0" i="0">
                <a:solidFill>
                  <a:srgbClr val="1C2430"/>
                </a:solidFill>
                <a:latin typeface="Calibri"/>
              </a:rPr>
              <a:t>Auto-tracking with motorized steering. Department prototype already working</a:t>
            </a:r>
          </a:p>
        </p:txBody>
      </p:sp>
      <p:sp>
        <p:nvSpPr>
          <p:cNvPr id="22" name="Rounded Rectangle 21"/>
          <p:cNvSpPr/>
          <p:nvPr/>
        </p:nvSpPr>
        <p:spPr>
          <a:xfrm>
            <a:off x="6163056" y="2880360"/>
            <a:ext cx="2697480" cy="3337560"/>
          </a:xfrm>
          <a:prstGeom prst="roundRect">
            <a:avLst>
              <a:gd name="adj" fmla="val 8000"/>
            </a:avLst>
          </a:prstGeom>
          <a:solidFill>
            <a:srgbClr val="E9E9E9"/>
          </a:solidFill>
          <a:ln w="9525">
            <a:solidFill>
              <a:srgbClr val="9A9A9A"/>
            </a:solidFill>
          </a:ln>
        </p:spPr>
        <p:txBody>
          <a:bodyPr rtlCol="0" anchor="ctr"/>
          <a:lstStyle/>
          <a:p>
            <a:pPr algn="ctr"/>
          </a:p>
        </p:txBody>
      </p:sp>
      <p:sp>
        <p:nvSpPr>
          <p:cNvPr id="23" name="Oval 22"/>
          <p:cNvSpPr/>
          <p:nvPr/>
        </p:nvSpPr>
        <p:spPr>
          <a:xfrm>
            <a:off x="6345936" y="3063240"/>
            <a:ext cx="384048" cy="384048"/>
          </a:xfrm>
          <a:prstGeom prst="ellipse">
            <a:avLst/>
          </a:prstGeom>
          <a:solidFill>
            <a:srgbClr val="ED7D31"/>
          </a:solidFill>
          <a:ln>
            <a:noFill/>
          </a:ln>
        </p:spPr>
        <p:txBody>
          <a:bodyPr rtlCol="0" anchor="ctr" lIns="36576" rIns="36576" tIns="0" bIns="0" wrap="square"/>
          <a:lstStyle/>
          <a:p>
            <a:pPr algn="ctr"/>
            <a:r>
              <a:rPr sz="1600" b="1">
                <a:solidFill>
                  <a:srgbClr val="FFFFFF"/>
                </a:solidFill>
                <a:latin typeface="Calibri"/>
              </a:rPr>
              <a:t>3</a:t>
            </a:r>
          </a:p>
        </p:txBody>
      </p:sp>
      <p:pic>
        <p:nvPicPr>
          <p:cNvPr id="24" name="Picture" descr="LoRa module"/>
          <p:cNvPicPr>
            <a:picLocks noChangeAspect="1"/>
          </p:cNvPicPr>
          <p:nvPr/>
        </p:nvPicPr>
        <p:blipFill>
          <a:blip r:embed="rId4"/>
          <a:stretch>
            <a:fillRect/>
          </a:stretch>
        </p:blipFill>
        <p:spPr>
          <a:xfrm>
            <a:off x="8174736" y="2971800"/>
            <a:ext cx="716889" cy="640080"/>
          </a:xfrm>
          <a:prstGeom prst="rect">
            <a:avLst/>
          </a:prstGeom>
        </p:spPr>
      </p:pic>
      <p:sp>
        <p:nvSpPr>
          <p:cNvPr id="25" name="TextBox 24"/>
          <p:cNvSpPr txBox="1"/>
          <p:nvPr/>
        </p:nvSpPr>
        <p:spPr>
          <a:xfrm>
            <a:off x="6300216" y="3611880"/>
            <a:ext cx="2423160" cy="548640"/>
          </a:xfrm>
          <a:prstGeom prst="rect">
            <a:avLst/>
          </a:prstGeom>
          <a:noFill/>
        </p:spPr>
        <p:txBody>
          <a:bodyPr wrap="square" lIns="45720" rIns="45720" tIns="27432" bIns="27432" anchor="t">
            <a:spAutoFit/>
          </a:bodyPr>
          <a:lstStyle/>
          <a:p>
            <a:pPr algn="l"/>
            <a:r>
              <a:rPr sz="2800" b="1" i="0">
                <a:solidFill>
                  <a:srgbClr val="1B3A4B"/>
                </a:solidFill>
                <a:latin typeface="Calibri"/>
              </a:rPr>
              <a:t>LoRa</a:t>
            </a:r>
          </a:p>
        </p:txBody>
      </p:sp>
      <p:sp>
        <p:nvSpPr>
          <p:cNvPr id="26" name="TextBox 25"/>
          <p:cNvSpPr txBox="1"/>
          <p:nvPr/>
        </p:nvSpPr>
        <p:spPr>
          <a:xfrm>
            <a:off x="6300216" y="4251960"/>
            <a:ext cx="2423160" cy="1920240"/>
          </a:xfrm>
          <a:prstGeom prst="rect">
            <a:avLst/>
          </a:prstGeom>
          <a:noFill/>
        </p:spPr>
        <p:txBody>
          <a:bodyPr wrap="square" lIns="45720" rIns="45720" tIns="27432" bIns="27432" anchor="t">
            <a:spAutoFit/>
          </a:bodyPr>
          <a:lstStyle/>
          <a:p>
            <a:pPr algn="l"/>
            <a:r>
              <a:rPr sz="1800" b="0" i="0">
                <a:solidFill>
                  <a:srgbClr val="1C2430"/>
                </a:solidFill>
                <a:latin typeface="Calibri"/>
              </a:rPr>
              <a:t>Control, alerts and fallback when an optical hop is interrupted</a:t>
            </a:r>
          </a:p>
        </p:txBody>
      </p:sp>
      <p:sp>
        <p:nvSpPr>
          <p:cNvPr id="27" name="Rounded Rectangle 26"/>
          <p:cNvSpPr/>
          <p:nvPr/>
        </p:nvSpPr>
        <p:spPr>
          <a:xfrm>
            <a:off x="9015984" y="2880360"/>
            <a:ext cx="2697480" cy="3337560"/>
          </a:xfrm>
          <a:prstGeom prst="roundRect">
            <a:avLst>
              <a:gd name="adj" fmla="val 8000"/>
            </a:avLst>
          </a:prstGeom>
          <a:solidFill>
            <a:srgbClr val="E9E9E9"/>
          </a:solidFill>
          <a:ln w="9525">
            <a:solidFill>
              <a:srgbClr val="9A9A9A"/>
            </a:solidFill>
          </a:ln>
        </p:spPr>
        <p:txBody>
          <a:bodyPr rtlCol="0" anchor="ctr"/>
          <a:lstStyle/>
          <a:p>
            <a:pPr algn="ctr"/>
          </a:p>
        </p:txBody>
      </p:sp>
      <p:sp>
        <p:nvSpPr>
          <p:cNvPr id="28" name="Oval 27"/>
          <p:cNvSpPr/>
          <p:nvPr/>
        </p:nvSpPr>
        <p:spPr>
          <a:xfrm>
            <a:off x="9198863" y="3063240"/>
            <a:ext cx="384048" cy="384048"/>
          </a:xfrm>
          <a:prstGeom prst="ellipse">
            <a:avLst/>
          </a:prstGeom>
          <a:solidFill>
            <a:srgbClr val="ED7D31"/>
          </a:solidFill>
          <a:ln>
            <a:noFill/>
          </a:ln>
        </p:spPr>
        <p:txBody>
          <a:bodyPr rtlCol="0" anchor="ctr" lIns="36576" rIns="36576" tIns="0" bIns="0" wrap="square"/>
          <a:lstStyle/>
          <a:p>
            <a:pPr algn="ctr"/>
            <a:r>
              <a:rPr sz="1600" b="1">
                <a:solidFill>
                  <a:srgbClr val="FFFFFF"/>
                </a:solidFill>
                <a:latin typeface="Calibri"/>
              </a:rPr>
              <a:t>4</a:t>
            </a:r>
          </a:p>
        </p:txBody>
      </p:sp>
      <p:pic>
        <p:nvPicPr>
          <p:cNvPr id="29" name="Picture" descr="Monitoring dashboard"/>
          <p:cNvPicPr>
            <a:picLocks noChangeAspect="1"/>
          </p:cNvPicPr>
          <p:nvPr/>
        </p:nvPicPr>
        <p:blipFill>
          <a:blip r:embed="rId5"/>
          <a:stretch>
            <a:fillRect/>
          </a:stretch>
        </p:blipFill>
        <p:spPr>
          <a:xfrm>
            <a:off x="10844784" y="3017520"/>
            <a:ext cx="731520" cy="589016"/>
          </a:xfrm>
          <a:prstGeom prst="rect">
            <a:avLst/>
          </a:prstGeom>
        </p:spPr>
      </p:pic>
      <p:sp>
        <p:nvSpPr>
          <p:cNvPr id="30" name="TextBox 29"/>
          <p:cNvSpPr txBox="1"/>
          <p:nvPr/>
        </p:nvSpPr>
        <p:spPr>
          <a:xfrm>
            <a:off x="9153144" y="3611880"/>
            <a:ext cx="2423160" cy="548640"/>
          </a:xfrm>
          <a:prstGeom prst="rect">
            <a:avLst/>
          </a:prstGeom>
          <a:noFill/>
        </p:spPr>
        <p:txBody>
          <a:bodyPr wrap="square" lIns="45720" rIns="45720" tIns="27432" bIns="27432" anchor="t">
            <a:spAutoFit/>
          </a:bodyPr>
          <a:lstStyle/>
          <a:p>
            <a:pPr algn="l"/>
            <a:r>
              <a:rPr sz="2800" b="1" i="0">
                <a:solidFill>
                  <a:srgbClr val="1B3A4B"/>
                </a:solidFill>
                <a:latin typeface="Calibri"/>
              </a:rPr>
              <a:t>Multi-hop</a:t>
            </a:r>
          </a:p>
        </p:txBody>
      </p:sp>
      <p:sp>
        <p:nvSpPr>
          <p:cNvPr id="31" name="TextBox 30"/>
          <p:cNvSpPr txBox="1"/>
          <p:nvPr/>
        </p:nvSpPr>
        <p:spPr>
          <a:xfrm>
            <a:off x="9153144" y="4251960"/>
            <a:ext cx="2423160" cy="1920240"/>
          </a:xfrm>
          <a:prstGeom prst="rect">
            <a:avLst/>
          </a:prstGeom>
          <a:noFill/>
        </p:spPr>
        <p:txBody>
          <a:bodyPr wrap="square" lIns="45720" rIns="45720" tIns="27432" bIns="27432" anchor="t">
            <a:spAutoFit/>
          </a:bodyPr>
          <a:lstStyle/>
          <a:p>
            <a:pPr algn="l"/>
            <a:r>
              <a:rPr sz="1800" b="0" i="0">
                <a:solidFill>
                  <a:srgbClr val="1C2430"/>
                </a:solidFill>
                <a:latin typeface="Calibri"/>
              </a:rPr>
              <a:t>Transmitter, relays, surface base station. Lab and tunnel-like tests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4" name="Section"/>
          <p:cNvSpPr txBox="1"/>
          <p:nvPr/>
        </p:nvSpPr>
        <p:spPr>
          <a:xfrm>
            <a:off x="457200" y="182880"/>
            <a:ext cx="11247120" cy="256032"/>
          </a:xfrm>
          <a:prstGeom prst="rect">
            <a:avLst/>
          </a:prstGeom>
          <a:noFill/>
        </p:spPr>
        <p:txBody>
          <a:bodyPr wrap="square" lIns="45720" rIns="45720" tIns="27432" bIns="27432" anchor="t">
            <a:spAutoFit/>
          </a:bodyPr>
          <a:lstStyle/>
          <a:p>
            <a:pPr algn="l"/>
            <a:r>
              <a:rPr sz="1300" b="1" i="0">
                <a:solidFill>
                  <a:srgbClr val="B5740A"/>
                </a:solidFill>
                <a:latin typeface="Calibri"/>
              </a:rPr>
              <a:t>02     ·     PROBLEM STATEMENT AND RELEVANCE TO THE MINING SECTOR</a:t>
            </a:r>
          </a:p>
        </p:txBody>
      </p:sp>
      <p:sp>
        <p:nvSpPr>
          <p:cNvPr id="5" name="Title"/>
          <p:cNvSpPr txBox="1"/>
          <p:nvPr/>
        </p:nvSpPr>
        <p:spPr>
          <a:xfrm>
            <a:off x="438912" y="420624"/>
            <a:ext cx="11338560" cy="502920"/>
          </a:xfrm>
          <a:prstGeom prst="rect">
            <a:avLst/>
          </a:prstGeom>
          <a:noFill/>
        </p:spPr>
        <p:txBody>
          <a:bodyPr wrap="square" lIns="45720" rIns="45720" tIns="27432" bIns="27432" anchor="t">
            <a:spAutoFit/>
          </a:bodyPr>
          <a:lstStyle/>
          <a:p>
            <a:pPr algn="l"/>
            <a:r>
              <a:rPr sz="2800" b="1" i="0">
                <a:solidFill>
                  <a:srgbClr val="1B3A4B"/>
                </a:solidFill>
                <a:latin typeface="Calibri"/>
              </a:rPr>
              <a:t>Background: communication underground today</a:t>
            </a:r>
          </a:p>
        </p:txBody>
      </p:sp>
      <p:sp>
        <p:nvSpPr>
          <p:cNvPr id="6" name="Footer rule"/>
          <p:cNvSpPr/>
          <p:nvPr/>
        </p:nvSpPr>
        <p:spPr>
          <a:xfrm>
            <a:off x="457200" y="6565392"/>
            <a:ext cx="11292840" cy="9144"/>
          </a:xfrm>
          <a:prstGeom prst="rect">
            <a:avLst/>
          </a:prstGeom>
          <a:solidFill>
            <a:srgbClr val="D0D0D0"/>
          </a:solidFill>
          <a:ln>
            <a:noFill/>
          </a:ln>
        </p:spPr>
        <p:txBody>
          <a:bodyPr rtlCol="0" anchor="ctr"/>
          <a:lstStyle/>
          <a:p>
            <a:pPr algn="ctr"/>
          </a:p>
        </p:txBody>
      </p:sp>
      <p:sp>
        <p:nvSpPr>
          <p:cNvPr id="7"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Background and problem</a:t>
            </a:r>
          </a:p>
        </p:txBody>
      </p:sp>
      <p:sp>
        <p:nvSpPr>
          <p:cNvPr id="8"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3  /  15</a:t>
            </a:r>
          </a:p>
        </p:txBody>
      </p:sp>
      <p:sp>
        <p:nvSpPr>
          <p:cNvPr id="9" name="TextBox 8"/>
          <p:cNvSpPr txBox="1"/>
          <p:nvPr/>
        </p:nvSpPr>
        <p:spPr>
          <a:xfrm>
            <a:off x="457200" y="1005840"/>
            <a:ext cx="11247120" cy="411480"/>
          </a:xfrm>
          <a:prstGeom prst="rect">
            <a:avLst/>
          </a:prstGeom>
          <a:noFill/>
        </p:spPr>
        <p:txBody>
          <a:bodyPr wrap="square" lIns="45720" rIns="45720" tIns="27432" bIns="27432" anchor="t">
            <a:spAutoFit/>
          </a:bodyPr>
          <a:lstStyle/>
          <a:p>
            <a:pPr algn="l"/>
            <a:r>
              <a:rPr sz="1800" b="0" i="0">
                <a:solidFill>
                  <a:srgbClr val="1C2430"/>
                </a:solidFill>
                <a:latin typeface="Calibri"/>
              </a:rPr>
              <a:t>Miners at the face depend on a link that rock, water and ground movement regularly remove.</a:t>
            </a:r>
          </a:p>
        </p:txBody>
      </p:sp>
      <p:sp>
        <p:nvSpPr>
          <p:cNvPr id="10" name="Rectangle 9"/>
          <p:cNvSpPr/>
          <p:nvPr/>
        </p:nvSpPr>
        <p:spPr>
          <a:xfrm>
            <a:off x="457200" y="1554480"/>
            <a:ext cx="11292840" cy="548640"/>
          </a:xfrm>
          <a:prstGeom prst="rect">
            <a:avLst/>
          </a:prstGeom>
          <a:solidFill>
            <a:srgbClr val="F2F7FB"/>
          </a:solidFill>
          <a:ln>
            <a:noFill/>
          </a:ln>
        </p:spPr>
        <p:txBody>
          <a:bodyPr rtlCol="0" anchor="ctr"/>
          <a:lstStyle/>
          <a:p>
            <a:pPr algn="ctr"/>
          </a:p>
        </p:txBody>
      </p:sp>
      <p:sp>
        <p:nvSpPr>
          <p:cNvPr id="11" name="Rectangle 10"/>
          <p:cNvSpPr/>
          <p:nvPr/>
        </p:nvSpPr>
        <p:spPr>
          <a:xfrm>
            <a:off x="457200" y="2057400"/>
            <a:ext cx="11292840" cy="91440"/>
          </a:xfrm>
          <a:prstGeom prst="rect">
            <a:avLst/>
          </a:prstGeom>
          <a:solidFill>
            <a:srgbClr val="7C9A5B"/>
          </a:solidFill>
          <a:ln>
            <a:noFill/>
          </a:ln>
        </p:spPr>
        <p:txBody>
          <a:bodyPr rtlCol="0" anchor="ctr"/>
          <a:lstStyle/>
          <a:p>
            <a:pPr algn="ctr"/>
          </a:p>
        </p:txBody>
      </p:sp>
      <p:pic>
        <p:nvPicPr>
          <p:cNvPr id="12" name="Picture" descr="Rock texture"/>
          <p:cNvPicPr>
            <a:picLocks noChangeAspect="1"/>
          </p:cNvPicPr>
          <p:nvPr/>
        </p:nvPicPr>
        <p:blipFill>
          <a:blip r:embed="rId2"/>
          <a:srcRect l="212" r="679"/>
          <a:stretch>
            <a:fillRect/>
          </a:stretch>
        </p:blipFill>
        <p:spPr>
          <a:xfrm>
            <a:off x="457200" y="2148840"/>
            <a:ext cx="3773423" cy="640080"/>
          </a:xfrm>
          <a:prstGeom prst="rect">
            <a:avLst/>
          </a:prstGeom>
        </p:spPr>
      </p:pic>
      <p:pic>
        <p:nvPicPr>
          <p:cNvPr id="13" name="Picture" descr="Rock texture"/>
          <p:cNvPicPr>
            <a:picLocks noChangeAspect="1"/>
          </p:cNvPicPr>
          <p:nvPr/>
        </p:nvPicPr>
        <p:blipFill>
          <a:blip r:embed="rId2"/>
          <a:srcRect l="210" r="681"/>
          <a:stretch>
            <a:fillRect/>
          </a:stretch>
        </p:blipFill>
        <p:spPr>
          <a:xfrm>
            <a:off x="4221480" y="2148840"/>
            <a:ext cx="3773423" cy="640080"/>
          </a:xfrm>
          <a:prstGeom prst="rect">
            <a:avLst/>
          </a:prstGeom>
        </p:spPr>
      </p:pic>
      <p:pic>
        <p:nvPicPr>
          <p:cNvPr id="14" name="Picture" descr="Rock texture"/>
          <p:cNvPicPr>
            <a:picLocks noChangeAspect="1"/>
          </p:cNvPicPr>
          <p:nvPr/>
        </p:nvPicPr>
        <p:blipFill>
          <a:blip r:embed="rId2"/>
          <a:srcRect l="705" r="427"/>
          <a:stretch>
            <a:fillRect/>
          </a:stretch>
        </p:blipFill>
        <p:spPr>
          <a:xfrm>
            <a:off x="7985759" y="2148840"/>
            <a:ext cx="3764279" cy="640080"/>
          </a:xfrm>
          <a:prstGeom prst="rect">
            <a:avLst/>
          </a:prstGeom>
        </p:spPr>
      </p:pic>
      <p:sp>
        <p:nvSpPr>
          <p:cNvPr id="15" name="Rectangle 14"/>
          <p:cNvSpPr/>
          <p:nvPr/>
        </p:nvSpPr>
        <p:spPr>
          <a:xfrm>
            <a:off x="457200" y="2788920"/>
            <a:ext cx="11292840" cy="1554480"/>
          </a:xfrm>
          <a:prstGeom prst="rect">
            <a:avLst/>
          </a:prstGeom>
          <a:solidFill>
            <a:srgbClr val="F4F1EC"/>
          </a:solidFill>
          <a:ln>
            <a:noFill/>
          </a:ln>
        </p:spPr>
        <p:txBody>
          <a:bodyPr rtlCol="0" anchor="ctr"/>
          <a:lstStyle/>
          <a:p>
            <a:pPr algn="ctr"/>
          </a:p>
        </p:txBody>
      </p:sp>
      <p:sp>
        <p:nvSpPr>
          <p:cNvPr id="16" name="Rectangle 15"/>
          <p:cNvSpPr/>
          <p:nvPr/>
        </p:nvSpPr>
        <p:spPr>
          <a:xfrm>
            <a:off x="457200" y="4261104"/>
            <a:ext cx="11292840" cy="82296"/>
          </a:xfrm>
          <a:prstGeom prst="rect">
            <a:avLst/>
          </a:prstGeom>
          <a:solidFill>
            <a:srgbClr val="D8D2C6"/>
          </a:solidFill>
          <a:ln>
            <a:noFill/>
          </a:ln>
        </p:spPr>
        <p:txBody>
          <a:bodyPr rtlCol="0" anchor="ctr"/>
          <a:lstStyle/>
          <a:p>
            <a:pPr algn="ctr"/>
          </a:p>
        </p:txBody>
      </p:sp>
      <p:sp>
        <p:nvSpPr>
          <p:cNvPr id="17" name="Rectangle 16"/>
          <p:cNvSpPr/>
          <p:nvPr/>
        </p:nvSpPr>
        <p:spPr>
          <a:xfrm>
            <a:off x="457200" y="2788920"/>
            <a:ext cx="11292840" cy="36576"/>
          </a:xfrm>
          <a:prstGeom prst="rect">
            <a:avLst/>
          </a:prstGeom>
          <a:solidFill>
            <a:srgbClr val="7A6350"/>
          </a:solidFill>
          <a:ln>
            <a:noFill/>
          </a:ln>
        </p:spPr>
        <p:txBody>
          <a:bodyPr rtlCol="0" anchor="ctr"/>
          <a:lstStyle/>
          <a:p>
            <a:pPr algn="ctr"/>
          </a:p>
        </p:txBody>
      </p:sp>
      <p:pic>
        <p:nvPicPr>
          <p:cNvPr id="18" name="Picture" descr="Rock texture"/>
          <p:cNvPicPr>
            <a:picLocks noChangeAspect="1"/>
          </p:cNvPicPr>
          <p:nvPr/>
        </p:nvPicPr>
        <p:blipFill>
          <a:blip r:embed="rId2"/>
          <a:srcRect l="3011" r="10269"/>
          <a:stretch>
            <a:fillRect/>
          </a:stretch>
        </p:blipFill>
        <p:spPr>
          <a:xfrm>
            <a:off x="457200" y="4343400"/>
            <a:ext cx="3773423" cy="731520"/>
          </a:xfrm>
          <a:prstGeom prst="rect">
            <a:avLst/>
          </a:prstGeom>
        </p:spPr>
      </p:pic>
      <p:pic>
        <p:nvPicPr>
          <p:cNvPr id="19" name="Picture" descr="Rock texture"/>
          <p:cNvPicPr>
            <a:picLocks noChangeAspect="1"/>
          </p:cNvPicPr>
          <p:nvPr/>
        </p:nvPicPr>
        <p:blipFill>
          <a:blip r:embed="rId2"/>
          <a:srcRect l="6149" r="7131"/>
          <a:stretch>
            <a:fillRect/>
          </a:stretch>
        </p:blipFill>
        <p:spPr>
          <a:xfrm>
            <a:off x="4221480" y="4343400"/>
            <a:ext cx="3773423" cy="731520"/>
          </a:xfrm>
          <a:prstGeom prst="rect">
            <a:avLst/>
          </a:prstGeom>
        </p:spPr>
      </p:pic>
      <p:pic>
        <p:nvPicPr>
          <p:cNvPr id="20" name="Picture" descr="Rock texture"/>
          <p:cNvPicPr>
            <a:picLocks noChangeAspect="1"/>
          </p:cNvPicPr>
          <p:nvPr/>
        </p:nvPicPr>
        <p:blipFill>
          <a:blip r:embed="rId2"/>
          <a:srcRect l="7708" r="5782"/>
          <a:stretch>
            <a:fillRect/>
          </a:stretch>
        </p:blipFill>
        <p:spPr>
          <a:xfrm>
            <a:off x="7985759" y="4343400"/>
            <a:ext cx="3764279" cy="731520"/>
          </a:xfrm>
          <a:prstGeom prst="rect">
            <a:avLst/>
          </a:prstGeom>
        </p:spPr>
      </p:pic>
      <p:pic>
        <p:nvPicPr>
          <p:cNvPr id="21" name="Picture" descr="Monitoring dashboard"/>
          <p:cNvPicPr>
            <a:picLocks noChangeAspect="1"/>
          </p:cNvPicPr>
          <p:nvPr/>
        </p:nvPicPr>
        <p:blipFill>
          <a:blip r:embed="rId3"/>
          <a:stretch>
            <a:fillRect/>
          </a:stretch>
        </p:blipFill>
        <p:spPr>
          <a:xfrm>
            <a:off x="1097280" y="1591056"/>
            <a:ext cx="590525" cy="475488"/>
          </a:xfrm>
          <a:prstGeom prst="rect">
            <a:avLst/>
          </a:prstGeom>
        </p:spPr>
      </p:pic>
      <p:sp>
        <p:nvSpPr>
          <p:cNvPr id="22" name="TextBox 21"/>
          <p:cNvSpPr txBox="1"/>
          <p:nvPr/>
        </p:nvSpPr>
        <p:spPr>
          <a:xfrm>
            <a:off x="2377440" y="1627632"/>
            <a:ext cx="2194560" cy="365760"/>
          </a:xfrm>
          <a:prstGeom prst="rect">
            <a:avLst/>
          </a:prstGeom>
          <a:noFill/>
        </p:spPr>
        <p:txBody>
          <a:bodyPr wrap="square" lIns="45720" rIns="45720" tIns="27432" bIns="27432" anchor="t">
            <a:spAutoFit/>
          </a:bodyPr>
          <a:lstStyle/>
          <a:p>
            <a:pPr algn="l"/>
            <a:r>
              <a:rPr sz="1400" b="1" i="0">
                <a:solidFill>
                  <a:srgbClr val="1B3A4B"/>
                </a:solidFill>
                <a:latin typeface="Calibri"/>
              </a:rPr>
              <a:t>Surface control room</a:t>
            </a:r>
          </a:p>
        </p:txBody>
      </p:sp>
      <p:cxnSp>
        <p:nvCxnSpPr>
          <p:cNvPr id="23" name="Connector 22"/>
          <p:cNvCxnSpPr/>
          <p:nvPr/>
        </p:nvCxnSpPr>
        <p:spPr>
          <a:xfrm>
            <a:off x="1600200" y="2148840"/>
            <a:ext cx="0" cy="1920240"/>
          </a:xfrm>
          <a:prstGeom prst="line">
            <a:avLst/>
          </a:prstGeom>
          <a:ln w="28575">
            <a:solidFill>
              <a:srgbClr val="6B7780"/>
            </a:solidFill>
          </a:ln>
        </p:spPr>
      </p:cxnSp>
      <p:cxnSp>
        <p:nvCxnSpPr>
          <p:cNvPr id="24" name="Connector 23"/>
          <p:cNvCxnSpPr/>
          <p:nvPr/>
        </p:nvCxnSpPr>
        <p:spPr>
          <a:xfrm>
            <a:off x="1600200" y="4069080"/>
            <a:ext cx="3337560" cy="0"/>
          </a:xfrm>
          <a:prstGeom prst="line">
            <a:avLst/>
          </a:prstGeom>
          <a:ln w="28575">
            <a:solidFill>
              <a:srgbClr val="6B7780"/>
            </a:solidFill>
          </a:ln>
        </p:spPr>
      </p:cxnSp>
      <p:cxnSp>
        <p:nvCxnSpPr>
          <p:cNvPr id="25" name="Connector 24"/>
          <p:cNvCxnSpPr/>
          <p:nvPr/>
        </p:nvCxnSpPr>
        <p:spPr>
          <a:xfrm>
            <a:off x="6126480" y="4069080"/>
            <a:ext cx="4389120" cy="0"/>
          </a:xfrm>
          <a:prstGeom prst="line">
            <a:avLst/>
          </a:prstGeom>
          <a:ln w="28575">
            <a:solidFill>
              <a:srgbClr val="6B7780"/>
            </a:solidFill>
            <a:prstDash val="dash"/>
          </a:ln>
        </p:spPr>
      </p:cxnSp>
      <p:sp>
        <p:nvSpPr>
          <p:cNvPr id="26" name="Rounded Rectangle 25"/>
          <p:cNvSpPr/>
          <p:nvPr/>
        </p:nvSpPr>
        <p:spPr>
          <a:xfrm>
            <a:off x="5452573" y="3795994"/>
            <a:ext cx="260270" cy="341356"/>
          </a:xfrm>
          <a:prstGeom prst="roundRect">
            <a:avLst>
              <a:gd name="adj" fmla="val 30000"/>
            </a:avLst>
          </a:prstGeom>
          <a:solidFill>
            <a:srgbClr val="7A6A58"/>
          </a:solidFill>
          <a:ln>
            <a:noFill/>
          </a:ln>
        </p:spPr>
        <p:txBody>
          <a:bodyPr rtlCol="0" anchor="ctr"/>
          <a:lstStyle/>
          <a:p>
            <a:pPr algn="ctr"/>
          </a:p>
        </p:txBody>
      </p:sp>
      <p:sp>
        <p:nvSpPr>
          <p:cNvPr id="27" name="Rounded Rectangle 26"/>
          <p:cNvSpPr/>
          <p:nvPr/>
        </p:nvSpPr>
        <p:spPr>
          <a:xfrm>
            <a:off x="5338564" y="3729858"/>
            <a:ext cx="366834" cy="243966"/>
          </a:xfrm>
          <a:prstGeom prst="roundRect">
            <a:avLst>
              <a:gd name="adj" fmla="val 30000"/>
            </a:avLst>
          </a:prstGeom>
          <a:solidFill>
            <a:srgbClr val="6B5D4D"/>
          </a:solidFill>
          <a:ln>
            <a:noFill/>
          </a:ln>
        </p:spPr>
        <p:txBody>
          <a:bodyPr rtlCol="0" anchor="ctr"/>
          <a:lstStyle/>
          <a:p>
            <a:pPr algn="ctr"/>
          </a:p>
        </p:txBody>
      </p:sp>
      <p:sp>
        <p:nvSpPr>
          <p:cNvPr id="28" name="Rounded Rectangle 27"/>
          <p:cNvSpPr/>
          <p:nvPr/>
        </p:nvSpPr>
        <p:spPr>
          <a:xfrm>
            <a:off x="5669369" y="3536392"/>
            <a:ext cx="267328" cy="355923"/>
          </a:xfrm>
          <a:prstGeom prst="roundRect">
            <a:avLst>
              <a:gd name="adj" fmla="val 30000"/>
            </a:avLst>
          </a:prstGeom>
          <a:solidFill>
            <a:srgbClr val="6B5D4D"/>
          </a:solidFill>
          <a:ln>
            <a:noFill/>
          </a:ln>
        </p:spPr>
        <p:txBody>
          <a:bodyPr rtlCol="0" anchor="ctr"/>
          <a:lstStyle/>
          <a:p>
            <a:pPr algn="ctr"/>
          </a:p>
        </p:txBody>
      </p:sp>
      <p:sp>
        <p:nvSpPr>
          <p:cNvPr id="29" name="Rounded Rectangle 28"/>
          <p:cNvSpPr/>
          <p:nvPr/>
        </p:nvSpPr>
        <p:spPr>
          <a:xfrm>
            <a:off x="5415613" y="3945871"/>
            <a:ext cx="240334" cy="207097"/>
          </a:xfrm>
          <a:prstGeom prst="roundRect">
            <a:avLst>
              <a:gd name="adj" fmla="val 30000"/>
            </a:avLst>
          </a:prstGeom>
          <a:solidFill>
            <a:srgbClr val="6B5D4D"/>
          </a:solidFill>
          <a:ln>
            <a:noFill/>
          </a:ln>
        </p:spPr>
        <p:txBody>
          <a:bodyPr rtlCol="0" anchor="ctr"/>
          <a:lstStyle/>
          <a:p>
            <a:pPr algn="ctr"/>
          </a:p>
        </p:txBody>
      </p:sp>
      <p:sp>
        <p:nvSpPr>
          <p:cNvPr id="30" name="Rounded Rectangle 29"/>
          <p:cNvSpPr/>
          <p:nvPr/>
        </p:nvSpPr>
        <p:spPr>
          <a:xfrm>
            <a:off x="5087106" y="3565471"/>
            <a:ext cx="409101" cy="345142"/>
          </a:xfrm>
          <a:prstGeom prst="roundRect">
            <a:avLst>
              <a:gd name="adj" fmla="val 30000"/>
            </a:avLst>
          </a:prstGeom>
          <a:solidFill>
            <a:srgbClr val="8A7A66"/>
          </a:solidFill>
          <a:ln>
            <a:noFill/>
          </a:ln>
        </p:spPr>
        <p:txBody>
          <a:bodyPr rtlCol="0" anchor="ctr"/>
          <a:lstStyle/>
          <a:p>
            <a:pPr algn="ctr"/>
          </a:p>
        </p:txBody>
      </p:sp>
      <p:sp>
        <p:nvSpPr>
          <p:cNvPr id="31" name="Rounded Rectangle 30"/>
          <p:cNvSpPr/>
          <p:nvPr/>
        </p:nvSpPr>
        <p:spPr>
          <a:xfrm>
            <a:off x="5216615" y="3904999"/>
            <a:ext cx="409878" cy="345565"/>
          </a:xfrm>
          <a:prstGeom prst="roundRect">
            <a:avLst>
              <a:gd name="adj" fmla="val 30000"/>
            </a:avLst>
          </a:prstGeom>
          <a:solidFill>
            <a:srgbClr val="8A7A66"/>
          </a:solidFill>
          <a:ln>
            <a:noFill/>
          </a:ln>
        </p:spPr>
        <p:txBody>
          <a:bodyPr rtlCol="0" anchor="ctr"/>
          <a:lstStyle/>
          <a:p>
            <a:pPr algn="ctr"/>
          </a:p>
        </p:txBody>
      </p:sp>
      <p:sp>
        <p:nvSpPr>
          <p:cNvPr id="32" name="Rounded Rectangle 31"/>
          <p:cNvSpPr/>
          <p:nvPr/>
        </p:nvSpPr>
        <p:spPr>
          <a:xfrm>
            <a:off x="5862565" y="3779000"/>
            <a:ext cx="306703" cy="190779"/>
          </a:xfrm>
          <a:prstGeom prst="roundRect">
            <a:avLst>
              <a:gd name="adj" fmla="val 30000"/>
            </a:avLst>
          </a:prstGeom>
          <a:solidFill>
            <a:srgbClr val="6B5D4D"/>
          </a:solidFill>
          <a:ln>
            <a:noFill/>
          </a:ln>
        </p:spPr>
        <p:txBody>
          <a:bodyPr rtlCol="0" anchor="ctr"/>
          <a:lstStyle/>
          <a:p>
            <a:pPr algn="ctr"/>
          </a:p>
        </p:txBody>
      </p:sp>
      <p:sp>
        <p:nvSpPr>
          <p:cNvPr id="33" name="Rounded Rectangle 32"/>
          <p:cNvSpPr/>
          <p:nvPr/>
        </p:nvSpPr>
        <p:spPr>
          <a:xfrm>
            <a:off x="5839723" y="3425800"/>
            <a:ext cx="241124" cy="252157"/>
          </a:xfrm>
          <a:prstGeom prst="roundRect">
            <a:avLst>
              <a:gd name="adj" fmla="val 30000"/>
            </a:avLst>
          </a:prstGeom>
          <a:solidFill>
            <a:srgbClr val="8A7A66"/>
          </a:solidFill>
          <a:ln>
            <a:noFill/>
          </a:ln>
        </p:spPr>
        <p:txBody>
          <a:bodyPr rtlCol="0" anchor="ctr"/>
          <a:lstStyle/>
          <a:p>
            <a:pPr algn="ctr"/>
          </a:p>
        </p:txBody>
      </p:sp>
      <p:sp>
        <p:nvSpPr>
          <p:cNvPr id="34" name="Rounded Rectangle 33"/>
          <p:cNvSpPr/>
          <p:nvPr/>
        </p:nvSpPr>
        <p:spPr>
          <a:xfrm>
            <a:off x="5156432" y="3895904"/>
            <a:ext cx="396903" cy="338461"/>
          </a:xfrm>
          <a:prstGeom prst="roundRect">
            <a:avLst>
              <a:gd name="adj" fmla="val 30000"/>
            </a:avLst>
          </a:prstGeom>
          <a:solidFill>
            <a:srgbClr val="6B5D4D"/>
          </a:solidFill>
          <a:ln>
            <a:noFill/>
          </a:ln>
        </p:spPr>
        <p:txBody>
          <a:bodyPr rtlCol="0" anchor="ctr"/>
          <a:lstStyle/>
          <a:p>
            <a:pPr algn="ctr"/>
          </a:p>
        </p:txBody>
      </p:sp>
      <p:sp>
        <p:nvSpPr>
          <p:cNvPr id="35" name="Rounded Rectangle 34"/>
          <p:cNvSpPr/>
          <p:nvPr/>
        </p:nvSpPr>
        <p:spPr>
          <a:xfrm>
            <a:off x="5032742" y="3509933"/>
            <a:ext cx="273787" cy="338729"/>
          </a:xfrm>
          <a:prstGeom prst="roundRect">
            <a:avLst>
              <a:gd name="adj" fmla="val 30000"/>
            </a:avLst>
          </a:prstGeom>
          <a:solidFill>
            <a:srgbClr val="8A7A66"/>
          </a:solidFill>
          <a:ln>
            <a:noFill/>
          </a:ln>
        </p:spPr>
        <p:txBody>
          <a:bodyPr rtlCol="0" anchor="ctr"/>
          <a:lstStyle/>
          <a:p>
            <a:pPr algn="ctr"/>
          </a:p>
        </p:txBody>
      </p:sp>
      <p:sp>
        <p:nvSpPr>
          <p:cNvPr id="36" name="Rounded Rectangle 35"/>
          <p:cNvSpPr/>
          <p:nvPr/>
        </p:nvSpPr>
        <p:spPr>
          <a:xfrm>
            <a:off x="5036746" y="4007995"/>
            <a:ext cx="351991" cy="186073"/>
          </a:xfrm>
          <a:prstGeom prst="roundRect">
            <a:avLst>
              <a:gd name="adj" fmla="val 30000"/>
            </a:avLst>
          </a:prstGeom>
          <a:solidFill>
            <a:srgbClr val="7A6A58"/>
          </a:solidFill>
          <a:ln>
            <a:noFill/>
          </a:ln>
        </p:spPr>
        <p:txBody>
          <a:bodyPr rtlCol="0" anchor="ctr"/>
          <a:lstStyle/>
          <a:p>
            <a:pPr algn="ctr"/>
          </a:p>
        </p:txBody>
      </p:sp>
      <p:sp>
        <p:nvSpPr>
          <p:cNvPr id="37" name="Rounded Rectangle 36"/>
          <p:cNvSpPr/>
          <p:nvPr/>
        </p:nvSpPr>
        <p:spPr>
          <a:xfrm>
            <a:off x="5553131" y="3675823"/>
            <a:ext cx="273902" cy="195465"/>
          </a:xfrm>
          <a:prstGeom prst="roundRect">
            <a:avLst>
              <a:gd name="adj" fmla="val 30000"/>
            </a:avLst>
          </a:prstGeom>
          <a:solidFill>
            <a:srgbClr val="7A6A58"/>
          </a:solidFill>
          <a:ln>
            <a:noFill/>
          </a:ln>
        </p:spPr>
        <p:txBody>
          <a:bodyPr rtlCol="0" anchor="ctr"/>
          <a:lstStyle/>
          <a:p>
            <a:pPr algn="ctr"/>
          </a:p>
        </p:txBody>
      </p:sp>
      <p:sp>
        <p:nvSpPr>
          <p:cNvPr id="38" name="Rounded Rectangle 37"/>
          <p:cNvSpPr/>
          <p:nvPr/>
        </p:nvSpPr>
        <p:spPr>
          <a:xfrm>
            <a:off x="5613243" y="4000743"/>
            <a:ext cx="361142" cy="214436"/>
          </a:xfrm>
          <a:prstGeom prst="roundRect">
            <a:avLst>
              <a:gd name="adj" fmla="val 30000"/>
            </a:avLst>
          </a:prstGeom>
          <a:solidFill>
            <a:srgbClr val="6B5D4D"/>
          </a:solidFill>
          <a:ln>
            <a:noFill/>
          </a:ln>
        </p:spPr>
        <p:txBody>
          <a:bodyPr rtlCol="0" anchor="ctr"/>
          <a:lstStyle/>
          <a:p>
            <a:pPr algn="ctr"/>
          </a:p>
        </p:txBody>
      </p:sp>
      <p:sp>
        <p:nvSpPr>
          <p:cNvPr id="39" name="Rounded Rectangle 38"/>
          <p:cNvSpPr/>
          <p:nvPr/>
        </p:nvSpPr>
        <p:spPr>
          <a:xfrm>
            <a:off x="5687234" y="4038941"/>
            <a:ext cx="290320" cy="307828"/>
          </a:xfrm>
          <a:prstGeom prst="roundRect">
            <a:avLst>
              <a:gd name="adj" fmla="val 30000"/>
            </a:avLst>
          </a:prstGeom>
          <a:solidFill>
            <a:srgbClr val="7A6A58"/>
          </a:solidFill>
          <a:ln>
            <a:noFill/>
          </a:ln>
        </p:spPr>
        <p:txBody>
          <a:bodyPr rtlCol="0" anchor="ctr"/>
          <a:lstStyle/>
          <a:p>
            <a:pPr algn="ctr"/>
          </a:p>
        </p:txBody>
      </p:sp>
      <p:sp>
        <p:nvSpPr>
          <p:cNvPr id="40" name="Rounded Rectangle 39"/>
          <p:cNvSpPr/>
          <p:nvPr/>
        </p:nvSpPr>
        <p:spPr>
          <a:xfrm>
            <a:off x="5029200" y="4023360"/>
            <a:ext cx="1097280" cy="228600"/>
          </a:xfrm>
          <a:prstGeom prst="roundRect">
            <a:avLst>
              <a:gd name="adj" fmla="val 30000"/>
            </a:avLst>
          </a:prstGeom>
          <a:solidFill>
            <a:srgbClr val="6B5D4D"/>
          </a:solidFill>
          <a:ln>
            <a:noFill/>
          </a:ln>
        </p:spPr>
        <p:txBody>
          <a:bodyPr rtlCol="0" anchor="ctr"/>
          <a:lstStyle/>
          <a:p>
            <a:pPr algn="ctr"/>
          </a:p>
        </p:txBody>
      </p:sp>
      <p:sp>
        <p:nvSpPr>
          <p:cNvPr id="41" name="Oval 40"/>
          <p:cNvSpPr/>
          <p:nvPr/>
        </p:nvSpPr>
        <p:spPr>
          <a:xfrm>
            <a:off x="5349240" y="3749040"/>
            <a:ext cx="457200" cy="457200"/>
          </a:xfrm>
          <a:prstGeom prst="ellipse">
            <a:avLst/>
          </a:prstGeom>
          <a:solidFill>
            <a:srgbClr val="C8402A"/>
          </a:solidFill>
          <a:ln>
            <a:noFill/>
          </a:ln>
        </p:spPr>
        <p:txBody>
          <a:bodyPr rtlCol="0" anchor="ctr" lIns="36576" rIns="36576" tIns="0" bIns="0" wrap="square"/>
          <a:lstStyle/>
          <a:p>
            <a:pPr algn="ctr"/>
            <a:r>
              <a:rPr sz="1600" b="1">
                <a:solidFill>
                  <a:srgbClr val="FFFFFF"/>
                </a:solidFill>
                <a:latin typeface="Calibri"/>
              </a:rPr>
              <a:t>✕</a:t>
            </a:r>
          </a:p>
        </p:txBody>
      </p:sp>
      <p:sp>
        <p:nvSpPr>
          <p:cNvPr id="42" name="Rounded Rectangle 41"/>
          <p:cNvSpPr/>
          <p:nvPr/>
        </p:nvSpPr>
        <p:spPr>
          <a:xfrm>
            <a:off x="10597896" y="3749040"/>
            <a:ext cx="201168" cy="341985"/>
          </a:xfrm>
          <a:prstGeom prst="roundRect">
            <a:avLst>
              <a:gd name="adj" fmla="val 30000"/>
            </a:avLst>
          </a:prstGeom>
          <a:solidFill>
            <a:srgbClr val="ED7D31"/>
          </a:solidFill>
          <a:ln>
            <a:noFill/>
          </a:ln>
        </p:spPr>
        <p:txBody>
          <a:bodyPr rtlCol="0" anchor="ctr"/>
          <a:lstStyle/>
          <a:p>
            <a:pPr algn="ctr"/>
          </a:p>
        </p:txBody>
      </p:sp>
      <p:sp>
        <p:nvSpPr>
          <p:cNvPr id="43" name="Rectangle 42"/>
          <p:cNvSpPr/>
          <p:nvPr/>
        </p:nvSpPr>
        <p:spPr>
          <a:xfrm>
            <a:off x="10628071" y="4080967"/>
            <a:ext cx="60350" cy="170992"/>
          </a:xfrm>
          <a:prstGeom prst="rect">
            <a:avLst/>
          </a:prstGeom>
          <a:solidFill>
            <a:srgbClr val="0071C1"/>
          </a:solidFill>
          <a:ln>
            <a:noFill/>
          </a:ln>
        </p:spPr>
        <p:txBody>
          <a:bodyPr rtlCol="0" anchor="ctr"/>
          <a:lstStyle/>
          <a:p>
            <a:pPr algn="ctr"/>
          </a:p>
        </p:txBody>
      </p:sp>
      <p:sp>
        <p:nvSpPr>
          <p:cNvPr id="44" name="Rectangle 43"/>
          <p:cNvSpPr/>
          <p:nvPr/>
        </p:nvSpPr>
        <p:spPr>
          <a:xfrm>
            <a:off x="10708538" y="4080967"/>
            <a:ext cx="60350" cy="170992"/>
          </a:xfrm>
          <a:prstGeom prst="rect">
            <a:avLst/>
          </a:prstGeom>
          <a:solidFill>
            <a:srgbClr val="0071C1"/>
          </a:solidFill>
          <a:ln>
            <a:noFill/>
          </a:ln>
        </p:spPr>
        <p:txBody>
          <a:bodyPr rtlCol="0" anchor="ctr"/>
          <a:lstStyle/>
          <a:p>
            <a:pPr algn="ctr"/>
          </a:p>
        </p:txBody>
      </p:sp>
      <p:sp>
        <p:nvSpPr>
          <p:cNvPr id="45" name="Oval 44"/>
          <p:cNvSpPr/>
          <p:nvPr/>
        </p:nvSpPr>
        <p:spPr>
          <a:xfrm>
            <a:off x="10623042" y="3608222"/>
            <a:ext cx="150876" cy="150876"/>
          </a:xfrm>
          <a:prstGeom prst="ellipse">
            <a:avLst/>
          </a:prstGeom>
          <a:solidFill>
            <a:srgbClr val="E7B98F"/>
          </a:solidFill>
          <a:ln>
            <a:noFill/>
          </a:ln>
        </p:spPr>
        <p:txBody>
          <a:bodyPr rtlCol="0" anchor="ctr"/>
          <a:lstStyle/>
          <a:p>
            <a:pPr algn="ctr"/>
          </a:p>
        </p:txBody>
      </p:sp>
      <p:sp>
        <p:nvSpPr>
          <p:cNvPr id="46" name="Oval 45"/>
          <p:cNvSpPr/>
          <p:nvPr/>
        </p:nvSpPr>
        <p:spPr>
          <a:xfrm>
            <a:off x="10597896" y="3567988"/>
            <a:ext cx="201168" cy="100584"/>
          </a:xfrm>
          <a:prstGeom prst="ellipse">
            <a:avLst/>
          </a:prstGeom>
          <a:solidFill>
            <a:srgbClr val="D99A2B"/>
          </a:solidFill>
          <a:ln>
            <a:noFill/>
          </a:ln>
        </p:spPr>
        <p:txBody>
          <a:bodyPr rtlCol="0" anchor="ctr"/>
          <a:lstStyle/>
          <a:p>
            <a:pPr algn="ctr"/>
          </a:p>
        </p:txBody>
      </p:sp>
      <p:sp>
        <p:nvSpPr>
          <p:cNvPr id="47" name="Rounded Rectangle 46"/>
          <p:cNvSpPr/>
          <p:nvPr/>
        </p:nvSpPr>
        <p:spPr>
          <a:xfrm>
            <a:off x="11064240" y="3794760"/>
            <a:ext cx="182880" cy="310896"/>
          </a:xfrm>
          <a:prstGeom prst="roundRect">
            <a:avLst>
              <a:gd name="adj" fmla="val 30000"/>
            </a:avLst>
          </a:prstGeom>
          <a:solidFill>
            <a:srgbClr val="ED7D31"/>
          </a:solidFill>
          <a:ln>
            <a:noFill/>
          </a:ln>
        </p:spPr>
        <p:txBody>
          <a:bodyPr rtlCol="0" anchor="ctr"/>
          <a:lstStyle/>
          <a:p>
            <a:pPr algn="ctr"/>
          </a:p>
        </p:txBody>
      </p:sp>
      <p:sp>
        <p:nvSpPr>
          <p:cNvPr id="48" name="Rectangle 47"/>
          <p:cNvSpPr/>
          <p:nvPr/>
        </p:nvSpPr>
        <p:spPr>
          <a:xfrm>
            <a:off x="11091672" y="4096512"/>
            <a:ext cx="54864" cy="155448"/>
          </a:xfrm>
          <a:prstGeom prst="rect">
            <a:avLst/>
          </a:prstGeom>
          <a:solidFill>
            <a:srgbClr val="0071C1"/>
          </a:solidFill>
          <a:ln>
            <a:noFill/>
          </a:ln>
        </p:spPr>
        <p:txBody>
          <a:bodyPr rtlCol="0" anchor="ctr"/>
          <a:lstStyle/>
          <a:p>
            <a:pPr algn="ctr"/>
          </a:p>
        </p:txBody>
      </p:sp>
      <p:sp>
        <p:nvSpPr>
          <p:cNvPr id="49" name="Rectangle 48"/>
          <p:cNvSpPr/>
          <p:nvPr/>
        </p:nvSpPr>
        <p:spPr>
          <a:xfrm>
            <a:off x="11164824" y="4096512"/>
            <a:ext cx="54864" cy="155448"/>
          </a:xfrm>
          <a:prstGeom prst="rect">
            <a:avLst/>
          </a:prstGeom>
          <a:solidFill>
            <a:srgbClr val="0071C1"/>
          </a:solidFill>
          <a:ln>
            <a:noFill/>
          </a:ln>
        </p:spPr>
        <p:txBody>
          <a:bodyPr rtlCol="0" anchor="ctr"/>
          <a:lstStyle/>
          <a:p>
            <a:pPr algn="ctr"/>
          </a:p>
        </p:txBody>
      </p:sp>
      <p:sp>
        <p:nvSpPr>
          <p:cNvPr id="50" name="Oval 49"/>
          <p:cNvSpPr/>
          <p:nvPr/>
        </p:nvSpPr>
        <p:spPr>
          <a:xfrm>
            <a:off x="11087100" y="3666744"/>
            <a:ext cx="137160" cy="137160"/>
          </a:xfrm>
          <a:prstGeom prst="ellipse">
            <a:avLst/>
          </a:prstGeom>
          <a:solidFill>
            <a:srgbClr val="E7B98F"/>
          </a:solidFill>
          <a:ln>
            <a:noFill/>
          </a:ln>
        </p:spPr>
        <p:txBody>
          <a:bodyPr rtlCol="0" anchor="ctr"/>
          <a:lstStyle/>
          <a:p>
            <a:pPr algn="ctr"/>
          </a:p>
        </p:txBody>
      </p:sp>
      <p:sp>
        <p:nvSpPr>
          <p:cNvPr id="51" name="Oval 50"/>
          <p:cNvSpPr/>
          <p:nvPr/>
        </p:nvSpPr>
        <p:spPr>
          <a:xfrm>
            <a:off x="11064240" y="3630168"/>
            <a:ext cx="182880" cy="91440"/>
          </a:xfrm>
          <a:prstGeom prst="ellipse">
            <a:avLst/>
          </a:prstGeom>
          <a:solidFill>
            <a:srgbClr val="D99A2B"/>
          </a:solidFill>
          <a:ln>
            <a:noFill/>
          </a:ln>
        </p:spPr>
        <p:txBody>
          <a:bodyPr rtlCol="0" anchor="ctr"/>
          <a:lstStyle/>
          <a:p>
            <a:pPr algn="ctr"/>
          </a:p>
        </p:txBody>
      </p:sp>
      <p:pic>
        <p:nvPicPr>
          <p:cNvPr id="52" name="Picture" descr="Rock texture"/>
          <p:cNvPicPr>
            <a:picLocks noChangeAspect="1"/>
          </p:cNvPicPr>
          <p:nvPr/>
        </p:nvPicPr>
        <p:blipFill>
          <a:blip r:embed="rId2"/>
          <a:srcRect l="60442" r="36591"/>
          <a:stretch>
            <a:fillRect/>
          </a:stretch>
        </p:blipFill>
        <p:spPr>
          <a:xfrm>
            <a:off x="11475720" y="2788920"/>
            <a:ext cx="274320" cy="1554480"/>
          </a:xfrm>
          <a:prstGeom prst="rect">
            <a:avLst/>
          </a:prstGeom>
        </p:spPr>
      </p:pic>
      <p:sp>
        <p:nvSpPr>
          <p:cNvPr id="53" name="Rounded Rectangle 52"/>
          <p:cNvSpPr/>
          <p:nvPr/>
        </p:nvSpPr>
        <p:spPr>
          <a:xfrm>
            <a:off x="2743200" y="2423160"/>
            <a:ext cx="2286000" cy="566928"/>
          </a:xfrm>
          <a:prstGeom prst="roundRect">
            <a:avLst>
              <a:gd name="adj" fmla="val 15000"/>
            </a:avLst>
          </a:prstGeom>
          <a:solidFill>
            <a:srgbClr val="FFFFFF"/>
          </a:solidFill>
          <a:ln w="15875">
            <a:solidFill>
              <a:srgbClr val="1B3A4B"/>
            </a:solidFill>
          </a:ln>
        </p:spPr>
        <p:txBody>
          <a:bodyPr rtlCol="0" anchor="ctr" lIns="36576" rIns="36576" tIns="0" bIns="0" wrap="square"/>
          <a:lstStyle/>
          <a:p>
            <a:pPr algn="ctr"/>
            <a:r>
              <a:rPr sz="1400" b="1">
                <a:solidFill>
                  <a:srgbClr val="1B3A4B"/>
                </a:solidFill>
                <a:latin typeface="Calibri"/>
              </a:rPr>
              <a:t>Wi-Fi, LTE: no signal in rock</a:t>
            </a:r>
          </a:p>
        </p:txBody>
      </p:sp>
      <p:sp>
        <p:nvSpPr>
          <p:cNvPr id="54" name="Rounded Rectangle 53"/>
          <p:cNvSpPr/>
          <p:nvPr/>
        </p:nvSpPr>
        <p:spPr>
          <a:xfrm>
            <a:off x="5029200" y="2423160"/>
            <a:ext cx="2468880" cy="566928"/>
          </a:xfrm>
          <a:prstGeom prst="roundRect">
            <a:avLst>
              <a:gd name="adj" fmla="val 15000"/>
            </a:avLst>
          </a:prstGeom>
          <a:solidFill>
            <a:srgbClr val="FFFFFF"/>
          </a:solidFill>
          <a:ln w="15875">
            <a:solidFill>
              <a:srgbClr val="C8402A"/>
            </a:solidFill>
          </a:ln>
        </p:spPr>
        <p:txBody>
          <a:bodyPr rtlCol="0" anchor="ctr" lIns="36576" rIns="36576" tIns="0" bIns="0" wrap="square"/>
          <a:lstStyle/>
          <a:p>
            <a:pPr algn="ctr"/>
            <a:r>
              <a:rPr sz="1400" b="1">
                <a:solidFill>
                  <a:srgbClr val="C8402A"/>
                </a:solidFill>
                <a:latin typeface="Calibri"/>
              </a:rPr>
              <a:t>Cable cut by fall, water, machines</a:t>
            </a:r>
          </a:p>
        </p:txBody>
      </p:sp>
      <p:sp>
        <p:nvSpPr>
          <p:cNvPr id="55" name="Rounded Rectangle 54"/>
          <p:cNvSpPr/>
          <p:nvPr/>
        </p:nvSpPr>
        <p:spPr>
          <a:xfrm>
            <a:off x="7772400" y="2423160"/>
            <a:ext cx="2560320" cy="566928"/>
          </a:xfrm>
          <a:prstGeom prst="roundRect">
            <a:avLst>
              <a:gd name="adj" fmla="val 15000"/>
            </a:avLst>
          </a:prstGeom>
          <a:solidFill>
            <a:srgbClr val="FFFFFF"/>
          </a:solidFill>
          <a:ln w="15875">
            <a:solidFill>
              <a:srgbClr val="1B3A4B"/>
            </a:solidFill>
          </a:ln>
        </p:spPr>
        <p:txBody>
          <a:bodyPr rtlCol="0" anchor="ctr" lIns="36576" rIns="36576" tIns="0" bIns="0" wrap="square"/>
          <a:lstStyle/>
          <a:p>
            <a:pPr algn="ctr"/>
            <a:r>
              <a:rPr sz="1400" b="1">
                <a:solidFill>
                  <a:srgbClr val="1B3A4B"/>
                </a:solidFill>
                <a:latin typeface="Calibri"/>
              </a:rPr>
              <a:t>Voice and text do not show the face</a:t>
            </a:r>
          </a:p>
        </p:txBody>
      </p:sp>
      <p:sp>
        <p:nvSpPr>
          <p:cNvPr id="56" name="Rectangle 55"/>
          <p:cNvSpPr/>
          <p:nvPr/>
        </p:nvSpPr>
        <p:spPr>
          <a:xfrm>
            <a:off x="457200" y="1554480"/>
            <a:ext cx="11292840" cy="3520440"/>
          </a:xfrm>
          <a:prstGeom prst="rect">
            <a:avLst/>
          </a:prstGeom>
          <a:noFill/>
          <a:ln w="9525">
            <a:solidFill>
              <a:srgbClr val="9A9A9A"/>
            </a:solidFill>
          </a:ln>
        </p:spPr>
        <p:txBody>
          <a:bodyPr rtlCol="0" anchor="ctr"/>
          <a:lstStyle/>
          <a:p>
            <a:pPr algn="ctr"/>
          </a:p>
        </p:txBody>
      </p:sp>
      <p:sp>
        <p:nvSpPr>
          <p:cNvPr id="57" name="TextBox 56"/>
          <p:cNvSpPr txBox="1"/>
          <p:nvPr/>
        </p:nvSpPr>
        <p:spPr>
          <a:xfrm>
            <a:off x="457200" y="5212080"/>
            <a:ext cx="5486400" cy="365760"/>
          </a:xfrm>
          <a:prstGeom prst="rect">
            <a:avLst/>
          </a:prstGeom>
          <a:noFill/>
        </p:spPr>
        <p:txBody>
          <a:bodyPr wrap="square" lIns="45720" rIns="45720" tIns="27432" bIns="27432" anchor="t">
            <a:spAutoFit/>
          </a:bodyPr>
          <a:lstStyle/>
          <a:p>
            <a:pPr algn="l"/>
            <a:r>
              <a:rPr sz="1700" b="1" i="0">
                <a:solidFill>
                  <a:srgbClr val="1B3A4B"/>
                </a:solidFill>
                <a:latin typeface="Calibri"/>
              </a:rPr>
              <a:t>What mines use now</a:t>
            </a:r>
          </a:p>
        </p:txBody>
      </p:sp>
      <p:sp>
        <p:nvSpPr>
          <p:cNvPr id="58" name="Rounded Rectangle 57"/>
          <p:cNvSpPr/>
          <p:nvPr/>
        </p:nvSpPr>
        <p:spPr>
          <a:xfrm>
            <a:off x="457200" y="5623560"/>
            <a:ext cx="1874519" cy="457200"/>
          </a:xfrm>
          <a:prstGeom prst="roundRect">
            <a:avLst>
              <a:gd name="adj" fmla="val 30000"/>
            </a:avLst>
          </a:prstGeom>
          <a:solidFill>
            <a:srgbClr val="E9E9E9"/>
          </a:solidFill>
          <a:ln>
            <a:noFill/>
          </a:ln>
        </p:spPr>
        <p:txBody>
          <a:bodyPr rtlCol="0" anchor="ctr" lIns="36576" rIns="36576" tIns="0" bIns="0" wrap="square"/>
          <a:lstStyle/>
          <a:p>
            <a:pPr algn="ctr"/>
            <a:r>
              <a:rPr sz="1400" b="0">
                <a:solidFill>
                  <a:srgbClr val="1C2430"/>
                </a:solidFill>
                <a:latin typeface="Calibri"/>
              </a:rPr>
              <a:t>Wired phones</a:t>
            </a:r>
          </a:p>
        </p:txBody>
      </p:sp>
      <p:sp>
        <p:nvSpPr>
          <p:cNvPr id="59" name="Rounded Rectangle 58"/>
          <p:cNvSpPr/>
          <p:nvPr/>
        </p:nvSpPr>
        <p:spPr>
          <a:xfrm>
            <a:off x="2423160" y="5623560"/>
            <a:ext cx="1874519" cy="457200"/>
          </a:xfrm>
          <a:prstGeom prst="roundRect">
            <a:avLst>
              <a:gd name="adj" fmla="val 30000"/>
            </a:avLst>
          </a:prstGeom>
          <a:solidFill>
            <a:srgbClr val="E9E9E9"/>
          </a:solidFill>
          <a:ln>
            <a:noFill/>
          </a:ln>
        </p:spPr>
        <p:txBody>
          <a:bodyPr rtlCol="0" anchor="ctr" lIns="36576" rIns="36576" tIns="0" bIns="0" wrap="square"/>
          <a:lstStyle/>
          <a:p>
            <a:pPr algn="ctr"/>
            <a:r>
              <a:rPr sz="1400" b="0">
                <a:solidFill>
                  <a:srgbClr val="1C2430"/>
                </a:solidFill>
                <a:latin typeface="Calibri"/>
              </a:rPr>
              <a:t>Leaky-feeder cable</a:t>
            </a:r>
          </a:p>
        </p:txBody>
      </p:sp>
      <p:sp>
        <p:nvSpPr>
          <p:cNvPr id="60" name="Rounded Rectangle 59"/>
          <p:cNvSpPr/>
          <p:nvPr/>
        </p:nvSpPr>
        <p:spPr>
          <a:xfrm>
            <a:off x="4389120" y="5623560"/>
            <a:ext cx="1874519" cy="457200"/>
          </a:xfrm>
          <a:prstGeom prst="roundRect">
            <a:avLst>
              <a:gd name="adj" fmla="val 30000"/>
            </a:avLst>
          </a:prstGeom>
          <a:solidFill>
            <a:srgbClr val="E9E9E9"/>
          </a:solidFill>
          <a:ln>
            <a:noFill/>
          </a:ln>
        </p:spPr>
        <p:txBody>
          <a:bodyPr rtlCol="0" anchor="ctr" lIns="36576" rIns="36576" tIns="0" bIns="0" wrap="square"/>
          <a:lstStyle/>
          <a:p>
            <a:pPr algn="ctr"/>
            <a:r>
              <a:rPr sz="1400" b="0">
                <a:solidFill>
                  <a:srgbClr val="1C2430"/>
                </a:solidFill>
                <a:latin typeface="Calibri"/>
              </a:rPr>
              <a:t>Low-rate radio</a:t>
            </a:r>
          </a:p>
        </p:txBody>
      </p:sp>
      <p:sp>
        <p:nvSpPr>
          <p:cNvPr id="61" name="Rounded Rectangle 60"/>
          <p:cNvSpPr/>
          <p:nvPr/>
        </p:nvSpPr>
        <p:spPr>
          <a:xfrm>
            <a:off x="6355079" y="5623560"/>
            <a:ext cx="1874519" cy="457200"/>
          </a:xfrm>
          <a:prstGeom prst="roundRect">
            <a:avLst>
              <a:gd name="adj" fmla="val 30000"/>
            </a:avLst>
          </a:prstGeom>
          <a:solidFill>
            <a:srgbClr val="E9E9E9"/>
          </a:solidFill>
          <a:ln>
            <a:noFill/>
          </a:ln>
        </p:spPr>
        <p:txBody>
          <a:bodyPr rtlCol="0" anchor="ctr" lIns="36576" rIns="36576" tIns="0" bIns="0" wrap="square"/>
          <a:lstStyle/>
          <a:p>
            <a:pPr algn="ctr"/>
            <a:r>
              <a:rPr sz="1400" b="0">
                <a:solidFill>
                  <a:srgbClr val="1C2430"/>
                </a:solidFill>
                <a:latin typeface="Calibri"/>
              </a:rPr>
              <a:t>Surface control room</a:t>
            </a:r>
          </a:p>
        </p:txBody>
      </p:sp>
      <p:sp>
        <p:nvSpPr>
          <p:cNvPr id="62" name="Rounded Rectangle 61"/>
          <p:cNvSpPr/>
          <p:nvPr/>
        </p:nvSpPr>
        <p:spPr>
          <a:xfrm>
            <a:off x="8366760" y="5212080"/>
            <a:ext cx="3383280" cy="1005840"/>
          </a:xfrm>
          <a:prstGeom prst="roundRect">
            <a:avLst>
              <a:gd name="adj" fmla="val 8000"/>
            </a:avLst>
          </a:prstGeom>
          <a:solidFill>
            <a:srgbClr val="0071C1"/>
          </a:solidFill>
          <a:ln w="9525">
            <a:solidFill>
              <a:srgbClr val="00548F"/>
            </a:solidFill>
          </a:ln>
        </p:spPr>
        <p:txBody>
          <a:bodyPr rtlCol="0" anchor="ctr"/>
          <a:lstStyle/>
          <a:p>
            <a:pPr algn="ctr"/>
          </a:p>
        </p:txBody>
      </p:sp>
      <p:sp>
        <p:nvSpPr>
          <p:cNvPr id="63" name="TextBox 62"/>
          <p:cNvSpPr txBox="1"/>
          <p:nvPr/>
        </p:nvSpPr>
        <p:spPr>
          <a:xfrm>
            <a:off x="8503920" y="5230368"/>
            <a:ext cx="3108960" cy="969264"/>
          </a:xfrm>
          <a:prstGeom prst="rect">
            <a:avLst/>
          </a:prstGeom>
          <a:noFill/>
        </p:spPr>
        <p:txBody>
          <a:bodyPr wrap="square" lIns="45720" rIns="45720" tIns="27432" bIns="27432" anchor="ctr">
            <a:spAutoFit/>
          </a:bodyPr>
          <a:lstStyle/>
          <a:p>
            <a:pPr algn="l"/>
            <a:r>
              <a:rPr sz="1500" b="1" i="0">
                <a:solidFill>
                  <a:srgbClr val="FFD966"/>
                </a:solidFill>
                <a:latin typeface="Calibri"/>
              </a:rPr>
              <a:t>Need: </a:t>
            </a:r>
            <a:r>
              <a:rPr sz="1500" b="0" i="0">
                <a:solidFill>
                  <a:srgbClr val="FFFFFF"/>
                </a:solidFill>
                <a:latin typeface="Calibri"/>
              </a:rPr>
              <a:t>video where there is line of sight, and an alert that survives a cut cable.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4" name="Section"/>
          <p:cNvSpPr txBox="1"/>
          <p:nvPr/>
        </p:nvSpPr>
        <p:spPr>
          <a:xfrm>
            <a:off x="457200" y="182880"/>
            <a:ext cx="11247120" cy="256032"/>
          </a:xfrm>
          <a:prstGeom prst="rect">
            <a:avLst/>
          </a:prstGeom>
          <a:noFill/>
        </p:spPr>
        <p:txBody>
          <a:bodyPr wrap="square" lIns="45720" rIns="45720" tIns="27432" bIns="27432" anchor="t">
            <a:spAutoFit/>
          </a:bodyPr>
          <a:lstStyle/>
          <a:p>
            <a:pPr algn="l"/>
            <a:r>
              <a:rPr sz="1300" b="1" i="0">
                <a:solidFill>
                  <a:srgbClr val="B5740A"/>
                </a:solidFill>
                <a:latin typeface="Calibri"/>
              </a:rPr>
              <a:t>02     ·     PROBLEM STATEMENT AND RELEVANCE TO THE MINING SECTOR</a:t>
            </a:r>
          </a:p>
        </p:txBody>
      </p:sp>
      <p:sp>
        <p:nvSpPr>
          <p:cNvPr id="5" name="Title"/>
          <p:cNvSpPr txBox="1"/>
          <p:nvPr/>
        </p:nvSpPr>
        <p:spPr>
          <a:xfrm>
            <a:off x="438912" y="420624"/>
            <a:ext cx="11338560" cy="502920"/>
          </a:xfrm>
          <a:prstGeom prst="rect">
            <a:avLst/>
          </a:prstGeom>
          <a:noFill/>
        </p:spPr>
        <p:txBody>
          <a:bodyPr wrap="square" lIns="45720" rIns="45720" tIns="27432" bIns="27432" anchor="t">
            <a:spAutoFit/>
          </a:bodyPr>
          <a:lstStyle/>
          <a:p>
            <a:pPr algn="l"/>
            <a:r>
              <a:rPr sz="2800" b="1" i="0">
                <a:solidFill>
                  <a:srgbClr val="1B3A4B"/>
                </a:solidFill>
                <a:latin typeface="Calibri"/>
              </a:rPr>
              <a:t>Relevance to underground mining</a:t>
            </a:r>
          </a:p>
        </p:txBody>
      </p:sp>
      <p:sp>
        <p:nvSpPr>
          <p:cNvPr id="6" name="Footer rule"/>
          <p:cNvSpPr/>
          <p:nvPr/>
        </p:nvSpPr>
        <p:spPr>
          <a:xfrm>
            <a:off x="457200" y="6565392"/>
            <a:ext cx="11292840" cy="9144"/>
          </a:xfrm>
          <a:prstGeom prst="rect">
            <a:avLst/>
          </a:prstGeom>
          <a:solidFill>
            <a:srgbClr val="D0D0D0"/>
          </a:solidFill>
          <a:ln>
            <a:noFill/>
          </a:ln>
        </p:spPr>
        <p:txBody>
          <a:bodyPr rtlCol="0" anchor="ctr"/>
          <a:lstStyle/>
          <a:p>
            <a:pPr algn="ctr"/>
          </a:p>
        </p:txBody>
      </p:sp>
      <p:sp>
        <p:nvSpPr>
          <p:cNvPr id="7"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Relevance to mining</a:t>
            </a:r>
          </a:p>
        </p:txBody>
      </p:sp>
      <p:sp>
        <p:nvSpPr>
          <p:cNvPr id="8"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4  /  15</a:t>
            </a:r>
          </a:p>
        </p:txBody>
      </p:sp>
      <p:sp>
        <p:nvSpPr>
          <p:cNvPr id="9" name="TextBox 8"/>
          <p:cNvSpPr txBox="1"/>
          <p:nvPr/>
        </p:nvSpPr>
        <p:spPr>
          <a:xfrm>
            <a:off x="457200" y="960120"/>
            <a:ext cx="11247120" cy="365760"/>
          </a:xfrm>
          <a:prstGeom prst="rect">
            <a:avLst/>
          </a:prstGeom>
          <a:noFill/>
        </p:spPr>
        <p:txBody>
          <a:bodyPr wrap="square" lIns="45720" rIns="45720" tIns="27432" bIns="27432" anchor="t">
            <a:spAutoFit/>
          </a:bodyPr>
          <a:lstStyle/>
          <a:p>
            <a:pPr algn="l"/>
            <a:r>
              <a:rPr sz="1600" b="0" i="0">
                <a:solidFill>
                  <a:srgbClr val="5C6770"/>
                </a:solidFill>
                <a:latin typeface="Calibri"/>
              </a:rPr>
              <a:t>What an underground heading needs, set against the systems available today.</a:t>
            </a:r>
          </a:p>
        </p:txBody>
      </p:sp>
      <p:sp>
        <p:nvSpPr>
          <p:cNvPr id="10" name="Rectangle 9"/>
          <p:cNvSpPr/>
          <p:nvPr/>
        </p:nvSpPr>
        <p:spPr>
          <a:xfrm>
            <a:off x="3090672" y="1371600"/>
            <a:ext cx="1682495" cy="457200"/>
          </a:xfrm>
          <a:prstGeom prst="rect">
            <a:avLst/>
          </a:prstGeom>
          <a:solidFill>
            <a:srgbClr val="0071C1"/>
          </a:solidFill>
          <a:ln>
            <a:noFill/>
          </a:ln>
        </p:spPr>
        <p:txBody>
          <a:bodyPr rtlCol="0" anchor="ctr" lIns="36576" rIns="36576" tIns="0" bIns="0" wrap="square"/>
          <a:lstStyle/>
          <a:p>
            <a:pPr algn="ctr"/>
            <a:r>
              <a:rPr sz="1400" b="1">
                <a:solidFill>
                  <a:srgbClr val="FFFFFF"/>
                </a:solidFill>
                <a:latin typeface="Calibri"/>
              </a:rPr>
              <a:t>Cable / leaky feeder</a:t>
            </a:r>
          </a:p>
        </p:txBody>
      </p:sp>
      <p:sp>
        <p:nvSpPr>
          <p:cNvPr id="11" name="Rectangle 10"/>
          <p:cNvSpPr/>
          <p:nvPr/>
        </p:nvSpPr>
        <p:spPr>
          <a:xfrm>
            <a:off x="4828032" y="1371600"/>
            <a:ext cx="1682495" cy="457200"/>
          </a:xfrm>
          <a:prstGeom prst="rect">
            <a:avLst/>
          </a:prstGeom>
          <a:solidFill>
            <a:srgbClr val="0071C1"/>
          </a:solidFill>
          <a:ln>
            <a:noFill/>
          </a:ln>
        </p:spPr>
        <p:txBody>
          <a:bodyPr rtlCol="0" anchor="ctr" lIns="36576" rIns="36576" tIns="0" bIns="0" wrap="square"/>
          <a:lstStyle/>
          <a:p>
            <a:pPr algn="ctr"/>
            <a:r>
              <a:rPr sz="1400" b="1">
                <a:solidFill>
                  <a:srgbClr val="FFFFFF"/>
                </a:solidFill>
                <a:latin typeface="Calibri"/>
              </a:rPr>
              <a:t>Wi-Fi / LTE</a:t>
            </a:r>
          </a:p>
        </p:txBody>
      </p:sp>
      <p:sp>
        <p:nvSpPr>
          <p:cNvPr id="12" name="Rectangle 11"/>
          <p:cNvSpPr/>
          <p:nvPr/>
        </p:nvSpPr>
        <p:spPr>
          <a:xfrm>
            <a:off x="6565392" y="1371600"/>
            <a:ext cx="1682495" cy="457200"/>
          </a:xfrm>
          <a:prstGeom prst="rect">
            <a:avLst/>
          </a:prstGeom>
          <a:solidFill>
            <a:srgbClr val="0071C1"/>
          </a:solidFill>
          <a:ln>
            <a:noFill/>
          </a:ln>
        </p:spPr>
        <p:txBody>
          <a:bodyPr rtlCol="0" anchor="ctr" lIns="36576" rIns="36576" tIns="0" bIns="0" wrap="square"/>
          <a:lstStyle/>
          <a:p>
            <a:pPr algn="ctr"/>
            <a:r>
              <a:rPr sz="1400" b="1">
                <a:solidFill>
                  <a:srgbClr val="FFFFFF"/>
                </a:solidFill>
                <a:latin typeface="Calibri"/>
              </a:rPr>
              <a:t>LoRa only</a:t>
            </a:r>
          </a:p>
        </p:txBody>
      </p:sp>
      <p:sp>
        <p:nvSpPr>
          <p:cNvPr id="13" name="Rectangle 12"/>
          <p:cNvSpPr/>
          <p:nvPr/>
        </p:nvSpPr>
        <p:spPr>
          <a:xfrm>
            <a:off x="8302751" y="1371600"/>
            <a:ext cx="1682495" cy="457200"/>
          </a:xfrm>
          <a:prstGeom prst="rect">
            <a:avLst/>
          </a:prstGeom>
          <a:solidFill>
            <a:srgbClr val="0071C1"/>
          </a:solidFill>
          <a:ln>
            <a:noFill/>
          </a:ln>
        </p:spPr>
        <p:txBody>
          <a:bodyPr rtlCol="0" anchor="ctr" lIns="36576" rIns="36576" tIns="0" bIns="0" wrap="square"/>
          <a:lstStyle/>
          <a:p>
            <a:pPr algn="ctr"/>
            <a:r>
              <a:rPr sz="1400" b="1">
                <a:solidFill>
                  <a:srgbClr val="FFFFFF"/>
                </a:solidFill>
                <a:latin typeface="Calibri"/>
              </a:rPr>
              <a:t>FSO only</a:t>
            </a:r>
          </a:p>
        </p:txBody>
      </p:sp>
      <p:sp>
        <p:nvSpPr>
          <p:cNvPr id="14" name="Rectangle 13"/>
          <p:cNvSpPr/>
          <p:nvPr/>
        </p:nvSpPr>
        <p:spPr>
          <a:xfrm>
            <a:off x="10040111" y="1371600"/>
            <a:ext cx="1682495" cy="457200"/>
          </a:xfrm>
          <a:prstGeom prst="rect">
            <a:avLst/>
          </a:prstGeom>
          <a:solidFill>
            <a:srgbClr val="ED7D31"/>
          </a:solidFill>
          <a:ln>
            <a:noFill/>
          </a:ln>
        </p:spPr>
        <p:txBody>
          <a:bodyPr rtlCol="0" anchor="ctr" lIns="36576" rIns="36576" tIns="0" bIns="0" wrap="square"/>
          <a:lstStyle/>
          <a:p>
            <a:pPr algn="ctr"/>
            <a:r>
              <a:rPr sz="1400" b="1">
                <a:solidFill>
                  <a:srgbClr val="FFFFFF"/>
                </a:solidFill>
                <a:latin typeface="Calibri"/>
              </a:rPr>
              <a:t>This proposal</a:t>
            </a:r>
          </a:p>
        </p:txBody>
      </p:sp>
      <p:sp>
        <p:nvSpPr>
          <p:cNvPr id="15" name="Rectangle 14"/>
          <p:cNvSpPr/>
          <p:nvPr/>
        </p:nvSpPr>
        <p:spPr>
          <a:xfrm>
            <a:off x="457200" y="1883664"/>
            <a:ext cx="2551176" cy="749808"/>
          </a:xfrm>
          <a:prstGeom prst="rect">
            <a:avLst/>
          </a:prstGeom>
          <a:solidFill>
            <a:srgbClr val="E9E9E9"/>
          </a:solidFill>
          <a:ln>
            <a:noFill/>
          </a:ln>
        </p:spPr>
        <p:txBody>
          <a:bodyPr rtlCol="0" anchor="ctr"/>
          <a:lstStyle/>
          <a:p>
            <a:pPr algn="ctr"/>
          </a:p>
        </p:txBody>
      </p:sp>
      <p:sp>
        <p:nvSpPr>
          <p:cNvPr id="16" name="TextBox 15"/>
          <p:cNvSpPr txBox="1"/>
          <p:nvPr/>
        </p:nvSpPr>
        <p:spPr>
          <a:xfrm>
            <a:off x="548640" y="1883664"/>
            <a:ext cx="2331720" cy="749808"/>
          </a:xfrm>
          <a:prstGeom prst="rect">
            <a:avLst/>
          </a:prstGeom>
          <a:noFill/>
        </p:spPr>
        <p:txBody>
          <a:bodyPr wrap="square" lIns="45720" rIns="45720" tIns="27432" bIns="27432" anchor="ctr">
            <a:spAutoFit/>
          </a:bodyPr>
          <a:lstStyle/>
          <a:p>
            <a:pPr algn="l"/>
            <a:r>
              <a:rPr sz="1500" b="1" i="0">
                <a:solidFill>
                  <a:srgbClr val="1B3A4B"/>
                </a:solidFill>
                <a:latin typeface="Calibri"/>
              </a:rPr>
              <a:t>Reach the surface in an emergency</a:t>
            </a:r>
          </a:p>
        </p:txBody>
      </p:sp>
      <p:sp>
        <p:nvSpPr>
          <p:cNvPr id="17" name="Rectangle 16"/>
          <p:cNvSpPr/>
          <p:nvPr/>
        </p:nvSpPr>
        <p:spPr>
          <a:xfrm>
            <a:off x="3090672" y="1883664"/>
            <a:ext cx="1682495" cy="749808"/>
          </a:xfrm>
          <a:prstGeom prst="rect">
            <a:avLst/>
          </a:prstGeom>
          <a:solidFill>
            <a:srgbClr val="E9E9E9"/>
          </a:solidFill>
          <a:ln>
            <a:noFill/>
          </a:ln>
        </p:spPr>
        <p:txBody>
          <a:bodyPr rtlCol="0" anchor="ctr"/>
          <a:lstStyle/>
          <a:p>
            <a:pPr algn="ctr"/>
          </a:p>
        </p:txBody>
      </p:sp>
      <p:sp>
        <p:nvSpPr>
          <p:cNvPr id="18" name="Oval 17"/>
          <p:cNvSpPr/>
          <p:nvPr/>
        </p:nvSpPr>
        <p:spPr>
          <a:xfrm>
            <a:off x="3154680" y="1965960"/>
            <a:ext cx="237744" cy="237744"/>
          </a:xfrm>
          <a:prstGeom prst="ellipse">
            <a:avLst/>
          </a:prstGeom>
          <a:solidFill>
            <a:srgbClr val="D99A2B"/>
          </a:solidFill>
          <a:ln>
            <a:noFill/>
          </a:ln>
        </p:spPr>
        <p:txBody>
          <a:bodyPr rtlCol="0" anchor="ctr" lIns="36576" rIns="36576" tIns="0" bIns="0" wrap="square"/>
          <a:lstStyle/>
          <a:p>
            <a:pPr algn="ctr"/>
            <a:r>
              <a:rPr sz="1200" b="1">
                <a:solidFill>
                  <a:srgbClr val="FFFFFF"/>
                </a:solidFill>
                <a:latin typeface="Calibri"/>
              </a:rPr>
              <a:t>~</a:t>
            </a:r>
          </a:p>
        </p:txBody>
      </p:sp>
      <p:sp>
        <p:nvSpPr>
          <p:cNvPr id="19" name="TextBox 18"/>
          <p:cNvSpPr txBox="1"/>
          <p:nvPr/>
        </p:nvSpPr>
        <p:spPr>
          <a:xfrm>
            <a:off x="3108960" y="2212848"/>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Until the cable is cut</a:t>
            </a:r>
          </a:p>
        </p:txBody>
      </p:sp>
      <p:sp>
        <p:nvSpPr>
          <p:cNvPr id="20" name="Rectangle 19"/>
          <p:cNvSpPr/>
          <p:nvPr/>
        </p:nvSpPr>
        <p:spPr>
          <a:xfrm>
            <a:off x="4828032" y="1883664"/>
            <a:ext cx="1682495" cy="749808"/>
          </a:xfrm>
          <a:prstGeom prst="rect">
            <a:avLst/>
          </a:prstGeom>
          <a:solidFill>
            <a:srgbClr val="E9E9E9"/>
          </a:solidFill>
          <a:ln>
            <a:noFill/>
          </a:ln>
        </p:spPr>
        <p:txBody>
          <a:bodyPr rtlCol="0" anchor="ctr"/>
          <a:lstStyle/>
          <a:p>
            <a:pPr algn="ctr"/>
          </a:p>
        </p:txBody>
      </p:sp>
      <p:sp>
        <p:nvSpPr>
          <p:cNvPr id="21" name="Oval 20"/>
          <p:cNvSpPr/>
          <p:nvPr/>
        </p:nvSpPr>
        <p:spPr>
          <a:xfrm>
            <a:off x="4892040" y="1965960"/>
            <a:ext cx="237744" cy="237744"/>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22" name="TextBox 21"/>
          <p:cNvSpPr txBox="1"/>
          <p:nvPr/>
        </p:nvSpPr>
        <p:spPr>
          <a:xfrm>
            <a:off x="4846320" y="2212848"/>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No signal in rock</a:t>
            </a:r>
          </a:p>
        </p:txBody>
      </p:sp>
      <p:sp>
        <p:nvSpPr>
          <p:cNvPr id="23" name="Rectangle 22"/>
          <p:cNvSpPr/>
          <p:nvPr/>
        </p:nvSpPr>
        <p:spPr>
          <a:xfrm>
            <a:off x="6565392" y="1883664"/>
            <a:ext cx="1682495" cy="749808"/>
          </a:xfrm>
          <a:prstGeom prst="rect">
            <a:avLst/>
          </a:prstGeom>
          <a:solidFill>
            <a:srgbClr val="E9E9E9"/>
          </a:solidFill>
          <a:ln>
            <a:noFill/>
          </a:ln>
        </p:spPr>
        <p:txBody>
          <a:bodyPr rtlCol="0" anchor="ctr"/>
          <a:lstStyle/>
          <a:p>
            <a:pPr algn="ctr"/>
          </a:p>
        </p:txBody>
      </p:sp>
      <p:sp>
        <p:nvSpPr>
          <p:cNvPr id="24" name="Oval 23"/>
          <p:cNvSpPr/>
          <p:nvPr/>
        </p:nvSpPr>
        <p:spPr>
          <a:xfrm>
            <a:off x="6629400" y="1965960"/>
            <a:ext cx="237744" cy="237744"/>
          </a:xfrm>
          <a:prstGeom prst="ellipse">
            <a:avLst/>
          </a:prstGeom>
          <a:solidFill>
            <a:srgbClr val="2E7D5B"/>
          </a:solidFill>
          <a:ln>
            <a:noFill/>
          </a:ln>
        </p:spPr>
        <p:txBody>
          <a:bodyPr rtlCol="0" anchor="ctr" lIns="36576" rIns="36576" tIns="0" bIns="0" wrap="square"/>
          <a:lstStyle/>
          <a:p>
            <a:pPr algn="ctr"/>
            <a:r>
              <a:rPr sz="1200" b="1">
                <a:solidFill>
                  <a:srgbClr val="FFFFFF"/>
                </a:solidFill>
                <a:latin typeface="Calibri"/>
              </a:rPr>
              <a:t>✓</a:t>
            </a:r>
          </a:p>
        </p:txBody>
      </p:sp>
      <p:sp>
        <p:nvSpPr>
          <p:cNvPr id="25" name="TextBox 24"/>
          <p:cNvSpPr txBox="1"/>
          <p:nvPr/>
        </p:nvSpPr>
        <p:spPr>
          <a:xfrm>
            <a:off x="6583680" y="2212848"/>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Yes, at low data rate</a:t>
            </a:r>
          </a:p>
        </p:txBody>
      </p:sp>
      <p:sp>
        <p:nvSpPr>
          <p:cNvPr id="26" name="Rectangle 25"/>
          <p:cNvSpPr/>
          <p:nvPr/>
        </p:nvSpPr>
        <p:spPr>
          <a:xfrm>
            <a:off x="8302751" y="1883664"/>
            <a:ext cx="1682495" cy="749808"/>
          </a:xfrm>
          <a:prstGeom prst="rect">
            <a:avLst/>
          </a:prstGeom>
          <a:solidFill>
            <a:srgbClr val="E9E9E9"/>
          </a:solidFill>
          <a:ln>
            <a:noFill/>
          </a:ln>
        </p:spPr>
        <p:txBody>
          <a:bodyPr rtlCol="0" anchor="ctr"/>
          <a:lstStyle/>
          <a:p>
            <a:pPr algn="ctr"/>
          </a:p>
        </p:txBody>
      </p:sp>
      <p:sp>
        <p:nvSpPr>
          <p:cNvPr id="27" name="Oval 26"/>
          <p:cNvSpPr/>
          <p:nvPr/>
        </p:nvSpPr>
        <p:spPr>
          <a:xfrm>
            <a:off x="8366759" y="1965960"/>
            <a:ext cx="237744" cy="237744"/>
          </a:xfrm>
          <a:prstGeom prst="ellipse">
            <a:avLst/>
          </a:prstGeom>
          <a:solidFill>
            <a:srgbClr val="D99A2B"/>
          </a:solidFill>
          <a:ln>
            <a:noFill/>
          </a:ln>
        </p:spPr>
        <p:txBody>
          <a:bodyPr rtlCol="0" anchor="ctr" lIns="36576" rIns="36576" tIns="0" bIns="0" wrap="square"/>
          <a:lstStyle/>
          <a:p>
            <a:pPr algn="ctr"/>
            <a:r>
              <a:rPr sz="1200" b="1">
                <a:solidFill>
                  <a:srgbClr val="FFFFFF"/>
                </a:solidFill>
                <a:latin typeface="Calibri"/>
              </a:rPr>
              <a:t>~</a:t>
            </a:r>
          </a:p>
        </p:txBody>
      </p:sp>
      <p:sp>
        <p:nvSpPr>
          <p:cNvPr id="28" name="TextBox 27"/>
          <p:cNvSpPr txBox="1"/>
          <p:nvPr/>
        </p:nvSpPr>
        <p:spPr>
          <a:xfrm>
            <a:off x="8321040" y="2212848"/>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Only with clear sightline</a:t>
            </a:r>
          </a:p>
        </p:txBody>
      </p:sp>
      <p:sp>
        <p:nvSpPr>
          <p:cNvPr id="29" name="Rectangle 28"/>
          <p:cNvSpPr/>
          <p:nvPr/>
        </p:nvSpPr>
        <p:spPr>
          <a:xfrm>
            <a:off x="10040111" y="1883664"/>
            <a:ext cx="1682495" cy="749808"/>
          </a:xfrm>
          <a:prstGeom prst="rect">
            <a:avLst/>
          </a:prstGeom>
          <a:solidFill>
            <a:srgbClr val="FBF3E3"/>
          </a:solidFill>
          <a:ln>
            <a:noFill/>
          </a:ln>
        </p:spPr>
        <p:txBody>
          <a:bodyPr rtlCol="0" anchor="ctr"/>
          <a:lstStyle/>
          <a:p>
            <a:pPr algn="ctr"/>
          </a:p>
        </p:txBody>
      </p:sp>
      <p:sp>
        <p:nvSpPr>
          <p:cNvPr id="30" name="Oval 29"/>
          <p:cNvSpPr/>
          <p:nvPr/>
        </p:nvSpPr>
        <p:spPr>
          <a:xfrm>
            <a:off x="10104119" y="1965960"/>
            <a:ext cx="237744" cy="237744"/>
          </a:xfrm>
          <a:prstGeom prst="ellipse">
            <a:avLst/>
          </a:prstGeom>
          <a:solidFill>
            <a:srgbClr val="2E7D5B"/>
          </a:solidFill>
          <a:ln>
            <a:noFill/>
          </a:ln>
        </p:spPr>
        <p:txBody>
          <a:bodyPr rtlCol="0" anchor="ctr" lIns="36576" rIns="36576" tIns="0" bIns="0" wrap="square"/>
          <a:lstStyle/>
          <a:p>
            <a:pPr algn="ctr"/>
            <a:r>
              <a:rPr sz="1200" b="1">
                <a:solidFill>
                  <a:srgbClr val="FFFFFF"/>
                </a:solidFill>
                <a:latin typeface="Calibri"/>
              </a:rPr>
              <a:t>✓</a:t>
            </a:r>
          </a:p>
        </p:txBody>
      </p:sp>
      <p:sp>
        <p:nvSpPr>
          <p:cNvPr id="31" name="TextBox 30"/>
          <p:cNvSpPr txBox="1"/>
          <p:nvPr/>
        </p:nvSpPr>
        <p:spPr>
          <a:xfrm>
            <a:off x="10058400" y="2212848"/>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LoRa stays up if beam drops</a:t>
            </a:r>
          </a:p>
        </p:txBody>
      </p:sp>
      <p:sp>
        <p:nvSpPr>
          <p:cNvPr id="32" name="Rectangle 31"/>
          <p:cNvSpPr/>
          <p:nvPr/>
        </p:nvSpPr>
        <p:spPr>
          <a:xfrm>
            <a:off x="457200" y="2688336"/>
            <a:ext cx="2551176" cy="749808"/>
          </a:xfrm>
          <a:prstGeom prst="rect">
            <a:avLst/>
          </a:prstGeom>
          <a:solidFill>
            <a:srgbClr val="E9E9E9"/>
          </a:solidFill>
          <a:ln>
            <a:noFill/>
          </a:ln>
        </p:spPr>
        <p:txBody>
          <a:bodyPr rtlCol="0" anchor="ctr"/>
          <a:lstStyle/>
          <a:p>
            <a:pPr algn="ctr"/>
          </a:p>
        </p:txBody>
      </p:sp>
      <p:sp>
        <p:nvSpPr>
          <p:cNvPr id="33" name="TextBox 32"/>
          <p:cNvSpPr txBox="1"/>
          <p:nvPr/>
        </p:nvSpPr>
        <p:spPr>
          <a:xfrm>
            <a:off x="548640" y="2688336"/>
            <a:ext cx="2331720" cy="749808"/>
          </a:xfrm>
          <a:prstGeom prst="rect">
            <a:avLst/>
          </a:prstGeom>
          <a:noFill/>
        </p:spPr>
        <p:txBody>
          <a:bodyPr wrap="square" lIns="45720" rIns="45720" tIns="27432" bIns="27432" anchor="ctr">
            <a:spAutoFit/>
          </a:bodyPr>
          <a:lstStyle/>
          <a:p>
            <a:pPr algn="l"/>
            <a:r>
              <a:rPr sz="1500" b="1" i="0">
                <a:solidFill>
                  <a:srgbClr val="1B3A4B"/>
                </a:solidFill>
                <a:latin typeface="Calibri"/>
              </a:rPr>
              <a:t>Live picture of the face</a:t>
            </a:r>
          </a:p>
        </p:txBody>
      </p:sp>
      <p:sp>
        <p:nvSpPr>
          <p:cNvPr id="34" name="Rectangle 33"/>
          <p:cNvSpPr/>
          <p:nvPr/>
        </p:nvSpPr>
        <p:spPr>
          <a:xfrm>
            <a:off x="3090672" y="2688336"/>
            <a:ext cx="1682495" cy="749808"/>
          </a:xfrm>
          <a:prstGeom prst="rect">
            <a:avLst/>
          </a:prstGeom>
          <a:solidFill>
            <a:srgbClr val="E9E9E9"/>
          </a:solidFill>
          <a:ln>
            <a:noFill/>
          </a:ln>
        </p:spPr>
        <p:txBody>
          <a:bodyPr rtlCol="0" anchor="ctr"/>
          <a:lstStyle/>
          <a:p>
            <a:pPr algn="ctr"/>
          </a:p>
        </p:txBody>
      </p:sp>
      <p:sp>
        <p:nvSpPr>
          <p:cNvPr id="35" name="Oval 34"/>
          <p:cNvSpPr/>
          <p:nvPr/>
        </p:nvSpPr>
        <p:spPr>
          <a:xfrm>
            <a:off x="3154680" y="2770632"/>
            <a:ext cx="237744" cy="237744"/>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36" name="TextBox 35"/>
          <p:cNvSpPr txBox="1"/>
          <p:nvPr/>
        </p:nvSpPr>
        <p:spPr>
          <a:xfrm>
            <a:off x="3108960" y="3017520"/>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Not what it is for</a:t>
            </a:r>
          </a:p>
        </p:txBody>
      </p:sp>
      <p:sp>
        <p:nvSpPr>
          <p:cNvPr id="37" name="Rectangle 36"/>
          <p:cNvSpPr/>
          <p:nvPr/>
        </p:nvSpPr>
        <p:spPr>
          <a:xfrm>
            <a:off x="4828032" y="2688336"/>
            <a:ext cx="1682495" cy="749808"/>
          </a:xfrm>
          <a:prstGeom prst="rect">
            <a:avLst/>
          </a:prstGeom>
          <a:solidFill>
            <a:srgbClr val="E9E9E9"/>
          </a:solidFill>
          <a:ln>
            <a:noFill/>
          </a:ln>
        </p:spPr>
        <p:txBody>
          <a:bodyPr rtlCol="0" anchor="ctr"/>
          <a:lstStyle/>
          <a:p>
            <a:pPr algn="ctr"/>
          </a:p>
        </p:txBody>
      </p:sp>
      <p:sp>
        <p:nvSpPr>
          <p:cNvPr id="38" name="Oval 37"/>
          <p:cNvSpPr/>
          <p:nvPr/>
        </p:nvSpPr>
        <p:spPr>
          <a:xfrm>
            <a:off x="4892040" y="2770632"/>
            <a:ext cx="237744" cy="237744"/>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39" name="TextBox 38"/>
          <p:cNvSpPr txBox="1"/>
          <p:nvPr/>
        </p:nvSpPr>
        <p:spPr>
          <a:xfrm>
            <a:off x="4846320" y="3017520"/>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No usable bandwidth</a:t>
            </a:r>
          </a:p>
        </p:txBody>
      </p:sp>
      <p:sp>
        <p:nvSpPr>
          <p:cNvPr id="40" name="Rectangle 39"/>
          <p:cNvSpPr/>
          <p:nvPr/>
        </p:nvSpPr>
        <p:spPr>
          <a:xfrm>
            <a:off x="6565392" y="2688336"/>
            <a:ext cx="1682495" cy="749808"/>
          </a:xfrm>
          <a:prstGeom prst="rect">
            <a:avLst/>
          </a:prstGeom>
          <a:solidFill>
            <a:srgbClr val="E9E9E9"/>
          </a:solidFill>
          <a:ln>
            <a:noFill/>
          </a:ln>
        </p:spPr>
        <p:txBody>
          <a:bodyPr rtlCol="0" anchor="ctr"/>
          <a:lstStyle/>
          <a:p>
            <a:pPr algn="ctr"/>
          </a:p>
        </p:txBody>
      </p:sp>
      <p:sp>
        <p:nvSpPr>
          <p:cNvPr id="41" name="Oval 40"/>
          <p:cNvSpPr/>
          <p:nvPr/>
        </p:nvSpPr>
        <p:spPr>
          <a:xfrm>
            <a:off x="6629400" y="2770632"/>
            <a:ext cx="237744" cy="237744"/>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42" name="TextBox 41"/>
          <p:cNvSpPr txBox="1"/>
          <p:nvPr/>
        </p:nvSpPr>
        <p:spPr>
          <a:xfrm>
            <a:off x="6583680" y="3017520"/>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Too slow for video</a:t>
            </a:r>
          </a:p>
        </p:txBody>
      </p:sp>
      <p:sp>
        <p:nvSpPr>
          <p:cNvPr id="43" name="Rectangle 42"/>
          <p:cNvSpPr/>
          <p:nvPr/>
        </p:nvSpPr>
        <p:spPr>
          <a:xfrm>
            <a:off x="8302751" y="2688336"/>
            <a:ext cx="1682495" cy="749808"/>
          </a:xfrm>
          <a:prstGeom prst="rect">
            <a:avLst/>
          </a:prstGeom>
          <a:solidFill>
            <a:srgbClr val="E9E9E9"/>
          </a:solidFill>
          <a:ln>
            <a:noFill/>
          </a:ln>
        </p:spPr>
        <p:txBody>
          <a:bodyPr rtlCol="0" anchor="ctr"/>
          <a:lstStyle/>
          <a:p>
            <a:pPr algn="ctr"/>
          </a:p>
        </p:txBody>
      </p:sp>
      <p:sp>
        <p:nvSpPr>
          <p:cNvPr id="44" name="Oval 43"/>
          <p:cNvSpPr/>
          <p:nvPr/>
        </p:nvSpPr>
        <p:spPr>
          <a:xfrm>
            <a:off x="8366759" y="2770632"/>
            <a:ext cx="237744" cy="237744"/>
          </a:xfrm>
          <a:prstGeom prst="ellipse">
            <a:avLst/>
          </a:prstGeom>
          <a:solidFill>
            <a:srgbClr val="2E7D5B"/>
          </a:solidFill>
          <a:ln>
            <a:noFill/>
          </a:ln>
        </p:spPr>
        <p:txBody>
          <a:bodyPr rtlCol="0" anchor="ctr" lIns="36576" rIns="36576" tIns="0" bIns="0" wrap="square"/>
          <a:lstStyle/>
          <a:p>
            <a:pPr algn="ctr"/>
            <a:r>
              <a:rPr sz="1200" b="1">
                <a:solidFill>
                  <a:srgbClr val="FFFFFF"/>
                </a:solidFill>
                <a:latin typeface="Calibri"/>
              </a:rPr>
              <a:t>✓</a:t>
            </a:r>
          </a:p>
        </p:txBody>
      </p:sp>
      <p:sp>
        <p:nvSpPr>
          <p:cNvPr id="45" name="TextBox 44"/>
          <p:cNvSpPr txBox="1"/>
          <p:nvPr/>
        </p:nvSpPr>
        <p:spPr>
          <a:xfrm>
            <a:off x="8321040" y="3017520"/>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Yes, while aligned</a:t>
            </a:r>
          </a:p>
        </p:txBody>
      </p:sp>
      <p:sp>
        <p:nvSpPr>
          <p:cNvPr id="46" name="Rectangle 45"/>
          <p:cNvSpPr/>
          <p:nvPr/>
        </p:nvSpPr>
        <p:spPr>
          <a:xfrm>
            <a:off x="10040111" y="2688336"/>
            <a:ext cx="1682495" cy="749808"/>
          </a:xfrm>
          <a:prstGeom prst="rect">
            <a:avLst/>
          </a:prstGeom>
          <a:solidFill>
            <a:srgbClr val="FBF3E3"/>
          </a:solidFill>
          <a:ln>
            <a:noFill/>
          </a:ln>
        </p:spPr>
        <p:txBody>
          <a:bodyPr rtlCol="0" anchor="ctr"/>
          <a:lstStyle/>
          <a:p>
            <a:pPr algn="ctr"/>
          </a:p>
        </p:txBody>
      </p:sp>
      <p:sp>
        <p:nvSpPr>
          <p:cNvPr id="47" name="Oval 46"/>
          <p:cNvSpPr/>
          <p:nvPr/>
        </p:nvSpPr>
        <p:spPr>
          <a:xfrm>
            <a:off x="10104119" y="2770632"/>
            <a:ext cx="237744" cy="237744"/>
          </a:xfrm>
          <a:prstGeom prst="ellipse">
            <a:avLst/>
          </a:prstGeom>
          <a:solidFill>
            <a:srgbClr val="2E7D5B"/>
          </a:solidFill>
          <a:ln>
            <a:noFill/>
          </a:ln>
        </p:spPr>
        <p:txBody>
          <a:bodyPr rtlCol="0" anchor="ctr" lIns="36576" rIns="36576" tIns="0" bIns="0" wrap="square"/>
          <a:lstStyle/>
          <a:p>
            <a:pPr algn="ctr"/>
            <a:r>
              <a:rPr sz="1200" b="1">
                <a:solidFill>
                  <a:srgbClr val="FFFFFF"/>
                </a:solidFill>
                <a:latin typeface="Calibri"/>
              </a:rPr>
              <a:t>✓</a:t>
            </a:r>
          </a:p>
        </p:txBody>
      </p:sp>
      <p:sp>
        <p:nvSpPr>
          <p:cNvPr id="48" name="TextBox 47"/>
          <p:cNvSpPr txBox="1"/>
          <p:nvPr/>
        </p:nvSpPr>
        <p:spPr>
          <a:xfrm>
            <a:off x="10058400" y="3017520"/>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Aligned by closed loop</a:t>
            </a:r>
          </a:p>
        </p:txBody>
      </p:sp>
      <p:sp>
        <p:nvSpPr>
          <p:cNvPr id="49" name="Rectangle 48"/>
          <p:cNvSpPr/>
          <p:nvPr/>
        </p:nvSpPr>
        <p:spPr>
          <a:xfrm>
            <a:off x="457200" y="3493008"/>
            <a:ext cx="2551176" cy="749808"/>
          </a:xfrm>
          <a:prstGeom prst="rect">
            <a:avLst/>
          </a:prstGeom>
          <a:solidFill>
            <a:srgbClr val="E9E9E9"/>
          </a:solidFill>
          <a:ln>
            <a:noFill/>
          </a:ln>
        </p:spPr>
        <p:txBody>
          <a:bodyPr rtlCol="0" anchor="ctr"/>
          <a:lstStyle/>
          <a:p>
            <a:pPr algn="ctr"/>
          </a:p>
        </p:txBody>
      </p:sp>
      <p:sp>
        <p:nvSpPr>
          <p:cNvPr id="50" name="TextBox 49"/>
          <p:cNvSpPr txBox="1"/>
          <p:nvPr/>
        </p:nvSpPr>
        <p:spPr>
          <a:xfrm>
            <a:off x="548640" y="3493008"/>
            <a:ext cx="2331720" cy="749808"/>
          </a:xfrm>
          <a:prstGeom prst="rect">
            <a:avLst/>
          </a:prstGeom>
          <a:noFill/>
        </p:spPr>
        <p:txBody>
          <a:bodyPr wrap="square" lIns="45720" rIns="45720" tIns="27432" bIns="27432" anchor="ctr">
            <a:spAutoFit/>
          </a:bodyPr>
          <a:lstStyle/>
          <a:p>
            <a:pPr algn="l"/>
            <a:r>
              <a:rPr sz="1500" b="1" i="0">
                <a:solidFill>
                  <a:srgbClr val="1B3A4B"/>
                </a:solidFill>
                <a:latin typeface="Calibri"/>
              </a:rPr>
              <a:t>After vibration or a fall</a:t>
            </a:r>
          </a:p>
        </p:txBody>
      </p:sp>
      <p:sp>
        <p:nvSpPr>
          <p:cNvPr id="51" name="Rectangle 50"/>
          <p:cNvSpPr/>
          <p:nvPr/>
        </p:nvSpPr>
        <p:spPr>
          <a:xfrm>
            <a:off x="3090672" y="3493008"/>
            <a:ext cx="1682495" cy="749808"/>
          </a:xfrm>
          <a:prstGeom prst="rect">
            <a:avLst/>
          </a:prstGeom>
          <a:solidFill>
            <a:srgbClr val="E9E9E9"/>
          </a:solidFill>
          <a:ln>
            <a:noFill/>
          </a:ln>
        </p:spPr>
        <p:txBody>
          <a:bodyPr rtlCol="0" anchor="ctr"/>
          <a:lstStyle/>
          <a:p>
            <a:pPr algn="ctr"/>
          </a:p>
        </p:txBody>
      </p:sp>
      <p:sp>
        <p:nvSpPr>
          <p:cNvPr id="52" name="Oval 51"/>
          <p:cNvSpPr/>
          <p:nvPr/>
        </p:nvSpPr>
        <p:spPr>
          <a:xfrm>
            <a:off x="3154680" y="3575303"/>
            <a:ext cx="237744" cy="237744"/>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53" name="TextBox 52"/>
          <p:cNvSpPr txBox="1"/>
          <p:nvPr/>
        </p:nvSpPr>
        <p:spPr>
          <a:xfrm>
            <a:off x="3108960" y="3822191"/>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Cable often fails too</a:t>
            </a:r>
          </a:p>
        </p:txBody>
      </p:sp>
      <p:sp>
        <p:nvSpPr>
          <p:cNvPr id="54" name="Rectangle 53"/>
          <p:cNvSpPr/>
          <p:nvPr/>
        </p:nvSpPr>
        <p:spPr>
          <a:xfrm>
            <a:off x="4828032" y="3493008"/>
            <a:ext cx="1682495" cy="749808"/>
          </a:xfrm>
          <a:prstGeom prst="rect">
            <a:avLst/>
          </a:prstGeom>
          <a:solidFill>
            <a:srgbClr val="E9E9E9"/>
          </a:solidFill>
          <a:ln>
            <a:noFill/>
          </a:ln>
        </p:spPr>
        <p:txBody>
          <a:bodyPr rtlCol="0" anchor="ctr"/>
          <a:lstStyle/>
          <a:p>
            <a:pPr algn="ctr"/>
          </a:p>
        </p:txBody>
      </p:sp>
      <p:sp>
        <p:nvSpPr>
          <p:cNvPr id="55" name="Oval 54"/>
          <p:cNvSpPr/>
          <p:nvPr/>
        </p:nvSpPr>
        <p:spPr>
          <a:xfrm>
            <a:off x="4892040" y="3575303"/>
            <a:ext cx="237744" cy="237744"/>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56" name="TextBox 55"/>
          <p:cNvSpPr txBox="1"/>
          <p:nvPr/>
        </p:nvSpPr>
        <p:spPr>
          <a:xfrm>
            <a:off x="4846320" y="3822191"/>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Link lost</a:t>
            </a:r>
          </a:p>
        </p:txBody>
      </p:sp>
      <p:sp>
        <p:nvSpPr>
          <p:cNvPr id="57" name="Rectangle 56"/>
          <p:cNvSpPr/>
          <p:nvPr/>
        </p:nvSpPr>
        <p:spPr>
          <a:xfrm>
            <a:off x="6565392" y="3493008"/>
            <a:ext cx="1682495" cy="749808"/>
          </a:xfrm>
          <a:prstGeom prst="rect">
            <a:avLst/>
          </a:prstGeom>
          <a:solidFill>
            <a:srgbClr val="E9E9E9"/>
          </a:solidFill>
          <a:ln>
            <a:noFill/>
          </a:ln>
        </p:spPr>
        <p:txBody>
          <a:bodyPr rtlCol="0" anchor="ctr"/>
          <a:lstStyle/>
          <a:p>
            <a:pPr algn="ctr"/>
          </a:p>
        </p:txBody>
      </p:sp>
      <p:sp>
        <p:nvSpPr>
          <p:cNvPr id="58" name="Oval 57"/>
          <p:cNvSpPr/>
          <p:nvPr/>
        </p:nvSpPr>
        <p:spPr>
          <a:xfrm>
            <a:off x="6629400" y="3575303"/>
            <a:ext cx="237744" cy="237744"/>
          </a:xfrm>
          <a:prstGeom prst="ellipse">
            <a:avLst/>
          </a:prstGeom>
          <a:solidFill>
            <a:srgbClr val="2E7D5B"/>
          </a:solidFill>
          <a:ln>
            <a:noFill/>
          </a:ln>
        </p:spPr>
        <p:txBody>
          <a:bodyPr rtlCol="0" anchor="ctr" lIns="36576" rIns="36576" tIns="0" bIns="0" wrap="square"/>
          <a:lstStyle/>
          <a:p>
            <a:pPr algn="ctr"/>
            <a:r>
              <a:rPr sz="1200" b="1">
                <a:solidFill>
                  <a:srgbClr val="FFFFFF"/>
                </a:solidFill>
                <a:latin typeface="Calibri"/>
              </a:rPr>
              <a:t>✓</a:t>
            </a:r>
          </a:p>
        </p:txBody>
      </p:sp>
      <p:sp>
        <p:nvSpPr>
          <p:cNvPr id="59" name="TextBox 58"/>
          <p:cNvSpPr txBox="1"/>
          <p:nvPr/>
        </p:nvSpPr>
        <p:spPr>
          <a:xfrm>
            <a:off x="6583680" y="3822191"/>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Alert can still be sent</a:t>
            </a:r>
          </a:p>
        </p:txBody>
      </p:sp>
      <p:sp>
        <p:nvSpPr>
          <p:cNvPr id="60" name="Rectangle 59"/>
          <p:cNvSpPr/>
          <p:nvPr/>
        </p:nvSpPr>
        <p:spPr>
          <a:xfrm>
            <a:off x="8302751" y="3493008"/>
            <a:ext cx="1682495" cy="749808"/>
          </a:xfrm>
          <a:prstGeom prst="rect">
            <a:avLst/>
          </a:prstGeom>
          <a:solidFill>
            <a:srgbClr val="E9E9E9"/>
          </a:solidFill>
          <a:ln>
            <a:noFill/>
          </a:ln>
        </p:spPr>
        <p:txBody>
          <a:bodyPr rtlCol="0" anchor="ctr"/>
          <a:lstStyle/>
          <a:p>
            <a:pPr algn="ctr"/>
          </a:p>
        </p:txBody>
      </p:sp>
      <p:sp>
        <p:nvSpPr>
          <p:cNvPr id="61" name="Oval 60"/>
          <p:cNvSpPr/>
          <p:nvPr/>
        </p:nvSpPr>
        <p:spPr>
          <a:xfrm>
            <a:off x="8366759" y="3575303"/>
            <a:ext cx="237744" cy="237744"/>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62" name="TextBox 61"/>
          <p:cNvSpPr txBox="1"/>
          <p:nvPr/>
        </p:nvSpPr>
        <p:spPr>
          <a:xfrm>
            <a:off x="8321040" y="3822191"/>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Beam is lost</a:t>
            </a:r>
          </a:p>
        </p:txBody>
      </p:sp>
      <p:sp>
        <p:nvSpPr>
          <p:cNvPr id="63" name="Rectangle 62"/>
          <p:cNvSpPr/>
          <p:nvPr/>
        </p:nvSpPr>
        <p:spPr>
          <a:xfrm>
            <a:off x="10040111" y="3493008"/>
            <a:ext cx="1682495" cy="749808"/>
          </a:xfrm>
          <a:prstGeom prst="rect">
            <a:avLst/>
          </a:prstGeom>
          <a:solidFill>
            <a:srgbClr val="FBF3E3"/>
          </a:solidFill>
          <a:ln>
            <a:noFill/>
          </a:ln>
        </p:spPr>
        <p:txBody>
          <a:bodyPr rtlCol="0" anchor="ctr"/>
          <a:lstStyle/>
          <a:p>
            <a:pPr algn="ctr"/>
          </a:p>
        </p:txBody>
      </p:sp>
      <p:sp>
        <p:nvSpPr>
          <p:cNvPr id="64" name="Oval 63"/>
          <p:cNvSpPr/>
          <p:nvPr/>
        </p:nvSpPr>
        <p:spPr>
          <a:xfrm>
            <a:off x="10104119" y="3575303"/>
            <a:ext cx="237744" cy="237744"/>
          </a:xfrm>
          <a:prstGeom prst="ellipse">
            <a:avLst/>
          </a:prstGeom>
          <a:solidFill>
            <a:srgbClr val="2E7D5B"/>
          </a:solidFill>
          <a:ln>
            <a:noFill/>
          </a:ln>
        </p:spPr>
        <p:txBody>
          <a:bodyPr rtlCol="0" anchor="ctr" lIns="36576" rIns="36576" tIns="0" bIns="0" wrap="square"/>
          <a:lstStyle/>
          <a:p>
            <a:pPr algn="ctr"/>
            <a:r>
              <a:rPr sz="1200" b="1">
                <a:solidFill>
                  <a:srgbClr val="FFFFFF"/>
                </a:solidFill>
                <a:latin typeface="Calibri"/>
              </a:rPr>
              <a:t>✓</a:t>
            </a:r>
          </a:p>
        </p:txBody>
      </p:sp>
      <p:sp>
        <p:nvSpPr>
          <p:cNvPr id="65" name="TextBox 64"/>
          <p:cNvSpPr txBox="1"/>
          <p:nvPr/>
        </p:nvSpPr>
        <p:spPr>
          <a:xfrm>
            <a:off x="10058400" y="3822191"/>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Alert stays. Beam reacquired</a:t>
            </a:r>
          </a:p>
        </p:txBody>
      </p:sp>
      <p:sp>
        <p:nvSpPr>
          <p:cNvPr id="66" name="Rectangle 65"/>
          <p:cNvSpPr/>
          <p:nvPr/>
        </p:nvSpPr>
        <p:spPr>
          <a:xfrm>
            <a:off x="457200" y="4297679"/>
            <a:ext cx="2551176" cy="749808"/>
          </a:xfrm>
          <a:prstGeom prst="rect">
            <a:avLst/>
          </a:prstGeom>
          <a:solidFill>
            <a:srgbClr val="E9E9E9"/>
          </a:solidFill>
          <a:ln>
            <a:noFill/>
          </a:ln>
        </p:spPr>
        <p:txBody>
          <a:bodyPr rtlCol="0" anchor="ctr"/>
          <a:lstStyle/>
          <a:p>
            <a:pPr algn="ctr"/>
          </a:p>
        </p:txBody>
      </p:sp>
      <p:sp>
        <p:nvSpPr>
          <p:cNvPr id="67" name="TextBox 66"/>
          <p:cNvSpPr txBox="1"/>
          <p:nvPr/>
        </p:nvSpPr>
        <p:spPr>
          <a:xfrm>
            <a:off x="548640" y="4297679"/>
            <a:ext cx="2331720" cy="749808"/>
          </a:xfrm>
          <a:prstGeom prst="rect">
            <a:avLst/>
          </a:prstGeom>
          <a:noFill/>
        </p:spPr>
        <p:txBody>
          <a:bodyPr wrap="square" lIns="45720" rIns="45720" tIns="27432" bIns="27432" anchor="ctr">
            <a:spAutoFit/>
          </a:bodyPr>
          <a:lstStyle/>
          <a:p>
            <a:pPr algn="l"/>
            <a:r>
              <a:rPr sz="1500" b="1" i="0">
                <a:solidFill>
                  <a:srgbClr val="1B3A4B"/>
                </a:solidFill>
                <a:latin typeface="Calibri"/>
              </a:rPr>
              <a:t>Fit for an Indian underground mine</a:t>
            </a:r>
          </a:p>
        </p:txBody>
      </p:sp>
      <p:sp>
        <p:nvSpPr>
          <p:cNvPr id="68" name="Rectangle 67"/>
          <p:cNvSpPr/>
          <p:nvPr/>
        </p:nvSpPr>
        <p:spPr>
          <a:xfrm>
            <a:off x="3090672" y="4297679"/>
            <a:ext cx="1682495" cy="749808"/>
          </a:xfrm>
          <a:prstGeom prst="rect">
            <a:avLst/>
          </a:prstGeom>
          <a:solidFill>
            <a:srgbClr val="E9E9E9"/>
          </a:solidFill>
          <a:ln>
            <a:noFill/>
          </a:ln>
        </p:spPr>
        <p:txBody>
          <a:bodyPr rtlCol="0" anchor="ctr"/>
          <a:lstStyle/>
          <a:p>
            <a:pPr algn="ctr"/>
          </a:p>
        </p:txBody>
      </p:sp>
      <p:sp>
        <p:nvSpPr>
          <p:cNvPr id="69" name="Oval 68"/>
          <p:cNvSpPr/>
          <p:nvPr/>
        </p:nvSpPr>
        <p:spPr>
          <a:xfrm>
            <a:off x="3154680" y="4379975"/>
            <a:ext cx="237744" cy="237744"/>
          </a:xfrm>
          <a:prstGeom prst="ellipse">
            <a:avLst/>
          </a:prstGeom>
          <a:solidFill>
            <a:srgbClr val="D99A2B"/>
          </a:solidFill>
          <a:ln>
            <a:noFill/>
          </a:ln>
        </p:spPr>
        <p:txBody>
          <a:bodyPr rtlCol="0" anchor="ctr" lIns="36576" rIns="36576" tIns="0" bIns="0" wrap="square"/>
          <a:lstStyle/>
          <a:p>
            <a:pPr algn="ctr"/>
            <a:r>
              <a:rPr sz="1200" b="1">
                <a:solidFill>
                  <a:srgbClr val="FFFFFF"/>
                </a:solidFill>
                <a:latin typeface="Calibri"/>
              </a:rPr>
              <a:t>~</a:t>
            </a:r>
          </a:p>
        </p:txBody>
      </p:sp>
      <p:sp>
        <p:nvSpPr>
          <p:cNvPr id="70" name="TextBox 69"/>
          <p:cNvSpPr txBox="1"/>
          <p:nvPr/>
        </p:nvSpPr>
        <p:spPr>
          <a:xfrm>
            <a:off x="3108960" y="4626864"/>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Often imported</a:t>
            </a:r>
          </a:p>
        </p:txBody>
      </p:sp>
      <p:sp>
        <p:nvSpPr>
          <p:cNvPr id="71" name="Rectangle 70"/>
          <p:cNvSpPr/>
          <p:nvPr/>
        </p:nvSpPr>
        <p:spPr>
          <a:xfrm>
            <a:off x="4828032" y="4297679"/>
            <a:ext cx="1682495" cy="749808"/>
          </a:xfrm>
          <a:prstGeom prst="rect">
            <a:avLst/>
          </a:prstGeom>
          <a:solidFill>
            <a:srgbClr val="E9E9E9"/>
          </a:solidFill>
          <a:ln>
            <a:noFill/>
          </a:ln>
        </p:spPr>
        <p:txBody>
          <a:bodyPr rtlCol="0" anchor="ctr"/>
          <a:lstStyle/>
          <a:p>
            <a:pPr algn="ctr"/>
          </a:p>
        </p:txBody>
      </p:sp>
      <p:sp>
        <p:nvSpPr>
          <p:cNvPr id="72" name="Oval 71"/>
          <p:cNvSpPr/>
          <p:nvPr/>
        </p:nvSpPr>
        <p:spPr>
          <a:xfrm>
            <a:off x="4892040" y="4379975"/>
            <a:ext cx="237744" cy="237744"/>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73" name="TextBox 72"/>
          <p:cNvSpPr txBox="1"/>
          <p:nvPr/>
        </p:nvSpPr>
        <p:spPr>
          <a:xfrm>
            <a:off x="4846320" y="4626864"/>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Not an underground system</a:t>
            </a:r>
          </a:p>
        </p:txBody>
      </p:sp>
      <p:sp>
        <p:nvSpPr>
          <p:cNvPr id="74" name="Rectangle 73"/>
          <p:cNvSpPr/>
          <p:nvPr/>
        </p:nvSpPr>
        <p:spPr>
          <a:xfrm>
            <a:off x="6565392" y="4297679"/>
            <a:ext cx="1682495" cy="749808"/>
          </a:xfrm>
          <a:prstGeom prst="rect">
            <a:avLst/>
          </a:prstGeom>
          <a:solidFill>
            <a:srgbClr val="E9E9E9"/>
          </a:solidFill>
          <a:ln>
            <a:noFill/>
          </a:ln>
        </p:spPr>
        <p:txBody>
          <a:bodyPr rtlCol="0" anchor="ctr"/>
          <a:lstStyle/>
          <a:p>
            <a:pPr algn="ctr"/>
          </a:p>
        </p:txBody>
      </p:sp>
      <p:sp>
        <p:nvSpPr>
          <p:cNvPr id="75" name="Oval 74"/>
          <p:cNvSpPr/>
          <p:nvPr/>
        </p:nvSpPr>
        <p:spPr>
          <a:xfrm>
            <a:off x="6629400" y="4379975"/>
            <a:ext cx="237744" cy="237744"/>
          </a:xfrm>
          <a:prstGeom prst="ellipse">
            <a:avLst/>
          </a:prstGeom>
          <a:solidFill>
            <a:srgbClr val="D99A2B"/>
          </a:solidFill>
          <a:ln>
            <a:noFill/>
          </a:ln>
        </p:spPr>
        <p:txBody>
          <a:bodyPr rtlCol="0" anchor="ctr" lIns="36576" rIns="36576" tIns="0" bIns="0" wrap="square"/>
          <a:lstStyle/>
          <a:p>
            <a:pPr algn="ctr"/>
            <a:r>
              <a:rPr sz="1200" b="1">
                <a:solidFill>
                  <a:srgbClr val="FFFFFF"/>
                </a:solidFill>
                <a:latin typeface="Calibri"/>
              </a:rPr>
              <a:t>~</a:t>
            </a:r>
          </a:p>
        </p:txBody>
      </p:sp>
      <p:sp>
        <p:nvSpPr>
          <p:cNvPr id="76" name="TextBox 75"/>
          <p:cNvSpPr txBox="1"/>
          <p:nvPr/>
        </p:nvSpPr>
        <p:spPr>
          <a:xfrm>
            <a:off x="6583680" y="4626864"/>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Sensors, not video</a:t>
            </a:r>
          </a:p>
        </p:txBody>
      </p:sp>
      <p:sp>
        <p:nvSpPr>
          <p:cNvPr id="77" name="Rectangle 76"/>
          <p:cNvSpPr/>
          <p:nvPr/>
        </p:nvSpPr>
        <p:spPr>
          <a:xfrm>
            <a:off x="8302751" y="4297679"/>
            <a:ext cx="1682495" cy="749808"/>
          </a:xfrm>
          <a:prstGeom prst="rect">
            <a:avLst/>
          </a:prstGeom>
          <a:solidFill>
            <a:srgbClr val="E9E9E9"/>
          </a:solidFill>
          <a:ln>
            <a:noFill/>
          </a:ln>
        </p:spPr>
        <p:txBody>
          <a:bodyPr rtlCol="0" anchor="ctr"/>
          <a:lstStyle/>
          <a:p>
            <a:pPr algn="ctr"/>
          </a:p>
        </p:txBody>
      </p:sp>
      <p:sp>
        <p:nvSpPr>
          <p:cNvPr id="78" name="Oval 77"/>
          <p:cNvSpPr/>
          <p:nvPr/>
        </p:nvSpPr>
        <p:spPr>
          <a:xfrm>
            <a:off x="8366759" y="4379975"/>
            <a:ext cx="237744" cy="237744"/>
          </a:xfrm>
          <a:prstGeom prst="ellipse">
            <a:avLst/>
          </a:prstGeom>
          <a:solidFill>
            <a:srgbClr val="D99A2B"/>
          </a:solidFill>
          <a:ln>
            <a:noFill/>
          </a:ln>
        </p:spPr>
        <p:txBody>
          <a:bodyPr rtlCol="0" anchor="ctr" lIns="36576" rIns="36576" tIns="0" bIns="0" wrap="square"/>
          <a:lstStyle/>
          <a:p>
            <a:pPr algn="ctr"/>
            <a:r>
              <a:rPr sz="1200" b="1">
                <a:solidFill>
                  <a:srgbClr val="FFFFFF"/>
                </a:solidFill>
                <a:latin typeface="Calibri"/>
              </a:rPr>
              <a:t>~</a:t>
            </a:r>
          </a:p>
        </p:txBody>
      </p:sp>
      <p:sp>
        <p:nvSpPr>
          <p:cNvPr id="79" name="TextBox 78"/>
          <p:cNvSpPr txBox="1"/>
          <p:nvPr/>
        </p:nvSpPr>
        <p:spPr>
          <a:xfrm>
            <a:off x="8321040" y="4626864"/>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Mostly shown in lab</a:t>
            </a:r>
          </a:p>
        </p:txBody>
      </p:sp>
      <p:sp>
        <p:nvSpPr>
          <p:cNvPr id="80" name="Rectangle 79"/>
          <p:cNvSpPr/>
          <p:nvPr/>
        </p:nvSpPr>
        <p:spPr>
          <a:xfrm>
            <a:off x="10040111" y="4297679"/>
            <a:ext cx="1682495" cy="749808"/>
          </a:xfrm>
          <a:prstGeom prst="rect">
            <a:avLst/>
          </a:prstGeom>
          <a:solidFill>
            <a:srgbClr val="FBF3E3"/>
          </a:solidFill>
          <a:ln>
            <a:noFill/>
          </a:ln>
        </p:spPr>
        <p:txBody>
          <a:bodyPr rtlCol="0" anchor="ctr"/>
          <a:lstStyle/>
          <a:p>
            <a:pPr algn="ctr"/>
          </a:p>
        </p:txBody>
      </p:sp>
      <p:sp>
        <p:nvSpPr>
          <p:cNvPr id="81" name="Oval 80"/>
          <p:cNvSpPr/>
          <p:nvPr/>
        </p:nvSpPr>
        <p:spPr>
          <a:xfrm>
            <a:off x="10104119" y="4379975"/>
            <a:ext cx="237744" cy="237744"/>
          </a:xfrm>
          <a:prstGeom prst="ellipse">
            <a:avLst/>
          </a:prstGeom>
          <a:solidFill>
            <a:srgbClr val="2E7D5B"/>
          </a:solidFill>
          <a:ln>
            <a:noFill/>
          </a:ln>
        </p:spPr>
        <p:txBody>
          <a:bodyPr rtlCol="0" anchor="ctr" lIns="36576" rIns="36576" tIns="0" bIns="0" wrap="square"/>
          <a:lstStyle/>
          <a:p>
            <a:pPr algn="ctr"/>
            <a:r>
              <a:rPr sz="1200" b="1">
                <a:solidFill>
                  <a:srgbClr val="FFFFFF"/>
                </a:solidFill>
                <a:latin typeface="Calibri"/>
              </a:rPr>
              <a:t>✓</a:t>
            </a:r>
          </a:p>
        </p:txBody>
      </p:sp>
      <p:sp>
        <p:nvSpPr>
          <p:cNvPr id="82" name="TextBox 81"/>
          <p:cNvSpPr txBox="1"/>
          <p:nvPr/>
        </p:nvSpPr>
        <p:spPr>
          <a:xfrm>
            <a:off x="10058400" y="4626864"/>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Indigenous node</a:t>
            </a:r>
          </a:p>
        </p:txBody>
      </p:sp>
      <p:sp>
        <p:nvSpPr>
          <p:cNvPr id="83" name="Oval 82"/>
          <p:cNvSpPr/>
          <p:nvPr/>
        </p:nvSpPr>
        <p:spPr>
          <a:xfrm>
            <a:off x="457200" y="5175504"/>
            <a:ext cx="182880" cy="182880"/>
          </a:xfrm>
          <a:prstGeom prst="ellipse">
            <a:avLst/>
          </a:prstGeom>
          <a:solidFill>
            <a:srgbClr val="2E7D5B"/>
          </a:solidFill>
          <a:ln>
            <a:noFill/>
          </a:ln>
        </p:spPr>
        <p:txBody>
          <a:bodyPr rtlCol="0" anchor="ctr"/>
          <a:lstStyle/>
          <a:p>
            <a:pPr algn="ctr"/>
          </a:p>
        </p:txBody>
      </p:sp>
      <p:sp>
        <p:nvSpPr>
          <p:cNvPr id="84" name="TextBox 83"/>
          <p:cNvSpPr txBox="1"/>
          <p:nvPr/>
        </p:nvSpPr>
        <p:spPr>
          <a:xfrm>
            <a:off x="685800" y="5120640"/>
            <a:ext cx="1097280" cy="292608"/>
          </a:xfrm>
          <a:prstGeom prst="rect">
            <a:avLst/>
          </a:prstGeom>
          <a:noFill/>
        </p:spPr>
        <p:txBody>
          <a:bodyPr wrap="square" lIns="45720" rIns="45720" tIns="27432" bIns="27432" anchor="t">
            <a:spAutoFit/>
          </a:bodyPr>
          <a:lstStyle/>
          <a:p>
            <a:pPr algn="l"/>
            <a:r>
              <a:rPr sz="1300" b="0" i="0">
                <a:solidFill>
                  <a:srgbClr val="5C6770"/>
                </a:solidFill>
                <a:latin typeface="Calibri"/>
              </a:rPr>
              <a:t>Works</a:t>
            </a:r>
          </a:p>
        </p:txBody>
      </p:sp>
      <p:sp>
        <p:nvSpPr>
          <p:cNvPr id="85" name="Oval 84"/>
          <p:cNvSpPr/>
          <p:nvPr/>
        </p:nvSpPr>
        <p:spPr>
          <a:xfrm>
            <a:off x="1828800" y="5175504"/>
            <a:ext cx="182880" cy="182880"/>
          </a:xfrm>
          <a:prstGeom prst="ellipse">
            <a:avLst/>
          </a:prstGeom>
          <a:solidFill>
            <a:srgbClr val="D99A2B"/>
          </a:solidFill>
          <a:ln>
            <a:noFill/>
          </a:ln>
        </p:spPr>
        <p:txBody>
          <a:bodyPr rtlCol="0" anchor="ctr"/>
          <a:lstStyle/>
          <a:p>
            <a:pPr algn="ctr"/>
          </a:p>
        </p:txBody>
      </p:sp>
      <p:sp>
        <p:nvSpPr>
          <p:cNvPr id="86" name="TextBox 85"/>
          <p:cNvSpPr txBox="1"/>
          <p:nvPr/>
        </p:nvSpPr>
        <p:spPr>
          <a:xfrm>
            <a:off x="2057400" y="5120640"/>
            <a:ext cx="1097280" cy="292608"/>
          </a:xfrm>
          <a:prstGeom prst="rect">
            <a:avLst/>
          </a:prstGeom>
          <a:noFill/>
        </p:spPr>
        <p:txBody>
          <a:bodyPr wrap="square" lIns="45720" rIns="45720" tIns="27432" bIns="27432" anchor="t">
            <a:spAutoFit/>
          </a:bodyPr>
          <a:lstStyle/>
          <a:p>
            <a:pPr algn="l"/>
            <a:r>
              <a:rPr sz="1300" b="0" i="0">
                <a:solidFill>
                  <a:srgbClr val="5C6770"/>
                </a:solidFill>
                <a:latin typeface="Calibri"/>
              </a:rPr>
              <a:t>Partly</a:t>
            </a:r>
          </a:p>
        </p:txBody>
      </p:sp>
      <p:sp>
        <p:nvSpPr>
          <p:cNvPr id="87" name="Oval 86"/>
          <p:cNvSpPr/>
          <p:nvPr/>
        </p:nvSpPr>
        <p:spPr>
          <a:xfrm>
            <a:off x="3200400" y="5175504"/>
            <a:ext cx="182880" cy="182880"/>
          </a:xfrm>
          <a:prstGeom prst="ellipse">
            <a:avLst/>
          </a:prstGeom>
          <a:solidFill>
            <a:srgbClr val="C8402A"/>
          </a:solidFill>
          <a:ln>
            <a:noFill/>
          </a:ln>
        </p:spPr>
        <p:txBody>
          <a:bodyPr rtlCol="0" anchor="ctr"/>
          <a:lstStyle/>
          <a:p>
            <a:pPr algn="ctr"/>
          </a:p>
        </p:txBody>
      </p:sp>
      <p:sp>
        <p:nvSpPr>
          <p:cNvPr id="88" name="TextBox 87"/>
          <p:cNvSpPr txBox="1"/>
          <p:nvPr/>
        </p:nvSpPr>
        <p:spPr>
          <a:xfrm>
            <a:off x="3429000" y="5120640"/>
            <a:ext cx="1097280" cy="292608"/>
          </a:xfrm>
          <a:prstGeom prst="rect">
            <a:avLst/>
          </a:prstGeom>
          <a:noFill/>
        </p:spPr>
        <p:txBody>
          <a:bodyPr wrap="square" lIns="45720" rIns="45720" tIns="27432" bIns="27432" anchor="t">
            <a:spAutoFit/>
          </a:bodyPr>
          <a:lstStyle/>
          <a:p>
            <a:pPr algn="l"/>
            <a:r>
              <a:rPr sz="1300" b="0" i="0">
                <a:solidFill>
                  <a:srgbClr val="5C6770"/>
                </a:solidFill>
                <a:latin typeface="Calibri"/>
              </a:rPr>
              <a:t>Does not</a:t>
            </a:r>
          </a:p>
        </p:txBody>
      </p:sp>
      <p:sp>
        <p:nvSpPr>
          <p:cNvPr id="89" name="Rounded Rectangle 88"/>
          <p:cNvSpPr/>
          <p:nvPr/>
        </p:nvSpPr>
        <p:spPr>
          <a:xfrm>
            <a:off x="457200" y="5532120"/>
            <a:ext cx="2715768" cy="868680"/>
          </a:xfrm>
          <a:prstGeom prst="roundRect">
            <a:avLst>
              <a:gd name="adj" fmla="val 8000"/>
            </a:avLst>
          </a:prstGeom>
          <a:solidFill>
            <a:srgbClr val="E9E9E9"/>
          </a:solidFill>
          <a:ln w="9525">
            <a:solidFill>
              <a:srgbClr val="9A9A9A"/>
            </a:solidFill>
          </a:ln>
        </p:spPr>
        <p:txBody>
          <a:bodyPr rtlCol="0" anchor="ctr"/>
          <a:lstStyle/>
          <a:p>
            <a:pPr algn="ctr"/>
          </a:p>
        </p:txBody>
      </p:sp>
      <p:sp>
        <p:nvSpPr>
          <p:cNvPr id="90" name="TextBox 89"/>
          <p:cNvSpPr txBox="1"/>
          <p:nvPr/>
        </p:nvSpPr>
        <p:spPr>
          <a:xfrm>
            <a:off x="548640" y="5550408"/>
            <a:ext cx="2560320" cy="320040"/>
          </a:xfrm>
          <a:prstGeom prst="rect">
            <a:avLst/>
          </a:prstGeom>
          <a:noFill/>
        </p:spPr>
        <p:txBody>
          <a:bodyPr wrap="square" lIns="45720" rIns="45720" tIns="27432" bIns="27432" anchor="t">
            <a:spAutoFit/>
          </a:bodyPr>
          <a:lstStyle/>
          <a:p>
            <a:pPr algn="l"/>
            <a:r>
              <a:rPr sz="1500" b="1" i="0">
                <a:solidFill>
                  <a:srgbClr val="C55A11"/>
                </a:solidFill>
                <a:latin typeface="Calibri"/>
              </a:rPr>
              <a:t>Safe</a:t>
            </a:r>
          </a:p>
        </p:txBody>
      </p:sp>
      <p:sp>
        <p:nvSpPr>
          <p:cNvPr id="91" name="TextBox 90"/>
          <p:cNvSpPr txBox="1"/>
          <p:nvPr/>
        </p:nvSpPr>
        <p:spPr>
          <a:xfrm>
            <a:off x="548640" y="5852160"/>
            <a:ext cx="2560320" cy="548640"/>
          </a:xfrm>
          <a:prstGeom prst="rect">
            <a:avLst/>
          </a:prstGeom>
          <a:noFill/>
        </p:spPr>
        <p:txBody>
          <a:bodyPr wrap="square" lIns="45720" rIns="45720" tIns="27432" bIns="27432" anchor="t">
            <a:spAutoFit/>
          </a:bodyPr>
          <a:lstStyle/>
          <a:p>
            <a:pPr algn="l"/>
            <a:r>
              <a:rPr sz="1250" b="0" i="0">
                <a:solidFill>
                  <a:srgbClr val="1C2430"/>
                </a:solidFill>
                <a:latin typeface="Calibri"/>
              </a:rPr>
              <a:t>Picture of the face, alert if it drops</a:t>
            </a:r>
          </a:p>
        </p:txBody>
      </p:sp>
      <p:sp>
        <p:nvSpPr>
          <p:cNvPr id="92" name="Rounded Rectangle 91"/>
          <p:cNvSpPr/>
          <p:nvPr/>
        </p:nvSpPr>
        <p:spPr>
          <a:xfrm>
            <a:off x="3310128" y="5532120"/>
            <a:ext cx="2715768" cy="868680"/>
          </a:xfrm>
          <a:prstGeom prst="roundRect">
            <a:avLst>
              <a:gd name="adj" fmla="val 8000"/>
            </a:avLst>
          </a:prstGeom>
          <a:solidFill>
            <a:srgbClr val="E9E9E9"/>
          </a:solidFill>
          <a:ln w="9525">
            <a:solidFill>
              <a:srgbClr val="9A9A9A"/>
            </a:solidFill>
          </a:ln>
        </p:spPr>
        <p:txBody>
          <a:bodyPr rtlCol="0" anchor="ctr"/>
          <a:lstStyle/>
          <a:p>
            <a:pPr algn="ctr"/>
          </a:p>
        </p:txBody>
      </p:sp>
      <p:sp>
        <p:nvSpPr>
          <p:cNvPr id="93" name="TextBox 92"/>
          <p:cNvSpPr txBox="1"/>
          <p:nvPr/>
        </p:nvSpPr>
        <p:spPr>
          <a:xfrm>
            <a:off x="3401568" y="5550408"/>
            <a:ext cx="2560320" cy="320040"/>
          </a:xfrm>
          <a:prstGeom prst="rect">
            <a:avLst/>
          </a:prstGeom>
          <a:noFill/>
        </p:spPr>
        <p:txBody>
          <a:bodyPr wrap="square" lIns="45720" rIns="45720" tIns="27432" bIns="27432" anchor="t">
            <a:spAutoFit/>
          </a:bodyPr>
          <a:lstStyle/>
          <a:p>
            <a:pPr algn="l"/>
            <a:r>
              <a:rPr sz="1500" b="1" i="0">
                <a:solidFill>
                  <a:srgbClr val="C55A11"/>
                </a:solidFill>
                <a:latin typeface="Calibri"/>
              </a:rPr>
              <a:t>Smart</a:t>
            </a:r>
          </a:p>
        </p:txBody>
      </p:sp>
      <p:sp>
        <p:nvSpPr>
          <p:cNvPr id="94" name="TextBox 93"/>
          <p:cNvSpPr txBox="1"/>
          <p:nvPr/>
        </p:nvSpPr>
        <p:spPr>
          <a:xfrm>
            <a:off x="3401568" y="5852160"/>
            <a:ext cx="2560320" cy="548640"/>
          </a:xfrm>
          <a:prstGeom prst="rect">
            <a:avLst/>
          </a:prstGeom>
          <a:noFill/>
        </p:spPr>
        <p:txBody>
          <a:bodyPr wrap="square" lIns="45720" rIns="45720" tIns="27432" bIns="27432" anchor="t">
            <a:spAutoFit/>
          </a:bodyPr>
          <a:lstStyle/>
          <a:p>
            <a:pPr algn="l"/>
            <a:r>
              <a:rPr sz="1250" b="0" i="0">
                <a:solidFill>
                  <a:srgbClr val="1C2430"/>
                </a:solidFill>
                <a:latin typeface="Calibri"/>
              </a:rPr>
              <a:t>Camera, IMU, radios and steering in one node</a:t>
            </a:r>
          </a:p>
        </p:txBody>
      </p:sp>
      <p:sp>
        <p:nvSpPr>
          <p:cNvPr id="95" name="Rounded Rectangle 94"/>
          <p:cNvSpPr/>
          <p:nvPr/>
        </p:nvSpPr>
        <p:spPr>
          <a:xfrm>
            <a:off x="6163056" y="5532120"/>
            <a:ext cx="2715768" cy="868680"/>
          </a:xfrm>
          <a:prstGeom prst="roundRect">
            <a:avLst>
              <a:gd name="adj" fmla="val 8000"/>
            </a:avLst>
          </a:prstGeom>
          <a:solidFill>
            <a:srgbClr val="E9E9E9"/>
          </a:solidFill>
          <a:ln w="9525">
            <a:solidFill>
              <a:srgbClr val="9A9A9A"/>
            </a:solidFill>
          </a:ln>
        </p:spPr>
        <p:txBody>
          <a:bodyPr rtlCol="0" anchor="ctr"/>
          <a:lstStyle/>
          <a:p>
            <a:pPr algn="ctr"/>
          </a:p>
        </p:txBody>
      </p:sp>
      <p:sp>
        <p:nvSpPr>
          <p:cNvPr id="96" name="TextBox 95"/>
          <p:cNvSpPr txBox="1"/>
          <p:nvPr/>
        </p:nvSpPr>
        <p:spPr>
          <a:xfrm>
            <a:off x="6254496" y="5550408"/>
            <a:ext cx="2560320" cy="320040"/>
          </a:xfrm>
          <a:prstGeom prst="rect">
            <a:avLst/>
          </a:prstGeom>
          <a:noFill/>
        </p:spPr>
        <p:txBody>
          <a:bodyPr wrap="square" lIns="45720" rIns="45720" tIns="27432" bIns="27432" anchor="t">
            <a:spAutoFit/>
          </a:bodyPr>
          <a:lstStyle/>
          <a:p>
            <a:pPr algn="l"/>
            <a:r>
              <a:rPr sz="1500" b="1" i="0">
                <a:solidFill>
                  <a:srgbClr val="C55A11"/>
                </a:solidFill>
                <a:latin typeface="Calibri"/>
              </a:rPr>
              <a:t>Sustainable</a:t>
            </a:r>
          </a:p>
        </p:txBody>
      </p:sp>
      <p:sp>
        <p:nvSpPr>
          <p:cNvPr id="97" name="TextBox 96"/>
          <p:cNvSpPr txBox="1"/>
          <p:nvPr/>
        </p:nvSpPr>
        <p:spPr>
          <a:xfrm>
            <a:off x="6254496" y="5852160"/>
            <a:ext cx="2560320" cy="548640"/>
          </a:xfrm>
          <a:prstGeom prst="rect">
            <a:avLst/>
          </a:prstGeom>
          <a:noFill/>
        </p:spPr>
        <p:txBody>
          <a:bodyPr wrap="square" lIns="45720" rIns="45720" tIns="27432" bIns="27432" anchor="t">
            <a:spAutoFit/>
          </a:bodyPr>
          <a:lstStyle/>
          <a:p>
            <a:pPr algn="l"/>
            <a:r>
              <a:rPr sz="1250" b="0" i="0">
                <a:solidFill>
                  <a:srgbClr val="1C2430"/>
                </a:solidFill>
                <a:latin typeface="Calibri"/>
              </a:rPr>
              <a:t>Heavy data on light, control on low-power radio</a:t>
            </a:r>
          </a:p>
        </p:txBody>
      </p:sp>
      <p:sp>
        <p:nvSpPr>
          <p:cNvPr id="98" name="Rounded Rectangle 97"/>
          <p:cNvSpPr/>
          <p:nvPr/>
        </p:nvSpPr>
        <p:spPr>
          <a:xfrm>
            <a:off x="9015984" y="5532120"/>
            <a:ext cx="2715768" cy="868680"/>
          </a:xfrm>
          <a:prstGeom prst="roundRect">
            <a:avLst>
              <a:gd name="adj" fmla="val 8000"/>
            </a:avLst>
          </a:prstGeom>
          <a:solidFill>
            <a:srgbClr val="E9E9E9"/>
          </a:solidFill>
          <a:ln w="9525">
            <a:solidFill>
              <a:srgbClr val="9A9A9A"/>
            </a:solidFill>
          </a:ln>
        </p:spPr>
        <p:txBody>
          <a:bodyPr rtlCol="0" anchor="ctr"/>
          <a:lstStyle/>
          <a:p>
            <a:pPr algn="ctr"/>
          </a:p>
        </p:txBody>
      </p:sp>
      <p:sp>
        <p:nvSpPr>
          <p:cNvPr id="99" name="TextBox 98"/>
          <p:cNvSpPr txBox="1"/>
          <p:nvPr/>
        </p:nvSpPr>
        <p:spPr>
          <a:xfrm>
            <a:off x="9107424" y="5550408"/>
            <a:ext cx="2560320" cy="320040"/>
          </a:xfrm>
          <a:prstGeom prst="rect">
            <a:avLst/>
          </a:prstGeom>
          <a:noFill/>
        </p:spPr>
        <p:txBody>
          <a:bodyPr wrap="square" lIns="45720" rIns="45720" tIns="27432" bIns="27432" anchor="t">
            <a:spAutoFit/>
          </a:bodyPr>
          <a:lstStyle/>
          <a:p>
            <a:pPr algn="l"/>
            <a:r>
              <a:rPr sz="1500" b="1" i="0">
                <a:solidFill>
                  <a:srgbClr val="C55A11"/>
                </a:solidFill>
                <a:latin typeface="Calibri"/>
              </a:rPr>
              <a:t>Social</a:t>
            </a:r>
          </a:p>
        </p:txBody>
      </p:sp>
      <p:sp>
        <p:nvSpPr>
          <p:cNvPr id="100" name="TextBox 99"/>
          <p:cNvSpPr txBox="1"/>
          <p:nvPr/>
        </p:nvSpPr>
        <p:spPr>
          <a:xfrm>
            <a:off x="9107424" y="5852160"/>
            <a:ext cx="2560320" cy="548640"/>
          </a:xfrm>
          <a:prstGeom prst="rect">
            <a:avLst/>
          </a:prstGeom>
          <a:noFill/>
        </p:spPr>
        <p:txBody>
          <a:bodyPr wrap="square" lIns="45720" rIns="45720" tIns="27432" bIns="27432" anchor="t">
            <a:spAutoFit/>
          </a:bodyPr>
          <a:lstStyle/>
          <a:p>
            <a:pPr algn="l"/>
            <a:r>
              <a:rPr sz="1250" b="0" i="0">
                <a:solidFill>
                  <a:srgbClr val="1C2430"/>
                </a:solidFill>
                <a:latin typeface="Calibri"/>
              </a:rPr>
              <a:t>Fewer people sent into a heading unseen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4" name="Section"/>
          <p:cNvSpPr txBox="1"/>
          <p:nvPr/>
        </p:nvSpPr>
        <p:spPr>
          <a:xfrm>
            <a:off x="457200" y="182880"/>
            <a:ext cx="11247120" cy="256032"/>
          </a:xfrm>
          <a:prstGeom prst="rect">
            <a:avLst/>
          </a:prstGeom>
          <a:noFill/>
        </p:spPr>
        <p:txBody>
          <a:bodyPr wrap="square" lIns="45720" rIns="45720" tIns="27432" bIns="27432" anchor="t">
            <a:spAutoFit/>
          </a:bodyPr>
          <a:lstStyle/>
          <a:p>
            <a:pPr algn="l"/>
            <a:r>
              <a:rPr sz="1300" b="1" i="0">
                <a:solidFill>
                  <a:srgbClr val="B5740A"/>
                </a:solidFill>
                <a:latin typeface="Calibri"/>
              </a:rPr>
              <a:t>03     ·     INNOVATION AND UNIQUENESS</a:t>
            </a:r>
          </a:p>
        </p:txBody>
      </p:sp>
      <p:sp>
        <p:nvSpPr>
          <p:cNvPr id="5" name="Title"/>
          <p:cNvSpPr txBox="1"/>
          <p:nvPr/>
        </p:nvSpPr>
        <p:spPr>
          <a:xfrm>
            <a:off x="438912" y="420624"/>
            <a:ext cx="11338560" cy="502920"/>
          </a:xfrm>
          <a:prstGeom prst="rect">
            <a:avLst/>
          </a:prstGeom>
          <a:noFill/>
        </p:spPr>
        <p:txBody>
          <a:bodyPr wrap="square" lIns="45720" rIns="45720" tIns="27432" bIns="27432" anchor="t">
            <a:spAutoFit/>
          </a:bodyPr>
          <a:lstStyle/>
          <a:p>
            <a:pPr algn="l"/>
            <a:r>
              <a:rPr sz="2800" b="1" i="0">
                <a:solidFill>
                  <a:srgbClr val="1B3A4B"/>
                </a:solidFill>
                <a:latin typeface="Calibri"/>
              </a:rPr>
              <a:t>What is different in the proposed system</a:t>
            </a:r>
          </a:p>
        </p:txBody>
      </p:sp>
      <p:sp>
        <p:nvSpPr>
          <p:cNvPr id="6" name="Footer rule"/>
          <p:cNvSpPr/>
          <p:nvPr/>
        </p:nvSpPr>
        <p:spPr>
          <a:xfrm>
            <a:off x="457200" y="6565392"/>
            <a:ext cx="11292840" cy="9144"/>
          </a:xfrm>
          <a:prstGeom prst="rect">
            <a:avLst/>
          </a:prstGeom>
          <a:solidFill>
            <a:srgbClr val="D0D0D0"/>
          </a:solidFill>
          <a:ln>
            <a:noFill/>
          </a:ln>
        </p:spPr>
        <p:txBody>
          <a:bodyPr rtlCol="0" anchor="ctr"/>
          <a:lstStyle/>
          <a:p>
            <a:pPr algn="ctr"/>
          </a:p>
        </p:txBody>
      </p:sp>
      <p:sp>
        <p:nvSpPr>
          <p:cNvPr id="7"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Innovation</a:t>
            </a:r>
          </a:p>
        </p:txBody>
      </p:sp>
      <p:sp>
        <p:nvSpPr>
          <p:cNvPr id="8"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5  /  15</a:t>
            </a:r>
          </a:p>
        </p:txBody>
      </p:sp>
      <p:sp>
        <p:nvSpPr>
          <p:cNvPr id="9" name="Rounded Rectangle 8"/>
          <p:cNvSpPr/>
          <p:nvPr/>
        </p:nvSpPr>
        <p:spPr>
          <a:xfrm>
            <a:off x="457200" y="1143000"/>
            <a:ext cx="3657600" cy="2423160"/>
          </a:xfrm>
          <a:prstGeom prst="roundRect">
            <a:avLst>
              <a:gd name="adj" fmla="val 8000"/>
            </a:avLst>
          </a:prstGeom>
          <a:solidFill>
            <a:srgbClr val="E9E9E9"/>
          </a:solidFill>
          <a:ln w="9525">
            <a:solidFill>
              <a:srgbClr val="9A9A9A"/>
            </a:solidFill>
          </a:ln>
        </p:spPr>
        <p:txBody>
          <a:bodyPr rtlCol="0" anchor="ctr"/>
          <a:lstStyle/>
          <a:p>
            <a:pPr algn="ctr"/>
          </a:p>
        </p:txBody>
      </p:sp>
      <p:sp>
        <p:nvSpPr>
          <p:cNvPr id="10" name="Oval 9"/>
          <p:cNvSpPr/>
          <p:nvPr/>
        </p:nvSpPr>
        <p:spPr>
          <a:xfrm>
            <a:off x="640080" y="1325880"/>
            <a:ext cx="384048" cy="384048"/>
          </a:xfrm>
          <a:prstGeom prst="ellipse">
            <a:avLst/>
          </a:prstGeom>
          <a:solidFill>
            <a:srgbClr val="ED7D31"/>
          </a:solidFill>
          <a:ln>
            <a:noFill/>
          </a:ln>
        </p:spPr>
        <p:txBody>
          <a:bodyPr rtlCol="0" anchor="ctr" lIns="36576" rIns="36576" tIns="0" bIns="0" wrap="square"/>
          <a:lstStyle/>
          <a:p>
            <a:pPr algn="ctr"/>
            <a:r>
              <a:rPr sz="1600" b="1">
                <a:solidFill>
                  <a:srgbClr val="FFFFFF"/>
                </a:solidFill>
                <a:latin typeface="Calibri"/>
              </a:rPr>
              <a:t>1</a:t>
            </a:r>
          </a:p>
        </p:txBody>
      </p:sp>
      <p:sp>
        <p:nvSpPr>
          <p:cNvPr id="11" name="TextBox 10"/>
          <p:cNvSpPr txBox="1"/>
          <p:nvPr/>
        </p:nvSpPr>
        <p:spPr>
          <a:xfrm>
            <a:off x="640080" y="1828800"/>
            <a:ext cx="3291840" cy="457200"/>
          </a:xfrm>
          <a:prstGeom prst="rect">
            <a:avLst/>
          </a:prstGeom>
          <a:noFill/>
        </p:spPr>
        <p:txBody>
          <a:bodyPr wrap="square" lIns="45720" rIns="45720" tIns="27432" bIns="27432" anchor="t">
            <a:spAutoFit/>
          </a:bodyPr>
          <a:lstStyle/>
          <a:p>
            <a:pPr algn="l"/>
            <a:r>
              <a:rPr sz="2000" b="1" i="0">
                <a:solidFill>
                  <a:srgbClr val="1B3A4B"/>
                </a:solidFill>
                <a:latin typeface="Calibri"/>
              </a:rPr>
              <a:t>Hybrid FSO and LoRa</a:t>
            </a:r>
          </a:p>
        </p:txBody>
      </p:sp>
      <p:sp>
        <p:nvSpPr>
          <p:cNvPr id="12" name="TextBox 11"/>
          <p:cNvSpPr txBox="1"/>
          <p:nvPr/>
        </p:nvSpPr>
        <p:spPr>
          <a:xfrm>
            <a:off x="640080" y="2331720"/>
            <a:ext cx="3291840" cy="1188720"/>
          </a:xfrm>
          <a:prstGeom prst="rect">
            <a:avLst/>
          </a:prstGeom>
          <a:noFill/>
        </p:spPr>
        <p:txBody>
          <a:bodyPr wrap="square" lIns="45720" rIns="45720" tIns="27432" bIns="27432" anchor="t">
            <a:spAutoFit/>
          </a:bodyPr>
          <a:lstStyle/>
          <a:p>
            <a:pPr algn="l"/>
            <a:r>
              <a:rPr sz="1600" b="0" i="0">
                <a:solidFill>
                  <a:srgbClr val="1C2430"/>
                </a:solidFill>
                <a:latin typeface="Calibri"/>
              </a:rPr>
              <a:t>FSO carries video. LoRa carries control, alerts and backup.</a:t>
            </a:r>
          </a:p>
        </p:txBody>
      </p:sp>
      <p:sp>
        <p:nvSpPr>
          <p:cNvPr id="13" name="Rounded Rectangle 12"/>
          <p:cNvSpPr/>
          <p:nvPr/>
        </p:nvSpPr>
        <p:spPr>
          <a:xfrm>
            <a:off x="4251960" y="1143000"/>
            <a:ext cx="3657600" cy="2423160"/>
          </a:xfrm>
          <a:prstGeom prst="roundRect">
            <a:avLst>
              <a:gd name="adj" fmla="val 8000"/>
            </a:avLst>
          </a:prstGeom>
          <a:solidFill>
            <a:srgbClr val="E9E9E9"/>
          </a:solidFill>
          <a:ln w="9525">
            <a:solidFill>
              <a:srgbClr val="9A9A9A"/>
            </a:solidFill>
          </a:ln>
        </p:spPr>
        <p:txBody>
          <a:bodyPr rtlCol="0" anchor="ctr"/>
          <a:lstStyle/>
          <a:p>
            <a:pPr algn="ctr"/>
          </a:p>
        </p:txBody>
      </p:sp>
      <p:sp>
        <p:nvSpPr>
          <p:cNvPr id="14" name="Oval 13"/>
          <p:cNvSpPr/>
          <p:nvPr/>
        </p:nvSpPr>
        <p:spPr>
          <a:xfrm>
            <a:off x="4434840" y="1325880"/>
            <a:ext cx="384048" cy="384048"/>
          </a:xfrm>
          <a:prstGeom prst="ellipse">
            <a:avLst/>
          </a:prstGeom>
          <a:solidFill>
            <a:srgbClr val="ED7D31"/>
          </a:solidFill>
          <a:ln>
            <a:noFill/>
          </a:ln>
        </p:spPr>
        <p:txBody>
          <a:bodyPr rtlCol="0" anchor="ctr" lIns="36576" rIns="36576" tIns="0" bIns="0" wrap="square"/>
          <a:lstStyle/>
          <a:p>
            <a:pPr algn="ctr"/>
            <a:r>
              <a:rPr sz="1600" b="1">
                <a:solidFill>
                  <a:srgbClr val="FFFFFF"/>
                </a:solidFill>
                <a:latin typeface="Calibri"/>
              </a:rPr>
              <a:t>2</a:t>
            </a:r>
          </a:p>
        </p:txBody>
      </p:sp>
      <p:sp>
        <p:nvSpPr>
          <p:cNvPr id="15" name="TextBox 14"/>
          <p:cNvSpPr txBox="1"/>
          <p:nvPr/>
        </p:nvSpPr>
        <p:spPr>
          <a:xfrm>
            <a:off x="4434840" y="1828800"/>
            <a:ext cx="3291840" cy="457200"/>
          </a:xfrm>
          <a:prstGeom prst="rect">
            <a:avLst/>
          </a:prstGeom>
          <a:noFill/>
        </p:spPr>
        <p:txBody>
          <a:bodyPr wrap="square" lIns="45720" rIns="45720" tIns="27432" bIns="27432" anchor="t">
            <a:spAutoFit/>
          </a:bodyPr>
          <a:lstStyle/>
          <a:p>
            <a:pPr algn="l"/>
            <a:r>
              <a:rPr sz="2000" b="1" i="0">
                <a:solidFill>
                  <a:srgbClr val="1B3A4B"/>
                </a:solidFill>
                <a:latin typeface="Calibri"/>
              </a:rPr>
              <a:t>Multi-hop along the tunnel</a:t>
            </a:r>
          </a:p>
        </p:txBody>
      </p:sp>
      <p:sp>
        <p:nvSpPr>
          <p:cNvPr id="16" name="TextBox 15"/>
          <p:cNvSpPr txBox="1"/>
          <p:nvPr/>
        </p:nvSpPr>
        <p:spPr>
          <a:xfrm>
            <a:off x="4434840" y="2331720"/>
            <a:ext cx="3291840" cy="1188720"/>
          </a:xfrm>
          <a:prstGeom prst="rect">
            <a:avLst/>
          </a:prstGeom>
          <a:noFill/>
        </p:spPr>
        <p:txBody>
          <a:bodyPr wrap="square" lIns="45720" rIns="45720" tIns="27432" bIns="27432" anchor="t">
            <a:spAutoFit/>
          </a:bodyPr>
          <a:lstStyle/>
          <a:p>
            <a:pPr algn="l"/>
            <a:r>
              <a:rPr sz="1600" b="0" i="0">
                <a:solidFill>
                  <a:srgbClr val="1C2430"/>
                </a:solidFill>
                <a:latin typeface="Calibri"/>
              </a:rPr>
              <a:t>A node every 50–100 m on line of sight. A longer heading needs more relays.</a:t>
            </a:r>
          </a:p>
        </p:txBody>
      </p:sp>
      <p:sp>
        <p:nvSpPr>
          <p:cNvPr id="17" name="Rounded Rectangle 16"/>
          <p:cNvSpPr/>
          <p:nvPr/>
        </p:nvSpPr>
        <p:spPr>
          <a:xfrm>
            <a:off x="8046720" y="1143000"/>
            <a:ext cx="3657600" cy="2423160"/>
          </a:xfrm>
          <a:prstGeom prst="roundRect">
            <a:avLst>
              <a:gd name="adj" fmla="val 8000"/>
            </a:avLst>
          </a:prstGeom>
          <a:solidFill>
            <a:srgbClr val="E9E9E9"/>
          </a:solidFill>
          <a:ln w="9525">
            <a:solidFill>
              <a:srgbClr val="9A9A9A"/>
            </a:solidFill>
          </a:ln>
        </p:spPr>
        <p:txBody>
          <a:bodyPr rtlCol="0" anchor="ctr"/>
          <a:lstStyle/>
          <a:p>
            <a:pPr algn="ctr"/>
          </a:p>
        </p:txBody>
      </p:sp>
      <p:sp>
        <p:nvSpPr>
          <p:cNvPr id="18" name="Oval 17"/>
          <p:cNvSpPr/>
          <p:nvPr/>
        </p:nvSpPr>
        <p:spPr>
          <a:xfrm>
            <a:off x="8229600" y="1325880"/>
            <a:ext cx="384048" cy="384048"/>
          </a:xfrm>
          <a:prstGeom prst="ellipse">
            <a:avLst/>
          </a:prstGeom>
          <a:solidFill>
            <a:srgbClr val="ED7D31"/>
          </a:solidFill>
          <a:ln>
            <a:noFill/>
          </a:ln>
        </p:spPr>
        <p:txBody>
          <a:bodyPr rtlCol="0" anchor="ctr" lIns="36576" rIns="36576" tIns="0" bIns="0" wrap="square"/>
          <a:lstStyle/>
          <a:p>
            <a:pPr algn="ctr"/>
            <a:r>
              <a:rPr sz="1600" b="1">
                <a:solidFill>
                  <a:srgbClr val="FFFFFF"/>
                </a:solidFill>
                <a:latin typeface="Calibri"/>
              </a:rPr>
              <a:t>3</a:t>
            </a:r>
          </a:p>
        </p:txBody>
      </p:sp>
      <p:sp>
        <p:nvSpPr>
          <p:cNvPr id="19" name="TextBox 18"/>
          <p:cNvSpPr txBox="1"/>
          <p:nvPr/>
        </p:nvSpPr>
        <p:spPr>
          <a:xfrm>
            <a:off x="8229600" y="1828800"/>
            <a:ext cx="3291840" cy="457200"/>
          </a:xfrm>
          <a:prstGeom prst="rect">
            <a:avLst/>
          </a:prstGeom>
          <a:noFill/>
        </p:spPr>
        <p:txBody>
          <a:bodyPr wrap="square" lIns="45720" rIns="45720" tIns="27432" bIns="27432" anchor="t">
            <a:spAutoFit/>
          </a:bodyPr>
          <a:lstStyle/>
          <a:p>
            <a:pPr algn="l"/>
            <a:r>
              <a:rPr sz="2000" b="1" i="0">
                <a:solidFill>
                  <a:srgbClr val="1B3A4B"/>
                </a:solidFill>
                <a:latin typeface="Calibri"/>
              </a:rPr>
              <a:t>IMU auto-tracking</a:t>
            </a:r>
          </a:p>
        </p:txBody>
      </p:sp>
      <p:sp>
        <p:nvSpPr>
          <p:cNvPr id="20" name="TextBox 19"/>
          <p:cNvSpPr txBox="1"/>
          <p:nvPr/>
        </p:nvSpPr>
        <p:spPr>
          <a:xfrm>
            <a:off x="8229600" y="2331720"/>
            <a:ext cx="3291840" cy="1188720"/>
          </a:xfrm>
          <a:prstGeom prst="rect">
            <a:avLst/>
          </a:prstGeom>
          <a:noFill/>
        </p:spPr>
        <p:txBody>
          <a:bodyPr wrap="square" lIns="45720" rIns="45720" tIns="27432" bIns="27432" anchor="t">
            <a:spAutoFit/>
          </a:bodyPr>
          <a:lstStyle/>
          <a:p>
            <a:pPr algn="l"/>
            <a:r>
              <a:rPr sz="1600" b="0" i="0">
                <a:solidFill>
                  <a:srgbClr val="1C2430"/>
                </a:solidFill>
                <a:latin typeface="Calibri"/>
              </a:rPr>
              <a:t>IMU drives a motorized mount and corrects pointing. Prototype exists in the department.</a:t>
            </a:r>
          </a:p>
        </p:txBody>
      </p:sp>
      <p:sp>
        <p:nvSpPr>
          <p:cNvPr id="21" name="Rounded Rectangle 20"/>
          <p:cNvSpPr/>
          <p:nvPr/>
        </p:nvSpPr>
        <p:spPr>
          <a:xfrm>
            <a:off x="457200" y="3703320"/>
            <a:ext cx="3657600" cy="2423160"/>
          </a:xfrm>
          <a:prstGeom prst="roundRect">
            <a:avLst>
              <a:gd name="adj" fmla="val 8000"/>
            </a:avLst>
          </a:prstGeom>
          <a:solidFill>
            <a:srgbClr val="E9E9E9"/>
          </a:solidFill>
          <a:ln w="9525">
            <a:solidFill>
              <a:srgbClr val="9A9A9A"/>
            </a:solidFill>
          </a:ln>
        </p:spPr>
        <p:txBody>
          <a:bodyPr rtlCol="0" anchor="ctr"/>
          <a:lstStyle/>
          <a:p>
            <a:pPr algn="ctr"/>
          </a:p>
        </p:txBody>
      </p:sp>
      <p:sp>
        <p:nvSpPr>
          <p:cNvPr id="22" name="Oval 21"/>
          <p:cNvSpPr/>
          <p:nvPr/>
        </p:nvSpPr>
        <p:spPr>
          <a:xfrm>
            <a:off x="640080" y="3886200"/>
            <a:ext cx="384048" cy="384048"/>
          </a:xfrm>
          <a:prstGeom prst="ellipse">
            <a:avLst/>
          </a:prstGeom>
          <a:solidFill>
            <a:srgbClr val="ED7D31"/>
          </a:solidFill>
          <a:ln>
            <a:noFill/>
          </a:ln>
        </p:spPr>
        <p:txBody>
          <a:bodyPr rtlCol="0" anchor="ctr" lIns="36576" rIns="36576" tIns="0" bIns="0" wrap="square"/>
          <a:lstStyle/>
          <a:p>
            <a:pPr algn="ctr"/>
            <a:r>
              <a:rPr sz="1600" b="1">
                <a:solidFill>
                  <a:srgbClr val="FFFFFF"/>
                </a:solidFill>
                <a:latin typeface="Calibri"/>
              </a:rPr>
              <a:t>4</a:t>
            </a:r>
          </a:p>
        </p:txBody>
      </p:sp>
      <p:sp>
        <p:nvSpPr>
          <p:cNvPr id="23" name="TextBox 22"/>
          <p:cNvSpPr txBox="1"/>
          <p:nvPr/>
        </p:nvSpPr>
        <p:spPr>
          <a:xfrm>
            <a:off x="640080" y="4389120"/>
            <a:ext cx="3291840" cy="457200"/>
          </a:xfrm>
          <a:prstGeom prst="rect">
            <a:avLst/>
          </a:prstGeom>
          <a:noFill/>
        </p:spPr>
        <p:txBody>
          <a:bodyPr wrap="square" lIns="45720" rIns="45720" tIns="27432" bIns="27432" anchor="t">
            <a:spAutoFit/>
          </a:bodyPr>
          <a:lstStyle/>
          <a:p>
            <a:pPr algn="l"/>
            <a:r>
              <a:rPr sz="2000" b="1" i="0">
                <a:solidFill>
                  <a:srgbClr val="1B3A4B"/>
                </a:solidFill>
                <a:latin typeface="Calibri"/>
              </a:rPr>
              <a:t>Video as safety</a:t>
            </a:r>
          </a:p>
        </p:txBody>
      </p:sp>
      <p:sp>
        <p:nvSpPr>
          <p:cNvPr id="24" name="TextBox 23"/>
          <p:cNvSpPr txBox="1"/>
          <p:nvPr/>
        </p:nvSpPr>
        <p:spPr>
          <a:xfrm>
            <a:off x="640080" y="4892040"/>
            <a:ext cx="3291840" cy="1188720"/>
          </a:xfrm>
          <a:prstGeom prst="rect">
            <a:avLst/>
          </a:prstGeom>
          <a:noFill/>
        </p:spPr>
        <p:txBody>
          <a:bodyPr wrap="square" lIns="45720" rIns="45720" tIns="27432" bIns="27432" anchor="t">
            <a:spAutoFit/>
          </a:bodyPr>
          <a:lstStyle/>
          <a:p>
            <a:pPr algn="l"/>
            <a:r>
              <a:rPr sz="1600" b="0" i="0">
                <a:solidFill>
                  <a:srgbClr val="1C2430"/>
                </a:solidFill>
                <a:latin typeface="Calibri"/>
              </a:rPr>
              <a:t>A live view of the zone a team is about to enter.</a:t>
            </a:r>
          </a:p>
        </p:txBody>
      </p:sp>
      <p:sp>
        <p:nvSpPr>
          <p:cNvPr id="25" name="Rounded Rectangle 24"/>
          <p:cNvSpPr/>
          <p:nvPr/>
        </p:nvSpPr>
        <p:spPr>
          <a:xfrm>
            <a:off x="4251960" y="3703320"/>
            <a:ext cx="3657600" cy="2423160"/>
          </a:xfrm>
          <a:prstGeom prst="roundRect">
            <a:avLst>
              <a:gd name="adj" fmla="val 8000"/>
            </a:avLst>
          </a:prstGeom>
          <a:solidFill>
            <a:srgbClr val="E9E9E9"/>
          </a:solidFill>
          <a:ln w="9525">
            <a:solidFill>
              <a:srgbClr val="9A9A9A"/>
            </a:solidFill>
          </a:ln>
        </p:spPr>
        <p:txBody>
          <a:bodyPr rtlCol="0" anchor="ctr"/>
          <a:lstStyle/>
          <a:p>
            <a:pPr algn="ctr"/>
          </a:p>
        </p:txBody>
      </p:sp>
      <p:sp>
        <p:nvSpPr>
          <p:cNvPr id="26" name="Oval 25"/>
          <p:cNvSpPr/>
          <p:nvPr/>
        </p:nvSpPr>
        <p:spPr>
          <a:xfrm>
            <a:off x="4434840" y="3886200"/>
            <a:ext cx="384048" cy="384048"/>
          </a:xfrm>
          <a:prstGeom prst="ellipse">
            <a:avLst/>
          </a:prstGeom>
          <a:solidFill>
            <a:srgbClr val="ED7D31"/>
          </a:solidFill>
          <a:ln>
            <a:noFill/>
          </a:ln>
        </p:spPr>
        <p:txBody>
          <a:bodyPr rtlCol="0" anchor="ctr" lIns="36576" rIns="36576" tIns="0" bIns="0" wrap="square"/>
          <a:lstStyle/>
          <a:p>
            <a:pPr algn="ctr"/>
            <a:r>
              <a:rPr sz="1600" b="1">
                <a:solidFill>
                  <a:srgbClr val="FFFFFF"/>
                </a:solidFill>
                <a:latin typeface="Calibri"/>
              </a:rPr>
              <a:t>5</a:t>
            </a:r>
          </a:p>
        </p:txBody>
      </p:sp>
      <p:sp>
        <p:nvSpPr>
          <p:cNvPr id="27" name="TextBox 26"/>
          <p:cNvSpPr txBox="1"/>
          <p:nvPr/>
        </p:nvSpPr>
        <p:spPr>
          <a:xfrm>
            <a:off x="4434840" y="4389120"/>
            <a:ext cx="3291840" cy="457200"/>
          </a:xfrm>
          <a:prstGeom prst="rect">
            <a:avLst/>
          </a:prstGeom>
          <a:noFill/>
        </p:spPr>
        <p:txBody>
          <a:bodyPr wrap="square" lIns="45720" rIns="45720" tIns="27432" bIns="27432" anchor="t">
            <a:spAutoFit/>
          </a:bodyPr>
          <a:lstStyle/>
          <a:p>
            <a:pPr algn="l"/>
            <a:r>
              <a:rPr sz="2000" b="1" i="0">
                <a:solidFill>
                  <a:srgbClr val="1B3A4B"/>
                </a:solidFill>
                <a:latin typeface="Calibri"/>
              </a:rPr>
              <a:t>One cyber-physical node</a:t>
            </a:r>
          </a:p>
        </p:txBody>
      </p:sp>
      <p:sp>
        <p:nvSpPr>
          <p:cNvPr id="28" name="TextBox 27"/>
          <p:cNvSpPr txBox="1"/>
          <p:nvPr/>
        </p:nvSpPr>
        <p:spPr>
          <a:xfrm>
            <a:off x="4434840" y="4892040"/>
            <a:ext cx="3291840" cy="1188720"/>
          </a:xfrm>
          <a:prstGeom prst="rect">
            <a:avLst/>
          </a:prstGeom>
          <a:noFill/>
        </p:spPr>
        <p:txBody>
          <a:bodyPr wrap="square" lIns="45720" rIns="45720" tIns="27432" bIns="27432" anchor="t">
            <a:spAutoFit/>
          </a:bodyPr>
          <a:lstStyle/>
          <a:p>
            <a:pPr algn="l"/>
            <a:r>
              <a:rPr sz="1600" b="0" i="0">
                <a:solidFill>
                  <a:srgbClr val="1C2430"/>
                </a:solidFill>
                <a:latin typeface="Calibri"/>
              </a:rPr>
              <a:t>Senses (camera, IMU, gas, temperature, humidity), communicates, and steers the beam.</a:t>
            </a:r>
          </a:p>
        </p:txBody>
      </p:sp>
      <p:pic>
        <p:nvPicPr>
          <p:cNvPr id="29" name="Picture" descr="LoRa module"/>
          <p:cNvPicPr>
            <a:picLocks noChangeAspect="1"/>
          </p:cNvPicPr>
          <p:nvPr/>
        </p:nvPicPr>
        <p:blipFill>
          <a:blip r:embed="rId2"/>
          <a:stretch>
            <a:fillRect/>
          </a:stretch>
        </p:blipFill>
        <p:spPr>
          <a:xfrm>
            <a:off x="3383280" y="1280160"/>
            <a:ext cx="716889" cy="640080"/>
          </a:xfrm>
          <a:prstGeom prst="rect">
            <a:avLst/>
          </a:prstGeom>
        </p:spPr>
      </p:pic>
      <p:pic>
        <p:nvPicPr>
          <p:cNvPr id="30" name="Picture" descr="Camera head on a tripod, laser facing right"/>
          <p:cNvPicPr>
            <a:picLocks noChangeAspect="1"/>
          </p:cNvPicPr>
          <p:nvPr/>
        </p:nvPicPr>
        <p:blipFill>
          <a:blip r:embed="rId3"/>
          <a:stretch>
            <a:fillRect/>
          </a:stretch>
        </p:blipFill>
        <p:spPr>
          <a:xfrm>
            <a:off x="7269480" y="1234440"/>
            <a:ext cx="335226" cy="566928"/>
          </a:xfrm>
          <a:prstGeom prst="rect">
            <a:avLst/>
          </a:prstGeom>
        </p:spPr>
      </p:pic>
      <p:pic>
        <p:nvPicPr>
          <p:cNvPr id="31" name="Picture" descr="IMU module"/>
          <p:cNvPicPr>
            <a:picLocks noChangeAspect="1"/>
          </p:cNvPicPr>
          <p:nvPr/>
        </p:nvPicPr>
        <p:blipFill>
          <a:blip r:embed="rId4"/>
          <a:stretch>
            <a:fillRect/>
          </a:stretch>
        </p:blipFill>
        <p:spPr>
          <a:xfrm>
            <a:off x="10927080" y="1307592"/>
            <a:ext cx="594360" cy="435863"/>
          </a:xfrm>
          <a:prstGeom prst="rect">
            <a:avLst/>
          </a:prstGeom>
        </p:spPr>
      </p:pic>
      <p:pic>
        <p:nvPicPr>
          <p:cNvPr id="32" name="Picture" descr="Monitoring dashboard"/>
          <p:cNvPicPr>
            <a:picLocks noChangeAspect="1"/>
          </p:cNvPicPr>
          <p:nvPr/>
        </p:nvPicPr>
        <p:blipFill>
          <a:blip r:embed="rId5"/>
          <a:stretch>
            <a:fillRect/>
          </a:stretch>
        </p:blipFill>
        <p:spPr>
          <a:xfrm>
            <a:off x="3291840" y="3867911"/>
            <a:ext cx="640080" cy="515389"/>
          </a:xfrm>
          <a:prstGeom prst="rect">
            <a:avLst/>
          </a:prstGeom>
        </p:spPr>
      </p:pic>
      <p:pic>
        <p:nvPicPr>
          <p:cNvPr id="33" name="Picture" descr="Motorized alignment system"/>
          <p:cNvPicPr>
            <a:picLocks noChangeAspect="1"/>
          </p:cNvPicPr>
          <p:nvPr/>
        </p:nvPicPr>
        <p:blipFill>
          <a:blip r:embed="rId6"/>
          <a:stretch>
            <a:fillRect/>
          </a:stretch>
        </p:blipFill>
        <p:spPr>
          <a:xfrm>
            <a:off x="7132320" y="3867911"/>
            <a:ext cx="594360" cy="495299"/>
          </a:xfrm>
          <a:prstGeom prst="rect">
            <a:avLst/>
          </a:prstGeom>
        </p:spPr>
      </p:pic>
      <p:sp>
        <p:nvSpPr>
          <p:cNvPr id="34" name="Rounded Rectangle 33"/>
          <p:cNvSpPr/>
          <p:nvPr/>
        </p:nvSpPr>
        <p:spPr>
          <a:xfrm>
            <a:off x="8046720" y="3703320"/>
            <a:ext cx="3657600" cy="2423160"/>
          </a:xfrm>
          <a:prstGeom prst="roundRect">
            <a:avLst>
              <a:gd name="adj" fmla="val 8000"/>
            </a:avLst>
          </a:prstGeom>
          <a:solidFill>
            <a:srgbClr val="0071C1"/>
          </a:solidFill>
          <a:ln w="9525">
            <a:solidFill>
              <a:srgbClr val="00548F"/>
            </a:solidFill>
          </a:ln>
        </p:spPr>
        <p:txBody>
          <a:bodyPr rtlCol="0" anchor="ctr"/>
          <a:lstStyle/>
          <a:p>
            <a:pPr algn="ctr"/>
          </a:p>
        </p:txBody>
      </p:sp>
      <p:sp>
        <p:nvSpPr>
          <p:cNvPr id="35" name="TextBox 34"/>
          <p:cNvSpPr txBox="1"/>
          <p:nvPr/>
        </p:nvSpPr>
        <p:spPr>
          <a:xfrm>
            <a:off x="8229600" y="3767328"/>
            <a:ext cx="3291840" cy="411480"/>
          </a:xfrm>
          <a:prstGeom prst="rect">
            <a:avLst/>
          </a:prstGeom>
          <a:noFill/>
        </p:spPr>
        <p:txBody>
          <a:bodyPr wrap="square" lIns="45720" rIns="45720" tIns="27432" bIns="27432" anchor="t">
            <a:spAutoFit/>
          </a:bodyPr>
          <a:lstStyle/>
          <a:p>
            <a:pPr algn="l"/>
            <a:r>
              <a:rPr sz="1800" b="1" i="0">
                <a:solidFill>
                  <a:srgbClr val="FFD966"/>
                </a:solidFill>
                <a:latin typeface="Calibri"/>
              </a:rPr>
              <a:t>Why FSO works underground</a:t>
            </a:r>
          </a:p>
        </p:txBody>
      </p:sp>
      <p:pic>
        <p:nvPicPr>
          <p:cNvPr id="36" name="Picture" descr="Rock texture"/>
          <p:cNvPicPr>
            <a:picLocks noChangeAspect="1"/>
          </p:cNvPicPr>
          <p:nvPr/>
        </p:nvPicPr>
        <p:blipFill>
          <a:blip r:embed="rId7"/>
          <a:srcRect t="10035" b="32135"/>
          <a:stretch>
            <a:fillRect/>
          </a:stretch>
        </p:blipFill>
        <p:spPr>
          <a:xfrm>
            <a:off x="8229600" y="4297680"/>
            <a:ext cx="3291840" cy="320040"/>
          </a:xfrm>
          <a:prstGeom prst="rect">
            <a:avLst/>
          </a:prstGeom>
        </p:spPr>
      </p:pic>
      <p:sp>
        <p:nvSpPr>
          <p:cNvPr id="37" name="Rectangle 36"/>
          <p:cNvSpPr/>
          <p:nvPr/>
        </p:nvSpPr>
        <p:spPr>
          <a:xfrm>
            <a:off x="8229600" y="4617720"/>
            <a:ext cx="3291840" cy="868680"/>
          </a:xfrm>
          <a:prstGeom prst="rect">
            <a:avLst/>
          </a:prstGeom>
          <a:solidFill>
            <a:srgbClr val="F4F1EC"/>
          </a:solidFill>
          <a:ln>
            <a:noFill/>
          </a:ln>
        </p:spPr>
        <p:txBody>
          <a:bodyPr rtlCol="0" anchor="ctr"/>
          <a:lstStyle/>
          <a:p>
            <a:pPr algn="ctr"/>
          </a:p>
        </p:txBody>
      </p:sp>
      <p:sp>
        <p:nvSpPr>
          <p:cNvPr id="38" name="Rectangle 37"/>
          <p:cNvSpPr/>
          <p:nvPr/>
        </p:nvSpPr>
        <p:spPr>
          <a:xfrm>
            <a:off x="8229600" y="5404104"/>
            <a:ext cx="3291840" cy="82296"/>
          </a:xfrm>
          <a:prstGeom prst="rect">
            <a:avLst/>
          </a:prstGeom>
          <a:solidFill>
            <a:srgbClr val="D8D2C6"/>
          </a:solidFill>
          <a:ln>
            <a:noFill/>
          </a:ln>
        </p:spPr>
        <p:txBody>
          <a:bodyPr rtlCol="0" anchor="ctr"/>
          <a:lstStyle/>
          <a:p>
            <a:pPr algn="ctr"/>
          </a:p>
        </p:txBody>
      </p:sp>
      <p:sp>
        <p:nvSpPr>
          <p:cNvPr id="39" name="Rectangle 38"/>
          <p:cNvSpPr/>
          <p:nvPr/>
        </p:nvSpPr>
        <p:spPr>
          <a:xfrm>
            <a:off x="8229600" y="4617720"/>
            <a:ext cx="3291840" cy="36576"/>
          </a:xfrm>
          <a:prstGeom prst="rect">
            <a:avLst/>
          </a:prstGeom>
          <a:solidFill>
            <a:srgbClr val="7A6350"/>
          </a:solidFill>
          <a:ln>
            <a:noFill/>
          </a:ln>
        </p:spPr>
        <p:txBody>
          <a:bodyPr rtlCol="0" anchor="ctr"/>
          <a:lstStyle/>
          <a:p>
            <a:pPr algn="ctr"/>
          </a:p>
        </p:txBody>
      </p:sp>
      <p:pic>
        <p:nvPicPr>
          <p:cNvPr id="40" name="Picture" descr="Rock texture"/>
          <p:cNvPicPr>
            <a:picLocks noChangeAspect="1"/>
          </p:cNvPicPr>
          <p:nvPr/>
        </p:nvPicPr>
        <p:blipFill>
          <a:blip r:embed="rId7"/>
          <a:srcRect t="13306" b="45387"/>
          <a:stretch>
            <a:fillRect/>
          </a:stretch>
        </p:blipFill>
        <p:spPr>
          <a:xfrm>
            <a:off x="8229600" y="5486400"/>
            <a:ext cx="3291840" cy="228600"/>
          </a:xfrm>
          <a:prstGeom prst="rect">
            <a:avLst/>
          </a:prstGeom>
        </p:spPr>
      </p:pic>
      <p:pic>
        <p:nvPicPr>
          <p:cNvPr id="41" name="Picture" descr="Camera head on a tripod, laser facing right"/>
          <p:cNvPicPr>
            <a:picLocks noChangeAspect="1"/>
          </p:cNvPicPr>
          <p:nvPr/>
        </p:nvPicPr>
        <p:blipFill>
          <a:blip r:embed="rId3"/>
          <a:stretch>
            <a:fillRect/>
          </a:stretch>
        </p:blipFill>
        <p:spPr>
          <a:xfrm>
            <a:off x="8457007" y="4645152"/>
            <a:ext cx="459585" cy="777240"/>
          </a:xfrm>
          <a:prstGeom prst="rect">
            <a:avLst/>
          </a:prstGeom>
        </p:spPr>
      </p:pic>
      <p:pic>
        <p:nvPicPr>
          <p:cNvPr id="42" name="Picture" descr="Camera head on a tripod, laser facing left"/>
          <p:cNvPicPr>
            <a:picLocks noChangeAspect="1"/>
          </p:cNvPicPr>
          <p:nvPr/>
        </p:nvPicPr>
        <p:blipFill>
          <a:blip r:embed="rId8"/>
          <a:stretch>
            <a:fillRect/>
          </a:stretch>
        </p:blipFill>
        <p:spPr>
          <a:xfrm>
            <a:off x="10780378" y="4645152"/>
            <a:ext cx="567723" cy="777240"/>
          </a:xfrm>
          <a:prstGeom prst="rect">
            <a:avLst/>
          </a:prstGeom>
        </p:spPr>
      </p:pic>
      <p:sp>
        <p:nvSpPr>
          <p:cNvPr id="43" name="Rectangle 42"/>
          <p:cNvSpPr/>
          <p:nvPr/>
        </p:nvSpPr>
        <p:spPr>
          <a:xfrm>
            <a:off x="8916592" y="4652832"/>
            <a:ext cx="1863785" cy="146304"/>
          </a:xfrm>
          <a:prstGeom prst="rect">
            <a:avLst/>
          </a:prstGeom>
          <a:solidFill>
            <a:srgbClr val="ED7D31">
              <a:alpha val="28000"/>
            </a:srgbClr>
          </a:solidFill>
          <a:ln>
            <a:noFill/>
          </a:ln>
        </p:spPr>
        <p:txBody>
          <a:bodyPr rtlCol="0" anchor="ctr"/>
          <a:lstStyle/>
          <a:p>
            <a:pPr algn="ctr"/>
          </a:p>
        </p:txBody>
      </p:sp>
      <p:sp>
        <p:nvSpPr>
          <p:cNvPr id="44" name="Rectangle 43"/>
          <p:cNvSpPr/>
          <p:nvPr/>
        </p:nvSpPr>
        <p:spPr>
          <a:xfrm>
            <a:off x="8916592" y="4703124"/>
            <a:ext cx="1863785" cy="45720"/>
          </a:xfrm>
          <a:prstGeom prst="rect">
            <a:avLst/>
          </a:prstGeom>
          <a:solidFill>
            <a:srgbClr val="ED7D31"/>
          </a:solidFill>
          <a:ln>
            <a:noFill/>
          </a:ln>
        </p:spPr>
        <p:txBody>
          <a:bodyPr rtlCol="0" anchor="ctr"/>
          <a:lstStyle/>
          <a:p>
            <a:pPr algn="ctr"/>
          </a:p>
        </p:txBody>
      </p:sp>
      <p:sp>
        <p:nvSpPr>
          <p:cNvPr id="45" name="TextBox 44"/>
          <p:cNvSpPr txBox="1"/>
          <p:nvPr/>
        </p:nvSpPr>
        <p:spPr>
          <a:xfrm>
            <a:off x="8229600" y="5742432"/>
            <a:ext cx="3291840" cy="320040"/>
          </a:xfrm>
          <a:prstGeom prst="rect">
            <a:avLst/>
          </a:prstGeom>
          <a:noFill/>
        </p:spPr>
        <p:txBody>
          <a:bodyPr wrap="square" lIns="45720" rIns="45720" tIns="27432" bIns="27432" anchor="t">
            <a:spAutoFit/>
          </a:bodyPr>
          <a:lstStyle/>
          <a:p>
            <a:pPr algn="ctr"/>
            <a:r>
              <a:rPr sz="1300" b="1" i="0">
                <a:solidFill>
                  <a:srgbClr val="FFFFFF"/>
                </a:solidFill>
                <a:latin typeface="Calibri"/>
              </a:rPr>
              <a:t>Beam follows the open tunnel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4" name="Section"/>
          <p:cNvSpPr txBox="1"/>
          <p:nvPr/>
        </p:nvSpPr>
        <p:spPr>
          <a:xfrm>
            <a:off x="457200" y="182880"/>
            <a:ext cx="11247120" cy="256032"/>
          </a:xfrm>
          <a:prstGeom prst="rect">
            <a:avLst/>
          </a:prstGeom>
          <a:noFill/>
        </p:spPr>
        <p:txBody>
          <a:bodyPr wrap="square" lIns="45720" rIns="45720" tIns="27432" bIns="27432" anchor="t">
            <a:spAutoFit/>
          </a:bodyPr>
          <a:lstStyle/>
          <a:p>
            <a:pPr algn="l"/>
            <a:r>
              <a:rPr sz="1300" b="1" i="0">
                <a:solidFill>
                  <a:srgbClr val="B5740A"/>
                </a:solidFill>
                <a:latin typeface="Calibri"/>
              </a:rPr>
              <a:t>04     ·     TECHNICAL FEASIBILITY AND METHODOLOGY</a:t>
            </a:r>
          </a:p>
        </p:txBody>
      </p:sp>
      <p:sp>
        <p:nvSpPr>
          <p:cNvPr id="5" name="Title"/>
          <p:cNvSpPr txBox="1"/>
          <p:nvPr/>
        </p:nvSpPr>
        <p:spPr>
          <a:xfrm>
            <a:off x="438912" y="420624"/>
            <a:ext cx="11338560" cy="502920"/>
          </a:xfrm>
          <a:prstGeom prst="rect">
            <a:avLst/>
          </a:prstGeom>
          <a:noFill/>
        </p:spPr>
        <p:txBody>
          <a:bodyPr wrap="square" lIns="45720" rIns="45720" tIns="27432" bIns="27432" anchor="t">
            <a:spAutoFit/>
          </a:bodyPr>
          <a:lstStyle/>
          <a:p>
            <a:pPr algn="l"/>
            <a:r>
              <a:rPr sz="2800" b="1" i="0">
                <a:solidFill>
                  <a:srgbClr val="1B3A4B"/>
                </a:solidFill>
                <a:latin typeface="Calibri"/>
              </a:rPr>
              <a:t>Proposed scheme</a:t>
            </a:r>
          </a:p>
        </p:txBody>
      </p:sp>
      <p:sp>
        <p:nvSpPr>
          <p:cNvPr id="6" name="Footer rule"/>
          <p:cNvSpPr/>
          <p:nvPr/>
        </p:nvSpPr>
        <p:spPr>
          <a:xfrm>
            <a:off x="457200" y="6565392"/>
            <a:ext cx="11292840" cy="9144"/>
          </a:xfrm>
          <a:prstGeom prst="rect">
            <a:avLst/>
          </a:prstGeom>
          <a:solidFill>
            <a:srgbClr val="D0D0D0"/>
          </a:solidFill>
          <a:ln>
            <a:noFill/>
          </a:ln>
        </p:spPr>
        <p:txBody>
          <a:bodyPr rtlCol="0" anchor="ctr"/>
          <a:lstStyle/>
          <a:p>
            <a:pPr algn="ctr"/>
          </a:p>
        </p:txBody>
      </p:sp>
      <p:sp>
        <p:nvSpPr>
          <p:cNvPr id="7"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Proposed scheme</a:t>
            </a:r>
          </a:p>
        </p:txBody>
      </p:sp>
      <p:sp>
        <p:nvSpPr>
          <p:cNvPr id="8"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6  /  15</a:t>
            </a:r>
          </a:p>
        </p:txBody>
      </p:sp>
      <p:pic>
        <p:nvPicPr>
          <p:cNvPr id="9" name="Picture" descr="Concept diagram of the hybrid FSO and LoRa link"/>
          <p:cNvPicPr>
            <a:picLocks noChangeAspect="1"/>
          </p:cNvPicPr>
          <p:nvPr/>
        </p:nvPicPr>
        <p:blipFill>
          <a:blip r:embed="rId2"/>
          <a:stretch>
            <a:fillRect/>
          </a:stretch>
        </p:blipFill>
        <p:spPr>
          <a:xfrm>
            <a:off x="457200" y="1005840"/>
            <a:ext cx="8961120" cy="4469359"/>
          </a:xfrm>
          <a:prstGeom prst="rect">
            <a:avLst/>
          </a:prstGeom>
        </p:spPr>
      </p:pic>
      <p:sp>
        <p:nvSpPr>
          <p:cNvPr id="10" name="Rectangle 9"/>
          <p:cNvSpPr/>
          <p:nvPr/>
        </p:nvSpPr>
        <p:spPr>
          <a:xfrm>
            <a:off x="457200" y="1005840"/>
            <a:ext cx="8961120" cy="4469358"/>
          </a:xfrm>
          <a:prstGeom prst="rect">
            <a:avLst/>
          </a:prstGeom>
          <a:noFill/>
          <a:ln w="9525">
            <a:solidFill>
              <a:srgbClr val="9A9A9A"/>
            </a:solidFill>
          </a:ln>
        </p:spPr>
        <p:txBody>
          <a:bodyPr rtlCol="0" anchor="ctr"/>
          <a:lstStyle/>
          <a:p>
            <a:pPr algn="ctr"/>
          </a:p>
        </p:txBody>
      </p:sp>
      <p:sp>
        <p:nvSpPr>
          <p:cNvPr id="11" name="Rounded Rectangle 10"/>
          <p:cNvSpPr/>
          <p:nvPr/>
        </p:nvSpPr>
        <p:spPr>
          <a:xfrm>
            <a:off x="9601200" y="1005840"/>
            <a:ext cx="2148840" cy="1416634"/>
          </a:xfrm>
          <a:prstGeom prst="roundRect">
            <a:avLst>
              <a:gd name="adj" fmla="val 8000"/>
            </a:avLst>
          </a:prstGeom>
          <a:solidFill>
            <a:srgbClr val="E9E9E9"/>
          </a:solidFill>
          <a:ln w="9525">
            <a:solidFill>
              <a:srgbClr val="9A9A9A"/>
            </a:solidFill>
          </a:ln>
        </p:spPr>
        <p:txBody>
          <a:bodyPr rtlCol="0" anchor="ctr"/>
          <a:lstStyle/>
          <a:p>
            <a:pPr algn="ctr"/>
          </a:p>
        </p:txBody>
      </p:sp>
      <p:pic>
        <p:nvPicPr>
          <p:cNvPr id="12" name="Picture" descr="Camera head on a tripod, laser facing right"/>
          <p:cNvPicPr>
            <a:picLocks noChangeAspect="1"/>
          </p:cNvPicPr>
          <p:nvPr/>
        </p:nvPicPr>
        <p:blipFill>
          <a:blip r:embed="rId3"/>
          <a:stretch>
            <a:fillRect/>
          </a:stretch>
        </p:blipFill>
        <p:spPr>
          <a:xfrm>
            <a:off x="9710928" y="1115568"/>
            <a:ext cx="389295" cy="658368"/>
          </a:xfrm>
          <a:prstGeom prst="rect">
            <a:avLst/>
          </a:prstGeom>
        </p:spPr>
      </p:pic>
      <p:sp>
        <p:nvSpPr>
          <p:cNvPr id="13" name="TextBox 12"/>
          <p:cNvSpPr txBox="1"/>
          <p:nvPr/>
        </p:nvSpPr>
        <p:spPr>
          <a:xfrm>
            <a:off x="10424160" y="1170432"/>
            <a:ext cx="1280160" cy="457200"/>
          </a:xfrm>
          <a:prstGeom prst="rect">
            <a:avLst/>
          </a:prstGeom>
          <a:noFill/>
        </p:spPr>
        <p:txBody>
          <a:bodyPr wrap="square" lIns="45720" rIns="45720" tIns="27432" bIns="27432" anchor="t">
            <a:spAutoFit/>
          </a:bodyPr>
          <a:lstStyle/>
          <a:p>
            <a:pPr algn="l"/>
            <a:r>
              <a:rPr sz="1900" b="1" i="0">
                <a:solidFill>
                  <a:srgbClr val="1B3A4B"/>
                </a:solidFill>
                <a:latin typeface="Calibri"/>
              </a:rPr>
              <a:t>FSO</a:t>
            </a:r>
          </a:p>
        </p:txBody>
      </p:sp>
      <p:sp>
        <p:nvSpPr>
          <p:cNvPr id="14" name="TextBox 13"/>
          <p:cNvSpPr txBox="1"/>
          <p:nvPr/>
        </p:nvSpPr>
        <p:spPr>
          <a:xfrm>
            <a:off x="9692640" y="1828800"/>
            <a:ext cx="1965960" cy="593674"/>
          </a:xfrm>
          <a:prstGeom prst="rect">
            <a:avLst/>
          </a:prstGeom>
          <a:noFill/>
        </p:spPr>
        <p:txBody>
          <a:bodyPr wrap="square" lIns="45720" rIns="45720" tIns="27432" bIns="27432" anchor="t">
            <a:spAutoFit/>
          </a:bodyPr>
          <a:lstStyle/>
          <a:p>
            <a:pPr algn="l"/>
            <a:r>
              <a:rPr sz="1400" b="0" i="0">
                <a:solidFill>
                  <a:srgbClr val="1C2430"/>
                </a:solidFill>
                <a:latin typeface="Calibri"/>
              </a:rPr>
              <a:t>Video on auto-tracked hops of 50–100 m.</a:t>
            </a:r>
          </a:p>
        </p:txBody>
      </p:sp>
      <p:sp>
        <p:nvSpPr>
          <p:cNvPr id="15" name="Rounded Rectangle 14"/>
          <p:cNvSpPr/>
          <p:nvPr/>
        </p:nvSpPr>
        <p:spPr>
          <a:xfrm>
            <a:off x="9601200" y="2532202"/>
            <a:ext cx="2148840" cy="1416634"/>
          </a:xfrm>
          <a:prstGeom prst="roundRect">
            <a:avLst>
              <a:gd name="adj" fmla="val 8000"/>
            </a:avLst>
          </a:prstGeom>
          <a:solidFill>
            <a:srgbClr val="E9E9E9"/>
          </a:solidFill>
          <a:ln w="9525">
            <a:solidFill>
              <a:srgbClr val="9A9A9A"/>
            </a:solidFill>
          </a:ln>
        </p:spPr>
        <p:txBody>
          <a:bodyPr rtlCol="0" anchor="ctr"/>
          <a:lstStyle/>
          <a:p>
            <a:pPr algn="ctr"/>
          </a:p>
        </p:txBody>
      </p:sp>
      <p:pic>
        <p:nvPicPr>
          <p:cNvPr id="16" name="Picture" descr="IMU module"/>
          <p:cNvPicPr>
            <a:picLocks noChangeAspect="1"/>
          </p:cNvPicPr>
          <p:nvPr/>
        </p:nvPicPr>
        <p:blipFill>
          <a:blip r:embed="rId4"/>
          <a:stretch>
            <a:fillRect/>
          </a:stretch>
        </p:blipFill>
        <p:spPr>
          <a:xfrm>
            <a:off x="9692640" y="2715082"/>
            <a:ext cx="548640" cy="402336"/>
          </a:xfrm>
          <a:prstGeom prst="rect">
            <a:avLst/>
          </a:prstGeom>
        </p:spPr>
      </p:pic>
      <p:sp>
        <p:nvSpPr>
          <p:cNvPr id="17" name="TextBox 16"/>
          <p:cNvSpPr txBox="1"/>
          <p:nvPr/>
        </p:nvSpPr>
        <p:spPr>
          <a:xfrm>
            <a:off x="10424160" y="2696794"/>
            <a:ext cx="1280160" cy="457200"/>
          </a:xfrm>
          <a:prstGeom prst="rect">
            <a:avLst/>
          </a:prstGeom>
          <a:noFill/>
        </p:spPr>
        <p:txBody>
          <a:bodyPr wrap="square" lIns="45720" rIns="45720" tIns="27432" bIns="27432" anchor="t">
            <a:spAutoFit/>
          </a:bodyPr>
          <a:lstStyle/>
          <a:p>
            <a:pPr algn="l"/>
            <a:r>
              <a:rPr sz="1900" b="1" i="0">
                <a:solidFill>
                  <a:srgbClr val="1B3A4B"/>
                </a:solidFill>
                <a:latin typeface="Calibri"/>
              </a:rPr>
              <a:t>IMU</a:t>
            </a:r>
          </a:p>
        </p:txBody>
      </p:sp>
      <p:sp>
        <p:nvSpPr>
          <p:cNvPr id="18" name="TextBox 17"/>
          <p:cNvSpPr txBox="1"/>
          <p:nvPr/>
        </p:nvSpPr>
        <p:spPr>
          <a:xfrm>
            <a:off x="9692640" y="3355162"/>
            <a:ext cx="1965960" cy="593674"/>
          </a:xfrm>
          <a:prstGeom prst="rect">
            <a:avLst/>
          </a:prstGeom>
          <a:noFill/>
        </p:spPr>
        <p:txBody>
          <a:bodyPr wrap="square" lIns="45720" rIns="45720" tIns="27432" bIns="27432" anchor="t">
            <a:spAutoFit/>
          </a:bodyPr>
          <a:lstStyle/>
          <a:p>
            <a:pPr algn="l"/>
            <a:r>
              <a:rPr sz="1400" b="0" i="0">
                <a:solidFill>
                  <a:srgbClr val="1C2430"/>
                </a:solidFill>
                <a:latin typeface="Calibri"/>
              </a:rPr>
              <a:t>Holds the beam on the next node.</a:t>
            </a:r>
          </a:p>
        </p:txBody>
      </p:sp>
      <p:sp>
        <p:nvSpPr>
          <p:cNvPr id="19" name="Rounded Rectangle 18"/>
          <p:cNvSpPr/>
          <p:nvPr/>
        </p:nvSpPr>
        <p:spPr>
          <a:xfrm>
            <a:off x="9601200" y="4058564"/>
            <a:ext cx="2148840" cy="1416634"/>
          </a:xfrm>
          <a:prstGeom prst="roundRect">
            <a:avLst>
              <a:gd name="adj" fmla="val 8000"/>
            </a:avLst>
          </a:prstGeom>
          <a:solidFill>
            <a:srgbClr val="E9E9E9"/>
          </a:solidFill>
          <a:ln w="9525">
            <a:solidFill>
              <a:srgbClr val="9A9A9A"/>
            </a:solidFill>
          </a:ln>
        </p:spPr>
        <p:txBody>
          <a:bodyPr rtlCol="0" anchor="ctr"/>
          <a:lstStyle/>
          <a:p>
            <a:pPr algn="ctr"/>
          </a:p>
        </p:txBody>
      </p:sp>
      <p:pic>
        <p:nvPicPr>
          <p:cNvPr id="20" name="Picture" descr="LoRa module"/>
          <p:cNvPicPr>
            <a:picLocks noChangeAspect="1"/>
          </p:cNvPicPr>
          <p:nvPr/>
        </p:nvPicPr>
        <p:blipFill>
          <a:blip r:embed="rId5"/>
          <a:stretch>
            <a:fillRect/>
          </a:stretch>
        </p:blipFill>
        <p:spPr>
          <a:xfrm>
            <a:off x="9710928" y="4168292"/>
            <a:ext cx="614476" cy="548640"/>
          </a:xfrm>
          <a:prstGeom prst="rect">
            <a:avLst/>
          </a:prstGeom>
        </p:spPr>
      </p:pic>
      <p:sp>
        <p:nvSpPr>
          <p:cNvPr id="21" name="TextBox 20"/>
          <p:cNvSpPr txBox="1"/>
          <p:nvPr/>
        </p:nvSpPr>
        <p:spPr>
          <a:xfrm>
            <a:off x="10424160" y="4223156"/>
            <a:ext cx="1280160" cy="457200"/>
          </a:xfrm>
          <a:prstGeom prst="rect">
            <a:avLst/>
          </a:prstGeom>
          <a:noFill/>
        </p:spPr>
        <p:txBody>
          <a:bodyPr wrap="square" lIns="45720" rIns="45720" tIns="27432" bIns="27432" anchor="t">
            <a:spAutoFit/>
          </a:bodyPr>
          <a:lstStyle/>
          <a:p>
            <a:pPr algn="l"/>
            <a:r>
              <a:rPr sz="1900" b="1" i="0">
                <a:solidFill>
                  <a:srgbClr val="1B3A4B"/>
                </a:solidFill>
                <a:latin typeface="Calibri"/>
              </a:rPr>
              <a:t>LoRa</a:t>
            </a:r>
          </a:p>
        </p:txBody>
      </p:sp>
      <p:sp>
        <p:nvSpPr>
          <p:cNvPr id="22" name="TextBox 21"/>
          <p:cNvSpPr txBox="1"/>
          <p:nvPr/>
        </p:nvSpPr>
        <p:spPr>
          <a:xfrm>
            <a:off x="9692640" y="4881524"/>
            <a:ext cx="1965960" cy="593674"/>
          </a:xfrm>
          <a:prstGeom prst="rect">
            <a:avLst/>
          </a:prstGeom>
          <a:noFill/>
        </p:spPr>
        <p:txBody>
          <a:bodyPr wrap="square" lIns="45720" rIns="45720" tIns="27432" bIns="27432" anchor="t">
            <a:spAutoFit/>
          </a:bodyPr>
          <a:lstStyle/>
          <a:p>
            <a:pPr algn="l"/>
            <a:r>
              <a:rPr sz="1400" b="0" i="0">
                <a:solidFill>
                  <a:srgbClr val="1C2430"/>
                </a:solidFill>
                <a:latin typeface="Calibri"/>
              </a:rPr>
              <a:t>Control and alerts to the surface.</a:t>
            </a:r>
          </a:p>
        </p:txBody>
      </p:sp>
      <p:sp>
        <p:nvSpPr>
          <p:cNvPr id="23" name="Rectangle 22"/>
          <p:cNvSpPr/>
          <p:nvPr/>
        </p:nvSpPr>
        <p:spPr>
          <a:xfrm>
            <a:off x="640080" y="5786094"/>
            <a:ext cx="594360" cy="146304"/>
          </a:xfrm>
          <a:prstGeom prst="rect">
            <a:avLst/>
          </a:prstGeom>
          <a:solidFill>
            <a:srgbClr val="ED7D31">
              <a:alpha val="28000"/>
            </a:srgbClr>
          </a:solidFill>
          <a:ln>
            <a:noFill/>
          </a:ln>
        </p:spPr>
        <p:txBody>
          <a:bodyPr rtlCol="0" anchor="ctr"/>
          <a:lstStyle/>
          <a:p>
            <a:pPr algn="ctr"/>
          </a:p>
        </p:txBody>
      </p:sp>
      <p:sp>
        <p:nvSpPr>
          <p:cNvPr id="24" name="Rectangle 23"/>
          <p:cNvSpPr/>
          <p:nvPr/>
        </p:nvSpPr>
        <p:spPr>
          <a:xfrm>
            <a:off x="640080" y="5836386"/>
            <a:ext cx="594360" cy="45720"/>
          </a:xfrm>
          <a:prstGeom prst="rect">
            <a:avLst/>
          </a:prstGeom>
          <a:solidFill>
            <a:srgbClr val="ED7D31"/>
          </a:solidFill>
          <a:ln>
            <a:noFill/>
          </a:ln>
        </p:spPr>
        <p:txBody>
          <a:bodyPr rtlCol="0" anchor="ctr"/>
          <a:lstStyle/>
          <a:p>
            <a:pPr algn="ctr"/>
          </a:p>
        </p:txBody>
      </p:sp>
      <p:sp>
        <p:nvSpPr>
          <p:cNvPr id="25" name="TextBox 24"/>
          <p:cNvSpPr txBox="1"/>
          <p:nvPr/>
        </p:nvSpPr>
        <p:spPr>
          <a:xfrm>
            <a:off x="1325880" y="5703798"/>
            <a:ext cx="3108960" cy="310896"/>
          </a:xfrm>
          <a:prstGeom prst="rect">
            <a:avLst/>
          </a:prstGeom>
          <a:noFill/>
        </p:spPr>
        <p:txBody>
          <a:bodyPr wrap="square" lIns="45720" rIns="45720" tIns="27432" bIns="27432" anchor="t">
            <a:spAutoFit/>
          </a:bodyPr>
          <a:lstStyle/>
          <a:p>
            <a:pPr algn="l"/>
            <a:r>
              <a:rPr sz="1400" b="1" i="0">
                <a:solidFill>
                  <a:srgbClr val="C55A11"/>
                </a:solidFill>
                <a:latin typeface="Calibri"/>
              </a:rPr>
              <a:t>FSO beam: real-time video</a:t>
            </a:r>
          </a:p>
        </p:txBody>
      </p:sp>
      <p:cxnSp>
        <p:nvCxnSpPr>
          <p:cNvPr id="26" name="Connector 25"/>
          <p:cNvCxnSpPr/>
          <p:nvPr/>
        </p:nvCxnSpPr>
        <p:spPr>
          <a:xfrm>
            <a:off x="640080" y="6270726"/>
            <a:ext cx="594360" cy="0"/>
          </a:xfrm>
          <a:prstGeom prst="line">
            <a:avLst/>
          </a:prstGeom>
          <a:ln w="25400">
            <a:solidFill>
              <a:srgbClr val="404040"/>
            </a:solidFill>
            <a:prstDash val="sysDot"/>
          </a:ln>
        </p:spPr>
      </p:cxnSp>
      <p:sp>
        <p:nvSpPr>
          <p:cNvPr id="27" name="TextBox 26"/>
          <p:cNvSpPr txBox="1"/>
          <p:nvPr/>
        </p:nvSpPr>
        <p:spPr>
          <a:xfrm>
            <a:off x="1325880" y="6115278"/>
            <a:ext cx="3108960" cy="310896"/>
          </a:xfrm>
          <a:prstGeom prst="rect">
            <a:avLst/>
          </a:prstGeom>
          <a:noFill/>
        </p:spPr>
        <p:txBody>
          <a:bodyPr wrap="square" lIns="45720" rIns="45720" tIns="27432" bIns="27432" anchor="t">
            <a:spAutoFit/>
          </a:bodyPr>
          <a:lstStyle/>
          <a:p>
            <a:pPr algn="l"/>
            <a:r>
              <a:rPr sz="1400" b="1" i="0">
                <a:solidFill>
                  <a:srgbClr val="1B3A4B"/>
                </a:solidFill>
                <a:latin typeface="Calibri"/>
              </a:rPr>
              <a:t>LoRa link: control, alerts</a:t>
            </a:r>
          </a:p>
        </p:txBody>
      </p:sp>
      <p:sp>
        <p:nvSpPr>
          <p:cNvPr id="28" name="Rounded Rectangle 27"/>
          <p:cNvSpPr/>
          <p:nvPr/>
        </p:nvSpPr>
        <p:spPr>
          <a:xfrm>
            <a:off x="4663440" y="5658078"/>
            <a:ext cx="7086600" cy="868680"/>
          </a:xfrm>
          <a:prstGeom prst="roundRect">
            <a:avLst>
              <a:gd name="adj" fmla="val 8000"/>
            </a:avLst>
          </a:prstGeom>
          <a:solidFill>
            <a:srgbClr val="E9E9E9"/>
          </a:solidFill>
          <a:ln w="9525">
            <a:solidFill>
              <a:srgbClr val="9A9A9A"/>
            </a:solidFill>
          </a:ln>
        </p:spPr>
        <p:txBody>
          <a:bodyPr rtlCol="0" anchor="ctr"/>
          <a:lstStyle/>
          <a:p>
            <a:pPr algn="ctr"/>
          </a:p>
        </p:txBody>
      </p:sp>
      <p:sp>
        <p:nvSpPr>
          <p:cNvPr id="29" name="TextBox 28"/>
          <p:cNvSpPr txBox="1"/>
          <p:nvPr/>
        </p:nvSpPr>
        <p:spPr>
          <a:xfrm>
            <a:off x="4800600" y="5676366"/>
            <a:ext cx="6858000" cy="822960"/>
          </a:xfrm>
          <a:prstGeom prst="rect">
            <a:avLst/>
          </a:prstGeom>
          <a:noFill/>
        </p:spPr>
        <p:txBody>
          <a:bodyPr wrap="square" lIns="45720" rIns="45720" tIns="27432" bIns="27432" anchor="ctr">
            <a:spAutoFit/>
          </a:bodyPr>
          <a:lstStyle/>
          <a:p>
            <a:pPr algn="l"/>
            <a:r>
              <a:rPr sz="1500" b="1" i="0">
                <a:solidFill>
                  <a:srgbClr val="C55A11"/>
                </a:solidFill>
                <a:latin typeface="Calibri"/>
              </a:rPr>
              <a:t>Each node: </a:t>
            </a:r>
            <a:r>
              <a:rPr sz="1500" b="0" i="0">
                <a:solidFill>
                  <a:srgbClr val="1C2430"/>
                </a:solidFill>
                <a:latin typeface="Calibri"/>
              </a:rPr>
              <a:t>laser, IMU, motorized mount, LoRa.   </a:t>
            </a:r>
            <a:r>
              <a:rPr sz="1500" b="1" i="0">
                <a:solidFill>
                  <a:srgbClr val="C55A11"/>
                </a:solidFill>
                <a:latin typeface="Calibri"/>
              </a:rPr>
              <a:t>Surface: </a:t>
            </a:r>
            <a:r>
              <a:rPr sz="1500" b="0" i="0">
                <a:solidFill>
                  <a:srgbClr val="1C2430"/>
                </a:solidFill>
                <a:latin typeface="Calibri"/>
              </a:rPr>
              <a:t>dashboard, alerts, localization.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4" name="Section"/>
          <p:cNvSpPr txBox="1"/>
          <p:nvPr/>
        </p:nvSpPr>
        <p:spPr>
          <a:xfrm>
            <a:off x="457200" y="182880"/>
            <a:ext cx="11247120" cy="256032"/>
          </a:xfrm>
          <a:prstGeom prst="rect">
            <a:avLst/>
          </a:prstGeom>
          <a:noFill/>
        </p:spPr>
        <p:txBody>
          <a:bodyPr wrap="square" lIns="45720" rIns="45720" tIns="27432" bIns="27432" anchor="t">
            <a:spAutoFit/>
          </a:bodyPr>
          <a:lstStyle/>
          <a:p>
            <a:pPr algn="l"/>
            <a:r>
              <a:rPr sz="1300" b="1" i="0">
                <a:solidFill>
                  <a:srgbClr val="B5740A"/>
                </a:solidFill>
                <a:latin typeface="Calibri"/>
              </a:rPr>
              <a:t>04     ·     TECHNICAL FEASIBILITY AND METHODOLOGY</a:t>
            </a:r>
          </a:p>
        </p:txBody>
      </p:sp>
      <p:sp>
        <p:nvSpPr>
          <p:cNvPr id="5" name="Title"/>
          <p:cNvSpPr txBox="1"/>
          <p:nvPr/>
        </p:nvSpPr>
        <p:spPr>
          <a:xfrm>
            <a:off x="438912" y="420624"/>
            <a:ext cx="11338560" cy="502920"/>
          </a:xfrm>
          <a:prstGeom prst="rect">
            <a:avLst/>
          </a:prstGeom>
          <a:noFill/>
        </p:spPr>
        <p:txBody>
          <a:bodyPr wrap="square" lIns="45720" rIns="45720" tIns="27432" bIns="27432" anchor="t">
            <a:spAutoFit/>
          </a:bodyPr>
          <a:lstStyle/>
          <a:p>
            <a:pPr algn="l"/>
            <a:r>
              <a:rPr sz="2800" b="1" i="0">
                <a:solidFill>
                  <a:srgbClr val="1B3A4B"/>
                </a:solidFill>
                <a:latin typeface="Calibri"/>
              </a:rPr>
              <a:t>How one hop works</a:t>
            </a:r>
          </a:p>
        </p:txBody>
      </p:sp>
      <p:sp>
        <p:nvSpPr>
          <p:cNvPr id="6" name="Footer rule"/>
          <p:cNvSpPr/>
          <p:nvPr/>
        </p:nvSpPr>
        <p:spPr>
          <a:xfrm>
            <a:off x="457200" y="6565392"/>
            <a:ext cx="11292840" cy="9144"/>
          </a:xfrm>
          <a:prstGeom prst="rect">
            <a:avLst/>
          </a:prstGeom>
          <a:solidFill>
            <a:srgbClr val="D0D0D0"/>
          </a:solidFill>
          <a:ln>
            <a:noFill/>
          </a:ln>
        </p:spPr>
        <p:txBody>
          <a:bodyPr rtlCol="0" anchor="ctr"/>
          <a:lstStyle/>
          <a:p>
            <a:pPr algn="ctr"/>
          </a:p>
        </p:txBody>
      </p:sp>
      <p:sp>
        <p:nvSpPr>
          <p:cNvPr id="7"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How one hop works</a:t>
            </a:r>
          </a:p>
        </p:txBody>
      </p:sp>
      <p:sp>
        <p:nvSpPr>
          <p:cNvPr id="8"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7  /  15</a:t>
            </a:r>
          </a:p>
        </p:txBody>
      </p:sp>
      <p:sp>
        <p:nvSpPr>
          <p:cNvPr id="9" name="TextBox 8"/>
          <p:cNvSpPr txBox="1"/>
          <p:nvPr/>
        </p:nvSpPr>
        <p:spPr>
          <a:xfrm>
            <a:off x="457200" y="960120"/>
            <a:ext cx="7315200" cy="365760"/>
          </a:xfrm>
          <a:prstGeom prst="rect">
            <a:avLst/>
          </a:prstGeom>
          <a:noFill/>
        </p:spPr>
        <p:txBody>
          <a:bodyPr wrap="square" lIns="45720" rIns="45720" tIns="27432" bIns="27432" anchor="t">
            <a:spAutoFit/>
          </a:bodyPr>
          <a:lstStyle/>
          <a:p>
            <a:pPr algn="l"/>
            <a:r>
              <a:rPr sz="1600" b="0" i="0">
                <a:solidFill>
                  <a:srgbClr val="5C6770"/>
                </a:solidFill>
                <a:latin typeface="Calibri"/>
              </a:rPr>
              <a:t>The picture travels as light. Each node rebuilds it, checks it and sends it on.</a:t>
            </a:r>
          </a:p>
        </p:txBody>
      </p:sp>
      <p:sp>
        <p:nvSpPr>
          <p:cNvPr id="10" name="TextBox 9"/>
          <p:cNvSpPr txBox="1"/>
          <p:nvPr/>
        </p:nvSpPr>
        <p:spPr>
          <a:xfrm>
            <a:off x="457200" y="1417320"/>
            <a:ext cx="2743200" cy="320040"/>
          </a:xfrm>
          <a:prstGeom prst="rect">
            <a:avLst/>
          </a:prstGeom>
          <a:noFill/>
        </p:spPr>
        <p:txBody>
          <a:bodyPr wrap="square" lIns="45720" rIns="45720" tIns="27432" bIns="27432" anchor="t">
            <a:spAutoFit/>
          </a:bodyPr>
          <a:lstStyle/>
          <a:p>
            <a:pPr algn="l"/>
            <a:r>
              <a:rPr sz="1600" b="1" i="0">
                <a:solidFill>
                  <a:srgbClr val="1B3A4B"/>
                </a:solidFill>
                <a:latin typeface="Calibri"/>
              </a:rPr>
              <a:t>Optical frame</a:t>
            </a:r>
          </a:p>
        </p:txBody>
      </p:sp>
      <p:sp>
        <p:nvSpPr>
          <p:cNvPr id="11" name="Rounded Rectangle 10"/>
          <p:cNvSpPr/>
          <p:nvPr/>
        </p:nvSpPr>
        <p:spPr>
          <a:xfrm>
            <a:off x="2286000" y="1389888"/>
            <a:ext cx="914400" cy="411480"/>
          </a:xfrm>
          <a:prstGeom prst="roundRect">
            <a:avLst>
              <a:gd name="adj" fmla="val 20000"/>
            </a:avLst>
          </a:prstGeom>
          <a:solidFill>
            <a:srgbClr val="0071C1"/>
          </a:solidFill>
          <a:ln>
            <a:noFill/>
          </a:ln>
        </p:spPr>
        <p:txBody>
          <a:bodyPr rtlCol="0" anchor="ctr" lIns="36576" rIns="36576" tIns="0" bIns="0" wrap="square"/>
          <a:lstStyle/>
          <a:p>
            <a:pPr algn="ctr"/>
            <a:r>
              <a:rPr sz="1500" b="1">
                <a:solidFill>
                  <a:srgbClr val="FFFFFF"/>
                </a:solidFill>
                <a:latin typeface="Calibri"/>
              </a:rPr>
              <a:t>AA55</a:t>
            </a:r>
          </a:p>
        </p:txBody>
      </p:sp>
      <p:sp>
        <p:nvSpPr>
          <p:cNvPr id="12" name="Rounded Rectangle 11"/>
          <p:cNvSpPr/>
          <p:nvPr/>
        </p:nvSpPr>
        <p:spPr>
          <a:xfrm>
            <a:off x="3291840" y="1389888"/>
            <a:ext cx="1188720" cy="411480"/>
          </a:xfrm>
          <a:prstGeom prst="roundRect">
            <a:avLst>
              <a:gd name="adj" fmla="val 20000"/>
            </a:avLst>
          </a:prstGeom>
          <a:solidFill>
            <a:srgbClr val="0071C1"/>
          </a:solidFill>
          <a:ln>
            <a:noFill/>
          </a:ln>
        </p:spPr>
        <p:txBody>
          <a:bodyPr rtlCol="0" anchor="ctr" lIns="36576" rIns="36576" tIns="0" bIns="0" wrap="square"/>
          <a:lstStyle/>
          <a:p>
            <a:pPr algn="ctr"/>
            <a:r>
              <a:rPr sz="1500" b="1">
                <a:solidFill>
                  <a:srgbClr val="FFFFFF"/>
                </a:solidFill>
                <a:latin typeface="Calibri"/>
              </a:rPr>
              <a:t>Length</a:t>
            </a:r>
          </a:p>
        </p:txBody>
      </p:sp>
      <p:sp>
        <p:nvSpPr>
          <p:cNvPr id="13" name="Rounded Rectangle 12"/>
          <p:cNvSpPr/>
          <p:nvPr/>
        </p:nvSpPr>
        <p:spPr>
          <a:xfrm>
            <a:off x="4572000" y="1389888"/>
            <a:ext cx="822960" cy="411480"/>
          </a:xfrm>
          <a:prstGeom prst="roundRect">
            <a:avLst>
              <a:gd name="adj" fmla="val 20000"/>
            </a:avLst>
          </a:prstGeom>
          <a:solidFill>
            <a:srgbClr val="0071C1"/>
          </a:solidFill>
          <a:ln>
            <a:noFill/>
          </a:ln>
        </p:spPr>
        <p:txBody>
          <a:bodyPr rtlCol="0" anchor="ctr" lIns="36576" rIns="36576" tIns="0" bIns="0" wrap="square"/>
          <a:lstStyle/>
          <a:p>
            <a:pPr algn="ctr"/>
            <a:r>
              <a:rPr sz="1500" b="1">
                <a:solidFill>
                  <a:srgbClr val="FFFFFF"/>
                </a:solidFill>
                <a:latin typeface="Calibri"/>
              </a:rPr>
              <a:t>Seq</a:t>
            </a:r>
          </a:p>
        </p:txBody>
      </p:sp>
      <p:sp>
        <p:nvSpPr>
          <p:cNvPr id="14" name="Rounded Rectangle 13"/>
          <p:cNvSpPr/>
          <p:nvPr/>
        </p:nvSpPr>
        <p:spPr>
          <a:xfrm>
            <a:off x="5486400" y="1389888"/>
            <a:ext cx="2651760" cy="411480"/>
          </a:xfrm>
          <a:prstGeom prst="roundRect">
            <a:avLst>
              <a:gd name="adj" fmla="val 20000"/>
            </a:avLst>
          </a:prstGeom>
          <a:solidFill>
            <a:srgbClr val="ED7D31"/>
          </a:solidFill>
          <a:ln>
            <a:noFill/>
          </a:ln>
        </p:spPr>
        <p:txBody>
          <a:bodyPr rtlCol="0" anchor="ctr" lIns="36576" rIns="36576" tIns="0" bIns="0" wrap="square"/>
          <a:lstStyle/>
          <a:p>
            <a:pPr algn="ctr"/>
            <a:r>
              <a:rPr sz="1500" b="1">
                <a:solidFill>
                  <a:srgbClr val="FFFFFF"/>
                </a:solidFill>
                <a:latin typeface="Calibri"/>
              </a:rPr>
              <a:t>JPEG</a:t>
            </a:r>
          </a:p>
        </p:txBody>
      </p:sp>
      <p:sp>
        <p:nvSpPr>
          <p:cNvPr id="15" name="Rounded Rectangle 14"/>
          <p:cNvSpPr/>
          <p:nvPr/>
        </p:nvSpPr>
        <p:spPr>
          <a:xfrm>
            <a:off x="8229600" y="1389888"/>
            <a:ext cx="1188720" cy="411480"/>
          </a:xfrm>
          <a:prstGeom prst="roundRect">
            <a:avLst>
              <a:gd name="adj" fmla="val 20000"/>
            </a:avLst>
          </a:prstGeom>
          <a:solidFill>
            <a:srgbClr val="0071C1"/>
          </a:solidFill>
          <a:ln>
            <a:noFill/>
          </a:ln>
        </p:spPr>
        <p:txBody>
          <a:bodyPr rtlCol="0" anchor="ctr" lIns="36576" rIns="36576" tIns="0" bIns="0" wrap="square"/>
          <a:lstStyle/>
          <a:p>
            <a:pPr algn="ctr"/>
            <a:r>
              <a:rPr sz="1500" b="1">
                <a:solidFill>
                  <a:srgbClr val="FFFFFF"/>
                </a:solidFill>
                <a:latin typeface="Calibri"/>
              </a:rPr>
              <a:t>CRC-16</a:t>
            </a:r>
          </a:p>
        </p:txBody>
      </p:sp>
      <p:sp>
        <p:nvSpPr>
          <p:cNvPr id="16" name="TextBox 15"/>
          <p:cNvSpPr txBox="1"/>
          <p:nvPr/>
        </p:nvSpPr>
        <p:spPr>
          <a:xfrm>
            <a:off x="9601200" y="1344168"/>
            <a:ext cx="2148839" cy="502920"/>
          </a:xfrm>
          <a:prstGeom prst="rect">
            <a:avLst/>
          </a:prstGeom>
          <a:noFill/>
        </p:spPr>
        <p:txBody>
          <a:bodyPr wrap="square" lIns="45720" rIns="45720" tIns="27432" bIns="27432" anchor="ctr">
            <a:spAutoFit/>
          </a:bodyPr>
          <a:lstStyle/>
          <a:p>
            <a:pPr algn="l"/>
            <a:r>
              <a:rPr sz="1300" b="0" i="0">
                <a:solidFill>
                  <a:srgbClr val="5C6770"/>
                </a:solidFill>
                <a:latin typeface="Calibri"/>
              </a:rPr>
              <a:t>UART 115200 8N1, one direction</a:t>
            </a:r>
          </a:p>
        </p:txBody>
      </p:sp>
      <p:sp>
        <p:nvSpPr>
          <p:cNvPr id="17" name="Rounded Rectangle 16"/>
          <p:cNvSpPr/>
          <p:nvPr/>
        </p:nvSpPr>
        <p:spPr>
          <a:xfrm>
            <a:off x="457200" y="2103120"/>
            <a:ext cx="3246120" cy="2148840"/>
          </a:xfrm>
          <a:prstGeom prst="roundRect">
            <a:avLst>
              <a:gd name="adj" fmla="val 8000"/>
            </a:avLst>
          </a:prstGeom>
          <a:solidFill>
            <a:srgbClr val="E9E9E9"/>
          </a:solidFill>
          <a:ln w="9525">
            <a:solidFill>
              <a:srgbClr val="9A9A9A"/>
            </a:solidFill>
          </a:ln>
        </p:spPr>
        <p:txBody>
          <a:bodyPr rtlCol="0" anchor="ctr"/>
          <a:lstStyle/>
          <a:p>
            <a:pPr algn="ctr"/>
          </a:p>
        </p:txBody>
      </p:sp>
      <p:sp>
        <p:nvSpPr>
          <p:cNvPr id="18" name="TextBox 17"/>
          <p:cNvSpPr txBox="1"/>
          <p:nvPr/>
        </p:nvSpPr>
        <p:spPr>
          <a:xfrm>
            <a:off x="640080" y="2176272"/>
            <a:ext cx="2194560" cy="411480"/>
          </a:xfrm>
          <a:prstGeom prst="rect">
            <a:avLst/>
          </a:prstGeom>
          <a:noFill/>
        </p:spPr>
        <p:txBody>
          <a:bodyPr wrap="square" lIns="45720" rIns="45720" tIns="27432" bIns="27432" anchor="t">
            <a:spAutoFit/>
          </a:bodyPr>
          <a:lstStyle/>
          <a:p>
            <a:pPr algn="l"/>
            <a:r>
              <a:rPr sz="1900" b="1" i="0">
                <a:solidFill>
                  <a:srgbClr val="1B3A4B"/>
                </a:solidFill>
                <a:latin typeface="Calibri"/>
              </a:rPr>
              <a:t>Camera node</a:t>
            </a:r>
          </a:p>
        </p:txBody>
      </p:sp>
      <p:sp>
        <p:nvSpPr>
          <p:cNvPr id="19" name="TextBox 18"/>
          <p:cNvSpPr txBox="1"/>
          <p:nvPr/>
        </p:nvSpPr>
        <p:spPr>
          <a:xfrm>
            <a:off x="640080" y="2651760"/>
            <a:ext cx="2926080" cy="1554480"/>
          </a:xfrm>
          <a:prstGeom prst="rect">
            <a:avLst/>
          </a:prstGeom>
          <a:noFill/>
        </p:spPr>
        <p:txBody>
          <a:bodyPr wrap="square" lIns="45720" rIns="45720" tIns="27432" bIns="27432" anchor="t">
            <a:spAutoFit/>
          </a:bodyPr>
          <a:lstStyle/>
          <a:p>
            <a:pPr algn="l">
              <a:spcAft>
                <a:spcPts val="600"/>
              </a:spcAft>
            </a:pPr>
            <a:r>
              <a:rPr sz="1500" b="0" i="0">
                <a:solidFill>
                  <a:srgbClr val="1C2430"/>
                </a:solidFill>
                <a:latin typeface="Calibri"/>
              </a:rPr>
              <a:t>•  Camera + Raspberry Pi</a:t>
            </a:r>
          </a:p>
          <a:p>
            <a:pPr algn="l">
              <a:spcAft>
                <a:spcPts val="600"/>
              </a:spcAft>
            </a:pPr>
            <a:r>
              <a:rPr sz="1500" b="0" i="0">
                <a:solidFill>
                  <a:srgbClr val="1C2430"/>
                </a:solidFill>
                <a:latin typeface="Calibri"/>
              </a:rPr>
              <a:t>•  Packet out of UART</a:t>
            </a:r>
          </a:p>
          <a:p>
            <a:pPr algn="l">
              <a:spcAft>
                <a:spcPts val="600"/>
              </a:spcAft>
            </a:pPr>
            <a:r>
              <a:rPr sz="1500" b="0" i="0">
                <a:solidFill>
                  <a:srgbClr val="1C2430"/>
                </a:solidFill>
                <a:latin typeface="Calibri"/>
              </a:rPr>
              <a:t>•  650 nm laser, on–off keying</a:t>
            </a:r>
          </a:p>
        </p:txBody>
      </p:sp>
      <p:pic>
        <p:nvPicPr>
          <p:cNvPr id="20" name="Picture" descr="Camera head on a tripod, laser facing right"/>
          <p:cNvPicPr>
            <a:picLocks noChangeAspect="1"/>
          </p:cNvPicPr>
          <p:nvPr/>
        </p:nvPicPr>
        <p:blipFill>
          <a:blip r:embed="rId2"/>
          <a:stretch>
            <a:fillRect/>
          </a:stretch>
        </p:blipFill>
        <p:spPr>
          <a:xfrm>
            <a:off x="3063240" y="2176272"/>
            <a:ext cx="270344" cy="457200"/>
          </a:xfrm>
          <a:prstGeom prst="rect">
            <a:avLst/>
          </a:prstGeom>
        </p:spPr>
      </p:pic>
      <p:sp>
        <p:nvSpPr>
          <p:cNvPr id="21" name="Rectangle 20"/>
          <p:cNvSpPr/>
          <p:nvPr/>
        </p:nvSpPr>
        <p:spPr>
          <a:xfrm>
            <a:off x="3749039" y="3081528"/>
            <a:ext cx="594360" cy="146304"/>
          </a:xfrm>
          <a:prstGeom prst="rect">
            <a:avLst/>
          </a:prstGeom>
          <a:solidFill>
            <a:srgbClr val="ED7D31">
              <a:alpha val="28000"/>
            </a:srgbClr>
          </a:solidFill>
          <a:ln>
            <a:noFill/>
          </a:ln>
        </p:spPr>
        <p:txBody>
          <a:bodyPr rtlCol="0" anchor="ctr"/>
          <a:lstStyle/>
          <a:p>
            <a:pPr algn="ctr"/>
          </a:p>
        </p:txBody>
      </p:sp>
      <p:sp>
        <p:nvSpPr>
          <p:cNvPr id="22" name="Rectangle 21"/>
          <p:cNvSpPr/>
          <p:nvPr/>
        </p:nvSpPr>
        <p:spPr>
          <a:xfrm>
            <a:off x="3749039" y="3131820"/>
            <a:ext cx="594360" cy="45720"/>
          </a:xfrm>
          <a:prstGeom prst="rect">
            <a:avLst/>
          </a:prstGeom>
          <a:solidFill>
            <a:srgbClr val="ED7D31"/>
          </a:solidFill>
          <a:ln>
            <a:noFill/>
          </a:ln>
        </p:spPr>
        <p:txBody>
          <a:bodyPr rtlCol="0" anchor="ctr"/>
          <a:lstStyle/>
          <a:p>
            <a:pPr algn="ctr"/>
          </a:p>
        </p:txBody>
      </p:sp>
      <p:sp>
        <p:nvSpPr>
          <p:cNvPr id="23" name="TextBox 22"/>
          <p:cNvSpPr txBox="1"/>
          <p:nvPr/>
        </p:nvSpPr>
        <p:spPr>
          <a:xfrm>
            <a:off x="3611880" y="2743200"/>
            <a:ext cx="914400" cy="320040"/>
          </a:xfrm>
          <a:prstGeom prst="rect">
            <a:avLst/>
          </a:prstGeom>
          <a:noFill/>
        </p:spPr>
        <p:txBody>
          <a:bodyPr wrap="square" lIns="45720" rIns="45720" tIns="27432" bIns="27432" anchor="t">
            <a:spAutoFit/>
          </a:bodyPr>
          <a:lstStyle/>
          <a:p>
            <a:pPr algn="ctr"/>
            <a:r>
              <a:rPr sz="1300" b="1" i="0">
                <a:solidFill>
                  <a:srgbClr val="C55A11"/>
                </a:solidFill>
                <a:latin typeface="Calibri"/>
              </a:rPr>
              <a:t>light</a:t>
            </a:r>
          </a:p>
        </p:txBody>
      </p:sp>
      <p:sp>
        <p:nvSpPr>
          <p:cNvPr id="24" name="Rounded Rectangle 23"/>
          <p:cNvSpPr/>
          <p:nvPr/>
        </p:nvSpPr>
        <p:spPr>
          <a:xfrm>
            <a:off x="4389120" y="2103120"/>
            <a:ext cx="3246120" cy="2148840"/>
          </a:xfrm>
          <a:prstGeom prst="roundRect">
            <a:avLst>
              <a:gd name="adj" fmla="val 8000"/>
            </a:avLst>
          </a:prstGeom>
          <a:solidFill>
            <a:srgbClr val="0071C1"/>
          </a:solidFill>
          <a:ln w="9525">
            <a:solidFill>
              <a:srgbClr val="00548F"/>
            </a:solidFill>
          </a:ln>
        </p:spPr>
        <p:txBody>
          <a:bodyPr rtlCol="0" anchor="ctr"/>
          <a:lstStyle/>
          <a:p>
            <a:pPr algn="ctr"/>
          </a:p>
        </p:txBody>
      </p:sp>
      <p:sp>
        <p:nvSpPr>
          <p:cNvPr id="25" name="TextBox 24"/>
          <p:cNvSpPr txBox="1"/>
          <p:nvPr/>
        </p:nvSpPr>
        <p:spPr>
          <a:xfrm>
            <a:off x="4572000" y="2176272"/>
            <a:ext cx="2194560" cy="411480"/>
          </a:xfrm>
          <a:prstGeom prst="rect">
            <a:avLst/>
          </a:prstGeom>
          <a:noFill/>
        </p:spPr>
        <p:txBody>
          <a:bodyPr wrap="square" lIns="45720" rIns="45720" tIns="27432" bIns="27432" anchor="t">
            <a:spAutoFit/>
          </a:bodyPr>
          <a:lstStyle/>
          <a:p>
            <a:pPr algn="l"/>
            <a:r>
              <a:rPr sz="1900" b="1" i="0">
                <a:solidFill>
                  <a:srgbClr val="FFD966"/>
                </a:solidFill>
                <a:latin typeface="Calibri"/>
              </a:rPr>
              <a:t>Relay node</a:t>
            </a:r>
          </a:p>
        </p:txBody>
      </p:sp>
      <p:sp>
        <p:nvSpPr>
          <p:cNvPr id="26" name="TextBox 25"/>
          <p:cNvSpPr txBox="1"/>
          <p:nvPr/>
        </p:nvSpPr>
        <p:spPr>
          <a:xfrm>
            <a:off x="4572000" y="2651760"/>
            <a:ext cx="2926080" cy="1554480"/>
          </a:xfrm>
          <a:prstGeom prst="rect">
            <a:avLst/>
          </a:prstGeom>
          <a:noFill/>
        </p:spPr>
        <p:txBody>
          <a:bodyPr wrap="square" lIns="45720" rIns="45720" tIns="27432" bIns="27432" anchor="t">
            <a:spAutoFit/>
          </a:bodyPr>
          <a:lstStyle/>
          <a:p>
            <a:pPr algn="l">
              <a:spcAft>
                <a:spcPts val="600"/>
              </a:spcAft>
            </a:pPr>
            <a:r>
              <a:rPr sz="1500" b="0" i="0">
                <a:solidFill>
                  <a:srgbClr val="FFFFFF"/>
                </a:solidFill>
                <a:latin typeface="Calibri"/>
              </a:rPr>
              <a:t>•  Photodiode, amplifier, comparator</a:t>
            </a:r>
          </a:p>
          <a:p>
            <a:pPr algn="l">
              <a:spcAft>
                <a:spcPts val="600"/>
              </a:spcAft>
            </a:pPr>
            <a:r>
              <a:rPr sz="1500" b="0" i="0">
                <a:solidFill>
                  <a:srgbClr val="FFFFFF"/>
                </a:solidFill>
                <a:latin typeface="Calibri"/>
              </a:rPr>
              <a:t>•  Second Pi checks CRC, holds JPEG</a:t>
            </a:r>
          </a:p>
          <a:p>
            <a:pPr algn="l">
              <a:spcAft>
                <a:spcPts val="600"/>
              </a:spcAft>
            </a:pPr>
            <a:r>
              <a:rPr sz="1500" b="0" i="0">
                <a:solidFill>
                  <a:srgbClr val="FFFFFF"/>
                </a:solidFill>
                <a:latin typeface="Calibri"/>
              </a:rPr>
              <a:t>•  Sends the frame again on its own laser</a:t>
            </a:r>
          </a:p>
        </p:txBody>
      </p:sp>
      <p:pic>
        <p:nvPicPr>
          <p:cNvPr id="27" name="Picture" descr="Camera head on a tripod, laser facing left"/>
          <p:cNvPicPr>
            <a:picLocks noChangeAspect="1"/>
          </p:cNvPicPr>
          <p:nvPr/>
        </p:nvPicPr>
        <p:blipFill>
          <a:blip r:embed="rId3"/>
          <a:stretch>
            <a:fillRect/>
          </a:stretch>
        </p:blipFill>
        <p:spPr>
          <a:xfrm>
            <a:off x="6629400" y="2176272"/>
            <a:ext cx="333954" cy="457200"/>
          </a:xfrm>
          <a:prstGeom prst="rect">
            <a:avLst/>
          </a:prstGeom>
        </p:spPr>
      </p:pic>
      <p:pic>
        <p:nvPicPr>
          <p:cNvPr id="28" name="Picture" descr="Camera head on a tripod, laser facing right"/>
          <p:cNvPicPr>
            <a:picLocks noChangeAspect="1"/>
          </p:cNvPicPr>
          <p:nvPr/>
        </p:nvPicPr>
        <p:blipFill>
          <a:blip r:embed="rId2"/>
          <a:stretch>
            <a:fillRect/>
          </a:stretch>
        </p:blipFill>
        <p:spPr>
          <a:xfrm>
            <a:off x="7104888" y="2176272"/>
            <a:ext cx="270344" cy="457200"/>
          </a:xfrm>
          <a:prstGeom prst="rect">
            <a:avLst/>
          </a:prstGeom>
        </p:spPr>
      </p:pic>
      <p:sp>
        <p:nvSpPr>
          <p:cNvPr id="29" name="Rectangle 28"/>
          <p:cNvSpPr/>
          <p:nvPr/>
        </p:nvSpPr>
        <p:spPr>
          <a:xfrm>
            <a:off x="7680960" y="3081528"/>
            <a:ext cx="594360" cy="146304"/>
          </a:xfrm>
          <a:prstGeom prst="rect">
            <a:avLst/>
          </a:prstGeom>
          <a:solidFill>
            <a:srgbClr val="ED7D31">
              <a:alpha val="28000"/>
            </a:srgbClr>
          </a:solidFill>
          <a:ln>
            <a:noFill/>
          </a:ln>
        </p:spPr>
        <p:txBody>
          <a:bodyPr rtlCol="0" anchor="ctr"/>
          <a:lstStyle/>
          <a:p>
            <a:pPr algn="ctr"/>
          </a:p>
        </p:txBody>
      </p:sp>
      <p:sp>
        <p:nvSpPr>
          <p:cNvPr id="30" name="Rectangle 29"/>
          <p:cNvSpPr/>
          <p:nvPr/>
        </p:nvSpPr>
        <p:spPr>
          <a:xfrm>
            <a:off x="7680960" y="3131820"/>
            <a:ext cx="594360" cy="45720"/>
          </a:xfrm>
          <a:prstGeom prst="rect">
            <a:avLst/>
          </a:prstGeom>
          <a:solidFill>
            <a:srgbClr val="ED7D31"/>
          </a:solidFill>
          <a:ln>
            <a:noFill/>
          </a:ln>
        </p:spPr>
        <p:txBody>
          <a:bodyPr rtlCol="0" anchor="ctr"/>
          <a:lstStyle/>
          <a:p>
            <a:pPr algn="ctr"/>
          </a:p>
        </p:txBody>
      </p:sp>
      <p:sp>
        <p:nvSpPr>
          <p:cNvPr id="31" name="TextBox 30"/>
          <p:cNvSpPr txBox="1"/>
          <p:nvPr/>
        </p:nvSpPr>
        <p:spPr>
          <a:xfrm>
            <a:off x="7543800" y="2743200"/>
            <a:ext cx="914400" cy="320040"/>
          </a:xfrm>
          <a:prstGeom prst="rect">
            <a:avLst/>
          </a:prstGeom>
          <a:noFill/>
        </p:spPr>
        <p:txBody>
          <a:bodyPr wrap="square" lIns="45720" rIns="45720" tIns="27432" bIns="27432" anchor="t">
            <a:spAutoFit/>
          </a:bodyPr>
          <a:lstStyle/>
          <a:p>
            <a:pPr algn="ctr"/>
            <a:r>
              <a:rPr sz="1300" b="1" i="0">
                <a:solidFill>
                  <a:srgbClr val="C55A11"/>
                </a:solidFill>
                <a:latin typeface="Calibri"/>
              </a:rPr>
              <a:t>light</a:t>
            </a:r>
          </a:p>
        </p:txBody>
      </p:sp>
      <p:sp>
        <p:nvSpPr>
          <p:cNvPr id="32" name="Rounded Rectangle 31"/>
          <p:cNvSpPr/>
          <p:nvPr/>
        </p:nvSpPr>
        <p:spPr>
          <a:xfrm>
            <a:off x="8321040" y="2103120"/>
            <a:ext cx="3246120" cy="2148840"/>
          </a:xfrm>
          <a:prstGeom prst="roundRect">
            <a:avLst>
              <a:gd name="adj" fmla="val 8000"/>
            </a:avLst>
          </a:prstGeom>
          <a:solidFill>
            <a:srgbClr val="E9E9E9"/>
          </a:solidFill>
          <a:ln w="9525">
            <a:solidFill>
              <a:srgbClr val="9A9A9A"/>
            </a:solidFill>
          </a:ln>
        </p:spPr>
        <p:txBody>
          <a:bodyPr rtlCol="0" anchor="ctr"/>
          <a:lstStyle/>
          <a:p>
            <a:pPr algn="ctr"/>
          </a:p>
        </p:txBody>
      </p:sp>
      <p:sp>
        <p:nvSpPr>
          <p:cNvPr id="33" name="TextBox 32"/>
          <p:cNvSpPr txBox="1"/>
          <p:nvPr/>
        </p:nvSpPr>
        <p:spPr>
          <a:xfrm>
            <a:off x="8503919" y="2176272"/>
            <a:ext cx="2194560" cy="411480"/>
          </a:xfrm>
          <a:prstGeom prst="rect">
            <a:avLst/>
          </a:prstGeom>
          <a:noFill/>
        </p:spPr>
        <p:txBody>
          <a:bodyPr wrap="square" lIns="45720" rIns="45720" tIns="27432" bIns="27432" anchor="t">
            <a:spAutoFit/>
          </a:bodyPr>
          <a:lstStyle/>
          <a:p>
            <a:pPr algn="l"/>
            <a:r>
              <a:rPr sz="1900" b="1" i="0">
                <a:solidFill>
                  <a:srgbClr val="1B3A4B"/>
                </a:solidFill>
                <a:latin typeface="Calibri"/>
              </a:rPr>
              <a:t>Base station</a:t>
            </a:r>
          </a:p>
        </p:txBody>
      </p:sp>
      <p:sp>
        <p:nvSpPr>
          <p:cNvPr id="34" name="TextBox 33"/>
          <p:cNvSpPr txBox="1"/>
          <p:nvPr/>
        </p:nvSpPr>
        <p:spPr>
          <a:xfrm>
            <a:off x="8503919" y="2651760"/>
            <a:ext cx="2926080" cy="1554480"/>
          </a:xfrm>
          <a:prstGeom prst="rect">
            <a:avLst/>
          </a:prstGeom>
          <a:noFill/>
        </p:spPr>
        <p:txBody>
          <a:bodyPr wrap="square" lIns="45720" rIns="45720" tIns="27432" bIns="27432" anchor="t">
            <a:spAutoFit/>
          </a:bodyPr>
          <a:lstStyle/>
          <a:p>
            <a:pPr algn="l">
              <a:spcAft>
                <a:spcPts val="600"/>
              </a:spcAft>
            </a:pPr>
            <a:r>
              <a:rPr sz="1500" b="0" i="0">
                <a:solidFill>
                  <a:srgbClr val="1C2430"/>
                </a:solidFill>
                <a:latin typeface="Calibri"/>
              </a:rPr>
              <a:t>•  Same receiver chain</a:t>
            </a:r>
          </a:p>
          <a:p>
            <a:pPr algn="l">
              <a:spcAft>
                <a:spcPts val="600"/>
              </a:spcAft>
            </a:pPr>
            <a:r>
              <a:rPr sz="1500" b="0" i="0">
                <a:solidFill>
                  <a:srgbClr val="1C2430"/>
                </a:solidFill>
                <a:latin typeface="Calibri"/>
              </a:rPr>
              <a:t>•  Third Pi checks CRC</a:t>
            </a:r>
          </a:p>
          <a:p>
            <a:pPr algn="l">
              <a:spcAft>
                <a:spcPts val="600"/>
              </a:spcAft>
            </a:pPr>
            <a:r>
              <a:rPr sz="1500" b="0" i="0">
                <a:solidFill>
                  <a:srgbClr val="1C2430"/>
                </a:solidFill>
                <a:latin typeface="Calibri"/>
              </a:rPr>
              <a:t>•  JPEG on the HDMI screen</a:t>
            </a:r>
          </a:p>
        </p:txBody>
      </p:sp>
      <p:pic>
        <p:nvPicPr>
          <p:cNvPr id="35" name="Picture" descr="Monitoring dashboard"/>
          <p:cNvPicPr>
            <a:picLocks noChangeAspect="1"/>
          </p:cNvPicPr>
          <p:nvPr/>
        </p:nvPicPr>
        <p:blipFill>
          <a:blip r:embed="rId4"/>
          <a:stretch>
            <a:fillRect/>
          </a:stretch>
        </p:blipFill>
        <p:spPr>
          <a:xfrm>
            <a:off x="10835640" y="2194560"/>
            <a:ext cx="566928" cy="456487"/>
          </a:xfrm>
          <a:prstGeom prst="rect">
            <a:avLst/>
          </a:prstGeom>
        </p:spPr>
      </p:pic>
      <p:sp>
        <p:nvSpPr>
          <p:cNvPr id="36" name="TextBox 35"/>
          <p:cNvSpPr txBox="1"/>
          <p:nvPr/>
        </p:nvSpPr>
        <p:spPr>
          <a:xfrm>
            <a:off x="457200" y="4434840"/>
            <a:ext cx="5486400" cy="365760"/>
          </a:xfrm>
          <a:prstGeom prst="rect">
            <a:avLst/>
          </a:prstGeom>
          <a:noFill/>
        </p:spPr>
        <p:txBody>
          <a:bodyPr wrap="square" lIns="45720" rIns="45720" tIns="27432" bIns="27432" anchor="t">
            <a:spAutoFit/>
          </a:bodyPr>
          <a:lstStyle/>
          <a:p>
            <a:pPr algn="l"/>
            <a:r>
              <a:rPr sz="1800" b="1" i="0">
                <a:solidFill>
                  <a:srgbClr val="1B3A4B"/>
                </a:solidFill>
                <a:latin typeface="Calibri"/>
              </a:rPr>
              <a:t>Three different jobs</a:t>
            </a:r>
          </a:p>
        </p:txBody>
      </p:sp>
      <p:sp>
        <p:nvSpPr>
          <p:cNvPr id="37" name="Rounded Rectangle 36"/>
          <p:cNvSpPr/>
          <p:nvPr/>
        </p:nvSpPr>
        <p:spPr>
          <a:xfrm>
            <a:off x="457200" y="4846320"/>
            <a:ext cx="3703320" cy="1417320"/>
          </a:xfrm>
          <a:prstGeom prst="roundRect">
            <a:avLst>
              <a:gd name="adj" fmla="val 8000"/>
            </a:avLst>
          </a:prstGeom>
          <a:solidFill>
            <a:srgbClr val="E9E9E9"/>
          </a:solidFill>
          <a:ln w="9525">
            <a:solidFill>
              <a:srgbClr val="9A9A9A"/>
            </a:solidFill>
          </a:ln>
        </p:spPr>
        <p:txBody>
          <a:bodyPr rtlCol="0" anchor="ctr"/>
          <a:lstStyle/>
          <a:p>
            <a:pPr algn="ctr"/>
          </a:p>
        </p:txBody>
      </p:sp>
      <p:pic>
        <p:nvPicPr>
          <p:cNvPr id="38" name="Picture" descr="FSO laser"/>
          <p:cNvPicPr>
            <a:picLocks noChangeAspect="1"/>
          </p:cNvPicPr>
          <p:nvPr/>
        </p:nvPicPr>
        <p:blipFill>
          <a:blip r:embed="rId5"/>
          <a:stretch>
            <a:fillRect/>
          </a:stretch>
        </p:blipFill>
        <p:spPr>
          <a:xfrm>
            <a:off x="640080" y="4956048"/>
            <a:ext cx="713232" cy="491884"/>
          </a:xfrm>
          <a:prstGeom prst="rect">
            <a:avLst/>
          </a:prstGeom>
        </p:spPr>
      </p:pic>
      <p:sp>
        <p:nvSpPr>
          <p:cNvPr id="39" name="TextBox 38"/>
          <p:cNvSpPr txBox="1"/>
          <p:nvPr/>
        </p:nvSpPr>
        <p:spPr>
          <a:xfrm>
            <a:off x="1508760" y="4956048"/>
            <a:ext cx="2560320" cy="548640"/>
          </a:xfrm>
          <a:prstGeom prst="rect">
            <a:avLst/>
          </a:prstGeom>
          <a:noFill/>
        </p:spPr>
        <p:txBody>
          <a:bodyPr wrap="square" lIns="45720" rIns="45720" tIns="27432" bIns="27432" anchor="ctr">
            <a:spAutoFit/>
          </a:bodyPr>
          <a:lstStyle/>
          <a:p>
            <a:pPr algn="l"/>
            <a:r>
              <a:rPr sz="2000" b="1" i="0">
                <a:solidFill>
                  <a:srgbClr val="1B3A4B"/>
                </a:solidFill>
                <a:latin typeface="Calibri"/>
              </a:rPr>
              <a:t>Laser</a:t>
            </a:r>
          </a:p>
        </p:txBody>
      </p:sp>
      <p:sp>
        <p:nvSpPr>
          <p:cNvPr id="40" name="TextBox 39"/>
          <p:cNvSpPr txBox="1"/>
          <p:nvPr/>
        </p:nvSpPr>
        <p:spPr>
          <a:xfrm>
            <a:off x="640080" y="5532120"/>
            <a:ext cx="3429000" cy="731520"/>
          </a:xfrm>
          <a:prstGeom prst="rect">
            <a:avLst/>
          </a:prstGeom>
          <a:noFill/>
        </p:spPr>
        <p:txBody>
          <a:bodyPr wrap="square" lIns="45720" rIns="45720" tIns="27432" bIns="27432" anchor="t">
            <a:spAutoFit/>
          </a:bodyPr>
          <a:lstStyle/>
          <a:p>
            <a:pPr algn="l"/>
            <a:r>
              <a:rPr sz="1500" b="0" i="0">
                <a:solidFill>
                  <a:srgbClr val="1C2430"/>
                </a:solidFill>
                <a:latin typeface="Calibri"/>
              </a:rPr>
              <a:t>Carries the JPEG only.</a:t>
            </a:r>
          </a:p>
        </p:txBody>
      </p:sp>
      <p:sp>
        <p:nvSpPr>
          <p:cNvPr id="41" name="Rounded Rectangle 40"/>
          <p:cNvSpPr/>
          <p:nvPr/>
        </p:nvSpPr>
        <p:spPr>
          <a:xfrm>
            <a:off x="4251960" y="4846320"/>
            <a:ext cx="3703320" cy="1417320"/>
          </a:xfrm>
          <a:prstGeom prst="roundRect">
            <a:avLst>
              <a:gd name="adj" fmla="val 8000"/>
            </a:avLst>
          </a:prstGeom>
          <a:solidFill>
            <a:srgbClr val="E9E9E9"/>
          </a:solidFill>
          <a:ln w="9525">
            <a:solidFill>
              <a:srgbClr val="9A9A9A"/>
            </a:solidFill>
          </a:ln>
        </p:spPr>
        <p:txBody>
          <a:bodyPr rtlCol="0" anchor="ctr"/>
          <a:lstStyle/>
          <a:p>
            <a:pPr algn="ctr"/>
          </a:p>
        </p:txBody>
      </p:sp>
      <p:pic>
        <p:nvPicPr>
          <p:cNvPr id="42" name="Picture" descr="IMU module"/>
          <p:cNvPicPr>
            <a:picLocks noChangeAspect="1"/>
          </p:cNvPicPr>
          <p:nvPr/>
        </p:nvPicPr>
        <p:blipFill>
          <a:blip r:embed="rId6"/>
          <a:stretch>
            <a:fillRect/>
          </a:stretch>
        </p:blipFill>
        <p:spPr>
          <a:xfrm>
            <a:off x="4480560" y="4937760"/>
            <a:ext cx="594360" cy="435863"/>
          </a:xfrm>
          <a:prstGeom prst="rect">
            <a:avLst/>
          </a:prstGeom>
        </p:spPr>
      </p:pic>
      <p:sp>
        <p:nvSpPr>
          <p:cNvPr id="43" name="TextBox 42"/>
          <p:cNvSpPr txBox="1"/>
          <p:nvPr/>
        </p:nvSpPr>
        <p:spPr>
          <a:xfrm>
            <a:off x="5303520" y="4956048"/>
            <a:ext cx="2560320" cy="548640"/>
          </a:xfrm>
          <a:prstGeom prst="rect">
            <a:avLst/>
          </a:prstGeom>
          <a:noFill/>
        </p:spPr>
        <p:txBody>
          <a:bodyPr wrap="square" lIns="45720" rIns="45720" tIns="27432" bIns="27432" anchor="ctr">
            <a:spAutoFit/>
          </a:bodyPr>
          <a:lstStyle/>
          <a:p>
            <a:pPr algn="l"/>
            <a:r>
              <a:rPr sz="2000" b="1" i="0">
                <a:solidFill>
                  <a:srgbClr val="1B3A4B"/>
                </a:solidFill>
                <a:latin typeface="Calibri"/>
              </a:rPr>
              <a:t>IMU</a:t>
            </a:r>
          </a:p>
        </p:txBody>
      </p:sp>
      <p:sp>
        <p:nvSpPr>
          <p:cNvPr id="44" name="TextBox 43"/>
          <p:cNvSpPr txBox="1"/>
          <p:nvPr/>
        </p:nvSpPr>
        <p:spPr>
          <a:xfrm>
            <a:off x="4434840" y="5532120"/>
            <a:ext cx="3429000" cy="731520"/>
          </a:xfrm>
          <a:prstGeom prst="rect">
            <a:avLst/>
          </a:prstGeom>
          <a:noFill/>
        </p:spPr>
        <p:txBody>
          <a:bodyPr wrap="square" lIns="45720" rIns="45720" tIns="27432" bIns="27432" anchor="t">
            <a:spAutoFit/>
          </a:bodyPr>
          <a:lstStyle/>
          <a:p>
            <a:pPr algn="l"/>
            <a:r>
              <a:rPr sz="1500" b="0" i="0">
                <a:solidFill>
                  <a:srgbClr val="1C2430"/>
                </a:solidFill>
                <a:latin typeface="Calibri"/>
              </a:rPr>
              <a:t>Holds the camera head at its angle. It does not find the relay.</a:t>
            </a:r>
          </a:p>
        </p:txBody>
      </p:sp>
      <p:sp>
        <p:nvSpPr>
          <p:cNvPr id="45" name="Rounded Rectangle 44"/>
          <p:cNvSpPr/>
          <p:nvPr/>
        </p:nvSpPr>
        <p:spPr>
          <a:xfrm>
            <a:off x="8046720" y="4846320"/>
            <a:ext cx="3703320" cy="1417320"/>
          </a:xfrm>
          <a:prstGeom prst="roundRect">
            <a:avLst>
              <a:gd name="adj" fmla="val 8000"/>
            </a:avLst>
          </a:prstGeom>
          <a:solidFill>
            <a:srgbClr val="E9E9E9"/>
          </a:solidFill>
          <a:ln w="9525">
            <a:solidFill>
              <a:srgbClr val="9A9A9A"/>
            </a:solidFill>
          </a:ln>
        </p:spPr>
        <p:txBody>
          <a:bodyPr rtlCol="0" anchor="ctr"/>
          <a:lstStyle/>
          <a:p>
            <a:pPr algn="ctr"/>
          </a:p>
        </p:txBody>
      </p:sp>
      <p:pic>
        <p:nvPicPr>
          <p:cNvPr id="46" name="Picture" descr="LoRa module"/>
          <p:cNvPicPr>
            <a:picLocks noChangeAspect="1"/>
          </p:cNvPicPr>
          <p:nvPr/>
        </p:nvPicPr>
        <p:blipFill>
          <a:blip r:embed="rId7"/>
          <a:stretch>
            <a:fillRect/>
          </a:stretch>
        </p:blipFill>
        <p:spPr>
          <a:xfrm>
            <a:off x="8321040" y="4919472"/>
            <a:ext cx="634959" cy="566928"/>
          </a:xfrm>
          <a:prstGeom prst="rect">
            <a:avLst/>
          </a:prstGeom>
        </p:spPr>
      </p:pic>
      <p:sp>
        <p:nvSpPr>
          <p:cNvPr id="47" name="TextBox 46"/>
          <p:cNvSpPr txBox="1"/>
          <p:nvPr/>
        </p:nvSpPr>
        <p:spPr>
          <a:xfrm>
            <a:off x="9098280" y="4956048"/>
            <a:ext cx="2560320" cy="548640"/>
          </a:xfrm>
          <a:prstGeom prst="rect">
            <a:avLst/>
          </a:prstGeom>
          <a:noFill/>
        </p:spPr>
        <p:txBody>
          <a:bodyPr wrap="square" lIns="45720" rIns="45720" tIns="27432" bIns="27432" anchor="ctr">
            <a:spAutoFit/>
          </a:bodyPr>
          <a:lstStyle/>
          <a:p>
            <a:pPr algn="l"/>
            <a:r>
              <a:rPr sz="2000" b="1" i="0">
                <a:solidFill>
                  <a:srgbClr val="1B3A4B"/>
                </a:solidFill>
                <a:latin typeface="Calibri"/>
              </a:rPr>
              <a:t>LoRa</a:t>
            </a:r>
          </a:p>
        </p:txBody>
      </p:sp>
      <p:sp>
        <p:nvSpPr>
          <p:cNvPr id="48" name="TextBox 47"/>
          <p:cNvSpPr txBox="1"/>
          <p:nvPr/>
        </p:nvSpPr>
        <p:spPr>
          <a:xfrm>
            <a:off x="8229600" y="5532120"/>
            <a:ext cx="3429000" cy="731520"/>
          </a:xfrm>
          <a:prstGeom prst="rect">
            <a:avLst/>
          </a:prstGeom>
          <a:noFill/>
        </p:spPr>
        <p:txBody>
          <a:bodyPr wrap="square" lIns="45720" rIns="45720" tIns="27432" bIns="27432" anchor="t">
            <a:spAutoFit/>
          </a:bodyPr>
          <a:lstStyle/>
          <a:p>
            <a:pPr algn="l"/>
            <a:r>
              <a:rPr sz="1500" b="0" i="0">
                <a:solidFill>
                  <a:srgbClr val="1C2430"/>
                </a:solidFill>
                <a:latin typeface="Calibri"/>
              </a:rPr>
              <a:t>Five bytes: lock or lost, alert, image OK. No JPEG.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4" name="Section"/>
          <p:cNvSpPr txBox="1"/>
          <p:nvPr/>
        </p:nvSpPr>
        <p:spPr>
          <a:xfrm>
            <a:off x="457200" y="182880"/>
            <a:ext cx="11247120" cy="256032"/>
          </a:xfrm>
          <a:prstGeom prst="rect">
            <a:avLst/>
          </a:prstGeom>
          <a:noFill/>
        </p:spPr>
        <p:txBody>
          <a:bodyPr wrap="square" lIns="45720" rIns="45720" tIns="27432" bIns="27432" anchor="t">
            <a:spAutoFit/>
          </a:bodyPr>
          <a:lstStyle/>
          <a:p>
            <a:pPr algn="l"/>
            <a:r>
              <a:rPr sz="1300" b="1" i="0">
                <a:solidFill>
                  <a:srgbClr val="B5740A"/>
                </a:solidFill>
                <a:latin typeface="Calibri"/>
              </a:rPr>
              <a:t>04     ·     TECHNICAL FEASIBILITY AND METHODOLOGY</a:t>
            </a:r>
          </a:p>
        </p:txBody>
      </p:sp>
      <p:sp>
        <p:nvSpPr>
          <p:cNvPr id="5" name="Title"/>
          <p:cNvSpPr txBox="1"/>
          <p:nvPr/>
        </p:nvSpPr>
        <p:spPr>
          <a:xfrm>
            <a:off x="438912" y="420624"/>
            <a:ext cx="11338560" cy="502920"/>
          </a:xfrm>
          <a:prstGeom prst="rect">
            <a:avLst/>
          </a:prstGeom>
          <a:noFill/>
        </p:spPr>
        <p:txBody>
          <a:bodyPr wrap="square" lIns="45720" rIns="45720" tIns="27432" bIns="27432" anchor="t">
            <a:spAutoFit/>
          </a:bodyPr>
          <a:lstStyle/>
          <a:p>
            <a:pPr algn="l"/>
            <a:r>
              <a:rPr sz="2600" b="1" i="0">
                <a:solidFill>
                  <a:srgbClr val="1B3A4B"/>
                </a:solidFill>
                <a:latin typeface="Calibri"/>
              </a:rPr>
              <a:t>Starting point: auto-tracking FSO already working</a:t>
            </a:r>
          </a:p>
        </p:txBody>
      </p:sp>
      <p:sp>
        <p:nvSpPr>
          <p:cNvPr id="6" name="Footer rule"/>
          <p:cNvSpPr/>
          <p:nvPr/>
        </p:nvSpPr>
        <p:spPr>
          <a:xfrm>
            <a:off x="457200" y="6565392"/>
            <a:ext cx="11292840" cy="9144"/>
          </a:xfrm>
          <a:prstGeom prst="rect">
            <a:avLst/>
          </a:prstGeom>
          <a:solidFill>
            <a:srgbClr val="D0D0D0"/>
          </a:solidFill>
          <a:ln>
            <a:noFill/>
          </a:ln>
        </p:spPr>
        <p:txBody>
          <a:bodyPr rtlCol="0" anchor="ctr"/>
          <a:lstStyle/>
          <a:p>
            <a:pPr algn="ctr"/>
          </a:p>
        </p:txBody>
      </p:sp>
      <p:sp>
        <p:nvSpPr>
          <p:cNvPr id="7"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Feasibility</a:t>
            </a:r>
          </a:p>
        </p:txBody>
      </p:sp>
      <p:sp>
        <p:nvSpPr>
          <p:cNvPr id="8"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8  /  15</a:t>
            </a:r>
          </a:p>
        </p:txBody>
      </p:sp>
      <p:pic>
        <p:nvPicPr>
          <p:cNvPr id="9" name="Picture" descr="Auto-tracking FSO prototype in the department laboratory"/>
          <p:cNvPicPr>
            <a:picLocks noChangeAspect="1"/>
          </p:cNvPicPr>
          <p:nvPr/>
        </p:nvPicPr>
        <p:blipFill>
          <a:blip r:embed="rId2"/>
          <a:stretch>
            <a:fillRect/>
          </a:stretch>
        </p:blipFill>
        <p:spPr>
          <a:xfrm>
            <a:off x="457200" y="1097280"/>
            <a:ext cx="3108960" cy="2587752"/>
          </a:xfrm>
          <a:prstGeom prst="rect">
            <a:avLst/>
          </a:prstGeom>
        </p:spPr>
      </p:pic>
      <p:sp>
        <p:nvSpPr>
          <p:cNvPr id="10" name="TextBox 9"/>
          <p:cNvSpPr txBox="1"/>
          <p:nvPr/>
        </p:nvSpPr>
        <p:spPr>
          <a:xfrm>
            <a:off x="457200" y="3703320"/>
            <a:ext cx="3108960" cy="502920"/>
          </a:xfrm>
          <a:prstGeom prst="rect">
            <a:avLst/>
          </a:prstGeom>
          <a:noFill/>
        </p:spPr>
        <p:txBody>
          <a:bodyPr wrap="square" lIns="45720" rIns="45720" tIns="27432" bIns="27432" anchor="t">
            <a:spAutoFit/>
          </a:bodyPr>
          <a:lstStyle/>
          <a:p>
            <a:pPr algn="l"/>
            <a:r>
              <a:rPr sz="1250" b="0" i="0">
                <a:solidFill>
                  <a:srgbClr val="5C6770"/>
                </a:solidFill>
                <a:latin typeface="Calibri"/>
              </a:rPr>
              <a:t>Auto-tracking FSO prototype in the department lab. This unit will be reused.</a:t>
            </a:r>
          </a:p>
        </p:txBody>
      </p:sp>
      <p:sp>
        <p:nvSpPr>
          <p:cNvPr id="11" name="TextBox 10"/>
          <p:cNvSpPr txBox="1"/>
          <p:nvPr/>
        </p:nvSpPr>
        <p:spPr>
          <a:xfrm>
            <a:off x="3840480" y="1051560"/>
            <a:ext cx="3657600" cy="365760"/>
          </a:xfrm>
          <a:prstGeom prst="rect">
            <a:avLst/>
          </a:prstGeom>
          <a:noFill/>
        </p:spPr>
        <p:txBody>
          <a:bodyPr wrap="square" lIns="45720" rIns="45720" tIns="27432" bIns="27432" anchor="t">
            <a:spAutoFit/>
          </a:bodyPr>
          <a:lstStyle/>
          <a:p>
            <a:pPr algn="l"/>
            <a:r>
              <a:rPr sz="1900" b="1" i="0">
                <a:solidFill>
                  <a:srgbClr val="1B3A4B"/>
                </a:solidFill>
                <a:latin typeface="Calibri"/>
              </a:rPr>
              <a:t>What this grant adds</a:t>
            </a:r>
          </a:p>
        </p:txBody>
      </p:sp>
      <p:sp>
        <p:nvSpPr>
          <p:cNvPr id="12" name="Rounded Rectangle 11"/>
          <p:cNvSpPr/>
          <p:nvPr/>
        </p:nvSpPr>
        <p:spPr>
          <a:xfrm>
            <a:off x="3840480" y="1508760"/>
            <a:ext cx="4023360" cy="475488"/>
          </a:xfrm>
          <a:prstGeom prst="roundRect">
            <a:avLst>
              <a:gd name="adj" fmla="val 8000"/>
            </a:avLst>
          </a:prstGeom>
          <a:solidFill>
            <a:srgbClr val="E9E9E9"/>
          </a:solidFill>
          <a:ln w="9525">
            <a:solidFill>
              <a:srgbClr val="9A9A9A"/>
            </a:solidFill>
          </a:ln>
        </p:spPr>
        <p:txBody>
          <a:bodyPr rtlCol="0" anchor="ctr"/>
          <a:lstStyle/>
          <a:p>
            <a:pPr algn="ctr"/>
          </a:p>
        </p:txBody>
      </p:sp>
      <p:sp>
        <p:nvSpPr>
          <p:cNvPr id="13" name="Oval 12"/>
          <p:cNvSpPr/>
          <p:nvPr/>
        </p:nvSpPr>
        <p:spPr>
          <a:xfrm>
            <a:off x="3913632" y="1563624"/>
            <a:ext cx="365760" cy="365760"/>
          </a:xfrm>
          <a:prstGeom prst="ellipse">
            <a:avLst/>
          </a:prstGeom>
          <a:solidFill>
            <a:srgbClr val="ED7D31"/>
          </a:solidFill>
          <a:ln>
            <a:noFill/>
          </a:ln>
        </p:spPr>
        <p:txBody>
          <a:bodyPr rtlCol="0" anchor="ctr" lIns="36576" rIns="36576" tIns="0" bIns="0" wrap="square"/>
          <a:lstStyle/>
          <a:p>
            <a:pPr algn="ctr"/>
            <a:r>
              <a:rPr sz="1800" b="1">
                <a:solidFill>
                  <a:srgbClr val="FFFFFF"/>
                </a:solidFill>
                <a:latin typeface="Calibri"/>
              </a:rPr>
              <a:t>+</a:t>
            </a:r>
          </a:p>
        </p:txBody>
      </p:sp>
      <p:sp>
        <p:nvSpPr>
          <p:cNvPr id="14" name="TextBox 13"/>
          <p:cNvSpPr txBox="1"/>
          <p:nvPr/>
        </p:nvSpPr>
        <p:spPr>
          <a:xfrm>
            <a:off x="4389120" y="1545336"/>
            <a:ext cx="3429000" cy="402336"/>
          </a:xfrm>
          <a:prstGeom prst="rect">
            <a:avLst/>
          </a:prstGeom>
          <a:noFill/>
        </p:spPr>
        <p:txBody>
          <a:bodyPr wrap="square" lIns="45720" rIns="45720" tIns="27432" bIns="27432" anchor="ctr">
            <a:spAutoFit/>
          </a:bodyPr>
          <a:lstStyle/>
          <a:p>
            <a:pPr algn="l"/>
            <a:r>
              <a:rPr sz="1500" b="0" i="0">
                <a:solidFill>
                  <a:srgbClr val="1C2430"/>
                </a:solidFill>
                <a:latin typeface="Calibri"/>
              </a:rPr>
              <a:t>Video on the optical hop</a:t>
            </a:r>
          </a:p>
        </p:txBody>
      </p:sp>
      <p:sp>
        <p:nvSpPr>
          <p:cNvPr id="15" name="Rounded Rectangle 14"/>
          <p:cNvSpPr/>
          <p:nvPr/>
        </p:nvSpPr>
        <p:spPr>
          <a:xfrm>
            <a:off x="3840480" y="2075688"/>
            <a:ext cx="4023360" cy="475488"/>
          </a:xfrm>
          <a:prstGeom prst="roundRect">
            <a:avLst>
              <a:gd name="adj" fmla="val 8000"/>
            </a:avLst>
          </a:prstGeom>
          <a:solidFill>
            <a:srgbClr val="E9E9E9"/>
          </a:solidFill>
          <a:ln w="9525">
            <a:solidFill>
              <a:srgbClr val="9A9A9A"/>
            </a:solidFill>
          </a:ln>
        </p:spPr>
        <p:txBody>
          <a:bodyPr rtlCol="0" anchor="ctr"/>
          <a:lstStyle/>
          <a:p>
            <a:pPr algn="ctr"/>
          </a:p>
        </p:txBody>
      </p:sp>
      <p:sp>
        <p:nvSpPr>
          <p:cNvPr id="16" name="Oval 15"/>
          <p:cNvSpPr/>
          <p:nvPr/>
        </p:nvSpPr>
        <p:spPr>
          <a:xfrm>
            <a:off x="3913632" y="2130552"/>
            <a:ext cx="365760" cy="365760"/>
          </a:xfrm>
          <a:prstGeom prst="ellipse">
            <a:avLst/>
          </a:prstGeom>
          <a:solidFill>
            <a:srgbClr val="ED7D31"/>
          </a:solidFill>
          <a:ln>
            <a:noFill/>
          </a:ln>
        </p:spPr>
        <p:txBody>
          <a:bodyPr rtlCol="0" anchor="ctr" lIns="36576" rIns="36576" tIns="0" bIns="0" wrap="square"/>
          <a:lstStyle/>
          <a:p>
            <a:pPr algn="ctr"/>
            <a:r>
              <a:rPr sz="1800" b="1">
                <a:solidFill>
                  <a:srgbClr val="FFFFFF"/>
                </a:solidFill>
                <a:latin typeface="Calibri"/>
              </a:rPr>
              <a:t>+</a:t>
            </a:r>
          </a:p>
        </p:txBody>
      </p:sp>
      <p:sp>
        <p:nvSpPr>
          <p:cNvPr id="17" name="TextBox 16"/>
          <p:cNvSpPr txBox="1"/>
          <p:nvPr/>
        </p:nvSpPr>
        <p:spPr>
          <a:xfrm>
            <a:off x="4389120" y="2112264"/>
            <a:ext cx="3429000" cy="402336"/>
          </a:xfrm>
          <a:prstGeom prst="rect">
            <a:avLst/>
          </a:prstGeom>
          <a:noFill/>
        </p:spPr>
        <p:txBody>
          <a:bodyPr wrap="square" lIns="45720" rIns="45720" tIns="27432" bIns="27432" anchor="ctr">
            <a:spAutoFit/>
          </a:bodyPr>
          <a:lstStyle/>
          <a:p>
            <a:pPr algn="l"/>
            <a:r>
              <a:rPr sz="1500" b="0" i="0">
                <a:solidFill>
                  <a:srgbClr val="1C2430"/>
                </a:solidFill>
                <a:latin typeface="Calibri"/>
              </a:rPr>
              <a:t>LoRa for alerts and fallback</a:t>
            </a:r>
          </a:p>
        </p:txBody>
      </p:sp>
      <p:sp>
        <p:nvSpPr>
          <p:cNvPr id="18" name="Rounded Rectangle 17"/>
          <p:cNvSpPr/>
          <p:nvPr/>
        </p:nvSpPr>
        <p:spPr>
          <a:xfrm>
            <a:off x="3840480" y="2642615"/>
            <a:ext cx="4023360" cy="475488"/>
          </a:xfrm>
          <a:prstGeom prst="roundRect">
            <a:avLst>
              <a:gd name="adj" fmla="val 8000"/>
            </a:avLst>
          </a:prstGeom>
          <a:solidFill>
            <a:srgbClr val="E9E9E9"/>
          </a:solidFill>
          <a:ln w="9525">
            <a:solidFill>
              <a:srgbClr val="9A9A9A"/>
            </a:solidFill>
          </a:ln>
        </p:spPr>
        <p:txBody>
          <a:bodyPr rtlCol="0" anchor="ctr"/>
          <a:lstStyle/>
          <a:p>
            <a:pPr algn="ctr"/>
          </a:p>
        </p:txBody>
      </p:sp>
      <p:sp>
        <p:nvSpPr>
          <p:cNvPr id="19" name="Oval 18"/>
          <p:cNvSpPr/>
          <p:nvPr/>
        </p:nvSpPr>
        <p:spPr>
          <a:xfrm>
            <a:off x="3913632" y="2697479"/>
            <a:ext cx="365760" cy="365760"/>
          </a:xfrm>
          <a:prstGeom prst="ellipse">
            <a:avLst/>
          </a:prstGeom>
          <a:solidFill>
            <a:srgbClr val="ED7D31"/>
          </a:solidFill>
          <a:ln>
            <a:noFill/>
          </a:ln>
        </p:spPr>
        <p:txBody>
          <a:bodyPr rtlCol="0" anchor="ctr" lIns="36576" rIns="36576" tIns="0" bIns="0" wrap="square"/>
          <a:lstStyle/>
          <a:p>
            <a:pPr algn="ctr"/>
            <a:r>
              <a:rPr sz="1800" b="1">
                <a:solidFill>
                  <a:srgbClr val="FFFFFF"/>
                </a:solidFill>
                <a:latin typeface="Calibri"/>
              </a:rPr>
              <a:t>+</a:t>
            </a:r>
          </a:p>
        </p:txBody>
      </p:sp>
      <p:sp>
        <p:nvSpPr>
          <p:cNvPr id="20" name="TextBox 19"/>
          <p:cNvSpPr txBox="1"/>
          <p:nvPr/>
        </p:nvSpPr>
        <p:spPr>
          <a:xfrm>
            <a:off x="4389120" y="2679191"/>
            <a:ext cx="3429000" cy="402336"/>
          </a:xfrm>
          <a:prstGeom prst="rect">
            <a:avLst/>
          </a:prstGeom>
          <a:noFill/>
        </p:spPr>
        <p:txBody>
          <a:bodyPr wrap="square" lIns="45720" rIns="45720" tIns="27432" bIns="27432" anchor="ctr">
            <a:spAutoFit/>
          </a:bodyPr>
          <a:lstStyle/>
          <a:p>
            <a:pPr algn="l"/>
            <a:r>
              <a:rPr sz="1500" b="0" i="0">
                <a:solidFill>
                  <a:srgbClr val="1C2430"/>
                </a:solidFill>
                <a:latin typeface="Calibri"/>
              </a:rPr>
              <a:t>Relay nodes along a heading</a:t>
            </a:r>
          </a:p>
        </p:txBody>
      </p:sp>
      <p:sp>
        <p:nvSpPr>
          <p:cNvPr id="21" name="Rounded Rectangle 20"/>
          <p:cNvSpPr/>
          <p:nvPr/>
        </p:nvSpPr>
        <p:spPr>
          <a:xfrm>
            <a:off x="3840480" y="3209544"/>
            <a:ext cx="4023360" cy="475488"/>
          </a:xfrm>
          <a:prstGeom prst="roundRect">
            <a:avLst>
              <a:gd name="adj" fmla="val 8000"/>
            </a:avLst>
          </a:prstGeom>
          <a:solidFill>
            <a:srgbClr val="E9E9E9"/>
          </a:solidFill>
          <a:ln w="9525">
            <a:solidFill>
              <a:srgbClr val="9A9A9A"/>
            </a:solidFill>
          </a:ln>
        </p:spPr>
        <p:txBody>
          <a:bodyPr rtlCol="0" anchor="ctr"/>
          <a:lstStyle/>
          <a:p>
            <a:pPr algn="ctr"/>
          </a:p>
        </p:txBody>
      </p:sp>
      <p:sp>
        <p:nvSpPr>
          <p:cNvPr id="22" name="Oval 21"/>
          <p:cNvSpPr/>
          <p:nvPr/>
        </p:nvSpPr>
        <p:spPr>
          <a:xfrm>
            <a:off x="3913632" y="3264408"/>
            <a:ext cx="365760" cy="365760"/>
          </a:xfrm>
          <a:prstGeom prst="ellipse">
            <a:avLst/>
          </a:prstGeom>
          <a:solidFill>
            <a:srgbClr val="ED7D31"/>
          </a:solidFill>
          <a:ln>
            <a:noFill/>
          </a:ln>
        </p:spPr>
        <p:txBody>
          <a:bodyPr rtlCol="0" anchor="ctr" lIns="36576" rIns="36576" tIns="0" bIns="0" wrap="square"/>
          <a:lstStyle/>
          <a:p>
            <a:pPr algn="ctr"/>
            <a:r>
              <a:rPr sz="1800" b="1">
                <a:solidFill>
                  <a:srgbClr val="FFFFFF"/>
                </a:solidFill>
                <a:latin typeface="Calibri"/>
              </a:rPr>
              <a:t>+</a:t>
            </a:r>
          </a:p>
        </p:txBody>
      </p:sp>
      <p:sp>
        <p:nvSpPr>
          <p:cNvPr id="23" name="TextBox 22"/>
          <p:cNvSpPr txBox="1"/>
          <p:nvPr/>
        </p:nvSpPr>
        <p:spPr>
          <a:xfrm>
            <a:off x="4389120" y="3246120"/>
            <a:ext cx="3429000" cy="402336"/>
          </a:xfrm>
          <a:prstGeom prst="rect">
            <a:avLst/>
          </a:prstGeom>
          <a:noFill/>
        </p:spPr>
        <p:txBody>
          <a:bodyPr wrap="square" lIns="45720" rIns="45720" tIns="27432" bIns="27432" anchor="ctr">
            <a:spAutoFit/>
          </a:bodyPr>
          <a:lstStyle/>
          <a:p>
            <a:pPr algn="l"/>
            <a:r>
              <a:rPr sz="1500" b="0" i="0">
                <a:solidFill>
                  <a:srgbClr val="1C2430"/>
                </a:solidFill>
                <a:latin typeface="Calibri"/>
              </a:rPr>
              <a:t>Surface station, underground enclosure</a:t>
            </a:r>
          </a:p>
        </p:txBody>
      </p:sp>
      <p:sp>
        <p:nvSpPr>
          <p:cNvPr id="24" name="TextBox 23"/>
          <p:cNvSpPr txBox="1"/>
          <p:nvPr/>
        </p:nvSpPr>
        <p:spPr>
          <a:xfrm>
            <a:off x="8183879" y="1051560"/>
            <a:ext cx="3657600" cy="365760"/>
          </a:xfrm>
          <a:prstGeom prst="rect">
            <a:avLst/>
          </a:prstGeom>
          <a:noFill/>
        </p:spPr>
        <p:txBody>
          <a:bodyPr wrap="square" lIns="45720" rIns="45720" tIns="27432" bIns="27432" anchor="t">
            <a:spAutoFit/>
          </a:bodyPr>
          <a:lstStyle/>
          <a:p>
            <a:pPr algn="l"/>
            <a:r>
              <a:rPr sz="1900" b="1" i="0">
                <a:solidFill>
                  <a:srgbClr val="1B3A4B"/>
                </a:solidFill>
                <a:latin typeface="Calibri"/>
              </a:rPr>
              <a:t>Why it can be built here</a:t>
            </a:r>
          </a:p>
        </p:txBody>
      </p:sp>
      <p:sp>
        <p:nvSpPr>
          <p:cNvPr id="25" name="Rounded Rectangle 24"/>
          <p:cNvSpPr/>
          <p:nvPr/>
        </p:nvSpPr>
        <p:spPr>
          <a:xfrm>
            <a:off x="8183879" y="1508760"/>
            <a:ext cx="3566160" cy="685800"/>
          </a:xfrm>
          <a:prstGeom prst="roundRect">
            <a:avLst>
              <a:gd name="adj" fmla="val 8000"/>
            </a:avLst>
          </a:prstGeom>
          <a:solidFill>
            <a:srgbClr val="0071C1"/>
          </a:solidFill>
          <a:ln w="9525">
            <a:solidFill>
              <a:srgbClr val="00548F"/>
            </a:solidFill>
          </a:ln>
        </p:spPr>
        <p:txBody>
          <a:bodyPr rtlCol="0" anchor="ctr"/>
          <a:lstStyle/>
          <a:p>
            <a:pPr algn="ctr"/>
          </a:p>
        </p:txBody>
      </p:sp>
      <p:sp>
        <p:nvSpPr>
          <p:cNvPr id="26" name="TextBox 25"/>
          <p:cNvSpPr txBox="1"/>
          <p:nvPr/>
        </p:nvSpPr>
        <p:spPr>
          <a:xfrm>
            <a:off x="8275320" y="1527048"/>
            <a:ext cx="1417320" cy="640080"/>
          </a:xfrm>
          <a:prstGeom prst="rect">
            <a:avLst/>
          </a:prstGeom>
          <a:noFill/>
        </p:spPr>
        <p:txBody>
          <a:bodyPr wrap="square" lIns="45720" rIns="45720" tIns="27432" bIns="27432" anchor="ctr">
            <a:spAutoFit/>
          </a:bodyPr>
          <a:lstStyle/>
          <a:p>
            <a:pPr algn="l"/>
            <a:r>
              <a:rPr sz="1600" b="1" i="0">
                <a:solidFill>
                  <a:srgbClr val="FFD966"/>
                </a:solidFill>
                <a:latin typeface="Calibri"/>
              </a:rPr>
              <a:t>50–100 m</a:t>
            </a:r>
          </a:p>
        </p:txBody>
      </p:sp>
      <p:sp>
        <p:nvSpPr>
          <p:cNvPr id="27" name="TextBox 26"/>
          <p:cNvSpPr txBox="1"/>
          <p:nvPr/>
        </p:nvSpPr>
        <p:spPr>
          <a:xfrm>
            <a:off x="9646920" y="1527048"/>
            <a:ext cx="2057400" cy="640080"/>
          </a:xfrm>
          <a:prstGeom prst="rect">
            <a:avLst/>
          </a:prstGeom>
          <a:noFill/>
        </p:spPr>
        <p:txBody>
          <a:bodyPr wrap="square" lIns="45720" rIns="45720" tIns="27432" bIns="27432" anchor="ctr">
            <a:spAutoFit/>
          </a:bodyPr>
          <a:lstStyle/>
          <a:p>
            <a:pPr algn="l"/>
            <a:r>
              <a:rPr sz="1250" b="0" i="0">
                <a:solidFill>
                  <a:srgbClr val="FFFFFF"/>
                </a:solidFill>
                <a:latin typeface="Calibri"/>
              </a:rPr>
              <a:t>hop within ordinary laser and photodiode modules</a:t>
            </a:r>
          </a:p>
        </p:txBody>
      </p:sp>
      <p:sp>
        <p:nvSpPr>
          <p:cNvPr id="28" name="Rounded Rectangle 27"/>
          <p:cNvSpPr/>
          <p:nvPr/>
        </p:nvSpPr>
        <p:spPr>
          <a:xfrm>
            <a:off x="8183879" y="2276856"/>
            <a:ext cx="3566160" cy="685800"/>
          </a:xfrm>
          <a:prstGeom prst="roundRect">
            <a:avLst>
              <a:gd name="adj" fmla="val 8000"/>
            </a:avLst>
          </a:prstGeom>
          <a:solidFill>
            <a:srgbClr val="0071C1"/>
          </a:solidFill>
          <a:ln w="9525">
            <a:solidFill>
              <a:srgbClr val="00548F"/>
            </a:solidFill>
          </a:ln>
        </p:spPr>
        <p:txBody>
          <a:bodyPr rtlCol="0" anchor="ctr"/>
          <a:lstStyle/>
          <a:p>
            <a:pPr algn="ctr"/>
          </a:p>
        </p:txBody>
      </p:sp>
      <p:sp>
        <p:nvSpPr>
          <p:cNvPr id="29" name="TextBox 28"/>
          <p:cNvSpPr txBox="1"/>
          <p:nvPr/>
        </p:nvSpPr>
        <p:spPr>
          <a:xfrm>
            <a:off x="8275320" y="2295144"/>
            <a:ext cx="1417320" cy="640080"/>
          </a:xfrm>
          <a:prstGeom prst="rect">
            <a:avLst/>
          </a:prstGeom>
          <a:noFill/>
        </p:spPr>
        <p:txBody>
          <a:bodyPr wrap="square" lIns="45720" rIns="45720" tIns="27432" bIns="27432" anchor="ctr">
            <a:spAutoFit/>
          </a:bodyPr>
          <a:lstStyle/>
          <a:p>
            <a:pPr algn="l"/>
            <a:r>
              <a:rPr sz="1600" b="1" i="0">
                <a:solidFill>
                  <a:srgbClr val="FFD966"/>
                </a:solidFill>
                <a:latin typeface="Calibri"/>
              </a:rPr>
              <a:t>In the lab</a:t>
            </a:r>
          </a:p>
        </p:txBody>
      </p:sp>
      <p:sp>
        <p:nvSpPr>
          <p:cNvPr id="30" name="TextBox 29"/>
          <p:cNvSpPr txBox="1"/>
          <p:nvPr/>
        </p:nvSpPr>
        <p:spPr>
          <a:xfrm>
            <a:off x="9646920" y="2295144"/>
            <a:ext cx="2057400" cy="640080"/>
          </a:xfrm>
          <a:prstGeom prst="rect">
            <a:avLst/>
          </a:prstGeom>
          <a:noFill/>
        </p:spPr>
        <p:txBody>
          <a:bodyPr wrap="square" lIns="45720" rIns="45720" tIns="27432" bIns="27432" anchor="ctr">
            <a:spAutoFit/>
          </a:bodyPr>
          <a:lstStyle/>
          <a:p>
            <a:pPr algn="l"/>
            <a:r>
              <a:rPr sz="1250" b="0" i="0">
                <a:solidFill>
                  <a:srgbClr val="FFFFFF"/>
                </a:solidFill>
                <a:latin typeface="Calibri"/>
              </a:rPr>
              <a:t>FSO transceivers, embedded benches, computing</a:t>
            </a:r>
          </a:p>
        </p:txBody>
      </p:sp>
      <p:sp>
        <p:nvSpPr>
          <p:cNvPr id="31" name="Rounded Rectangle 30"/>
          <p:cNvSpPr/>
          <p:nvPr/>
        </p:nvSpPr>
        <p:spPr>
          <a:xfrm>
            <a:off x="8183879" y="3044952"/>
            <a:ext cx="3566160" cy="685800"/>
          </a:xfrm>
          <a:prstGeom prst="roundRect">
            <a:avLst>
              <a:gd name="adj" fmla="val 8000"/>
            </a:avLst>
          </a:prstGeom>
          <a:solidFill>
            <a:srgbClr val="0071C1"/>
          </a:solidFill>
          <a:ln w="9525">
            <a:solidFill>
              <a:srgbClr val="00548F"/>
            </a:solidFill>
          </a:ln>
        </p:spPr>
        <p:txBody>
          <a:bodyPr rtlCol="0" anchor="ctr"/>
          <a:lstStyle/>
          <a:p>
            <a:pPr algn="ctr"/>
          </a:p>
        </p:txBody>
      </p:sp>
      <p:sp>
        <p:nvSpPr>
          <p:cNvPr id="32" name="TextBox 31"/>
          <p:cNvSpPr txBox="1"/>
          <p:nvPr/>
        </p:nvSpPr>
        <p:spPr>
          <a:xfrm>
            <a:off x="8275320" y="3063240"/>
            <a:ext cx="1417320" cy="640080"/>
          </a:xfrm>
          <a:prstGeom prst="rect">
            <a:avLst/>
          </a:prstGeom>
          <a:noFill/>
        </p:spPr>
        <p:txBody>
          <a:bodyPr wrap="square" lIns="45720" rIns="45720" tIns="27432" bIns="27432" anchor="ctr">
            <a:spAutoFit/>
          </a:bodyPr>
          <a:lstStyle/>
          <a:p>
            <a:pPr algn="l"/>
            <a:r>
              <a:rPr sz="1600" b="1" i="0">
                <a:solidFill>
                  <a:srgbClr val="FFD966"/>
                </a:solidFill>
                <a:latin typeface="Calibri"/>
              </a:rPr>
              <a:t>Designed loss</a:t>
            </a:r>
          </a:p>
        </p:txBody>
      </p:sp>
      <p:sp>
        <p:nvSpPr>
          <p:cNvPr id="33" name="TextBox 32"/>
          <p:cNvSpPr txBox="1"/>
          <p:nvPr/>
        </p:nvSpPr>
        <p:spPr>
          <a:xfrm>
            <a:off x="9646920" y="3063240"/>
            <a:ext cx="2057400" cy="640080"/>
          </a:xfrm>
          <a:prstGeom prst="rect">
            <a:avLst/>
          </a:prstGeom>
          <a:noFill/>
        </p:spPr>
        <p:txBody>
          <a:bodyPr wrap="square" lIns="45720" rIns="45720" tIns="27432" bIns="27432" anchor="ctr">
            <a:spAutoFit/>
          </a:bodyPr>
          <a:lstStyle/>
          <a:p>
            <a:pPr algn="l"/>
            <a:r>
              <a:rPr sz="1250" b="0" i="0">
                <a:solidFill>
                  <a:srgbClr val="FFFFFF"/>
                </a:solidFill>
                <a:latin typeface="Calibri"/>
              </a:rPr>
              <a:t>beam drops, alert goes on LoRa</a:t>
            </a:r>
          </a:p>
        </p:txBody>
      </p:sp>
      <p:sp>
        <p:nvSpPr>
          <p:cNvPr id="34" name="Rounded Rectangle 33"/>
          <p:cNvSpPr/>
          <p:nvPr/>
        </p:nvSpPr>
        <p:spPr>
          <a:xfrm>
            <a:off x="457200" y="4343400"/>
            <a:ext cx="11292840" cy="2011680"/>
          </a:xfrm>
          <a:prstGeom prst="roundRect">
            <a:avLst>
              <a:gd name="adj" fmla="val 8000"/>
            </a:avLst>
          </a:prstGeom>
          <a:solidFill>
            <a:srgbClr val="FFFFFF"/>
          </a:solidFill>
          <a:ln>
            <a:noFill/>
          </a:ln>
        </p:spPr>
        <p:txBody>
          <a:bodyPr rtlCol="0" anchor="ctr"/>
          <a:lstStyle/>
          <a:p>
            <a:pPr algn="ctr"/>
          </a:p>
        </p:txBody>
      </p:sp>
      <p:sp>
        <p:nvSpPr>
          <p:cNvPr id="35" name="Rounded Rectangle 34"/>
          <p:cNvSpPr/>
          <p:nvPr/>
        </p:nvSpPr>
        <p:spPr>
          <a:xfrm>
            <a:off x="640080" y="4251960"/>
            <a:ext cx="4206240" cy="384048"/>
          </a:xfrm>
          <a:prstGeom prst="roundRect">
            <a:avLst>
              <a:gd name="adj" fmla="val 30000"/>
            </a:avLst>
          </a:prstGeom>
          <a:solidFill>
            <a:srgbClr val="0071C1"/>
          </a:solidFill>
          <a:ln w="12700">
            <a:solidFill>
              <a:srgbClr val="00548F"/>
            </a:solidFill>
          </a:ln>
        </p:spPr>
        <p:txBody>
          <a:bodyPr rtlCol="0" anchor="ctr" lIns="36576" rIns="36576" tIns="0" bIns="0" wrap="square"/>
          <a:lstStyle/>
          <a:p>
            <a:pPr algn="ctr"/>
            <a:r>
              <a:rPr sz="1500" b="1">
                <a:solidFill>
                  <a:srgbClr val="FFFFFF"/>
                </a:solidFill>
                <a:latin typeface="Calibri"/>
              </a:rPr>
              <a:t>First milestone: laboratory bench, one relay</a:t>
            </a:r>
          </a:p>
        </p:txBody>
      </p:sp>
      <p:sp>
        <p:nvSpPr>
          <p:cNvPr id="36" name="TextBox 35"/>
          <p:cNvSpPr txBox="1"/>
          <p:nvPr/>
        </p:nvSpPr>
        <p:spPr>
          <a:xfrm>
            <a:off x="5669280" y="4370832"/>
            <a:ext cx="5943600" cy="365760"/>
          </a:xfrm>
          <a:prstGeom prst="rect">
            <a:avLst/>
          </a:prstGeom>
          <a:noFill/>
        </p:spPr>
        <p:txBody>
          <a:bodyPr wrap="square" lIns="45720" rIns="45720" tIns="27432" bIns="27432" anchor="t">
            <a:spAutoFit/>
          </a:bodyPr>
          <a:lstStyle/>
          <a:p>
            <a:pPr algn="r"/>
            <a:r>
              <a:rPr sz="1350" b="0" i="0">
                <a:solidFill>
                  <a:srgbClr val="5C6770"/>
                </a:solidFill>
                <a:latin typeface="Calibri"/>
              </a:rPr>
              <a:t>Relay laser hand-aimed. IMU loop off for the first JPEG.</a:t>
            </a:r>
          </a:p>
        </p:txBody>
      </p:sp>
      <p:sp>
        <p:nvSpPr>
          <p:cNvPr id="37" name="Rounded Rectangle 36"/>
          <p:cNvSpPr/>
          <p:nvPr/>
        </p:nvSpPr>
        <p:spPr>
          <a:xfrm>
            <a:off x="731520" y="4892040"/>
            <a:ext cx="3108960" cy="1371600"/>
          </a:xfrm>
          <a:prstGeom prst="roundRect">
            <a:avLst>
              <a:gd name="adj" fmla="val 8000"/>
            </a:avLst>
          </a:prstGeom>
          <a:solidFill>
            <a:srgbClr val="E9E9E9"/>
          </a:solidFill>
          <a:ln w="9525">
            <a:solidFill>
              <a:srgbClr val="9A9A9A"/>
            </a:solidFill>
          </a:ln>
        </p:spPr>
        <p:txBody>
          <a:bodyPr rtlCol="0" anchor="ctr"/>
          <a:lstStyle/>
          <a:p>
            <a:pPr algn="ctr"/>
          </a:p>
        </p:txBody>
      </p:sp>
      <p:sp>
        <p:nvSpPr>
          <p:cNvPr id="38" name="TextBox 37"/>
          <p:cNvSpPr txBox="1"/>
          <p:nvPr/>
        </p:nvSpPr>
        <p:spPr>
          <a:xfrm>
            <a:off x="868680" y="4937760"/>
            <a:ext cx="1828800" cy="365760"/>
          </a:xfrm>
          <a:prstGeom prst="rect">
            <a:avLst/>
          </a:prstGeom>
          <a:noFill/>
        </p:spPr>
        <p:txBody>
          <a:bodyPr wrap="square" lIns="45720" rIns="45720" tIns="27432" bIns="27432" anchor="t">
            <a:spAutoFit/>
          </a:bodyPr>
          <a:lstStyle/>
          <a:p>
            <a:pPr algn="l"/>
            <a:r>
              <a:rPr sz="1800" b="1" i="0">
                <a:solidFill>
                  <a:srgbClr val="1B3A4B"/>
                </a:solidFill>
                <a:latin typeface="Calibri"/>
              </a:rPr>
              <a:t>Camera node</a:t>
            </a:r>
          </a:p>
        </p:txBody>
      </p:sp>
      <p:sp>
        <p:nvSpPr>
          <p:cNvPr id="39" name="TextBox 38"/>
          <p:cNvSpPr txBox="1"/>
          <p:nvPr/>
        </p:nvSpPr>
        <p:spPr>
          <a:xfrm>
            <a:off x="868680" y="5349240"/>
            <a:ext cx="1828800" cy="868680"/>
          </a:xfrm>
          <a:prstGeom prst="rect">
            <a:avLst/>
          </a:prstGeom>
          <a:noFill/>
        </p:spPr>
        <p:txBody>
          <a:bodyPr wrap="square" lIns="45720" rIns="45720" tIns="27432" bIns="27432" anchor="t">
            <a:spAutoFit/>
          </a:bodyPr>
          <a:lstStyle/>
          <a:p>
            <a:pPr algn="l"/>
            <a:r>
              <a:rPr sz="1350" b="0" i="0">
                <a:solidFill>
                  <a:srgbClr val="1C2430"/>
                </a:solidFill>
                <a:latin typeface="Calibri"/>
              </a:rPr>
              <a:t>existing gimbal, camera, Pi, laser</a:t>
            </a:r>
          </a:p>
        </p:txBody>
      </p:sp>
      <p:pic>
        <p:nvPicPr>
          <p:cNvPr id="40" name="Picture" descr="Camera head on a tripod, laser facing right"/>
          <p:cNvPicPr>
            <a:picLocks noChangeAspect="1"/>
          </p:cNvPicPr>
          <p:nvPr/>
        </p:nvPicPr>
        <p:blipFill>
          <a:blip r:embed="rId3"/>
          <a:stretch>
            <a:fillRect/>
          </a:stretch>
        </p:blipFill>
        <p:spPr>
          <a:xfrm>
            <a:off x="2921706" y="5074920"/>
            <a:ext cx="648826" cy="1097280"/>
          </a:xfrm>
          <a:prstGeom prst="rect">
            <a:avLst/>
          </a:prstGeom>
        </p:spPr>
      </p:pic>
      <p:sp>
        <p:nvSpPr>
          <p:cNvPr id="41" name="Rounded Rectangle 40"/>
          <p:cNvSpPr/>
          <p:nvPr/>
        </p:nvSpPr>
        <p:spPr>
          <a:xfrm>
            <a:off x="4572000" y="4892040"/>
            <a:ext cx="3108960" cy="1371600"/>
          </a:xfrm>
          <a:prstGeom prst="roundRect">
            <a:avLst>
              <a:gd name="adj" fmla="val 8000"/>
            </a:avLst>
          </a:prstGeom>
          <a:solidFill>
            <a:srgbClr val="E9E9E9"/>
          </a:solidFill>
          <a:ln w="9525">
            <a:solidFill>
              <a:srgbClr val="9A9A9A"/>
            </a:solidFill>
          </a:ln>
        </p:spPr>
        <p:txBody>
          <a:bodyPr rtlCol="0" anchor="ctr"/>
          <a:lstStyle/>
          <a:p>
            <a:pPr algn="ctr"/>
          </a:p>
        </p:txBody>
      </p:sp>
      <p:sp>
        <p:nvSpPr>
          <p:cNvPr id="42" name="TextBox 41"/>
          <p:cNvSpPr txBox="1"/>
          <p:nvPr/>
        </p:nvSpPr>
        <p:spPr>
          <a:xfrm>
            <a:off x="4709160" y="4937760"/>
            <a:ext cx="1828800" cy="365760"/>
          </a:xfrm>
          <a:prstGeom prst="rect">
            <a:avLst/>
          </a:prstGeom>
          <a:noFill/>
        </p:spPr>
        <p:txBody>
          <a:bodyPr wrap="square" lIns="45720" rIns="45720" tIns="27432" bIns="27432" anchor="t">
            <a:spAutoFit/>
          </a:bodyPr>
          <a:lstStyle/>
          <a:p>
            <a:pPr algn="l"/>
            <a:r>
              <a:rPr sz="1800" b="1" i="0">
                <a:solidFill>
                  <a:srgbClr val="C55A11"/>
                </a:solidFill>
                <a:latin typeface="Calibri"/>
              </a:rPr>
              <a:t>Relay</a:t>
            </a:r>
          </a:p>
        </p:txBody>
      </p:sp>
      <p:sp>
        <p:nvSpPr>
          <p:cNvPr id="43" name="TextBox 42"/>
          <p:cNvSpPr txBox="1"/>
          <p:nvPr/>
        </p:nvSpPr>
        <p:spPr>
          <a:xfrm>
            <a:off x="4709160" y="5349240"/>
            <a:ext cx="1828800" cy="868680"/>
          </a:xfrm>
          <a:prstGeom prst="rect">
            <a:avLst/>
          </a:prstGeom>
          <a:noFill/>
        </p:spPr>
        <p:txBody>
          <a:bodyPr wrap="square" lIns="45720" rIns="45720" tIns="27432" bIns="27432" anchor="t">
            <a:spAutoFit/>
          </a:bodyPr>
          <a:lstStyle/>
          <a:p>
            <a:pPr algn="l"/>
            <a:r>
              <a:rPr sz="1350" b="0" i="0">
                <a:solidFill>
                  <a:srgbClr val="1C2430"/>
                </a:solidFill>
                <a:latin typeface="Calibri"/>
              </a:rPr>
              <a:t>the one new node</a:t>
            </a:r>
          </a:p>
        </p:txBody>
      </p:sp>
      <p:pic>
        <p:nvPicPr>
          <p:cNvPr id="44" name="Picture" descr="Camera head on a tripod, laser facing left"/>
          <p:cNvPicPr>
            <a:picLocks noChangeAspect="1"/>
          </p:cNvPicPr>
          <p:nvPr/>
        </p:nvPicPr>
        <p:blipFill>
          <a:blip r:embed="rId4"/>
          <a:stretch>
            <a:fillRect/>
          </a:stretch>
        </p:blipFill>
        <p:spPr>
          <a:xfrm>
            <a:off x="6018541" y="5074920"/>
            <a:ext cx="801491" cy="1097280"/>
          </a:xfrm>
          <a:prstGeom prst="rect">
            <a:avLst/>
          </a:prstGeom>
        </p:spPr>
      </p:pic>
      <p:pic>
        <p:nvPicPr>
          <p:cNvPr id="45" name="Picture" descr="Camera head on a tripod, laser facing right"/>
          <p:cNvPicPr>
            <a:picLocks noChangeAspect="1"/>
          </p:cNvPicPr>
          <p:nvPr/>
        </p:nvPicPr>
        <p:blipFill>
          <a:blip r:embed="rId3"/>
          <a:stretch>
            <a:fillRect/>
          </a:stretch>
        </p:blipFill>
        <p:spPr>
          <a:xfrm>
            <a:off x="6865752" y="5074920"/>
            <a:ext cx="648826" cy="1097280"/>
          </a:xfrm>
          <a:prstGeom prst="rect">
            <a:avLst/>
          </a:prstGeom>
        </p:spPr>
      </p:pic>
      <p:sp>
        <p:nvSpPr>
          <p:cNvPr id="46" name="Rounded Rectangle 45"/>
          <p:cNvSpPr/>
          <p:nvPr/>
        </p:nvSpPr>
        <p:spPr>
          <a:xfrm>
            <a:off x="8412480" y="4892040"/>
            <a:ext cx="3108960" cy="1371600"/>
          </a:xfrm>
          <a:prstGeom prst="roundRect">
            <a:avLst>
              <a:gd name="adj" fmla="val 8000"/>
            </a:avLst>
          </a:prstGeom>
          <a:solidFill>
            <a:srgbClr val="E9E9E9"/>
          </a:solidFill>
          <a:ln w="9525">
            <a:solidFill>
              <a:srgbClr val="9A9A9A"/>
            </a:solidFill>
          </a:ln>
        </p:spPr>
        <p:txBody>
          <a:bodyPr rtlCol="0" anchor="ctr"/>
          <a:lstStyle/>
          <a:p>
            <a:pPr algn="ctr"/>
          </a:p>
        </p:txBody>
      </p:sp>
      <p:sp>
        <p:nvSpPr>
          <p:cNvPr id="47" name="TextBox 46"/>
          <p:cNvSpPr txBox="1"/>
          <p:nvPr/>
        </p:nvSpPr>
        <p:spPr>
          <a:xfrm>
            <a:off x="8549640" y="4937760"/>
            <a:ext cx="1828800" cy="365760"/>
          </a:xfrm>
          <a:prstGeom prst="rect">
            <a:avLst/>
          </a:prstGeom>
          <a:noFill/>
        </p:spPr>
        <p:txBody>
          <a:bodyPr wrap="square" lIns="45720" rIns="45720" tIns="27432" bIns="27432" anchor="t">
            <a:spAutoFit/>
          </a:bodyPr>
          <a:lstStyle/>
          <a:p>
            <a:pPr algn="l"/>
            <a:r>
              <a:rPr sz="1800" b="1" i="0">
                <a:solidFill>
                  <a:srgbClr val="1B3A4B"/>
                </a:solidFill>
                <a:latin typeface="Calibri"/>
              </a:rPr>
              <a:t>Base</a:t>
            </a:r>
          </a:p>
        </p:txBody>
      </p:sp>
      <p:sp>
        <p:nvSpPr>
          <p:cNvPr id="48" name="TextBox 47"/>
          <p:cNvSpPr txBox="1"/>
          <p:nvPr/>
        </p:nvSpPr>
        <p:spPr>
          <a:xfrm>
            <a:off x="8549640" y="5349240"/>
            <a:ext cx="1828800" cy="868680"/>
          </a:xfrm>
          <a:prstGeom prst="rect">
            <a:avLst/>
          </a:prstGeom>
          <a:noFill/>
        </p:spPr>
        <p:txBody>
          <a:bodyPr wrap="square" lIns="45720" rIns="45720" tIns="27432" bIns="27432" anchor="t">
            <a:spAutoFit/>
          </a:bodyPr>
          <a:lstStyle/>
          <a:p>
            <a:pPr algn="l"/>
            <a:r>
              <a:rPr sz="1350" b="0" i="0">
                <a:solidFill>
                  <a:srgbClr val="1C2430"/>
                </a:solidFill>
                <a:latin typeface="Calibri"/>
              </a:rPr>
              <a:t>receiver, Pi, HDMI screen</a:t>
            </a:r>
          </a:p>
        </p:txBody>
      </p:sp>
      <p:pic>
        <p:nvPicPr>
          <p:cNvPr id="49" name="Picture" descr="Monitoring dashboard"/>
          <p:cNvPicPr>
            <a:picLocks noChangeAspect="1"/>
          </p:cNvPicPr>
          <p:nvPr/>
        </p:nvPicPr>
        <p:blipFill>
          <a:blip r:embed="rId5"/>
          <a:stretch>
            <a:fillRect/>
          </a:stretch>
        </p:blipFill>
        <p:spPr>
          <a:xfrm>
            <a:off x="10561319" y="5212080"/>
            <a:ext cx="868680" cy="699456"/>
          </a:xfrm>
          <a:prstGeom prst="rect">
            <a:avLst/>
          </a:prstGeom>
        </p:spPr>
      </p:pic>
      <p:sp>
        <p:nvSpPr>
          <p:cNvPr id="50" name="Rectangle 49"/>
          <p:cNvSpPr/>
          <p:nvPr/>
        </p:nvSpPr>
        <p:spPr>
          <a:xfrm>
            <a:off x="3858768" y="5504688"/>
            <a:ext cx="694944" cy="146304"/>
          </a:xfrm>
          <a:prstGeom prst="rect">
            <a:avLst/>
          </a:prstGeom>
          <a:solidFill>
            <a:srgbClr val="ED7D31">
              <a:alpha val="28000"/>
            </a:srgbClr>
          </a:solidFill>
          <a:ln>
            <a:noFill/>
          </a:ln>
        </p:spPr>
        <p:txBody>
          <a:bodyPr rtlCol="0" anchor="ctr"/>
          <a:lstStyle/>
          <a:p>
            <a:pPr algn="ctr"/>
          </a:p>
        </p:txBody>
      </p:sp>
      <p:sp>
        <p:nvSpPr>
          <p:cNvPr id="51" name="Rectangle 50"/>
          <p:cNvSpPr/>
          <p:nvPr/>
        </p:nvSpPr>
        <p:spPr>
          <a:xfrm>
            <a:off x="3858768" y="5554979"/>
            <a:ext cx="694944" cy="45720"/>
          </a:xfrm>
          <a:prstGeom prst="rect">
            <a:avLst/>
          </a:prstGeom>
          <a:solidFill>
            <a:srgbClr val="ED7D31"/>
          </a:solidFill>
          <a:ln>
            <a:noFill/>
          </a:ln>
        </p:spPr>
        <p:txBody>
          <a:bodyPr rtlCol="0" anchor="ctr"/>
          <a:lstStyle/>
          <a:p>
            <a:pPr algn="ctr"/>
          </a:p>
        </p:txBody>
      </p:sp>
      <p:sp>
        <p:nvSpPr>
          <p:cNvPr id="52" name="TextBox 51"/>
          <p:cNvSpPr txBox="1"/>
          <p:nvPr/>
        </p:nvSpPr>
        <p:spPr>
          <a:xfrm>
            <a:off x="3749040" y="5230368"/>
            <a:ext cx="914400" cy="274320"/>
          </a:xfrm>
          <a:prstGeom prst="rect">
            <a:avLst/>
          </a:prstGeom>
          <a:noFill/>
        </p:spPr>
        <p:txBody>
          <a:bodyPr wrap="square" lIns="45720" rIns="45720" tIns="27432" bIns="27432" anchor="t">
            <a:spAutoFit/>
          </a:bodyPr>
          <a:lstStyle/>
          <a:p>
            <a:pPr algn="ctr"/>
            <a:r>
              <a:rPr sz="1300" b="1" i="0">
                <a:solidFill>
                  <a:srgbClr val="C55A11"/>
                </a:solidFill>
                <a:latin typeface="Calibri"/>
              </a:rPr>
              <a:t>2–5 m</a:t>
            </a:r>
          </a:p>
        </p:txBody>
      </p:sp>
      <p:sp>
        <p:nvSpPr>
          <p:cNvPr id="53" name="Rectangle 52"/>
          <p:cNvSpPr/>
          <p:nvPr/>
        </p:nvSpPr>
        <p:spPr>
          <a:xfrm>
            <a:off x="7699248" y="5504688"/>
            <a:ext cx="694943" cy="146304"/>
          </a:xfrm>
          <a:prstGeom prst="rect">
            <a:avLst/>
          </a:prstGeom>
          <a:solidFill>
            <a:srgbClr val="ED7D31">
              <a:alpha val="28000"/>
            </a:srgbClr>
          </a:solidFill>
          <a:ln>
            <a:noFill/>
          </a:ln>
        </p:spPr>
        <p:txBody>
          <a:bodyPr rtlCol="0" anchor="ctr"/>
          <a:lstStyle/>
          <a:p>
            <a:pPr algn="ctr"/>
          </a:p>
        </p:txBody>
      </p:sp>
      <p:sp>
        <p:nvSpPr>
          <p:cNvPr id="54" name="Rectangle 53"/>
          <p:cNvSpPr/>
          <p:nvPr/>
        </p:nvSpPr>
        <p:spPr>
          <a:xfrm>
            <a:off x="7699248" y="5554979"/>
            <a:ext cx="694943" cy="45720"/>
          </a:xfrm>
          <a:prstGeom prst="rect">
            <a:avLst/>
          </a:prstGeom>
          <a:solidFill>
            <a:srgbClr val="ED7D31"/>
          </a:solidFill>
          <a:ln>
            <a:noFill/>
          </a:ln>
        </p:spPr>
        <p:txBody>
          <a:bodyPr rtlCol="0" anchor="ctr"/>
          <a:lstStyle/>
          <a:p>
            <a:pPr algn="ctr"/>
          </a:p>
        </p:txBody>
      </p:sp>
      <p:sp>
        <p:nvSpPr>
          <p:cNvPr id="55" name="TextBox 54"/>
          <p:cNvSpPr txBox="1"/>
          <p:nvPr/>
        </p:nvSpPr>
        <p:spPr>
          <a:xfrm>
            <a:off x="7589520" y="5230368"/>
            <a:ext cx="914400" cy="274320"/>
          </a:xfrm>
          <a:prstGeom prst="rect">
            <a:avLst/>
          </a:prstGeom>
          <a:noFill/>
        </p:spPr>
        <p:txBody>
          <a:bodyPr wrap="square" lIns="45720" rIns="45720" tIns="27432" bIns="27432" anchor="t">
            <a:spAutoFit/>
          </a:bodyPr>
          <a:lstStyle/>
          <a:p>
            <a:pPr algn="ctr"/>
            <a:r>
              <a:rPr sz="1300" b="1" i="0">
                <a:solidFill>
                  <a:srgbClr val="C55A11"/>
                </a:solidFill>
                <a:latin typeface="Calibri"/>
              </a:rPr>
              <a:t>2–5 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4" name="Section"/>
          <p:cNvSpPr txBox="1"/>
          <p:nvPr/>
        </p:nvSpPr>
        <p:spPr>
          <a:xfrm>
            <a:off x="457200" y="182880"/>
            <a:ext cx="11247120" cy="256032"/>
          </a:xfrm>
          <a:prstGeom prst="rect">
            <a:avLst/>
          </a:prstGeom>
          <a:noFill/>
        </p:spPr>
        <p:txBody>
          <a:bodyPr wrap="square" lIns="45720" rIns="45720" tIns="27432" bIns="27432" anchor="t">
            <a:spAutoFit/>
          </a:bodyPr>
          <a:lstStyle/>
          <a:p>
            <a:pPr algn="l"/>
            <a:r>
              <a:rPr sz="1300" b="1" i="0">
                <a:solidFill>
                  <a:srgbClr val="B5740A"/>
                </a:solidFill>
                <a:latin typeface="Calibri"/>
              </a:rPr>
              <a:t>04     ·     TECHNICAL FEASIBILITY AND METHODOLOGY</a:t>
            </a:r>
          </a:p>
        </p:txBody>
      </p:sp>
      <p:sp>
        <p:nvSpPr>
          <p:cNvPr id="5" name="Title"/>
          <p:cNvSpPr txBox="1"/>
          <p:nvPr/>
        </p:nvSpPr>
        <p:spPr>
          <a:xfrm>
            <a:off x="438912" y="420624"/>
            <a:ext cx="11338560" cy="502920"/>
          </a:xfrm>
          <a:prstGeom prst="rect">
            <a:avLst/>
          </a:prstGeom>
          <a:noFill/>
        </p:spPr>
        <p:txBody>
          <a:bodyPr wrap="square" lIns="45720" rIns="45720" tIns="27432" bIns="27432" anchor="t">
            <a:spAutoFit/>
          </a:bodyPr>
          <a:lstStyle/>
          <a:p>
            <a:pPr algn="l"/>
            <a:r>
              <a:rPr sz="2800" b="1" i="0">
                <a:solidFill>
                  <a:srgbClr val="1B3A4B"/>
                </a:solidFill>
                <a:latin typeface="Calibri"/>
              </a:rPr>
              <a:t>Work plan: 24 months</a:t>
            </a:r>
          </a:p>
        </p:txBody>
      </p:sp>
      <p:sp>
        <p:nvSpPr>
          <p:cNvPr id="6" name="Footer rule"/>
          <p:cNvSpPr/>
          <p:nvPr/>
        </p:nvSpPr>
        <p:spPr>
          <a:xfrm>
            <a:off x="457200" y="6565392"/>
            <a:ext cx="11292840" cy="9144"/>
          </a:xfrm>
          <a:prstGeom prst="rect">
            <a:avLst/>
          </a:prstGeom>
          <a:solidFill>
            <a:srgbClr val="D0D0D0"/>
          </a:solidFill>
          <a:ln>
            <a:noFill/>
          </a:ln>
        </p:spPr>
        <p:txBody>
          <a:bodyPr rtlCol="0" anchor="ctr"/>
          <a:lstStyle/>
          <a:p>
            <a:pPr algn="ctr"/>
          </a:p>
        </p:txBody>
      </p:sp>
      <p:sp>
        <p:nvSpPr>
          <p:cNvPr id="7"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Work plan</a:t>
            </a:r>
          </a:p>
        </p:txBody>
      </p:sp>
      <p:sp>
        <p:nvSpPr>
          <p:cNvPr id="8"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9  /  15</a:t>
            </a:r>
          </a:p>
        </p:txBody>
      </p:sp>
      <p:sp>
        <p:nvSpPr>
          <p:cNvPr id="9" name="Rectangle 8"/>
          <p:cNvSpPr/>
          <p:nvPr/>
        </p:nvSpPr>
        <p:spPr>
          <a:xfrm>
            <a:off x="4389120" y="1051560"/>
            <a:ext cx="3653028" cy="274320"/>
          </a:xfrm>
          <a:prstGeom prst="rect">
            <a:avLst/>
          </a:prstGeom>
          <a:solidFill>
            <a:srgbClr val="0071C1"/>
          </a:solidFill>
          <a:ln>
            <a:noFill/>
          </a:ln>
        </p:spPr>
        <p:txBody>
          <a:bodyPr rtlCol="0" anchor="ctr"/>
          <a:lstStyle/>
          <a:p>
            <a:pPr algn="ctr"/>
          </a:p>
        </p:txBody>
      </p:sp>
      <p:sp>
        <p:nvSpPr>
          <p:cNvPr id="10" name="Rectangle 9"/>
          <p:cNvSpPr/>
          <p:nvPr/>
        </p:nvSpPr>
        <p:spPr>
          <a:xfrm>
            <a:off x="8069579" y="1051560"/>
            <a:ext cx="3680460" cy="274320"/>
          </a:xfrm>
          <a:prstGeom prst="rect">
            <a:avLst/>
          </a:prstGeom>
          <a:solidFill>
            <a:srgbClr val="ED7D31"/>
          </a:solidFill>
          <a:ln>
            <a:noFill/>
          </a:ln>
        </p:spPr>
        <p:txBody>
          <a:bodyPr rtlCol="0" anchor="ctr"/>
          <a:lstStyle/>
          <a:p>
            <a:pPr algn="ctr"/>
          </a:p>
        </p:txBody>
      </p:sp>
      <p:sp>
        <p:nvSpPr>
          <p:cNvPr id="11" name="TextBox 10"/>
          <p:cNvSpPr txBox="1"/>
          <p:nvPr/>
        </p:nvSpPr>
        <p:spPr>
          <a:xfrm>
            <a:off x="4389120" y="1051560"/>
            <a:ext cx="3680460" cy="274320"/>
          </a:xfrm>
          <a:prstGeom prst="rect">
            <a:avLst/>
          </a:prstGeom>
          <a:noFill/>
        </p:spPr>
        <p:txBody>
          <a:bodyPr wrap="square" lIns="45720" rIns="45720" tIns="27432" bIns="27432" anchor="ctr">
            <a:spAutoFit/>
          </a:bodyPr>
          <a:lstStyle/>
          <a:p>
            <a:pPr algn="ctr"/>
            <a:r>
              <a:rPr sz="1300" b="1" i="0">
                <a:solidFill>
                  <a:srgbClr val="FFFFFF"/>
                </a:solidFill>
                <a:latin typeface="Calibri"/>
              </a:rPr>
              <a:t>Year 1</a:t>
            </a:r>
          </a:p>
        </p:txBody>
      </p:sp>
      <p:sp>
        <p:nvSpPr>
          <p:cNvPr id="12" name="TextBox 11"/>
          <p:cNvSpPr txBox="1"/>
          <p:nvPr/>
        </p:nvSpPr>
        <p:spPr>
          <a:xfrm>
            <a:off x="8069579" y="1051560"/>
            <a:ext cx="3680460" cy="274320"/>
          </a:xfrm>
          <a:prstGeom prst="rect">
            <a:avLst/>
          </a:prstGeom>
          <a:noFill/>
        </p:spPr>
        <p:txBody>
          <a:bodyPr wrap="square" lIns="45720" rIns="45720" tIns="27432" bIns="27432" anchor="ctr">
            <a:spAutoFit/>
          </a:bodyPr>
          <a:lstStyle/>
          <a:p>
            <a:pPr algn="ctr"/>
            <a:r>
              <a:rPr sz="1300" b="1" i="0">
                <a:solidFill>
                  <a:srgbClr val="FFFFFF"/>
                </a:solidFill>
                <a:latin typeface="Calibri"/>
              </a:rPr>
              <a:t>Year 2</a:t>
            </a:r>
          </a:p>
        </p:txBody>
      </p:sp>
      <p:sp>
        <p:nvSpPr>
          <p:cNvPr id="13" name="TextBox 12"/>
          <p:cNvSpPr txBox="1"/>
          <p:nvPr/>
        </p:nvSpPr>
        <p:spPr>
          <a:xfrm>
            <a:off x="437083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a:t>
            </a:r>
          </a:p>
        </p:txBody>
      </p:sp>
      <p:sp>
        <p:nvSpPr>
          <p:cNvPr id="14" name="TextBox 13"/>
          <p:cNvSpPr txBox="1"/>
          <p:nvPr/>
        </p:nvSpPr>
        <p:spPr>
          <a:xfrm>
            <a:off x="467753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2</a:t>
            </a:r>
          </a:p>
        </p:txBody>
      </p:sp>
      <p:sp>
        <p:nvSpPr>
          <p:cNvPr id="15" name="TextBox 14"/>
          <p:cNvSpPr txBox="1"/>
          <p:nvPr/>
        </p:nvSpPr>
        <p:spPr>
          <a:xfrm>
            <a:off x="498424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3</a:t>
            </a:r>
          </a:p>
        </p:txBody>
      </p:sp>
      <p:sp>
        <p:nvSpPr>
          <p:cNvPr id="16" name="TextBox 15"/>
          <p:cNvSpPr txBox="1"/>
          <p:nvPr/>
        </p:nvSpPr>
        <p:spPr>
          <a:xfrm>
            <a:off x="529094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4</a:t>
            </a:r>
          </a:p>
        </p:txBody>
      </p:sp>
      <p:sp>
        <p:nvSpPr>
          <p:cNvPr id="17" name="TextBox 16"/>
          <p:cNvSpPr txBox="1"/>
          <p:nvPr/>
        </p:nvSpPr>
        <p:spPr>
          <a:xfrm>
            <a:off x="559765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5</a:t>
            </a:r>
          </a:p>
        </p:txBody>
      </p:sp>
      <p:sp>
        <p:nvSpPr>
          <p:cNvPr id="18" name="TextBox 17"/>
          <p:cNvSpPr txBox="1"/>
          <p:nvPr/>
        </p:nvSpPr>
        <p:spPr>
          <a:xfrm>
            <a:off x="590435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6</a:t>
            </a:r>
          </a:p>
        </p:txBody>
      </p:sp>
      <p:sp>
        <p:nvSpPr>
          <p:cNvPr id="19" name="TextBox 18"/>
          <p:cNvSpPr txBox="1"/>
          <p:nvPr/>
        </p:nvSpPr>
        <p:spPr>
          <a:xfrm>
            <a:off x="621106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7</a:t>
            </a:r>
          </a:p>
        </p:txBody>
      </p:sp>
      <p:sp>
        <p:nvSpPr>
          <p:cNvPr id="20" name="TextBox 19"/>
          <p:cNvSpPr txBox="1"/>
          <p:nvPr/>
        </p:nvSpPr>
        <p:spPr>
          <a:xfrm>
            <a:off x="651776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8</a:t>
            </a:r>
          </a:p>
        </p:txBody>
      </p:sp>
      <p:sp>
        <p:nvSpPr>
          <p:cNvPr id="21" name="TextBox 20"/>
          <p:cNvSpPr txBox="1"/>
          <p:nvPr/>
        </p:nvSpPr>
        <p:spPr>
          <a:xfrm>
            <a:off x="682447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9</a:t>
            </a:r>
          </a:p>
        </p:txBody>
      </p:sp>
      <p:sp>
        <p:nvSpPr>
          <p:cNvPr id="22" name="TextBox 21"/>
          <p:cNvSpPr txBox="1"/>
          <p:nvPr/>
        </p:nvSpPr>
        <p:spPr>
          <a:xfrm>
            <a:off x="713117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10</a:t>
            </a:r>
          </a:p>
        </p:txBody>
      </p:sp>
      <p:sp>
        <p:nvSpPr>
          <p:cNvPr id="23" name="TextBox 22"/>
          <p:cNvSpPr txBox="1"/>
          <p:nvPr/>
        </p:nvSpPr>
        <p:spPr>
          <a:xfrm>
            <a:off x="743788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11</a:t>
            </a:r>
          </a:p>
        </p:txBody>
      </p:sp>
      <p:sp>
        <p:nvSpPr>
          <p:cNvPr id="24" name="TextBox 23"/>
          <p:cNvSpPr txBox="1"/>
          <p:nvPr/>
        </p:nvSpPr>
        <p:spPr>
          <a:xfrm>
            <a:off x="774458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12</a:t>
            </a:r>
          </a:p>
        </p:txBody>
      </p:sp>
      <p:sp>
        <p:nvSpPr>
          <p:cNvPr id="25" name="TextBox 24"/>
          <p:cNvSpPr txBox="1"/>
          <p:nvPr/>
        </p:nvSpPr>
        <p:spPr>
          <a:xfrm>
            <a:off x="805129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13</a:t>
            </a:r>
          </a:p>
        </p:txBody>
      </p:sp>
      <p:sp>
        <p:nvSpPr>
          <p:cNvPr id="26" name="TextBox 25"/>
          <p:cNvSpPr txBox="1"/>
          <p:nvPr/>
        </p:nvSpPr>
        <p:spPr>
          <a:xfrm>
            <a:off x="835799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14</a:t>
            </a:r>
          </a:p>
        </p:txBody>
      </p:sp>
      <p:sp>
        <p:nvSpPr>
          <p:cNvPr id="27" name="TextBox 26"/>
          <p:cNvSpPr txBox="1"/>
          <p:nvPr/>
        </p:nvSpPr>
        <p:spPr>
          <a:xfrm>
            <a:off x="866470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15</a:t>
            </a:r>
          </a:p>
        </p:txBody>
      </p:sp>
      <p:sp>
        <p:nvSpPr>
          <p:cNvPr id="28" name="TextBox 27"/>
          <p:cNvSpPr txBox="1"/>
          <p:nvPr/>
        </p:nvSpPr>
        <p:spPr>
          <a:xfrm>
            <a:off x="897140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16</a:t>
            </a:r>
          </a:p>
        </p:txBody>
      </p:sp>
      <p:sp>
        <p:nvSpPr>
          <p:cNvPr id="29" name="TextBox 28"/>
          <p:cNvSpPr txBox="1"/>
          <p:nvPr/>
        </p:nvSpPr>
        <p:spPr>
          <a:xfrm>
            <a:off x="927811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17</a:t>
            </a:r>
          </a:p>
        </p:txBody>
      </p:sp>
      <p:sp>
        <p:nvSpPr>
          <p:cNvPr id="30" name="TextBox 29"/>
          <p:cNvSpPr txBox="1"/>
          <p:nvPr/>
        </p:nvSpPr>
        <p:spPr>
          <a:xfrm>
            <a:off x="958481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18</a:t>
            </a:r>
          </a:p>
        </p:txBody>
      </p:sp>
      <p:sp>
        <p:nvSpPr>
          <p:cNvPr id="31" name="TextBox 30"/>
          <p:cNvSpPr txBox="1"/>
          <p:nvPr/>
        </p:nvSpPr>
        <p:spPr>
          <a:xfrm>
            <a:off x="989152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19</a:t>
            </a:r>
          </a:p>
        </p:txBody>
      </p:sp>
      <p:sp>
        <p:nvSpPr>
          <p:cNvPr id="32" name="TextBox 31"/>
          <p:cNvSpPr txBox="1"/>
          <p:nvPr/>
        </p:nvSpPr>
        <p:spPr>
          <a:xfrm>
            <a:off x="1019822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20</a:t>
            </a:r>
          </a:p>
        </p:txBody>
      </p:sp>
      <p:sp>
        <p:nvSpPr>
          <p:cNvPr id="33" name="TextBox 32"/>
          <p:cNvSpPr txBox="1"/>
          <p:nvPr/>
        </p:nvSpPr>
        <p:spPr>
          <a:xfrm>
            <a:off x="1050493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21</a:t>
            </a:r>
          </a:p>
        </p:txBody>
      </p:sp>
      <p:sp>
        <p:nvSpPr>
          <p:cNvPr id="34" name="TextBox 33"/>
          <p:cNvSpPr txBox="1"/>
          <p:nvPr/>
        </p:nvSpPr>
        <p:spPr>
          <a:xfrm>
            <a:off x="1081163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22</a:t>
            </a:r>
          </a:p>
        </p:txBody>
      </p:sp>
      <p:sp>
        <p:nvSpPr>
          <p:cNvPr id="35" name="TextBox 34"/>
          <p:cNvSpPr txBox="1"/>
          <p:nvPr/>
        </p:nvSpPr>
        <p:spPr>
          <a:xfrm>
            <a:off x="1111834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23</a:t>
            </a:r>
          </a:p>
        </p:txBody>
      </p:sp>
      <p:sp>
        <p:nvSpPr>
          <p:cNvPr id="36" name="TextBox 35"/>
          <p:cNvSpPr txBox="1"/>
          <p:nvPr/>
        </p:nvSpPr>
        <p:spPr>
          <a:xfrm>
            <a:off x="1142504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24</a:t>
            </a:r>
          </a:p>
        </p:txBody>
      </p:sp>
      <p:sp>
        <p:nvSpPr>
          <p:cNvPr id="37" name="Rectangle 36"/>
          <p:cNvSpPr/>
          <p:nvPr/>
        </p:nvSpPr>
        <p:spPr>
          <a:xfrm>
            <a:off x="457200" y="1673352"/>
            <a:ext cx="11292840" cy="420624"/>
          </a:xfrm>
          <a:prstGeom prst="rect">
            <a:avLst/>
          </a:prstGeom>
          <a:solidFill>
            <a:srgbClr val="E9E9E9"/>
          </a:solidFill>
          <a:ln>
            <a:noFill/>
          </a:ln>
        </p:spPr>
        <p:txBody>
          <a:bodyPr rtlCol="0" anchor="ctr"/>
          <a:lstStyle/>
          <a:p>
            <a:pPr algn="ctr"/>
          </a:p>
        </p:txBody>
      </p:sp>
      <p:sp>
        <p:nvSpPr>
          <p:cNvPr id="38" name="Oval 37"/>
          <p:cNvSpPr/>
          <p:nvPr/>
        </p:nvSpPr>
        <p:spPr>
          <a:xfrm>
            <a:off x="530352" y="1719072"/>
            <a:ext cx="329184" cy="329184"/>
          </a:xfrm>
          <a:prstGeom prst="ellipse">
            <a:avLst/>
          </a:prstGeom>
          <a:solidFill>
            <a:srgbClr val="0071C1"/>
          </a:solidFill>
          <a:ln>
            <a:noFill/>
          </a:ln>
        </p:spPr>
        <p:txBody>
          <a:bodyPr rtlCol="0" anchor="ctr" lIns="36576" rIns="36576" tIns="0" bIns="0" wrap="square"/>
          <a:lstStyle/>
          <a:p>
            <a:pPr algn="ctr"/>
            <a:r>
              <a:rPr sz="1300" b="1">
                <a:solidFill>
                  <a:srgbClr val="FFFFFF"/>
                </a:solidFill>
                <a:latin typeface="Calibri"/>
              </a:rPr>
              <a:t>1</a:t>
            </a:r>
          </a:p>
        </p:txBody>
      </p:sp>
      <p:sp>
        <p:nvSpPr>
          <p:cNvPr id="39" name="TextBox 38"/>
          <p:cNvSpPr txBox="1"/>
          <p:nvPr/>
        </p:nvSpPr>
        <p:spPr>
          <a:xfrm>
            <a:off x="987552" y="1673352"/>
            <a:ext cx="3383279" cy="420624"/>
          </a:xfrm>
          <a:prstGeom prst="rect">
            <a:avLst/>
          </a:prstGeom>
          <a:noFill/>
        </p:spPr>
        <p:txBody>
          <a:bodyPr wrap="square" lIns="45720" rIns="45720" tIns="27432" bIns="27432" anchor="ctr">
            <a:spAutoFit/>
          </a:bodyPr>
          <a:lstStyle/>
          <a:p>
            <a:pPr algn="l"/>
            <a:r>
              <a:rPr sz="1400" b="0" i="0">
                <a:solidFill>
                  <a:srgbClr val="1C2430"/>
                </a:solidFill>
                <a:latin typeface="Calibri"/>
              </a:rPr>
              <a:t>Procure FSO, IMU, LoRa, cameras, mounts</a:t>
            </a:r>
          </a:p>
        </p:txBody>
      </p:sp>
      <p:sp>
        <p:nvSpPr>
          <p:cNvPr id="40" name="Rounded Rectangle 39"/>
          <p:cNvSpPr/>
          <p:nvPr/>
        </p:nvSpPr>
        <p:spPr>
          <a:xfrm>
            <a:off x="4407407" y="1764792"/>
            <a:ext cx="883539" cy="237744"/>
          </a:xfrm>
          <a:prstGeom prst="roundRect">
            <a:avLst>
              <a:gd name="adj" fmla="val 40000"/>
            </a:avLst>
          </a:prstGeom>
          <a:solidFill>
            <a:srgbClr val="0071C1"/>
          </a:solidFill>
          <a:ln>
            <a:noFill/>
          </a:ln>
        </p:spPr>
        <p:txBody>
          <a:bodyPr rtlCol="0" anchor="ctr"/>
          <a:lstStyle/>
          <a:p>
            <a:pPr algn="ctr"/>
          </a:p>
        </p:txBody>
      </p:sp>
      <p:sp>
        <p:nvSpPr>
          <p:cNvPr id="41" name="Diamond 40"/>
          <p:cNvSpPr/>
          <p:nvPr/>
        </p:nvSpPr>
        <p:spPr>
          <a:xfrm>
            <a:off x="5034915" y="1755648"/>
            <a:ext cx="256032" cy="256032"/>
          </a:xfrm>
          <a:prstGeom prst="diamond">
            <a:avLst/>
          </a:prstGeom>
          <a:solidFill>
            <a:srgbClr val="FFFFFF"/>
          </a:solidFill>
          <a:ln w="25400">
            <a:solidFill>
              <a:srgbClr val="ED7D31"/>
            </a:solidFill>
          </a:ln>
        </p:spPr>
        <p:txBody>
          <a:bodyPr rtlCol="0" anchor="ctr"/>
          <a:lstStyle/>
          <a:p>
            <a:pPr algn="ctr"/>
          </a:p>
        </p:txBody>
      </p:sp>
      <p:sp>
        <p:nvSpPr>
          <p:cNvPr id="42" name="Oval 41"/>
          <p:cNvSpPr/>
          <p:nvPr/>
        </p:nvSpPr>
        <p:spPr>
          <a:xfrm>
            <a:off x="530352" y="2139696"/>
            <a:ext cx="329184" cy="329184"/>
          </a:xfrm>
          <a:prstGeom prst="ellipse">
            <a:avLst/>
          </a:prstGeom>
          <a:solidFill>
            <a:srgbClr val="0071C1"/>
          </a:solidFill>
          <a:ln>
            <a:noFill/>
          </a:ln>
        </p:spPr>
        <p:txBody>
          <a:bodyPr rtlCol="0" anchor="ctr" lIns="36576" rIns="36576" tIns="0" bIns="0" wrap="square"/>
          <a:lstStyle/>
          <a:p>
            <a:pPr algn="ctr"/>
            <a:r>
              <a:rPr sz="1300" b="1">
                <a:solidFill>
                  <a:srgbClr val="FFFFFF"/>
                </a:solidFill>
                <a:latin typeface="Calibri"/>
              </a:rPr>
              <a:t>2</a:t>
            </a:r>
          </a:p>
        </p:txBody>
      </p:sp>
      <p:sp>
        <p:nvSpPr>
          <p:cNvPr id="43" name="TextBox 42"/>
          <p:cNvSpPr txBox="1"/>
          <p:nvPr/>
        </p:nvSpPr>
        <p:spPr>
          <a:xfrm>
            <a:off x="987552" y="2093976"/>
            <a:ext cx="3383279" cy="420624"/>
          </a:xfrm>
          <a:prstGeom prst="rect">
            <a:avLst/>
          </a:prstGeom>
          <a:noFill/>
        </p:spPr>
        <p:txBody>
          <a:bodyPr wrap="square" lIns="45720" rIns="45720" tIns="27432" bIns="27432" anchor="ctr">
            <a:spAutoFit/>
          </a:bodyPr>
          <a:lstStyle/>
          <a:p>
            <a:pPr algn="l"/>
            <a:r>
              <a:rPr sz="1400" b="0" i="0">
                <a:solidFill>
                  <a:srgbClr val="1C2430"/>
                </a:solidFill>
                <a:latin typeface="Calibri"/>
              </a:rPr>
              <a:t>Architecture and communication framework</a:t>
            </a:r>
          </a:p>
        </p:txBody>
      </p:sp>
      <p:sp>
        <p:nvSpPr>
          <p:cNvPr id="44" name="Rounded Rectangle 43"/>
          <p:cNvSpPr/>
          <p:nvPr/>
        </p:nvSpPr>
        <p:spPr>
          <a:xfrm>
            <a:off x="5327523" y="2185416"/>
            <a:ext cx="1496949" cy="237744"/>
          </a:xfrm>
          <a:prstGeom prst="roundRect">
            <a:avLst>
              <a:gd name="adj" fmla="val 40000"/>
            </a:avLst>
          </a:prstGeom>
          <a:solidFill>
            <a:srgbClr val="0071C1"/>
          </a:solidFill>
          <a:ln>
            <a:noFill/>
          </a:ln>
        </p:spPr>
        <p:txBody>
          <a:bodyPr rtlCol="0" anchor="ctr"/>
          <a:lstStyle/>
          <a:p>
            <a:pPr algn="ctr"/>
          </a:p>
        </p:txBody>
      </p:sp>
      <p:sp>
        <p:nvSpPr>
          <p:cNvPr id="45" name="Diamond 44"/>
          <p:cNvSpPr/>
          <p:nvPr/>
        </p:nvSpPr>
        <p:spPr>
          <a:xfrm>
            <a:off x="6568440" y="2176272"/>
            <a:ext cx="256032" cy="256032"/>
          </a:xfrm>
          <a:prstGeom prst="diamond">
            <a:avLst/>
          </a:prstGeom>
          <a:solidFill>
            <a:srgbClr val="FFFFFF"/>
          </a:solidFill>
          <a:ln w="25400">
            <a:solidFill>
              <a:srgbClr val="ED7D31"/>
            </a:solidFill>
          </a:ln>
        </p:spPr>
        <p:txBody>
          <a:bodyPr rtlCol="0" anchor="ctr"/>
          <a:lstStyle/>
          <a:p>
            <a:pPr algn="ctr"/>
          </a:p>
        </p:txBody>
      </p:sp>
      <p:sp>
        <p:nvSpPr>
          <p:cNvPr id="46" name="Rectangle 45"/>
          <p:cNvSpPr/>
          <p:nvPr/>
        </p:nvSpPr>
        <p:spPr>
          <a:xfrm>
            <a:off x="457200" y="2514600"/>
            <a:ext cx="11292840" cy="420624"/>
          </a:xfrm>
          <a:prstGeom prst="rect">
            <a:avLst/>
          </a:prstGeom>
          <a:solidFill>
            <a:srgbClr val="E9E9E9"/>
          </a:solidFill>
          <a:ln>
            <a:noFill/>
          </a:ln>
        </p:spPr>
        <p:txBody>
          <a:bodyPr rtlCol="0" anchor="ctr"/>
          <a:lstStyle/>
          <a:p>
            <a:pPr algn="ctr"/>
          </a:p>
        </p:txBody>
      </p:sp>
      <p:sp>
        <p:nvSpPr>
          <p:cNvPr id="47" name="Oval 46"/>
          <p:cNvSpPr/>
          <p:nvPr/>
        </p:nvSpPr>
        <p:spPr>
          <a:xfrm>
            <a:off x="530352" y="2560320"/>
            <a:ext cx="329184" cy="329184"/>
          </a:xfrm>
          <a:prstGeom prst="ellipse">
            <a:avLst/>
          </a:prstGeom>
          <a:solidFill>
            <a:srgbClr val="0071C1"/>
          </a:solidFill>
          <a:ln>
            <a:noFill/>
          </a:ln>
        </p:spPr>
        <p:txBody>
          <a:bodyPr rtlCol="0" anchor="ctr" lIns="36576" rIns="36576" tIns="0" bIns="0" wrap="square"/>
          <a:lstStyle/>
          <a:p>
            <a:pPr algn="ctr"/>
            <a:r>
              <a:rPr sz="1300" b="1">
                <a:solidFill>
                  <a:srgbClr val="FFFFFF"/>
                </a:solidFill>
                <a:latin typeface="Calibri"/>
              </a:rPr>
              <a:t>3</a:t>
            </a:r>
          </a:p>
        </p:txBody>
      </p:sp>
      <p:sp>
        <p:nvSpPr>
          <p:cNvPr id="48" name="TextBox 47"/>
          <p:cNvSpPr txBox="1"/>
          <p:nvPr/>
        </p:nvSpPr>
        <p:spPr>
          <a:xfrm>
            <a:off x="987552" y="2514600"/>
            <a:ext cx="3383279" cy="420624"/>
          </a:xfrm>
          <a:prstGeom prst="rect">
            <a:avLst/>
          </a:prstGeom>
          <a:noFill/>
        </p:spPr>
        <p:txBody>
          <a:bodyPr wrap="square" lIns="45720" rIns="45720" tIns="27432" bIns="27432" anchor="ctr">
            <a:spAutoFit/>
          </a:bodyPr>
          <a:lstStyle/>
          <a:p>
            <a:pPr algn="l"/>
            <a:r>
              <a:rPr sz="1400" b="0" i="0">
                <a:solidFill>
                  <a:srgbClr val="1C2430"/>
                </a:solidFill>
                <a:latin typeface="Calibri"/>
              </a:rPr>
              <a:t>Auto-tracking on the mine node</a:t>
            </a:r>
          </a:p>
        </p:txBody>
      </p:sp>
      <p:sp>
        <p:nvSpPr>
          <p:cNvPr id="49" name="Rounded Rectangle 48"/>
          <p:cNvSpPr/>
          <p:nvPr/>
        </p:nvSpPr>
        <p:spPr>
          <a:xfrm>
            <a:off x="6554343" y="2606040"/>
            <a:ext cx="1190244" cy="237744"/>
          </a:xfrm>
          <a:prstGeom prst="roundRect">
            <a:avLst>
              <a:gd name="adj" fmla="val 40000"/>
            </a:avLst>
          </a:prstGeom>
          <a:solidFill>
            <a:srgbClr val="0071C1"/>
          </a:solidFill>
          <a:ln>
            <a:noFill/>
          </a:ln>
        </p:spPr>
        <p:txBody>
          <a:bodyPr rtlCol="0" anchor="ctr"/>
          <a:lstStyle/>
          <a:p>
            <a:pPr algn="ctr"/>
          </a:p>
        </p:txBody>
      </p:sp>
      <p:sp>
        <p:nvSpPr>
          <p:cNvPr id="50" name="Diamond 49"/>
          <p:cNvSpPr/>
          <p:nvPr/>
        </p:nvSpPr>
        <p:spPr>
          <a:xfrm>
            <a:off x="7488555" y="2596896"/>
            <a:ext cx="256032" cy="256032"/>
          </a:xfrm>
          <a:prstGeom prst="diamond">
            <a:avLst/>
          </a:prstGeom>
          <a:solidFill>
            <a:srgbClr val="FFFFFF"/>
          </a:solidFill>
          <a:ln w="25400">
            <a:solidFill>
              <a:srgbClr val="ED7D31"/>
            </a:solidFill>
          </a:ln>
        </p:spPr>
        <p:txBody>
          <a:bodyPr rtlCol="0" anchor="ctr"/>
          <a:lstStyle/>
          <a:p>
            <a:pPr algn="ctr"/>
          </a:p>
        </p:txBody>
      </p:sp>
      <p:sp>
        <p:nvSpPr>
          <p:cNvPr id="51" name="Oval 50"/>
          <p:cNvSpPr/>
          <p:nvPr/>
        </p:nvSpPr>
        <p:spPr>
          <a:xfrm>
            <a:off x="530352" y="2980944"/>
            <a:ext cx="329184" cy="329184"/>
          </a:xfrm>
          <a:prstGeom prst="ellipse">
            <a:avLst/>
          </a:prstGeom>
          <a:solidFill>
            <a:srgbClr val="0071C1"/>
          </a:solidFill>
          <a:ln>
            <a:noFill/>
          </a:ln>
        </p:spPr>
        <p:txBody>
          <a:bodyPr rtlCol="0" anchor="ctr" lIns="36576" rIns="36576" tIns="0" bIns="0" wrap="square"/>
          <a:lstStyle/>
          <a:p>
            <a:pPr algn="ctr"/>
            <a:r>
              <a:rPr sz="1300" b="1">
                <a:solidFill>
                  <a:srgbClr val="FFFFFF"/>
                </a:solidFill>
                <a:latin typeface="Calibri"/>
              </a:rPr>
              <a:t>4</a:t>
            </a:r>
          </a:p>
        </p:txBody>
      </p:sp>
      <p:sp>
        <p:nvSpPr>
          <p:cNvPr id="52" name="TextBox 51"/>
          <p:cNvSpPr txBox="1"/>
          <p:nvPr/>
        </p:nvSpPr>
        <p:spPr>
          <a:xfrm>
            <a:off x="987552" y="2935224"/>
            <a:ext cx="3383279" cy="420624"/>
          </a:xfrm>
          <a:prstGeom prst="rect">
            <a:avLst/>
          </a:prstGeom>
          <a:noFill/>
        </p:spPr>
        <p:txBody>
          <a:bodyPr wrap="square" lIns="45720" rIns="45720" tIns="27432" bIns="27432" anchor="ctr">
            <a:spAutoFit/>
          </a:bodyPr>
          <a:lstStyle/>
          <a:p>
            <a:pPr algn="l"/>
            <a:r>
              <a:rPr sz="1400" b="0" i="0">
                <a:solidFill>
                  <a:srgbClr val="1C2430"/>
                </a:solidFill>
                <a:latin typeface="Calibri"/>
              </a:rPr>
              <a:t>Integrate transmitter, relays, base</a:t>
            </a:r>
          </a:p>
        </p:txBody>
      </p:sp>
      <p:sp>
        <p:nvSpPr>
          <p:cNvPr id="53" name="Rounded Rectangle 52"/>
          <p:cNvSpPr/>
          <p:nvPr/>
        </p:nvSpPr>
        <p:spPr>
          <a:xfrm>
            <a:off x="7781163" y="3026664"/>
            <a:ext cx="1496949" cy="237744"/>
          </a:xfrm>
          <a:prstGeom prst="roundRect">
            <a:avLst>
              <a:gd name="adj" fmla="val 40000"/>
            </a:avLst>
          </a:prstGeom>
          <a:solidFill>
            <a:srgbClr val="0071C1"/>
          </a:solidFill>
          <a:ln>
            <a:noFill/>
          </a:ln>
        </p:spPr>
        <p:txBody>
          <a:bodyPr rtlCol="0" anchor="ctr"/>
          <a:lstStyle/>
          <a:p>
            <a:pPr algn="ctr"/>
          </a:p>
        </p:txBody>
      </p:sp>
      <p:sp>
        <p:nvSpPr>
          <p:cNvPr id="54" name="Diamond 53"/>
          <p:cNvSpPr/>
          <p:nvPr/>
        </p:nvSpPr>
        <p:spPr>
          <a:xfrm>
            <a:off x="9022080" y="3017520"/>
            <a:ext cx="256032" cy="256032"/>
          </a:xfrm>
          <a:prstGeom prst="diamond">
            <a:avLst/>
          </a:prstGeom>
          <a:solidFill>
            <a:srgbClr val="FFFFFF"/>
          </a:solidFill>
          <a:ln w="25400">
            <a:solidFill>
              <a:srgbClr val="ED7D31"/>
            </a:solidFill>
          </a:ln>
        </p:spPr>
        <p:txBody>
          <a:bodyPr rtlCol="0" anchor="ctr"/>
          <a:lstStyle/>
          <a:p>
            <a:pPr algn="ctr"/>
          </a:p>
        </p:txBody>
      </p:sp>
      <p:sp>
        <p:nvSpPr>
          <p:cNvPr id="55" name="Rectangle 54"/>
          <p:cNvSpPr/>
          <p:nvPr/>
        </p:nvSpPr>
        <p:spPr>
          <a:xfrm>
            <a:off x="457200" y="3355848"/>
            <a:ext cx="11292840" cy="420624"/>
          </a:xfrm>
          <a:prstGeom prst="rect">
            <a:avLst/>
          </a:prstGeom>
          <a:solidFill>
            <a:srgbClr val="E9E9E9"/>
          </a:solidFill>
          <a:ln>
            <a:noFill/>
          </a:ln>
        </p:spPr>
        <p:txBody>
          <a:bodyPr rtlCol="0" anchor="ctr"/>
          <a:lstStyle/>
          <a:p>
            <a:pPr algn="ctr"/>
          </a:p>
        </p:txBody>
      </p:sp>
      <p:sp>
        <p:nvSpPr>
          <p:cNvPr id="56" name="Oval 55"/>
          <p:cNvSpPr/>
          <p:nvPr/>
        </p:nvSpPr>
        <p:spPr>
          <a:xfrm>
            <a:off x="530352" y="3401568"/>
            <a:ext cx="329184" cy="329184"/>
          </a:xfrm>
          <a:prstGeom prst="ellipse">
            <a:avLst/>
          </a:prstGeom>
          <a:solidFill>
            <a:srgbClr val="0071C1"/>
          </a:solidFill>
          <a:ln>
            <a:noFill/>
          </a:ln>
        </p:spPr>
        <p:txBody>
          <a:bodyPr rtlCol="0" anchor="ctr" lIns="36576" rIns="36576" tIns="0" bIns="0" wrap="square"/>
          <a:lstStyle/>
          <a:p>
            <a:pPr algn="ctr"/>
            <a:r>
              <a:rPr sz="1300" b="1">
                <a:solidFill>
                  <a:srgbClr val="FFFFFF"/>
                </a:solidFill>
                <a:latin typeface="Calibri"/>
              </a:rPr>
              <a:t>5</a:t>
            </a:r>
          </a:p>
        </p:txBody>
      </p:sp>
      <p:sp>
        <p:nvSpPr>
          <p:cNvPr id="57" name="TextBox 56"/>
          <p:cNvSpPr txBox="1"/>
          <p:nvPr/>
        </p:nvSpPr>
        <p:spPr>
          <a:xfrm>
            <a:off x="987552" y="3355848"/>
            <a:ext cx="3383279" cy="420624"/>
          </a:xfrm>
          <a:prstGeom prst="rect">
            <a:avLst/>
          </a:prstGeom>
          <a:noFill/>
        </p:spPr>
        <p:txBody>
          <a:bodyPr wrap="square" lIns="45720" rIns="45720" tIns="27432" bIns="27432" anchor="ctr">
            <a:spAutoFit/>
          </a:bodyPr>
          <a:lstStyle/>
          <a:p>
            <a:pPr algn="l"/>
            <a:r>
              <a:rPr sz="1400" b="0" i="0">
                <a:solidFill>
                  <a:srgbClr val="1C2430"/>
                </a:solidFill>
                <a:latin typeface="Calibri"/>
              </a:rPr>
              <a:t>Laboratory tests</a:t>
            </a:r>
          </a:p>
        </p:txBody>
      </p:sp>
      <p:sp>
        <p:nvSpPr>
          <p:cNvPr id="58" name="Rounded Rectangle 57"/>
          <p:cNvSpPr/>
          <p:nvPr/>
        </p:nvSpPr>
        <p:spPr>
          <a:xfrm>
            <a:off x="9314688" y="3447288"/>
            <a:ext cx="883539" cy="237744"/>
          </a:xfrm>
          <a:prstGeom prst="roundRect">
            <a:avLst>
              <a:gd name="adj" fmla="val 40000"/>
            </a:avLst>
          </a:prstGeom>
          <a:solidFill>
            <a:srgbClr val="0071C1"/>
          </a:solidFill>
          <a:ln>
            <a:noFill/>
          </a:ln>
        </p:spPr>
        <p:txBody>
          <a:bodyPr rtlCol="0" anchor="ctr"/>
          <a:lstStyle/>
          <a:p>
            <a:pPr algn="ctr"/>
          </a:p>
        </p:txBody>
      </p:sp>
      <p:sp>
        <p:nvSpPr>
          <p:cNvPr id="59" name="Diamond 58"/>
          <p:cNvSpPr/>
          <p:nvPr/>
        </p:nvSpPr>
        <p:spPr>
          <a:xfrm>
            <a:off x="9942195" y="3438144"/>
            <a:ext cx="256032" cy="256032"/>
          </a:xfrm>
          <a:prstGeom prst="diamond">
            <a:avLst/>
          </a:prstGeom>
          <a:solidFill>
            <a:srgbClr val="FFFFFF"/>
          </a:solidFill>
          <a:ln w="25400">
            <a:solidFill>
              <a:srgbClr val="ED7D31"/>
            </a:solidFill>
          </a:ln>
        </p:spPr>
        <p:txBody>
          <a:bodyPr rtlCol="0" anchor="ctr"/>
          <a:lstStyle/>
          <a:p>
            <a:pPr algn="ctr"/>
          </a:p>
        </p:txBody>
      </p:sp>
      <p:sp>
        <p:nvSpPr>
          <p:cNvPr id="60" name="Oval 59"/>
          <p:cNvSpPr/>
          <p:nvPr/>
        </p:nvSpPr>
        <p:spPr>
          <a:xfrm>
            <a:off x="530352" y="3822192"/>
            <a:ext cx="329184" cy="329184"/>
          </a:xfrm>
          <a:prstGeom prst="ellipse">
            <a:avLst/>
          </a:prstGeom>
          <a:solidFill>
            <a:srgbClr val="0071C1"/>
          </a:solidFill>
          <a:ln>
            <a:noFill/>
          </a:ln>
        </p:spPr>
        <p:txBody>
          <a:bodyPr rtlCol="0" anchor="ctr" lIns="36576" rIns="36576" tIns="0" bIns="0" wrap="square"/>
          <a:lstStyle/>
          <a:p>
            <a:pPr algn="ctr"/>
            <a:r>
              <a:rPr sz="1300" b="1">
                <a:solidFill>
                  <a:srgbClr val="FFFFFF"/>
                </a:solidFill>
                <a:latin typeface="Calibri"/>
              </a:rPr>
              <a:t>6</a:t>
            </a:r>
          </a:p>
        </p:txBody>
      </p:sp>
      <p:sp>
        <p:nvSpPr>
          <p:cNvPr id="61" name="TextBox 60"/>
          <p:cNvSpPr txBox="1"/>
          <p:nvPr/>
        </p:nvSpPr>
        <p:spPr>
          <a:xfrm>
            <a:off x="987552" y="3776472"/>
            <a:ext cx="3383279" cy="420624"/>
          </a:xfrm>
          <a:prstGeom prst="rect">
            <a:avLst/>
          </a:prstGeom>
          <a:noFill/>
        </p:spPr>
        <p:txBody>
          <a:bodyPr wrap="square" lIns="45720" rIns="45720" tIns="27432" bIns="27432" anchor="ctr">
            <a:spAutoFit/>
          </a:bodyPr>
          <a:lstStyle/>
          <a:p>
            <a:pPr algn="l"/>
            <a:r>
              <a:rPr sz="1400" b="0" i="0">
                <a:solidFill>
                  <a:srgbClr val="1C2430"/>
                </a:solidFill>
                <a:latin typeface="Calibri"/>
              </a:rPr>
              <a:t>Tunnel-like / underground test</a:t>
            </a:r>
          </a:p>
        </p:txBody>
      </p:sp>
      <p:sp>
        <p:nvSpPr>
          <p:cNvPr id="62" name="Rounded Rectangle 61"/>
          <p:cNvSpPr/>
          <p:nvPr/>
        </p:nvSpPr>
        <p:spPr>
          <a:xfrm>
            <a:off x="10234802" y="3867912"/>
            <a:ext cx="883539" cy="237744"/>
          </a:xfrm>
          <a:prstGeom prst="roundRect">
            <a:avLst>
              <a:gd name="adj" fmla="val 40000"/>
            </a:avLst>
          </a:prstGeom>
          <a:solidFill>
            <a:srgbClr val="ED7D31"/>
          </a:solidFill>
          <a:ln>
            <a:noFill/>
          </a:ln>
        </p:spPr>
        <p:txBody>
          <a:bodyPr rtlCol="0" anchor="ctr"/>
          <a:lstStyle/>
          <a:p>
            <a:pPr algn="ctr"/>
          </a:p>
        </p:txBody>
      </p:sp>
      <p:sp>
        <p:nvSpPr>
          <p:cNvPr id="63" name="Diamond 62"/>
          <p:cNvSpPr/>
          <p:nvPr/>
        </p:nvSpPr>
        <p:spPr>
          <a:xfrm>
            <a:off x="10862309" y="3858768"/>
            <a:ext cx="256032" cy="256032"/>
          </a:xfrm>
          <a:prstGeom prst="diamond">
            <a:avLst/>
          </a:prstGeom>
          <a:solidFill>
            <a:srgbClr val="FFFFFF"/>
          </a:solidFill>
          <a:ln w="25400">
            <a:solidFill>
              <a:srgbClr val="ED7D31"/>
            </a:solidFill>
          </a:ln>
        </p:spPr>
        <p:txBody>
          <a:bodyPr rtlCol="0" anchor="ctr"/>
          <a:lstStyle/>
          <a:p>
            <a:pPr algn="ctr"/>
          </a:p>
        </p:txBody>
      </p:sp>
      <p:sp>
        <p:nvSpPr>
          <p:cNvPr id="64" name="Rectangle 63"/>
          <p:cNvSpPr/>
          <p:nvPr/>
        </p:nvSpPr>
        <p:spPr>
          <a:xfrm>
            <a:off x="457200" y="4197096"/>
            <a:ext cx="11292840" cy="420624"/>
          </a:xfrm>
          <a:prstGeom prst="rect">
            <a:avLst/>
          </a:prstGeom>
          <a:solidFill>
            <a:srgbClr val="E9E9E9"/>
          </a:solidFill>
          <a:ln>
            <a:noFill/>
          </a:ln>
        </p:spPr>
        <p:txBody>
          <a:bodyPr rtlCol="0" anchor="ctr"/>
          <a:lstStyle/>
          <a:p>
            <a:pPr algn="ctr"/>
          </a:p>
        </p:txBody>
      </p:sp>
      <p:sp>
        <p:nvSpPr>
          <p:cNvPr id="65" name="Oval 64"/>
          <p:cNvSpPr/>
          <p:nvPr/>
        </p:nvSpPr>
        <p:spPr>
          <a:xfrm>
            <a:off x="530352" y="4242816"/>
            <a:ext cx="329184" cy="329184"/>
          </a:xfrm>
          <a:prstGeom prst="ellipse">
            <a:avLst/>
          </a:prstGeom>
          <a:solidFill>
            <a:srgbClr val="0071C1"/>
          </a:solidFill>
          <a:ln>
            <a:noFill/>
          </a:ln>
        </p:spPr>
        <p:txBody>
          <a:bodyPr rtlCol="0" anchor="ctr" lIns="36576" rIns="36576" tIns="0" bIns="0" wrap="square"/>
          <a:lstStyle/>
          <a:p>
            <a:pPr algn="ctr"/>
            <a:r>
              <a:rPr sz="1300" b="1">
                <a:solidFill>
                  <a:srgbClr val="FFFFFF"/>
                </a:solidFill>
                <a:latin typeface="Calibri"/>
              </a:rPr>
              <a:t>7</a:t>
            </a:r>
          </a:p>
        </p:txBody>
      </p:sp>
      <p:sp>
        <p:nvSpPr>
          <p:cNvPr id="66" name="TextBox 65"/>
          <p:cNvSpPr txBox="1"/>
          <p:nvPr/>
        </p:nvSpPr>
        <p:spPr>
          <a:xfrm>
            <a:off x="987552" y="4197096"/>
            <a:ext cx="3383279" cy="420624"/>
          </a:xfrm>
          <a:prstGeom prst="rect">
            <a:avLst/>
          </a:prstGeom>
          <a:noFill/>
        </p:spPr>
        <p:txBody>
          <a:bodyPr wrap="square" lIns="45720" rIns="45720" tIns="27432" bIns="27432" anchor="ctr">
            <a:spAutoFit/>
          </a:bodyPr>
          <a:lstStyle/>
          <a:p>
            <a:pPr algn="l"/>
            <a:r>
              <a:rPr sz="1400" b="0" i="0">
                <a:solidFill>
                  <a:srgbClr val="1C2430"/>
                </a:solidFill>
                <a:latin typeface="Calibri"/>
              </a:rPr>
              <a:t>Documentation, patent, commercial plan</a:t>
            </a:r>
          </a:p>
        </p:txBody>
      </p:sp>
      <p:sp>
        <p:nvSpPr>
          <p:cNvPr id="67" name="Rounded Rectangle 66"/>
          <p:cNvSpPr/>
          <p:nvPr/>
        </p:nvSpPr>
        <p:spPr>
          <a:xfrm>
            <a:off x="11154918" y="4288536"/>
            <a:ext cx="576834" cy="237744"/>
          </a:xfrm>
          <a:prstGeom prst="roundRect">
            <a:avLst>
              <a:gd name="adj" fmla="val 40000"/>
            </a:avLst>
          </a:prstGeom>
          <a:solidFill>
            <a:srgbClr val="0071C1"/>
          </a:solidFill>
          <a:ln>
            <a:noFill/>
          </a:ln>
        </p:spPr>
        <p:txBody>
          <a:bodyPr rtlCol="0" anchor="ctr"/>
          <a:lstStyle/>
          <a:p>
            <a:pPr algn="ctr"/>
          </a:p>
        </p:txBody>
      </p:sp>
      <p:sp>
        <p:nvSpPr>
          <p:cNvPr id="68" name="Diamond 67"/>
          <p:cNvSpPr/>
          <p:nvPr/>
        </p:nvSpPr>
        <p:spPr>
          <a:xfrm>
            <a:off x="11475720" y="4279392"/>
            <a:ext cx="256032" cy="256032"/>
          </a:xfrm>
          <a:prstGeom prst="diamond">
            <a:avLst/>
          </a:prstGeom>
          <a:solidFill>
            <a:srgbClr val="FFFFFF"/>
          </a:solidFill>
          <a:ln w="25400">
            <a:solidFill>
              <a:srgbClr val="ED7D31"/>
            </a:solidFill>
          </a:ln>
        </p:spPr>
        <p:txBody>
          <a:bodyPr rtlCol="0" anchor="ctr"/>
          <a:lstStyle/>
          <a:p>
            <a:pPr algn="ctr"/>
          </a:p>
        </p:txBody>
      </p:sp>
      <p:cxnSp>
        <p:nvCxnSpPr>
          <p:cNvPr id="69" name="Connector 68"/>
          <p:cNvCxnSpPr/>
          <p:nvPr/>
        </p:nvCxnSpPr>
        <p:spPr>
          <a:xfrm>
            <a:off x="4389120" y="1673352"/>
            <a:ext cx="0" cy="2944368"/>
          </a:xfrm>
          <a:prstGeom prst="line">
            <a:avLst/>
          </a:prstGeom>
          <a:ln w="6350">
            <a:solidFill>
              <a:srgbClr val="D0D0D0"/>
            </a:solidFill>
          </a:ln>
        </p:spPr>
      </p:cxnSp>
      <p:cxnSp>
        <p:nvCxnSpPr>
          <p:cNvPr id="70" name="Connector 69"/>
          <p:cNvCxnSpPr/>
          <p:nvPr/>
        </p:nvCxnSpPr>
        <p:spPr>
          <a:xfrm>
            <a:off x="4695824" y="1673352"/>
            <a:ext cx="0" cy="2944368"/>
          </a:xfrm>
          <a:prstGeom prst="line">
            <a:avLst/>
          </a:prstGeom>
          <a:ln w="6350">
            <a:solidFill>
              <a:srgbClr val="D0D0D0"/>
            </a:solidFill>
          </a:ln>
        </p:spPr>
      </p:cxnSp>
      <p:cxnSp>
        <p:nvCxnSpPr>
          <p:cNvPr id="71" name="Connector 70"/>
          <p:cNvCxnSpPr/>
          <p:nvPr/>
        </p:nvCxnSpPr>
        <p:spPr>
          <a:xfrm>
            <a:off x="5002530" y="1673352"/>
            <a:ext cx="0" cy="2944368"/>
          </a:xfrm>
          <a:prstGeom prst="line">
            <a:avLst/>
          </a:prstGeom>
          <a:ln w="6350">
            <a:solidFill>
              <a:srgbClr val="D0D0D0"/>
            </a:solidFill>
          </a:ln>
        </p:spPr>
      </p:cxnSp>
      <p:cxnSp>
        <p:nvCxnSpPr>
          <p:cNvPr id="72" name="Connector 71"/>
          <p:cNvCxnSpPr/>
          <p:nvPr/>
        </p:nvCxnSpPr>
        <p:spPr>
          <a:xfrm>
            <a:off x="5309235" y="1673352"/>
            <a:ext cx="0" cy="2944368"/>
          </a:xfrm>
          <a:prstGeom prst="line">
            <a:avLst/>
          </a:prstGeom>
          <a:ln w="6350">
            <a:solidFill>
              <a:srgbClr val="D0D0D0"/>
            </a:solidFill>
          </a:ln>
        </p:spPr>
      </p:cxnSp>
      <p:cxnSp>
        <p:nvCxnSpPr>
          <p:cNvPr id="73" name="Connector 72"/>
          <p:cNvCxnSpPr/>
          <p:nvPr/>
        </p:nvCxnSpPr>
        <p:spPr>
          <a:xfrm>
            <a:off x="5615940" y="1673352"/>
            <a:ext cx="0" cy="2944368"/>
          </a:xfrm>
          <a:prstGeom prst="line">
            <a:avLst/>
          </a:prstGeom>
          <a:ln w="6350">
            <a:solidFill>
              <a:srgbClr val="D0D0D0"/>
            </a:solidFill>
          </a:ln>
        </p:spPr>
      </p:cxnSp>
      <p:cxnSp>
        <p:nvCxnSpPr>
          <p:cNvPr id="74" name="Connector 73"/>
          <p:cNvCxnSpPr/>
          <p:nvPr/>
        </p:nvCxnSpPr>
        <p:spPr>
          <a:xfrm>
            <a:off x="5922645" y="1673352"/>
            <a:ext cx="0" cy="2944368"/>
          </a:xfrm>
          <a:prstGeom prst="line">
            <a:avLst/>
          </a:prstGeom>
          <a:ln w="6350">
            <a:solidFill>
              <a:srgbClr val="D0D0D0"/>
            </a:solidFill>
          </a:ln>
        </p:spPr>
      </p:cxnSp>
      <p:cxnSp>
        <p:nvCxnSpPr>
          <p:cNvPr id="75" name="Connector 74"/>
          <p:cNvCxnSpPr/>
          <p:nvPr/>
        </p:nvCxnSpPr>
        <p:spPr>
          <a:xfrm>
            <a:off x="6229350" y="1673352"/>
            <a:ext cx="0" cy="2944368"/>
          </a:xfrm>
          <a:prstGeom prst="line">
            <a:avLst/>
          </a:prstGeom>
          <a:ln w="6350">
            <a:solidFill>
              <a:srgbClr val="D0D0D0"/>
            </a:solidFill>
          </a:ln>
        </p:spPr>
      </p:cxnSp>
      <p:cxnSp>
        <p:nvCxnSpPr>
          <p:cNvPr id="76" name="Connector 75"/>
          <p:cNvCxnSpPr/>
          <p:nvPr/>
        </p:nvCxnSpPr>
        <p:spPr>
          <a:xfrm>
            <a:off x="6536055" y="1673352"/>
            <a:ext cx="0" cy="2944368"/>
          </a:xfrm>
          <a:prstGeom prst="line">
            <a:avLst/>
          </a:prstGeom>
          <a:ln w="6350">
            <a:solidFill>
              <a:srgbClr val="D0D0D0"/>
            </a:solidFill>
          </a:ln>
        </p:spPr>
      </p:cxnSp>
      <p:cxnSp>
        <p:nvCxnSpPr>
          <p:cNvPr id="77" name="Connector 76"/>
          <p:cNvCxnSpPr/>
          <p:nvPr/>
        </p:nvCxnSpPr>
        <p:spPr>
          <a:xfrm>
            <a:off x="6842760" y="1673352"/>
            <a:ext cx="0" cy="2944368"/>
          </a:xfrm>
          <a:prstGeom prst="line">
            <a:avLst/>
          </a:prstGeom>
          <a:ln w="6350">
            <a:solidFill>
              <a:srgbClr val="D0D0D0"/>
            </a:solidFill>
          </a:ln>
        </p:spPr>
      </p:cxnSp>
      <p:cxnSp>
        <p:nvCxnSpPr>
          <p:cNvPr id="78" name="Connector 77"/>
          <p:cNvCxnSpPr/>
          <p:nvPr/>
        </p:nvCxnSpPr>
        <p:spPr>
          <a:xfrm>
            <a:off x="7149465" y="1673352"/>
            <a:ext cx="0" cy="2944368"/>
          </a:xfrm>
          <a:prstGeom prst="line">
            <a:avLst/>
          </a:prstGeom>
          <a:ln w="6350">
            <a:solidFill>
              <a:srgbClr val="D0D0D0"/>
            </a:solidFill>
          </a:ln>
        </p:spPr>
      </p:cxnSp>
      <p:cxnSp>
        <p:nvCxnSpPr>
          <p:cNvPr id="79" name="Connector 78"/>
          <p:cNvCxnSpPr/>
          <p:nvPr/>
        </p:nvCxnSpPr>
        <p:spPr>
          <a:xfrm>
            <a:off x="7456170" y="1673352"/>
            <a:ext cx="0" cy="2944368"/>
          </a:xfrm>
          <a:prstGeom prst="line">
            <a:avLst/>
          </a:prstGeom>
          <a:ln w="6350">
            <a:solidFill>
              <a:srgbClr val="D0D0D0"/>
            </a:solidFill>
          </a:ln>
        </p:spPr>
      </p:cxnSp>
      <p:cxnSp>
        <p:nvCxnSpPr>
          <p:cNvPr id="80" name="Connector 79"/>
          <p:cNvCxnSpPr/>
          <p:nvPr/>
        </p:nvCxnSpPr>
        <p:spPr>
          <a:xfrm>
            <a:off x="7762875" y="1673352"/>
            <a:ext cx="0" cy="2944368"/>
          </a:xfrm>
          <a:prstGeom prst="line">
            <a:avLst/>
          </a:prstGeom>
          <a:ln w="6350">
            <a:solidFill>
              <a:srgbClr val="D0D0D0"/>
            </a:solidFill>
          </a:ln>
        </p:spPr>
      </p:cxnSp>
      <p:cxnSp>
        <p:nvCxnSpPr>
          <p:cNvPr id="81" name="Connector 80"/>
          <p:cNvCxnSpPr/>
          <p:nvPr/>
        </p:nvCxnSpPr>
        <p:spPr>
          <a:xfrm>
            <a:off x="8069579" y="1673352"/>
            <a:ext cx="0" cy="2944368"/>
          </a:xfrm>
          <a:prstGeom prst="line">
            <a:avLst/>
          </a:prstGeom>
          <a:ln w="6350">
            <a:solidFill>
              <a:srgbClr val="D0D0D0"/>
            </a:solidFill>
          </a:ln>
        </p:spPr>
      </p:cxnSp>
      <p:cxnSp>
        <p:nvCxnSpPr>
          <p:cNvPr id="82" name="Connector 81"/>
          <p:cNvCxnSpPr/>
          <p:nvPr/>
        </p:nvCxnSpPr>
        <p:spPr>
          <a:xfrm>
            <a:off x="8376285" y="1673352"/>
            <a:ext cx="0" cy="2944368"/>
          </a:xfrm>
          <a:prstGeom prst="line">
            <a:avLst/>
          </a:prstGeom>
          <a:ln w="6350">
            <a:solidFill>
              <a:srgbClr val="D0D0D0"/>
            </a:solidFill>
          </a:ln>
        </p:spPr>
      </p:cxnSp>
      <p:cxnSp>
        <p:nvCxnSpPr>
          <p:cNvPr id="83" name="Connector 82"/>
          <p:cNvCxnSpPr/>
          <p:nvPr/>
        </p:nvCxnSpPr>
        <p:spPr>
          <a:xfrm>
            <a:off x="8682990" y="1673352"/>
            <a:ext cx="0" cy="2944368"/>
          </a:xfrm>
          <a:prstGeom prst="line">
            <a:avLst/>
          </a:prstGeom>
          <a:ln w="6350">
            <a:solidFill>
              <a:srgbClr val="D0D0D0"/>
            </a:solidFill>
          </a:ln>
        </p:spPr>
      </p:cxnSp>
      <p:cxnSp>
        <p:nvCxnSpPr>
          <p:cNvPr id="84" name="Connector 83"/>
          <p:cNvCxnSpPr/>
          <p:nvPr/>
        </p:nvCxnSpPr>
        <p:spPr>
          <a:xfrm>
            <a:off x="8989695" y="1673352"/>
            <a:ext cx="0" cy="2944368"/>
          </a:xfrm>
          <a:prstGeom prst="line">
            <a:avLst/>
          </a:prstGeom>
          <a:ln w="6350">
            <a:solidFill>
              <a:srgbClr val="D0D0D0"/>
            </a:solidFill>
          </a:ln>
        </p:spPr>
      </p:cxnSp>
      <p:cxnSp>
        <p:nvCxnSpPr>
          <p:cNvPr id="85" name="Connector 84"/>
          <p:cNvCxnSpPr/>
          <p:nvPr/>
        </p:nvCxnSpPr>
        <p:spPr>
          <a:xfrm>
            <a:off x="9296400" y="1673352"/>
            <a:ext cx="0" cy="2944368"/>
          </a:xfrm>
          <a:prstGeom prst="line">
            <a:avLst/>
          </a:prstGeom>
          <a:ln w="6350">
            <a:solidFill>
              <a:srgbClr val="D0D0D0"/>
            </a:solidFill>
          </a:ln>
        </p:spPr>
      </p:cxnSp>
      <p:cxnSp>
        <p:nvCxnSpPr>
          <p:cNvPr id="86" name="Connector 85"/>
          <p:cNvCxnSpPr/>
          <p:nvPr/>
        </p:nvCxnSpPr>
        <p:spPr>
          <a:xfrm>
            <a:off x="9603105" y="1673352"/>
            <a:ext cx="0" cy="2944368"/>
          </a:xfrm>
          <a:prstGeom prst="line">
            <a:avLst/>
          </a:prstGeom>
          <a:ln w="6350">
            <a:solidFill>
              <a:srgbClr val="D0D0D0"/>
            </a:solidFill>
          </a:ln>
        </p:spPr>
      </p:cxnSp>
      <p:cxnSp>
        <p:nvCxnSpPr>
          <p:cNvPr id="87" name="Connector 86"/>
          <p:cNvCxnSpPr/>
          <p:nvPr/>
        </p:nvCxnSpPr>
        <p:spPr>
          <a:xfrm>
            <a:off x="9909810" y="1673352"/>
            <a:ext cx="0" cy="2944368"/>
          </a:xfrm>
          <a:prstGeom prst="line">
            <a:avLst/>
          </a:prstGeom>
          <a:ln w="6350">
            <a:solidFill>
              <a:srgbClr val="D0D0D0"/>
            </a:solidFill>
          </a:ln>
        </p:spPr>
      </p:cxnSp>
      <p:cxnSp>
        <p:nvCxnSpPr>
          <p:cNvPr id="88" name="Connector 87"/>
          <p:cNvCxnSpPr/>
          <p:nvPr/>
        </p:nvCxnSpPr>
        <p:spPr>
          <a:xfrm>
            <a:off x="10216515" y="1673352"/>
            <a:ext cx="0" cy="2944368"/>
          </a:xfrm>
          <a:prstGeom prst="line">
            <a:avLst/>
          </a:prstGeom>
          <a:ln w="6350">
            <a:solidFill>
              <a:srgbClr val="D0D0D0"/>
            </a:solidFill>
          </a:ln>
        </p:spPr>
      </p:cxnSp>
      <p:cxnSp>
        <p:nvCxnSpPr>
          <p:cNvPr id="89" name="Connector 88"/>
          <p:cNvCxnSpPr/>
          <p:nvPr/>
        </p:nvCxnSpPr>
        <p:spPr>
          <a:xfrm>
            <a:off x="10523220" y="1673352"/>
            <a:ext cx="0" cy="2944368"/>
          </a:xfrm>
          <a:prstGeom prst="line">
            <a:avLst/>
          </a:prstGeom>
          <a:ln w="6350">
            <a:solidFill>
              <a:srgbClr val="D0D0D0"/>
            </a:solidFill>
          </a:ln>
        </p:spPr>
      </p:cxnSp>
      <p:cxnSp>
        <p:nvCxnSpPr>
          <p:cNvPr id="90" name="Connector 89"/>
          <p:cNvCxnSpPr/>
          <p:nvPr/>
        </p:nvCxnSpPr>
        <p:spPr>
          <a:xfrm>
            <a:off x="10829925" y="1673352"/>
            <a:ext cx="0" cy="2944368"/>
          </a:xfrm>
          <a:prstGeom prst="line">
            <a:avLst/>
          </a:prstGeom>
          <a:ln w="6350">
            <a:solidFill>
              <a:srgbClr val="D0D0D0"/>
            </a:solidFill>
          </a:ln>
        </p:spPr>
      </p:cxnSp>
      <p:cxnSp>
        <p:nvCxnSpPr>
          <p:cNvPr id="91" name="Connector 90"/>
          <p:cNvCxnSpPr/>
          <p:nvPr/>
        </p:nvCxnSpPr>
        <p:spPr>
          <a:xfrm>
            <a:off x="11136630" y="1673352"/>
            <a:ext cx="0" cy="2944368"/>
          </a:xfrm>
          <a:prstGeom prst="line">
            <a:avLst/>
          </a:prstGeom>
          <a:ln w="6350">
            <a:solidFill>
              <a:srgbClr val="D0D0D0"/>
            </a:solidFill>
          </a:ln>
        </p:spPr>
      </p:cxnSp>
      <p:cxnSp>
        <p:nvCxnSpPr>
          <p:cNvPr id="92" name="Connector 91"/>
          <p:cNvCxnSpPr/>
          <p:nvPr/>
        </p:nvCxnSpPr>
        <p:spPr>
          <a:xfrm>
            <a:off x="11443335" y="1673352"/>
            <a:ext cx="0" cy="2944368"/>
          </a:xfrm>
          <a:prstGeom prst="line">
            <a:avLst/>
          </a:prstGeom>
          <a:ln w="6350">
            <a:solidFill>
              <a:srgbClr val="D0D0D0"/>
            </a:solidFill>
          </a:ln>
        </p:spPr>
      </p:cxnSp>
      <p:cxnSp>
        <p:nvCxnSpPr>
          <p:cNvPr id="93" name="Connector 92"/>
          <p:cNvCxnSpPr/>
          <p:nvPr/>
        </p:nvCxnSpPr>
        <p:spPr>
          <a:xfrm>
            <a:off x="11750040" y="1673352"/>
            <a:ext cx="0" cy="2944368"/>
          </a:xfrm>
          <a:prstGeom prst="line">
            <a:avLst/>
          </a:prstGeom>
          <a:ln w="6350">
            <a:solidFill>
              <a:srgbClr val="D0D0D0"/>
            </a:solidFill>
          </a:ln>
        </p:spPr>
      </p:cxnSp>
      <p:sp>
        <p:nvSpPr>
          <p:cNvPr id="94" name="Diamond 93"/>
          <p:cNvSpPr/>
          <p:nvPr/>
        </p:nvSpPr>
        <p:spPr>
          <a:xfrm>
            <a:off x="457200" y="4754880"/>
            <a:ext cx="201168" cy="201168"/>
          </a:xfrm>
          <a:prstGeom prst="diamond">
            <a:avLst/>
          </a:prstGeom>
          <a:solidFill>
            <a:srgbClr val="FFFFFF"/>
          </a:solidFill>
          <a:ln w="25400">
            <a:solidFill>
              <a:srgbClr val="ED7D31"/>
            </a:solidFill>
          </a:ln>
        </p:spPr>
        <p:txBody>
          <a:bodyPr rtlCol="0" anchor="ctr"/>
          <a:lstStyle/>
          <a:p>
            <a:pPr algn="ctr"/>
          </a:p>
        </p:txBody>
      </p:sp>
      <p:sp>
        <p:nvSpPr>
          <p:cNvPr id="95" name="TextBox 94"/>
          <p:cNvSpPr txBox="1"/>
          <p:nvPr/>
        </p:nvSpPr>
        <p:spPr>
          <a:xfrm>
            <a:off x="731520" y="4709160"/>
            <a:ext cx="10972800" cy="310896"/>
          </a:xfrm>
          <a:prstGeom prst="rect">
            <a:avLst/>
          </a:prstGeom>
          <a:noFill/>
        </p:spPr>
        <p:txBody>
          <a:bodyPr wrap="square" lIns="45720" rIns="45720" tIns="27432" bIns="27432" anchor="t">
            <a:spAutoFit/>
          </a:bodyPr>
          <a:lstStyle/>
          <a:p>
            <a:pPr algn="l"/>
            <a:r>
              <a:rPr sz="1300" b="0" i="0">
                <a:solidFill>
                  <a:srgbClr val="5C6770"/>
                </a:solidFill>
                <a:latin typeface="Calibri"/>
              </a:rPr>
              <a:t>Milestones:  M3 hardware  ·  M7 architecture  ·  M11 tracking  ·  M16 integrated  ·  M19 lab  ·  M22 field  ·  M24 report</a:t>
            </a:r>
          </a:p>
        </p:txBody>
      </p:sp>
      <p:sp>
        <p:nvSpPr>
          <p:cNvPr id="96" name="TextBox 95"/>
          <p:cNvSpPr txBox="1"/>
          <p:nvPr/>
        </p:nvSpPr>
        <p:spPr>
          <a:xfrm>
            <a:off x="457200" y="5111496"/>
            <a:ext cx="3657600" cy="347472"/>
          </a:xfrm>
          <a:prstGeom prst="rect">
            <a:avLst/>
          </a:prstGeom>
          <a:noFill/>
        </p:spPr>
        <p:txBody>
          <a:bodyPr wrap="square" lIns="45720" rIns="45720" tIns="27432" bIns="27432" anchor="t">
            <a:spAutoFit/>
          </a:bodyPr>
          <a:lstStyle/>
          <a:p>
            <a:pPr algn="l"/>
            <a:r>
              <a:rPr sz="1700" b="1" i="0">
                <a:solidFill>
                  <a:srgbClr val="1B3A4B"/>
                </a:solidFill>
                <a:latin typeface="Calibri"/>
              </a:rPr>
              <a:t>Risk management</a:t>
            </a:r>
          </a:p>
        </p:txBody>
      </p:sp>
      <p:sp>
        <p:nvSpPr>
          <p:cNvPr id="97" name="Rounded Rectangle 96"/>
          <p:cNvSpPr/>
          <p:nvPr/>
        </p:nvSpPr>
        <p:spPr>
          <a:xfrm>
            <a:off x="457200" y="5504688"/>
            <a:ext cx="3703320" cy="658368"/>
          </a:xfrm>
          <a:prstGeom prst="roundRect">
            <a:avLst>
              <a:gd name="adj" fmla="val 8000"/>
            </a:avLst>
          </a:prstGeom>
          <a:solidFill>
            <a:srgbClr val="E9E9E9"/>
          </a:solidFill>
          <a:ln w="9525">
            <a:solidFill>
              <a:srgbClr val="9A9A9A"/>
            </a:solidFill>
          </a:ln>
        </p:spPr>
        <p:txBody>
          <a:bodyPr rtlCol="0" anchor="ctr"/>
          <a:lstStyle/>
          <a:p>
            <a:pPr algn="ctr"/>
          </a:p>
        </p:txBody>
      </p:sp>
      <p:sp>
        <p:nvSpPr>
          <p:cNvPr id="98" name="TextBox 97"/>
          <p:cNvSpPr txBox="1"/>
          <p:nvPr/>
        </p:nvSpPr>
        <p:spPr>
          <a:xfrm>
            <a:off x="566928" y="5522976"/>
            <a:ext cx="1280160" cy="621792"/>
          </a:xfrm>
          <a:prstGeom prst="rect">
            <a:avLst/>
          </a:prstGeom>
          <a:noFill/>
        </p:spPr>
        <p:txBody>
          <a:bodyPr wrap="square" lIns="45720" rIns="45720" tIns="27432" bIns="27432" anchor="ctr">
            <a:spAutoFit/>
          </a:bodyPr>
          <a:lstStyle/>
          <a:p>
            <a:pPr algn="l"/>
            <a:r>
              <a:rPr sz="1450" b="1" i="0">
                <a:solidFill>
                  <a:srgbClr val="C55A11"/>
                </a:solidFill>
                <a:latin typeface="Calibri"/>
              </a:rPr>
              <a:t>Technical</a:t>
            </a:r>
          </a:p>
        </p:txBody>
      </p:sp>
      <p:sp>
        <p:nvSpPr>
          <p:cNvPr id="99" name="TextBox 98"/>
          <p:cNvSpPr txBox="1"/>
          <p:nvPr/>
        </p:nvSpPr>
        <p:spPr>
          <a:xfrm>
            <a:off x="1783080" y="5522976"/>
            <a:ext cx="2331720" cy="621792"/>
          </a:xfrm>
          <a:prstGeom prst="rect">
            <a:avLst/>
          </a:prstGeom>
          <a:noFill/>
        </p:spPr>
        <p:txBody>
          <a:bodyPr wrap="square" lIns="45720" rIns="45720" tIns="27432" bIns="27432" anchor="ctr">
            <a:spAutoFit/>
          </a:bodyPr>
          <a:lstStyle/>
          <a:p>
            <a:pPr algn="l"/>
            <a:r>
              <a:rPr sz="1350" b="0" i="0">
                <a:solidFill>
                  <a:srgbClr val="1C2430"/>
                </a:solidFill>
                <a:latin typeface="Calibri"/>
              </a:rPr>
              <a:t>LoRa backup and modular hardware</a:t>
            </a:r>
          </a:p>
        </p:txBody>
      </p:sp>
      <p:sp>
        <p:nvSpPr>
          <p:cNvPr id="100" name="Rounded Rectangle 99"/>
          <p:cNvSpPr/>
          <p:nvPr/>
        </p:nvSpPr>
        <p:spPr>
          <a:xfrm>
            <a:off x="4251960" y="5504688"/>
            <a:ext cx="3703320" cy="658368"/>
          </a:xfrm>
          <a:prstGeom prst="roundRect">
            <a:avLst>
              <a:gd name="adj" fmla="val 8000"/>
            </a:avLst>
          </a:prstGeom>
          <a:solidFill>
            <a:srgbClr val="E9E9E9"/>
          </a:solidFill>
          <a:ln w="9525">
            <a:solidFill>
              <a:srgbClr val="9A9A9A"/>
            </a:solidFill>
          </a:ln>
        </p:spPr>
        <p:txBody>
          <a:bodyPr rtlCol="0" anchor="ctr"/>
          <a:lstStyle/>
          <a:p>
            <a:pPr algn="ctr"/>
          </a:p>
        </p:txBody>
      </p:sp>
      <p:sp>
        <p:nvSpPr>
          <p:cNvPr id="101" name="TextBox 100"/>
          <p:cNvSpPr txBox="1"/>
          <p:nvPr/>
        </p:nvSpPr>
        <p:spPr>
          <a:xfrm>
            <a:off x="4361688" y="5522976"/>
            <a:ext cx="1280160" cy="621792"/>
          </a:xfrm>
          <a:prstGeom prst="rect">
            <a:avLst/>
          </a:prstGeom>
          <a:noFill/>
        </p:spPr>
        <p:txBody>
          <a:bodyPr wrap="square" lIns="45720" rIns="45720" tIns="27432" bIns="27432" anchor="ctr">
            <a:spAutoFit/>
          </a:bodyPr>
          <a:lstStyle/>
          <a:p>
            <a:pPr algn="l"/>
            <a:r>
              <a:rPr sz="1450" b="1" i="0">
                <a:solidFill>
                  <a:srgbClr val="C55A11"/>
                </a:solidFill>
                <a:latin typeface="Calibri"/>
              </a:rPr>
              <a:t>Operational</a:t>
            </a:r>
          </a:p>
        </p:txBody>
      </p:sp>
      <p:sp>
        <p:nvSpPr>
          <p:cNvPr id="102" name="TextBox 101"/>
          <p:cNvSpPr txBox="1"/>
          <p:nvPr/>
        </p:nvSpPr>
        <p:spPr>
          <a:xfrm>
            <a:off x="5577840" y="5522976"/>
            <a:ext cx="2331720" cy="621792"/>
          </a:xfrm>
          <a:prstGeom prst="rect">
            <a:avLst/>
          </a:prstGeom>
          <a:noFill/>
        </p:spPr>
        <p:txBody>
          <a:bodyPr wrap="square" lIns="45720" rIns="45720" tIns="27432" bIns="27432" anchor="ctr">
            <a:spAutoFit/>
          </a:bodyPr>
          <a:lstStyle/>
          <a:p>
            <a:pPr algn="l"/>
            <a:r>
              <a:rPr sz="1350" b="0" i="0">
                <a:solidFill>
                  <a:srgbClr val="1C2430"/>
                </a:solidFill>
                <a:latin typeface="Calibri"/>
              </a:rPr>
              <a:t>Phased build with test checkpoints</a:t>
            </a:r>
          </a:p>
        </p:txBody>
      </p:sp>
      <p:sp>
        <p:nvSpPr>
          <p:cNvPr id="103" name="Rounded Rectangle 102"/>
          <p:cNvSpPr/>
          <p:nvPr/>
        </p:nvSpPr>
        <p:spPr>
          <a:xfrm>
            <a:off x="8046720" y="5504688"/>
            <a:ext cx="3703320" cy="658368"/>
          </a:xfrm>
          <a:prstGeom prst="roundRect">
            <a:avLst>
              <a:gd name="adj" fmla="val 8000"/>
            </a:avLst>
          </a:prstGeom>
          <a:solidFill>
            <a:srgbClr val="E9E9E9"/>
          </a:solidFill>
          <a:ln w="9525">
            <a:solidFill>
              <a:srgbClr val="9A9A9A"/>
            </a:solidFill>
          </a:ln>
        </p:spPr>
        <p:txBody>
          <a:bodyPr rtlCol="0" anchor="ctr"/>
          <a:lstStyle/>
          <a:p>
            <a:pPr algn="ctr"/>
          </a:p>
        </p:txBody>
      </p:sp>
      <p:sp>
        <p:nvSpPr>
          <p:cNvPr id="104" name="TextBox 103"/>
          <p:cNvSpPr txBox="1"/>
          <p:nvPr/>
        </p:nvSpPr>
        <p:spPr>
          <a:xfrm>
            <a:off x="8156448" y="5522976"/>
            <a:ext cx="1280160" cy="621792"/>
          </a:xfrm>
          <a:prstGeom prst="rect">
            <a:avLst/>
          </a:prstGeom>
          <a:noFill/>
        </p:spPr>
        <p:txBody>
          <a:bodyPr wrap="square" lIns="45720" rIns="45720" tIns="27432" bIns="27432" anchor="ctr">
            <a:spAutoFit/>
          </a:bodyPr>
          <a:lstStyle/>
          <a:p>
            <a:pPr algn="l"/>
            <a:r>
              <a:rPr sz="1450" b="1" i="0">
                <a:solidFill>
                  <a:srgbClr val="C55A11"/>
                </a:solidFill>
                <a:latin typeface="Calibri"/>
              </a:rPr>
              <a:t>Financial</a:t>
            </a:r>
          </a:p>
        </p:txBody>
      </p:sp>
      <p:sp>
        <p:nvSpPr>
          <p:cNvPr id="105" name="TextBox 104"/>
          <p:cNvSpPr txBox="1"/>
          <p:nvPr/>
        </p:nvSpPr>
        <p:spPr>
          <a:xfrm>
            <a:off x="9372600" y="5522976"/>
            <a:ext cx="2331720" cy="621792"/>
          </a:xfrm>
          <a:prstGeom prst="rect">
            <a:avLst/>
          </a:prstGeom>
          <a:noFill/>
        </p:spPr>
        <p:txBody>
          <a:bodyPr wrap="square" lIns="45720" rIns="45720" tIns="27432" bIns="27432" anchor="ctr">
            <a:spAutoFit/>
          </a:bodyPr>
          <a:lstStyle/>
          <a:p>
            <a:pPr algn="l"/>
            <a:r>
              <a:rPr sz="1350" b="0" i="0">
                <a:solidFill>
                  <a:srgbClr val="1C2430"/>
                </a:solidFill>
                <a:latin typeface="Calibri"/>
              </a:rPr>
              <a:t>Conservative budget margins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4" name="Section"/>
          <p:cNvSpPr txBox="1"/>
          <p:nvPr/>
        </p:nvSpPr>
        <p:spPr>
          <a:xfrm>
            <a:off x="457200" y="182880"/>
            <a:ext cx="11247120" cy="256032"/>
          </a:xfrm>
          <a:prstGeom prst="rect">
            <a:avLst/>
          </a:prstGeom>
          <a:noFill/>
        </p:spPr>
        <p:txBody>
          <a:bodyPr wrap="square" lIns="45720" rIns="45720" tIns="27432" bIns="27432" anchor="t">
            <a:spAutoFit/>
          </a:bodyPr>
          <a:lstStyle/>
          <a:p>
            <a:pPr algn="l"/>
            <a:r>
              <a:rPr sz="1300" b="1" i="0">
                <a:solidFill>
                  <a:srgbClr val="B5740A"/>
                </a:solidFill>
                <a:latin typeface="Calibri"/>
              </a:rPr>
              <a:t>05     ·     EXPECTED OUTCOMES AND TECHNOLOGY READINESS LEVEL</a:t>
            </a:r>
          </a:p>
        </p:txBody>
      </p:sp>
      <p:sp>
        <p:nvSpPr>
          <p:cNvPr id="5" name="Title"/>
          <p:cNvSpPr txBox="1"/>
          <p:nvPr/>
        </p:nvSpPr>
        <p:spPr>
          <a:xfrm>
            <a:off x="438912" y="420624"/>
            <a:ext cx="11338560" cy="502920"/>
          </a:xfrm>
          <a:prstGeom prst="rect">
            <a:avLst/>
          </a:prstGeom>
          <a:noFill/>
        </p:spPr>
        <p:txBody>
          <a:bodyPr wrap="square" lIns="45720" rIns="45720" tIns="27432" bIns="27432" anchor="t">
            <a:spAutoFit/>
          </a:bodyPr>
          <a:lstStyle/>
          <a:p>
            <a:pPr algn="l"/>
            <a:r>
              <a:rPr sz="2800" b="1" i="0">
                <a:solidFill>
                  <a:srgbClr val="1B3A4B"/>
                </a:solidFill>
                <a:latin typeface="Calibri"/>
              </a:rPr>
              <a:t>Outcomes and readiness</a:t>
            </a:r>
          </a:p>
        </p:txBody>
      </p:sp>
      <p:sp>
        <p:nvSpPr>
          <p:cNvPr id="6" name="Footer rule"/>
          <p:cNvSpPr/>
          <p:nvPr/>
        </p:nvSpPr>
        <p:spPr>
          <a:xfrm>
            <a:off x="457200" y="6565392"/>
            <a:ext cx="11292840" cy="9144"/>
          </a:xfrm>
          <a:prstGeom prst="rect">
            <a:avLst/>
          </a:prstGeom>
          <a:solidFill>
            <a:srgbClr val="D0D0D0"/>
          </a:solidFill>
          <a:ln>
            <a:noFill/>
          </a:ln>
        </p:spPr>
        <p:txBody>
          <a:bodyPr rtlCol="0" anchor="ctr"/>
          <a:lstStyle/>
          <a:p>
            <a:pPr algn="ctr"/>
          </a:p>
        </p:txBody>
      </p:sp>
      <p:sp>
        <p:nvSpPr>
          <p:cNvPr id="7"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Outcomes and TRL</a:t>
            </a:r>
          </a:p>
        </p:txBody>
      </p:sp>
      <p:sp>
        <p:nvSpPr>
          <p:cNvPr id="8"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10  /  15</a:t>
            </a:r>
          </a:p>
        </p:txBody>
      </p:sp>
      <p:sp>
        <p:nvSpPr>
          <p:cNvPr id="9" name="TextBox 8"/>
          <p:cNvSpPr txBox="1"/>
          <p:nvPr/>
        </p:nvSpPr>
        <p:spPr>
          <a:xfrm>
            <a:off x="457200" y="1005840"/>
            <a:ext cx="5486400" cy="365760"/>
          </a:xfrm>
          <a:prstGeom prst="rect">
            <a:avLst/>
          </a:prstGeom>
          <a:noFill/>
        </p:spPr>
        <p:txBody>
          <a:bodyPr wrap="square" lIns="45720" rIns="45720" tIns="27432" bIns="27432" anchor="t">
            <a:spAutoFit/>
          </a:bodyPr>
          <a:lstStyle/>
          <a:p>
            <a:pPr algn="l"/>
            <a:r>
              <a:rPr sz="2000" b="1" i="0">
                <a:solidFill>
                  <a:srgbClr val="1B3A4B"/>
                </a:solidFill>
                <a:latin typeface="Calibri"/>
              </a:rPr>
              <a:t>Readiness</a:t>
            </a:r>
          </a:p>
        </p:txBody>
      </p:sp>
      <p:sp>
        <p:nvSpPr>
          <p:cNvPr id="10" name="Rectangle 9"/>
          <p:cNvSpPr/>
          <p:nvPr/>
        </p:nvSpPr>
        <p:spPr>
          <a:xfrm>
            <a:off x="457200" y="1481328"/>
            <a:ext cx="1188720" cy="548640"/>
          </a:xfrm>
          <a:prstGeom prst="rect">
            <a:avLst/>
          </a:prstGeom>
          <a:solidFill>
            <a:srgbClr val="E9E9E9"/>
          </a:solidFill>
          <a:ln>
            <a:noFill/>
          </a:ln>
        </p:spPr>
        <p:txBody>
          <a:bodyPr rtlCol="0" anchor="ctr" lIns="36576" rIns="36576" tIns="0" bIns="0" wrap="square"/>
          <a:lstStyle/>
          <a:p>
            <a:pPr algn="ctr"/>
            <a:r>
              <a:rPr sz="1500" b="1">
                <a:solidFill>
                  <a:srgbClr val="5C6770"/>
                </a:solidFill>
                <a:latin typeface="Calibri"/>
              </a:rPr>
              <a:t>TRL 1</a:t>
            </a:r>
          </a:p>
        </p:txBody>
      </p:sp>
      <p:sp>
        <p:nvSpPr>
          <p:cNvPr id="11" name="Rectangle 10"/>
          <p:cNvSpPr/>
          <p:nvPr/>
        </p:nvSpPr>
        <p:spPr>
          <a:xfrm>
            <a:off x="1700784" y="1481328"/>
            <a:ext cx="1188720" cy="548640"/>
          </a:xfrm>
          <a:prstGeom prst="rect">
            <a:avLst/>
          </a:prstGeom>
          <a:solidFill>
            <a:srgbClr val="ED7D31"/>
          </a:solidFill>
          <a:ln>
            <a:noFill/>
          </a:ln>
        </p:spPr>
        <p:txBody>
          <a:bodyPr rtlCol="0" anchor="ctr" lIns="36576" rIns="36576" tIns="0" bIns="0" wrap="square"/>
          <a:lstStyle/>
          <a:p>
            <a:pPr algn="ctr"/>
            <a:r>
              <a:rPr sz="1500" b="1">
                <a:solidFill>
                  <a:srgbClr val="FFFFFF"/>
                </a:solidFill>
                <a:latin typeface="Calibri"/>
              </a:rPr>
              <a:t>TRL 2</a:t>
            </a:r>
          </a:p>
        </p:txBody>
      </p:sp>
      <p:sp>
        <p:nvSpPr>
          <p:cNvPr id="12" name="Rectangle 11"/>
          <p:cNvSpPr/>
          <p:nvPr/>
        </p:nvSpPr>
        <p:spPr>
          <a:xfrm>
            <a:off x="2944368" y="1481328"/>
            <a:ext cx="1188720" cy="548640"/>
          </a:xfrm>
          <a:prstGeom prst="rect">
            <a:avLst/>
          </a:prstGeom>
          <a:solidFill>
            <a:srgbClr val="E9E9E9"/>
          </a:solidFill>
          <a:ln>
            <a:noFill/>
          </a:ln>
        </p:spPr>
        <p:txBody>
          <a:bodyPr rtlCol="0" anchor="ctr" lIns="36576" rIns="36576" tIns="0" bIns="0" wrap="square"/>
          <a:lstStyle/>
          <a:p>
            <a:pPr algn="ctr"/>
            <a:r>
              <a:rPr sz="1500" b="1">
                <a:solidFill>
                  <a:srgbClr val="5C6770"/>
                </a:solidFill>
                <a:latin typeface="Calibri"/>
              </a:rPr>
              <a:t>TRL 3</a:t>
            </a:r>
          </a:p>
        </p:txBody>
      </p:sp>
      <p:sp>
        <p:nvSpPr>
          <p:cNvPr id="13" name="Rectangle 12"/>
          <p:cNvSpPr/>
          <p:nvPr/>
        </p:nvSpPr>
        <p:spPr>
          <a:xfrm>
            <a:off x="4187952" y="1481328"/>
            <a:ext cx="1188720" cy="548640"/>
          </a:xfrm>
          <a:prstGeom prst="rect">
            <a:avLst/>
          </a:prstGeom>
          <a:solidFill>
            <a:srgbClr val="E9E9E9"/>
          </a:solidFill>
          <a:ln>
            <a:noFill/>
          </a:ln>
        </p:spPr>
        <p:txBody>
          <a:bodyPr rtlCol="0" anchor="ctr" lIns="36576" rIns="36576" tIns="0" bIns="0" wrap="square"/>
          <a:lstStyle/>
          <a:p>
            <a:pPr algn="ctr"/>
            <a:r>
              <a:rPr sz="1500" b="1">
                <a:solidFill>
                  <a:srgbClr val="5C6770"/>
                </a:solidFill>
                <a:latin typeface="Calibri"/>
              </a:rPr>
              <a:t>TRL 4</a:t>
            </a:r>
          </a:p>
        </p:txBody>
      </p:sp>
      <p:sp>
        <p:nvSpPr>
          <p:cNvPr id="14" name="Rectangle 13"/>
          <p:cNvSpPr/>
          <p:nvPr/>
        </p:nvSpPr>
        <p:spPr>
          <a:xfrm>
            <a:off x="5431536" y="1481328"/>
            <a:ext cx="1188720" cy="548640"/>
          </a:xfrm>
          <a:prstGeom prst="rect">
            <a:avLst/>
          </a:prstGeom>
          <a:solidFill>
            <a:srgbClr val="0071C1"/>
          </a:solidFill>
          <a:ln>
            <a:noFill/>
          </a:ln>
        </p:spPr>
        <p:txBody>
          <a:bodyPr rtlCol="0" anchor="ctr" lIns="36576" rIns="36576" tIns="0" bIns="0" wrap="square"/>
          <a:lstStyle/>
          <a:p>
            <a:pPr algn="ctr"/>
            <a:r>
              <a:rPr sz="1500" b="1">
                <a:solidFill>
                  <a:srgbClr val="FFFFFF"/>
                </a:solidFill>
                <a:latin typeface="Calibri"/>
              </a:rPr>
              <a:t>TRL 5</a:t>
            </a:r>
          </a:p>
        </p:txBody>
      </p:sp>
      <p:sp>
        <p:nvSpPr>
          <p:cNvPr id="15" name="Rectangle 14"/>
          <p:cNvSpPr/>
          <p:nvPr/>
        </p:nvSpPr>
        <p:spPr>
          <a:xfrm>
            <a:off x="6675120" y="1481328"/>
            <a:ext cx="1188720" cy="548640"/>
          </a:xfrm>
          <a:prstGeom prst="rect">
            <a:avLst/>
          </a:prstGeom>
          <a:solidFill>
            <a:srgbClr val="E9E9E9"/>
          </a:solidFill>
          <a:ln>
            <a:noFill/>
          </a:ln>
        </p:spPr>
        <p:txBody>
          <a:bodyPr rtlCol="0" anchor="ctr" lIns="36576" rIns="36576" tIns="0" bIns="0" wrap="square"/>
          <a:lstStyle/>
          <a:p>
            <a:pPr algn="ctr"/>
            <a:r>
              <a:rPr sz="1500" b="1">
                <a:solidFill>
                  <a:srgbClr val="5C6770"/>
                </a:solidFill>
                <a:latin typeface="Calibri"/>
              </a:rPr>
              <a:t>TRL 6</a:t>
            </a:r>
          </a:p>
        </p:txBody>
      </p:sp>
      <p:sp>
        <p:nvSpPr>
          <p:cNvPr id="16" name="Rectangle 15"/>
          <p:cNvSpPr/>
          <p:nvPr/>
        </p:nvSpPr>
        <p:spPr>
          <a:xfrm>
            <a:off x="7918704" y="1481328"/>
            <a:ext cx="1188720" cy="548640"/>
          </a:xfrm>
          <a:prstGeom prst="rect">
            <a:avLst/>
          </a:prstGeom>
          <a:solidFill>
            <a:srgbClr val="E9E9E9"/>
          </a:solidFill>
          <a:ln>
            <a:noFill/>
          </a:ln>
        </p:spPr>
        <p:txBody>
          <a:bodyPr rtlCol="0" anchor="ctr" lIns="36576" rIns="36576" tIns="0" bIns="0" wrap="square"/>
          <a:lstStyle/>
          <a:p>
            <a:pPr algn="ctr"/>
            <a:r>
              <a:rPr sz="1500" b="1">
                <a:solidFill>
                  <a:srgbClr val="5C6770"/>
                </a:solidFill>
                <a:latin typeface="Calibri"/>
              </a:rPr>
              <a:t>TRL 7</a:t>
            </a:r>
          </a:p>
        </p:txBody>
      </p:sp>
      <p:sp>
        <p:nvSpPr>
          <p:cNvPr id="17" name="Rectangle 16"/>
          <p:cNvSpPr/>
          <p:nvPr/>
        </p:nvSpPr>
        <p:spPr>
          <a:xfrm>
            <a:off x="9162288" y="1481328"/>
            <a:ext cx="1188720" cy="548640"/>
          </a:xfrm>
          <a:prstGeom prst="rect">
            <a:avLst/>
          </a:prstGeom>
          <a:solidFill>
            <a:srgbClr val="E9E9E9"/>
          </a:solidFill>
          <a:ln>
            <a:noFill/>
          </a:ln>
        </p:spPr>
        <p:txBody>
          <a:bodyPr rtlCol="0" anchor="ctr" lIns="36576" rIns="36576" tIns="0" bIns="0" wrap="square"/>
          <a:lstStyle/>
          <a:p>
            <a:pPr algn="ctr"/>
            <a:r>
              <a:rPr sz="1500" b="1">
                <a:solidFill>
                  <a:srgbClr val="5C6770"/>
                </a:solidFill>
                <a:latin typeface="Calibri"/>
              </a:rPr>
              <a:t>TRL 8</a:t>
            </a:r>
          </a:p>
        </p:txBody>
      </p:sp>
      <p:sp>
        <p:nvSpPr>
          <p:cNvPr id="18" name="Rectangle 17"/>
          <p:cNvSpPr/>
          <p:nvPr/>
        </p:nvSpPr>
        <p:spPr>
          <a:xfrm>
            <a:off x="10405872" y="1481328"/>
            <a:ext cx="1188720" cy="548640"/>
          </a:xfrm>
          <a:prstGeom prst="rect">
            <a:avLst/>
          </a:prstGeom>
          <a:solidFill>
            <a:srgbClr val="E9E9E9"/>
          </a:solidFill>
          <a:ln>
            <a:noFill/>
          </a:ln>
        </p:spPr>
        <p:txBody>
          <a:bodyPr rtlCol="0" anchor="ctr" lIns="36576" rIns="36576" tIns="0" bIns="0" wrap="square"/>
          <a:lstStyle/>
          <a:p>
            <a:pPr algn="ctr"/>
            <a:r>
              <a:rPr sz="1500" b="1">
                <a:solidFill>
                  <a:srgbClr val="5C6770"/>
                </a:solidFill>
                <a:latin typeface="Calibri"/>
              </a:rPr>
              <a:t>TRL 9</a:t>
            </a:r>
          </a:p>
        </p:txBody>
      </p:sp>
      <p:sp>
        <p:nvSpPr>
          <p:cNvPr id="19" name="TextBox 18"/>
          <p:cNvSpPr txBox="1"/>
          <p:nvPr/>
        </p:nvSpPr>
        <p:spPr>
          <a:xfrm>
            <a:off x="1289304" y="2075688"/>
            <a:ext cx="2011680" cy="594360"/>
          </a:xfrm>
          <a:prstGeom prst="rect">
            <a:avLst/>
          </a:prstGeom>
          <a:noFill/>
        </p:spPr>
        <p:txBody>
          <a:bodyPr wrap="square" lIns="45720" rIns="45720" tIns="27432" bIns="27432" anchor="t">
            <a:spAutoFit/>
          </a:bodyPr>
          <a:lstStyle/>
          <a:p>
            <a:pPr algn="ctr"/>
            <a:r>
              <a:rPr sz="1600" b="1" i="0">
                <a:solidFill>
                  <a:srgbClr val="ED7D31"/>
                </a:solidFill>
                <a:latin typeface="Calibri"/>
              </a:rPr>
              <a:t>Today</a:t>
            </a:r>
          </a:p>
          <a:p>
            <a:pPr algn="ctr"/>
            <a:r>
              <a:rPr sz="1300" b="0" i="0">
                <a:solidFill>
                  <a:srgbClr val="5C6770"/>
                </a:solidFill>
                <a:latin typeface="Calibri"/>
              </a:rPr>
              <a:t>integrated system</a:t>
            </a:r>
          </a:p>
        </p:txBody>
      </p:sp>
      <p:sp>
        <p:nvSpPr>
          <p:cNvPr id="20" name="TextBox 19"/>
          <p:cNvSpPr txBox="1"/>
          <p:nvPr/>
        </p:nvSpPr>
        <p:spPr>
          <a:xfrm>
            <a:off x="5020056" y="2075688"/>
            <a:ext cx="2011680" cy="594360"/>
          </a:xfrm>
          <a:prstGeom prst="rect">
            <a:avLst/>
          </a:prstGeom>
          <a:noFill/>
        </p:spPr>
        <p:txBody>
          <a:bodyPr wrap="square" lIns="45720" rIns="45720" tIns="27432" bIns="27432" anchor="t">
            <a:spAutoFit/>
          </a:bodyPr>
          <a:lstStyle/>
          <a:p>
            <a:pPr algn="ctr"/>
            <a:r>
              <a:rPr sz="1600" b="1" i="0">
                <a:solidFill>
                  <a:srgbClr val="1B3A4B"/>
                </a:solidFill>
                <a:latin typeface="Calibri"/>
              </a:rPr>
              <a:t>Month 24</a:t>
            </a:r>
          </a:p>
          <a:p>
            <a:pPr algn="ctr"/>
            <a:r>
              <a:rPr sz="1300" b="0" i="0">
                <a:solidFill>
                  <a:srgbClr val="5C6770"/>
                </a:solidFill>
                <a:latin typeface="Calibri"/>
              </a:rPr>
              <a:t>tunnel-like test</a:t>
            </a:r>
          </a:p>
        </p:txBody>
      </p:sp>
      <p:sp>
        <p:nvSpPr>
          <p:cNvPr id="21" name="TextBox 20"/>
          <p:cNvSpPr txBox="1"/>
          <p:nvPr/>
        </p:nvSpPr>
        <p:spPr>
          <a:xfrm>
            <a:off x="7324344" y="2075688"/>
            <a:ext cx="2377440" cy="594360"/>
          </a:xfrm>
          <a:prstGeom prst="rect">
            <a:avLst/>
          </a:prstGeom>
          <a:noFill/>
        </p:spPr>
        <p:txBody>
          <a:bodyPr wrap="square" lIns="45720" rIns="45720" tIns="27432" bIns="27432" anchor="t">
            <a:spAutoFit/>
          </a:bodyPr>
          <a:lstStyle/>
          <a:p>
            <a:pPr algn="ctr"/>
            <a:r>
              <a:rPr sz="1600" b="1" i="0">
                <a:solidFill>
                  <a:srgbClr val="5C6770"/>
                </a:solidFill>
                <a:latin typeface="Calibri"/>
              </a:rPr>
              <a:t>After this grant</a:t>
            </a:r>
          </a:p>
          <a:p>
            <a:pPr algn="ctr"/>
            <a:r>
              <a:rPr sz="1300" b="0" i="0">
                <a:solidFill>
                  <a:srgbClr val="5C6770"/>
                </a:solidFill>
                <a:latin typeface="Calibri"/>
              </a:rPr>
              <a:t>needs a test mine</a:t>
            </a:r>
          </a:p>
        </p:txBody>
      </p:sp>
      <p:sp>
        <p:nvSpPr>
          <p:cNvPr id="22" name="TextBox 21"/>
          <p:cNvSpPr txBox="1"/>
          <p:nvPr/>
        </p:nvSpPr>
        <p:spPr>
          <a:xfrm>
            <a:off x="457200" y="3108960"/>
            <a:ext cx="5486400" cy="365760"/>
          </a:xfrm>
          <a:prstGeom prst="rect">
            <a:avLst/>
          </a:prstGeom>
          <a:noFill/>
        </p:spPr>
        <p:txBody>
          <a:bodyPr wrap="square" lIns="45720" rIns="45720" tIns="27432" bIns="27432" anchor="t">
            <a:spAutoFit/>
          </a:bodyPr>
          <a:lstStyle/>
          <a:p>
            <a:pPr algn="l"/>
            <a:r>
              <a:rPr sz="2000" b="1" i="0">
                <a:solidFill>
                  <a:srgbClr val="1B3A4B"/>
                </a:solidFill>
                <a:latin typeface="Calibri"/>
              </a:rPr>
              <a:t>Deliverables</a:t>
            </a:r>
          </a:p>
        </p:txBody>
      </p:sp>
      <p:sp>
        <p:nvSpPr>
          <p:cNvPr id="23" name="Rounded Rectangle 22"/>
          <p:cNvSpPr/>
          <p:nvPr/>
        </p:nvSpPr>
        <p:spPr>
          <a:xfrm>
            <a:off x="457200" y="3566160"/>
            <a:ext cx="5577840" cy="777240"/>
          </a:xfrm>
          <a:prstGeom prst="roundRect">
            <a:avLst>
              <a:gd name="adj" fmla="val 8000"/>
            </a:avLst>
          </a:prstGeom>
          <a:solidFill>
            <a:srgbClr val="E9E9E9"/>
          </a:solidFill>
          <a:ln w="9525">
            <a:solidFill>
              <a:srgbClr val="9A9A9A"/>
            </a:solidFill>
          </a:ln>
        </p:spPr>
        <p:txBody>
          <a:bodyPr rtlCol="0" anchor="ctr"/>
          <a:lstStyle/>
          <a:p>
            <a:pPr algn="ctr"/>
          </a:p>
        </p:txBody>
      </p:sp>
      <p:sp>
        <p:nvSpPr>
          <p:cNvPr id="24" name="Oval 23"/>
          <p:cNvSpPr/>
          <p:nvPr/>
        </p:nvSpPr>
        <p:spPr>
          <a:xfrm>
            <a:off x="594360" y="3758184"/>
            <a:ext cx="384048" cy="384048"/>
          </a:xfrm>
          <a:prstGeom prst="ellipse">
            <a:avLst/>
          </a:prstGeom>
          <a:solidFill>
            <a:srgbClr val="0071C1"/>
          </a:solidFill>
          <a:ln>
            <a:noFill/>
          </a:ln>
        </p:spPr>
        <p:txBody>
          <a:bodyPr rtlCol="0" anchor="ctr" lIns="36576" rIns="36576" tIns="0" bIns="0" wrap="square"/>
          <a:lstStyle/>
          <a:p>
            <a:pPr algn="ctr"/>
            <a:r>
              <a:rPr sz="1600" b="1">
                <a:solidFill>
                  <a:srgbClr val="FFFFFF"/>
                </a:solidFill>
                <a:latin typeface="Calibri"/>
              </a:rPr>
              <a:t>1</a:t>
            </a:r>
          </a:p>
        </p:txBody>
      </p:sp>
      <p:sp>
        <p:nvSpPr>
          <p:cNvPr id="25" name="TextBox 24"/>
          <p:cNvSpPr txBox="1"/>
          <p:nvPr/>
        </p:nvSpPr>
        <p:spPr>
          <a:xfrm>
            <a:off x="1097280" y="3602736"/>
            <a:ext cx="4800600" cy="704088"/>
          </a:xfrm>
          <a:prstGeom prst="rect">
            <a:avLst/>
          </a:prstGeom>
          <a:noFill/>
        </p:spPr>
        <p:txBody>
          <a:bodyPr wrap="square" lIns="45720" rIns="45720" tIns="27432" bIns="27432" anchor="ctr">
            <a:spAutoFit/>
          </a:bodyPr>
          <a:lstStyle/>
          <a:p>
            <a:pPr algn="l"/>
            <a:r>
              <a:rPr sz="1550" b="0" i="0">
                <a:solidFill>
                  <a:srgbClr val="1C2430"/>
                </a:solidFill>
                <a:latin typeface="Calibri"/>
              </a:rPr>
              <a:t>Hybrid FSO–LoRa prototype: transmitter, relays, surface base station</a:t>
            </a:r>
          </a:p>
        </p:txBody>
      </p:sp>
      <p:sp>
        <p:nvSpPr>
          <p:cNvPr id="26" name="Rounded Rectangle 25"/>
          <p:cNvSpPr/>
          <p:nvPr/>
        </p:nvSpPr>
        <p:spPr>
          <a:xfrm>
            <a:off x="6172200" y="3566160"/>
            <a:ext cx="5577840" cy="777240"/>
          </a:xfrm>
          <a:prstGeom prst="roundRect">
            <a:avLst>
              <a:gd name="adj" fmla="val 8000"/>
            </a:avLst>
          </a:prstGeom>
          <a:solidFill>
            <a:srgbClr val="E9E9E9"/>
          </a:solidFill>
          <a:ln w="9525">
            <a:solidFill>
              <a:srgbClr val="9A9A9A"/>
            </a:solidFill>
          </a:ln>
        </p:spPr>
        <p:txBody>
          <a:bodyPr rtlCol="0" anchor="ctr"/>
          <a:lstStyle/>
          <a:p>
            <a:pPr algn="ctr"/>
          </a:p>
        </p:txBody>
      </p:sp>
      <p:sp>
        <p:nvSpPr>
          <p:cNvPr id="27" name="Oval 26"/>
          <p:cNvSpPr/>
          <p:nvPr/>
        </p:nvSpPr>
        <p:spPr>
          <a:xfrm>
            <a:off x="6309360" y="3758184"/>
            <a:ext cx="384048" cy="384048"/>
          </a:xfrm>
          <a:prstGeom prst="ellipse">
            <a:avLst/>
          </a:prstGeom>
          <a:solidFill>
            <a:srgbClr val="0071C1"/>
          </a:solidFill>
          <a:ln>
            <a:noFill/>
          </a:ln>
        </p:spPr>
        <p:txBody>
          <a:bodyPr rtlCol="0" anchor="ctr" lIns="36576" rIns="36576" tIns="0" bIns="0" wrap="square"/>
          <a:lstStyle/>
          <a:p>
            <a:pPr algn="ctr"/>
            <a:r>
              <a:rPr sz="1600" b="1">
                <a:solidFill>
                  <a:srgbClr val="FFFFFF"/>
                </a:solidFill>
                <a:latin typeface="Calibri"/>
              </a:rPr>
              <a:t>2</a:t>
            </a:r>
          </a:p>
        </p:txBody>
      </p:sp>
      <p:sp>
        <p:nvSpPr>
          <p:cNvPr id="28" name="TextBox 27"/>
          <p:cNvSpPr txBox="1"/>
          <p:nvPr/>
        </p:nvSpPr>
        <p:spPr>
          <a:xfrm>
            <a:off x="6812280" y="3602736"/>
            <a:ext cx="4800600" cy="704088"/>
          </a:xfrm>
          <a:prstGeom prst="rect">
            <a:avLst/>
          </a:prstGeom>
          <a:noFill/>
        </p:spPr>
        <p:txBody>
          <a:bodyPr wrap="square" lIns="45720" rIns="45720" tIns="27432" bIns="27432" anchor="ctr">
            <a:spAutoFit/>
          </a:bodyPr>
          <a:lstStyle/>
          <a:p>
            <a:pPr algn="l"/>
            <a:r>
              <a:rPr sz="1550" b="0" i="0">
                <a:solidFill>
                  <a:srgbClr val="1C2430"/>
                </a:solidFill>
                <a:latin typeface="Calibri"/>
              </a:rPr>
              <a:t>Real-time video over more than one optical hop</a:t>
            </a:r>
          </a:p>
        </p:txBody>
      </p:sp>
      <p:sp>
        <p:nvSpPr>
          <p:cNvPr id="29" name="Rounded Rectangle 28"/>
          <p:cNvSpPr/>
          <p:nvPr/>
        </p:nvSpPr>
        <p:spPr>
          <a:xfrm>
            <a:off x="457200" y="4462272"/>
            <a:ext cx="5577840" cy="777240"/>
          </a:xfrm>
          <a:prstGeom prst="roundRect">
            <a:avLst>
              <a:gd name="adj" fmla="val 8000"/>
            </a:avLst>
          </a:prstGeom>
          <a:solidFill>
            <a:srgbClr val="E9E9E9"/>
          </a:solidFill>
          <a:ln w="9525">
            <a:solidFill>
              <a:srgbClr val="9A9A9A"/>
            </a:solidFill>
          </a:ln>
        </p:spPr>
        <p:txBody>
          <a:bodyPr rtlCol="0" anchor="ctr"/>
          <a:lstStyle/>
          <a:p>
            <a:pPr algn="ctr"/>
          </a:p>
        </p:txBody>
      </p:sp>
      <p:sp>
        <p:nvSpPr>
          <p:cNvPr id="30" name="Oval 29"/>
          <p:cNvSpPr/>
          <p:nvPr/>
        </p:nvSpPr>
        <p:spPr>
          <a:xfrm>
            <a:off x="594360" y="4654296"/>
            <a:ext cx="384048" cy="384048"/>
          </a:xfrm>
          <a:prstGeom prst="ellipse">
            <a:avLst/>
          </a:prstGeom>
          <a:solidFill>
            <a:srgbClr val="0071C1"/>
          </a:solidFill>
          <a:ln>
            <a:noFill/>
          </a:ln>
        </p:spPr>
        <p:txBody>
          <a:bodyPr rtlCol="0" anchor="ctr" lIns="36576" rIns="36576" tIns="0" bIns="0" wrap="square"/>
          <a:lstStyle/>
          <a:p>
            <a:pPr algn="ctr"/>
            <a:r>
              <a:rPr sz="1600" b="1">
                <a:solidFill>
                  <a:srgbClr val="FFFFFF"/>
                </a:solidFill>
                <a:latin typeface="Calibri"/>
              </a:rPr>
              <a:t>3</a:t>
            </a:r>
          </a:p>
        </p:txBody>
      </p:sp>
      <p:sp>
        <p:nvSpPr>
          <p:cNvPr id="31" name="TextBox 30"/>
          <p:cNvSpPr txBox="1"/>
          <p:nvPr/>
        </p:nvSpPr>
        <p:spPr>
          <a:xfrm>
            <a:off x="1097280" y="4498848"/>
            <a:ext cx="4800600" cy="704088"/>
          </a:xfrm>
          <a:prstGeom prst="rect">
            <a:avLst/>
          </a:prstGeom>
          <a:noFill/>
        </p:spPr>
        <p:txBody>
          <a:bodyPr wrap="square" lIns="45720" rIns="45720" tIns="27432" bIns="27432" anchor="ctr">
            <a:spAutoFit/>
          </a:bodyPr>
          <a:lstStyle/>
          <a:p>
            <a:pPr algn="l"/>
            <a:r>
              <a:rPr sz="1550" b="0" i="0">
                <a:solidFill>
                  <a:srgbClr val="1C2430"/>
                </a:solidFill>
                <a:latin typeface="Calibri"/>
              </a:rPr>
              <a:t>Auto-tracking recovering from deliberate misalignment</a:t>
            </a:r>
          </a:p>
        </p:txBody>
      </p:sp>
      <p:sp>
        <p:nvSpPr>
          <p:cNvPr id="32" name="Rounded Rectangle 31"/>
          <p:cNvSpPr/>
          <p:nvPr/>
        </p:nvSpPr>
        <p:spPr>
          <a:xfrm>
            <a:off x="6172200" y="4462272"/>
            <a:ext cx="5577840" cy="777240"/>
          </a:xfrm>
          <a:prstGeom prst="roundRect">
            <a:avLst>
              <a:gd name="adj" fmla="val 8000"/>
            </a:avLst>
          </a:prstGeom>
          <a:solidFill>
            <a:srgbClr val="E9E9E9"/>
          </a:solidFill>
          <a:ln w="9525">
            <a:solidFill>
              <a:srgbClr val="9A9A9A"/>
            </a:solidFill>
          </a:ln>
        </p:spPr>
        <p:txBody>
          <a:bodyPr rtlCol="0" anchor="ctr"/>
          <a:lstStyle/>
          <a:p>
            <a:pPr algn="ctr"/>
          </a:p>
        </p:txBody>
      </p:sp>
      <p:sp>
        <p:nvSpPr>
          <p:cNvPr id="33" name="Oval 32"/>
          <p:cNvSpPr/>
          <p:nvPr/>
        </p:nvSpPr>
        <p:spPr>
          <a:xfrm>
            <a:off x="6309360" y="4654296"/>
            <a:ext cx="384048" cy="384048"/>
          </a:xfrm>
          <a:prstGeom prst="ellipse">
            <a:avLst/>
          </a:prstGeom>
          <a:solidFill>
            <a:srgbClr val="0071C1"/>
          </a:solidFill>
          <a:ln>
            <a:noFill/>
          </a:ln>
        </p:spPr>
        <p:txBody>
          <a:bodyPr rtlCol="0" anchor="ctr" lIns="36576" rIns="36576" tIns="0" bIns="0" wrap="square"/>
          <a:lstStyle/>
          <a:p>
            <a:pPr algn="ctr"/>
            <a:r>
              <a:rPr sz="1600" b="1">
                <a:solidFill>
                  <a:srgbClr val="FFFFFF"/>
                </a:solidFill>
                <a:latin typeface="Calibri"/>
              </a:rPr>
              <a:t>4</a:t>
            </a:r>
          </a:p>
        </p:txBody>
      </p:sp>
      <p:sp>
        <p:nvSpPr>
          <p:cNvPr id="34" name="TextBox 33"/>
          <p:cNvSpPr txBox="1"/>
          <p:nvPr/>
        </p:nvSpPr>
        <p:spPr>
          <a:xfrm>
            <a:off x="6812280" y="4498848"/>
            <a:ext cx="4800600" cy="704088"/>
          </a:xfrm>
          <a:prstGeom prst="rect">
            <a:avLst/>
          </a:prstGeom>
          <a:noFill/>
        </p:spPr>
        <p:txBody>
          <a:bodyPr wrap="square" lIns="45720" rIns="45720" tIns="27432" bIns="27432" anchor="ctr">
            <a:spAutoFit/>
          </a:bodyPr>
          <a:lstStyle/>
          <a:p>
            <a:pPr algn="l"/>
            <a:r>
              <a:rPr sz="1550" b="0" i="0">
                <a:solidFill>
                  <a:srgbClr val="1C2430"/>
                </a:solidFill>
                <a:latin typeface="Calibri"/>
              </a:rPr>
              <a:t>LoRa alert delivered when a hop is interrupted</a:t>
            </a:r>
          </a:p>
        </p:txBody>
      </p:sp>
      <p:sp>
        <p:nvSpPr>
          <p:cNvPr id="35" name="Rounded Rectangle 34"/>
          <p:cNvSpPr/>
          <p:nvPr/>
        </p:nvSpPr>
        <p:spPr>
          <a:xfrm>
            <a:off x="457200" y="5358383"/>
            <a:ext cx="11292840" cy="777240"/>
          </a:xfrm>
          <a:prstGeom prst="roundRect">
            <a:avLst>
              <a:gd name="adj" fmla="val 8000"/>
            </a:avLst>
          </a:prstGeom>
          <a:solidFill>
            <a:srgbClr val="E9E9E9"/>
          </a:solidFill>
          <a:ln w="9525">
            <a:solidFill>
              <a:srgbClr val="9A9A9A"/>
            </a:solidFill>
          </a:ln>
        </p:spPr>
        <p:txBody>
          <a:bodyPr rtlCol="0" anchor="ctr"/>
          <a:lstStyle/>
          <a:p>
            <a:pPr algn="ctr"/>
          </a:p>
        </p:txBody>
      </p:sp>
      <p:sp>
        <p:nvSpPr>
          <p:cNvPr id="36" name="Oval 35"/>
          <p:cNvSpPr/>
          <p:nvPr/>
        </p:nvSpPr>
        <p:spPr>
          <a:xfrm>
            <a:off x="594360" y="5550407"/>
            <a:ext cx="384048" cy="384048"/>
          </a:xfrm>
          <a:prstGeom prst="ellipse">
            <a:avLst/>
          </a:prstGeom>
          <a:solidFill>
            <a:srgbClr val="0071C1"/>
          </a:solidFill>
          <a:ln>
            <a:noFill/>
          </a:ln>
        </p:spPr>
        <p:txBody>
          <a:bodyPr rtlCol="0" anchor="ctr" lIns="36576" rIns="36576" tIns="0" bIns="0" wrap="square"/>
          <a:lstStyle/>
          <a:p>
            <a:pPr algn="ctr"/>
            <a:r>
              <a:rPr sz="1600" b="1">
                <a:solidFill>
                  <a:srgbClr val="FFFFFF"/>
                </a:solidFill>
                <a:latin typeface="Calibri"/>
              </a:rPr>
              <a:t>5</a:t>
            </a:r>
          </a:p>
        </p:txBody>
      </p:sp>
      <p:sp>
        <p:nvSpPr>
          <p:cNvPr id="37" name="TextBox 36"/>
          <p:cNvSpPr txBox="1"/>
          <p:nvPr/>
        </p:nvSpPr>
        <p:spPr>
          <a:xfrm>
            <a:off x="1097280" y="5394959"/>
            <a:ext cx="10515600" cy="704088"/>
          </a:xfrm>
          <a:prstGeom prst="rect">
            <a:avLst/>
          </a:prstGeom>
          <a:noFill/>
        </p:spPr>
        <p:txBody>
          <a:bodyPr wrap="square" lIns="45720" rIns="45720" tIns="27432" bIns="27432" anchor="ctr">
            <a:spAutoFit/>
          </a:bodyPr>
          <a:lstStyle/>
          <a:p>
            <a:pPr algn="l"/>
            <a:r>
              <a:rPr sz="1550" b="0" i="0">
                <a:solidFill>
                  <a:srgbClr val="1C2430"/>
                </a:solidFill>
                <a:latin typeface="Calibri"/>
              </a:rPr>
              <a:t>Validation report, deployment guidelines, commercialization plan, patent filing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4" name="Section"/>
          <p:cNvSpPr txBox="1"/>
          <p:nvPr/>
        </p:nvSpPr>
        <p:spPr>
          <a:xfrm>
            <a:off x="457200" y="182880"/>
            <a:ext cx="11247120" cy="256032"/>
          </a:xfrm>
          <a:prstGeom prst="rect">
            <a:avLst/>
          </a:prstGeom>
          <a:noFill/>
        </p:spPr>
        <p:txBody>
          <a:bodyPr wrap="square" lIns="45720" rIns="45720" tIns="27432" bIns="27432" anchor="t">
            <a:spAutoFit/>
          </a:bodyPr>
          <a:lstStyle/>
          <a:p>
            <a:pPr algn="l"/>
            <a:r>
              <a:rPr sz="1300" b="1" i="0">
                <a:solidFill>
                  <a:srgbClr val="B5740A"/>
                </a:solidFill>
                <a:latin typeface="Calibri"/>
              </a:rPr>
              <a:t>06     ·     INDUSTRY READINESS AND COLLABORATION</a:t>
            </a:r>
          </a:p>
        </p:txBody>
      </p:sp>
      <p:sp>
        <p:nvSpPr>
          <p:cNvPr id="5" name="Title"/>
          <p:cNvSpPr txBox="1"/>
          <p:nvPr/>
        </p:nvSpPr>
        <p:spPr>
          <a:xfrm>
            <a:off x="438912" y="420624"/>
            <a:ext cx="11338560" cy="502920"/>
          </a:xfrm>
          <a:prstGeom prst="rect">
            <a:avLst/>
          </a:prstGeom>
          <a:noFill/>
        </p:spPr>
        <p:txBody>
          <a:bodyPr wrap="square" lIns="45720" rIns="45720" tIns="27432" bIns="27432" anchor="t">
            <a:spAutoFit/>
          </a:bodyPr>
          <a:lstStyle/>
          <a:p>
            <a:pPr algn="l"/>
            <a:r>
              <a:rPr sz="2800" b="1" i="0">
                <a:solidFill>
                  <a:srgbClr val="1B3A4B"/>
                </a:solidFill>
                <a:latin typeface="Calibri"/>
              </a:rPr>
              <a:t>Industry engagement</a:t>
            </a:r>
          </a:p>
        </p:txBody>
      </p:sp>
      <p:sp>
        <p:nvSpPr>
          <p:cNvPr id="6" name="Footer rule"/>
          <p:cNvSpPr/>
          <p:nvPr/>
        </p:nvSpPr>
        <p:spPr>
          <a:xfrm>
            <a:off x="457200" y="6565392"/>
            <a:ext cx="11292840" cy="9144"/>
          </a:xfrm>
          <a:prstGeom prst="rect">
            <a:avLst/>
          </a:prstGeom>
          <a:solidFill>
            <a:srgbClr val="D0D0D0"/>
          </a:solidFill>
          <a:ln>
            <a:noFill/>
          </a:ln>
        </p:spPr>
        <p:txBody>
          <a:bodyPr rtlCol="0" anchor="ctr"/>
          <a:lstStyle/>
          <a:p>
            <a:pPr algn="ctr"/>
          </a:p>
        </p:txBody>
      </p:sp>
      <p:sp>
        <p:nvSpPr>
          <p:cNvPr id="7"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Industry</a:t>
            </a:r>
          </a:p>
        </p:txBody>
      </p:sp>
      <p:sp>
        <p:nvSpPr>
          <p:cNvPr id="8"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11  /  15</a:t>
            </a:r>
          </a:p>
        </p:txBody>
      </p:sp>
      <p:sp>
        <p:nvSpPr>
          <p:cNvPr id="9" name="Rounded Rectangle 8"/>
          <p:cNvSpPr/>
          <p:nvPr/>
        </p:nvSpPr>
        <p:spPr>
          <a:xfrm>
            <a:off x="457200" y="1051560"/>
            <a:ext cx="11292840" cy="685800"/>
          </a:xfrm>
          <a:prstGeom prst="roundRect">
            <a:avLst>
              <a:gd name="adj" fmla="val 8000"/>
            </a:avLst>
          </a:prstGeom>
          <a:solidFill>
            <a:srgbClr val="0071C1"/>
          </a:solidFill>
          <a:ln w="9525">
            <a:solidFill>
              <a:srgbClr val="00548F"/>
            </a:solidFill>
          </a:ln>
        </p:spPr>
        <p:txBody>
          <a:bodyPr rtlCol="0" anchor="ctr"/>
          <a:lstStyle/>
          <a:p>
            <a:pPr algn="ctr"/>
          </a:p>
        </p:txBody>
      </p:sp>
      <p:sp>
        <p:nvSpPr>
          <p:cNvPr id="10" name="TextBox 9"/>
          <p:cNvSpPr txBox="1"/>
          <p:nvPr/>
        </p:nvSpPr>
        <p:spPr>
          <a:xfrm>
            <a:off x="640080" y="1069848"/>
            <a:ext cx="10881360" cy="640080"/>
          </a:xfrm>
          <a:prstGeom prst="rect">
            <a:avLst/>
          </a:prstGeom>
          <a:noFill/>
        </p:spPr>
        <p:txBody>
          <a:bodyPr wrap="square" lIns="45720" rIns="45720" tIns="27432" bIns="27432" anchor="ctr">
            <a:spAutoFit/>
          </a:bodyPr>
          <a:lstStyle/>
          <a:p>
            <a:pPr algn="l"/>
            <a:r>
              <a:rPr sz="1700" b="1" i="0">
                <a:solidFill>
                  <a:srgbClr val="FFFFFF"/>
                </a:solidFill>
                <a:latin typeface="Calibri"/>
              </a:rPr>
              <a:t>No industry letter is attached yet. We plan to get one after a supervised trial with an operator or manufacturer.</a:t>
            </a:r>
          </a:p>
        </p:txBody>
      </p:sp>
      <p:sp>
        <p:nvSpPr>
          <p:cNvPr id="11" name="Oval 10"/>
          <p:cNvSpPr/>
          <p:nvPr/>
        </p:nvSpPr>
        <p:spPr>
          <a:xfrm>
            <a:off x="502920" y="2011680"/>
            <a:ext cx="384048" cy="384048"/>
          </a:xfrm>
          <a:prstGeom prst="ellipse">
            <a:avLst/>
          </a:prstGeom>
          <a:solidFill>
            <a:srgbClr val="ED7D31"/>
          </a:solidFill>
          <a:ln>
            <a:noFill/>
          </a:ln>
        </p:spPr>
        <p:txBody>
          <a:bodyPr rtlCol="0" anchor="ctr" lIns="36576" rIns="36576" tIns="0" bIns="0" wrap="square"/>
          <a:lstStyle/>
          <a:p>
            <a:pPr algn="ctr"/>
            <a:r>
              <a:rPr sz="1600" b="1">
                <a:solidFill>
                  <a:srgbClr val="FFFFFF"/>
                </a:solidFill>
                <a:latin typeface="Calibri"/>
              </a:rPr>
              <a:t>1</a:t>
            </a:r>
          </a:p>
        </p:txBody>
      </p:sp>
      <p:sp>
        <p:nvSpPr>
          <p:cNvPr id="12" name="TextBox 11"/>
          <p:cNvSpPr txBox="1"/>
          <p:nvPr/>
        </p:nvSpPr>
        <p:spPr>
          <a:xfrm>
            <a:off x="960120" y="2029968"/>
            <a:ext cx="2194560" cy="365760"/>
          </a:xfrm>
          <a:prstGeom prst="rect">
            <a:avLst/>
          </a:prstGeom>
          <a:noFill/>
        </p:spPr>
        <p:txBody>
          <a:bodyPr wrap="square" lIns="45720" rIns="45720" tIns="27432" bIns="27432" anchor="t">
            <a:spAutoFit/>
          </a:bodyPr>
          <a:lstStyle/>
          <a:p>
            <a:pPr algn="l"/>
            <a:r>
              <a:rPr sz="1500" b="1" i="0">
                <a:solidFill>
                  <a:srgbClr val="C55A11"/>
                </a:solidFill>
                <a:latin typeface="Calibri"/>
              </a:rPr>
              <a:t>Months 1–6</a:t>
            </a:r>
          </a:p>
        </p:txBody>
      </p:sp>
      <p:sp>
        <p:nvSpPr>
          <p:cNvPr id="13" name="TextBox 12"/>
          <p:cNvSpPr txBox="1"/>
          <p:nvPr/>
        </p:nvSpPr>
        <p:spPr>
          <a:xfrm>
            <a:off x="457200" y="2560320"/>
            <a:ext cx="2697480" cy="411480"/>
          </a:xfrm>
          <a:prstGeom prst="rect">
            <a:avLst/>
          </a:prstGeom>
          <a:noFill/>
        </p:spPr>
        <p:txBody>
          <a:bodyPr wrap="square" lIns="45720" rIns="45720" tIns="27432" bIns="27432" anchor="t">
            <a:spAutoFit/>
          </a:bodyPr>
          <a:lstStyle/>
          <a:p>
            <a:pPr algn="l"/>
            <a:r>
              <a:rPr sz="2000" b="1" i="0">
                <a:solidFill>
                  <a:srgbClr val="1B3A4B"/>
                </a:solidFill>
                <a:latin typeface="Calibri"/>
              </a:rPr>
              <a:t>Find partners</a:t>
            </a:r>
          </a:p>
        </p:txBody>
      </p:sp>
      <p:sp>
        <p:nvSpPr>
          <p:cNvPr id="14" name="TextBox 13"/>
          <p:cNvSpPr txBox="1"/>
          <p:nvPr/>
        </p:nvSpPr>
        <p:spPr>
          <a:xfrm>
            <a:off x="457200" y="3017520"/>
            <a:ext cx="2697480" cy="1554480"/>
          </a:xfrm>
          <a:prstGeom prst="rect">
            <a:avLst/>
          </a:prstGeom>
          <a:noFill/>
        </p:spPr>
        <p:txBody>
          <a:bodyPr wrap="square" lIns="45720" rIns="45720" tIns="27432" bIns="27432" anchor="t">
            <a:spAutoFit/>
          </a:bodyPr>
          <a:lstStyle/>
          <a:p>
            <a:pPr algn="l"/>
            <a:r>
              <a:rPr sz="1550" b="0" i="0">
                <a:solidFill>
                  <a:srgbClr val="1C2430"/>
                </a:solidFill>
                <a:latin typeface="Calibri"/>
              </a:rPr>
              <a:t>Identify an underground operator and a mine-communications maker with TEXMiN and the industry cell. Ask for a letter of interest.</a:t>
            </a:r>
          </a:p>
        </p:txBody>
      </p:sp>
      <p:sp>
        <p:nvSpPr>
          <p:cNvPr id="15" name="Oval 14"/>
          <p:cNvSpPr/>
          <p:nvPr/>
        </p:nvSpPr>
        <p:spPr>
          <a:xfrm>
            <a:off x="3355848" y="2011680"/>
            <a:ext cx="384048" cy="384048"/>
          </a:xfrm>
          <a:prstGeom prst="ellipse">
            <a:avLst/>
          </a:prstGeom>
          <a:solidFill>
            <a:srgbClr val="ED7D31"/>
          </a:solidFill>
          <a:ln>
            <a:noFill/>
          </a:ln>
        </p:spPr>
        <p:txBody>
          <a:bodyPr rtlCol="0" anchor="ctr" lIns="36576" rIns="36576" tIns="0" bIns="0" wrap="square"/>
          <a:lstStyle/>
          <a:p>
            <a:pPr algn="ctr"/>
            <a:r>
              <a:rPr sz="1600" b="1">
                <a:solidFill>
                  <a:srgbClr val="FFFFFF"/>
                </a:solidFill>
                <a:latin typeface="Calibri"/>
              </a:rPr>
              <a:t>2</a:t>
            </a:r>
          </a:p>
        </p:txBody>
      </p:sp>
      <p:sp>
        <p:nvSpPr>
          <p:cNvPr id="16" name="TextBox 15"/>
          <p:cNvSpPr txBox="1"/>
          <p:nvPr/>
        </p:nvSpPr>
        <p:spPr>
          <a:xfrm>
            <a:off x="3813048" y="2029968"/>
            <a:ext cx="2194560" cy="365760"/>
          </a:xfrm>
          <a:prstGeom prst="rect">
            <a:avLst/>
          </a:prstGeom>
          <a:noFill/>
        </p:spPr>
        <p:txBody>
          <a:bodyPr wrap="square" lIns="45720" rIns="45720" tIns="27432" bIns="27432" anchor="t">
            <a:spAutoFit/>
          </a:bodyPr>
          <a:lstStyle/>
          <a:p>
            <a:pPr algn="l"/>
            <a:r>
              <a:rPr sz="1500" b="1" i="0">
                <a:solidFill>
                  <a:srgbClr val="C55A11"/>
                </a:solidFill>
                <a:latin typeface="Calibri"/>
              </a:rPr>
              <a:t>Months 6–12</a:t>
            </a:r>
          </a:p>
        </p:txBody>
      </p:sp>
      <p:sp>
        <p:nvSpPr>
          <p:cNvPr id="17" name="TextBox 16"/>
          <p:cNvSpPr txBox="1"/>
          <p:nvPr/>
        </p:nvSpPr>
        <p:spPr>
          <a:xfrm>
            <a:off x="3310128" y="2560320"/>
            <a:ext cx="2697480" cy="411480"/>
          </a:xfrm>
          <a:prstGeom prst="rect">
            <a:avLst/>
          </a:prstGeom>
          <a:noFill/>
        </p:spPr>
        <p:txBody>
          <a:bodyPr wrap="square" lIns="45720" rIns="45720" tIns="27432" bIns="27432" anchor="t">
            <a:spAutoFit/>
          </a:bodyPr>
          <a:lstStyle/>
          <a:p>
            <a:pPr algn="l"/>
            <a:r>
              <a:rPr sz="2000" b="1" i="0">
                <a:solidFill>
                  <a:srgbClr val="1B3A4B"/>
                </a:solidFill>
                <a:latin typeface="Calibri"/>
              </a:rPr>
              <a:t>Workshop</a:t>
            </a:r>
          </a:p>
        </p:txBody>
      </p:sp>
      <p:sp>
        <p:nvSpPr>
          <p:cNvPr id="18" name="TextBox 17"/>
          <p:cNvSpPr txBox="1"/>
          <p:nvPr/>
        </p:nvSpPr>
        <p:spPr>
          <a:xfrm>
            <a:off x="3310128" y="3017520"/>
            <a:ext cx="2697480" cy="1554480"/>
          </a:xfrm>
          <a:prstGeom prst="rect">
            <a:avLst/>
          </a:prstGeom>
          <a:noFill/>
        </p:spPr>
        <p:txBody>
          <a:bodyPr wrap="square" lIns="45720" rIns="45720" tIns="27432" bIns="27432" anchor="t">
            <a:spAutoFit/>
          </a:bodyPr>
          <a:lstStyle/>
          <a:p>
            <a:pPr algn="l"/>
            <a:r>
              <a:rPr sz="1550" b="0" i="0">
                <a:solidFill>
                  <a:srgbClr val="1C2430"/>
                </a:solidFill>
                <a:latin typeface="Calibri"/>
              </a:rPr>
              <a:t>Their engineer on mounting, power, dust, gas zones. Constraints frozen before the enclosure closes.</a:t>
            </a:r>
          </a:p>
        </p:txBody>
      </p:sp>
      <p:sp>
        <p:nvSpPr>
          <p:cNvPr id="19" name="Oval 18"/>
          <p:cNvSpPr/>
          <p:nvPr/>
        </p:nvSpPr>
        <p:spPr>
          <a:xfrm>
            <a:off x="6208776" y="2011680"/>
            <a:ext cx="384048" cy="384048"/>
          </a:xfrm>
          <a:prstGeom prst="ellipse">
            <a:avLst/>
          </a:prstGeom>
          <a:solidFill>
            <a:srgbClr val="ED7D31"/>
          </a:solidFill>
          <a:ln>
            <a:noFill/>
          </a:ln>
        </p:spPr>
        <p:txBody>
          <a:bodyPr rtlCol="0" anchor="ctr" lIns="36576" rIns="36576" tIns="0" bIns="0" wrap="square"/>
          <a:lstStyle/>
          <a:p>
            <a:pPr algn="ctr"/>
            <a:r>
              <a:rPr sz="1600" b="1">
                <a:solidFill>
                  <a:srgbClr val="FFFFFF"/>
                </a:solidFill>
                <a:latin typeface="Calibri"/>
              </a:rPr>
              <a:t>3</a:t>
            </a:r>
          </a:p>
        </p:txBody>
      </p:sp>
      <p:sp>
        <p:nvSpPr>
          <p:cNvPr id="20" name="TextBox 19"/>
          <p:cNvSpPr txBox="1"/>
          <p:nvPr/>
        </p:nvSpPr>
        <p:spPr>
          <a:xfrm>
            <a:off x="6665976" y="2029968"/>
            <a:ext cx="2194560" cy="365760"/>
          </a:xfrm>
          <a:prstGeom prst="rect">
            <a:avLst/>
          </a:prstGeom>
          <a:noFill/>
        </p:spPr>
        <p:txBody>
          <a:bodyPr wrap="square" lIns="45720" rIns="45720" tIns="27432" bIns="27432" anchor="t">
            <a:spAutoFit/>
          </a:bodyPr>
          <a:lstStyle/>
          <a:p>
            <a:pPr algn="l"/>
            <a:r>
              <a:rPr sz="1500" b="1" i="0">
                <a:solidFill>
                  <a:srgbClr val="C55A11"/>
                </a:solidFill>
                <a:latin typeface="Calibri"/>
              </a:rPr>
              <a:t>Months 18–22</a:t>
            </a:r>
          </a:p>
        </p:txBody>
      </p:sp>
      <p:sp>
        <p:nvSpPr>
          <p:cNvPr id="21" name="TextBox 20"/>
          <p:cNvSpPr txBox="1"/>
          <p:nvPr/>
        </p:nvSpPr>
        <p:spPr>
          <a:xfrm>
            <a:off x="6163056" y="2560320"/>
            <a:ext cx="2697480" cy="411480"/>
          </a:xfrm>
          <a:prstGeom prst="rect">
            <a:avLst/>
          </a:prstGeom>
          <a:noFill/>
        </p:spPr>
        <p:txBody>
          <a:bodyPr wrap="square" lIns="45720" rIns="45720" tIns="27432" bIns="27432" anchor="t">
            <a:spAutoFit/>
          </a:bodyPr>
          <a:lstStyle/>
          <a:p>
            <a:pPr algn="l"/>
            <a:r>
              <a:rPr sz="2000" b="1" i="0">
                <a:solidFill>
                  <a:srgbClr val="1B3A4B"/>
                </a:solidFill>
                <a:latin typeface="Calibri"/>
              </a:rPr>
              <a:t>Trial</a:t>
            </a:r>
          </a:p>
        </p:txBody>
      </p:sp>
      <p:sp>
        <p:nvSpPr>
          <p:cNvPr id="22" name="TextBox 21"/>
          <p:cNvSpPr txBox="1"/>
          <p:nvPr/>
        </p:nvSpPr>
        <p:spPr>
          <a:xfrm>
            <a:off x="6163056" y="3017520"/>
            <a:ext cx="2697480" cy="1554480"/>
          </a:xfrm>
          <a:prstGeom prst="rect">
            <a:avLst/>
          </a:prstGeom>
          <a:noFill/>
        </p:spPr>
        <p:txBody>
          <a:bodyPr wrap="square" lIns="45720" rIns="45720" tIns="27432" bIns="27432" anchor="t">
            <a:spAutoFit/>
          </a:bodyPr>
          <a:lstStyle/>
          <a:p>
            <a:pPr algn="l"/>
            <a:r>
              <a:rPr sz="1550" b="0" i="0">
                <a:solidFill>
                  <a:srgbClr val="1C2430"/>
                </a:solidFill>
                <a:latin typeface="Calibri"/>
              </a:rPr>
              <a:t>TEXMiN test mine or partner drift, engineer present. Report video, realignment, alert delivery.</a:t>
            </a:r>
          </a:p>
        </p:txBody>
      </p:sp>
      <p:sp>
        <p:nvSpPr>
          <p:cNvPr id="23" name="Oval 22"/>
          <p:cNvSpPr/>
          <p:nvPr/>
        </p:nvSpPr>
        <p:spPr>
          <a:xfrm>
            <a:off x="9061704" y="2011680"/>
            <a:ext cx="384048" cy="384048"/>
          </a:xfrm>
          <a:prstGeom prst="ellipse">
            <a:avLst/>
          </a:prstGeom>
          <a:solidFill>
            <a:srgbClr val="0071C1"/>
          </a:solidFill>
          <a:ln>
            <a:noFill/>
          </a:ln>
        </p:spPr>
        <p:txBody>
          <a:bodyPr rtlCol="0" anchor="ctr" lIns="36576" rIns="36576" tIns="0" bIns="0" wrap="square"/>
          <a:lstStyle/>
          <a:p>
            <a:pPr algn="ctr"/>
            <a:r>
              <a:rPr sz="1600" b="1">
                <a:solidFill>
                  <a:srgbClr val="FFFFFF"/>
                </a:solidFill>
                <a:latin typeface="Calibri"/>
              </a:rPr>
              <a:t>4</a:t>
            </a:r>
          </a:p>
        </p:txBody>
      </p:sp>
      <p:sp>
        <p:nvSpPr>
          <p:cNvPr id="24" name="TextBox 23"/>
          <p:cNvSpPr txBox="1"/>
          <p:nvPr/>
        </p:nvSpPr>
        <p:spPr>
          <a:xfrm>
            <a:off x="9518904" y="2029968"/>
            <a:ext cx="2194560" cy="365760"/>
          </a:xfrm>
          <a:prstGeom prst="rect">
            <a:avLst/>
          </a:prstGeom>
          <a:noFill/>
        </p:spPr>
        <p:txBody>
          <a:bodyPr wrap="square" lIns="45720" rIns="45720" tIns="27432" bIns="27432" anchor="t">
            <a:spAutoFit/>
          </a:bodyPr>
          <a:lstStyle/>
          <a:p>
            <a:pPr algn="l"/>
            <a:r>
              <a:rPr sz="1500" b="1" i="0">
                <a:solidFill>
                  <a:srgbClr val="C55A11"/>
                </a:solidFill>
                <a:latin typeface="Calibri"/>
              </a:rPr>
              <a:t>Months 22–24</a:t>
            </a:r>
          </a:p>
        </p:txBody>
      </p:sp>
      <p:sp>
        <p:nvSpPr>
          <p:cNvPr id="25" name="TextBox 24"/>
          <p:cNvSpPr txBox="1"/>
          <p:nvPr/>
        </p:nvSpPr>
        <p:spPr>
          <a:xfrm>
            <a:off x="9015984" y="2560320"/>
            <a:ext cx="2697480" cy="411480"/>
          </a:xfrm>
          <a:prstGeom prst="rect">
            <a:avLst/>
          </a:prstGeom>
          <a:noFill/>
        </p:spPr>
        <p:txBody>
          <a:bodyPr wrap="square" lIns="45720" rIns="45720" tIns="27432" bIns="27432" anchor="t">
            <a:spAutoFit/>
          </a:bodyPr>
          <a:lstStyle/>
          <a:p>
            <a:pPr algn="l"/>
            <a:r>
              <a:rPr sz="2000" b="1" i="0">
                <a:solidFill>
                  <a:srgbClr val="1B3A4B"/>
                </a:solidFill>
                <a:latin typeface="Calibri"/>
              </a:rPr>
              <a:t>Next step</a:t>
            </a:r>
          </a:p>
        </p:txBody>
      </p:sp>
      <p:sp>
        <p:nvSpPr>
          <p:cNvPr id="26" name="TextBox 25"/>
          <p:cNvSpPr txBox="1"/>
          <p:nvPr/>
        </p:nvSpPr>
        <p:spPr>
          <a:xfrm>
            <a:off x="9015984" y="3017520"/>
            <a:ext cx="2697480" cy="1554480"/>
          </a:xfrm>
          <a:prstGeom prst="rect">
            <a:avLst/>
          </a:prstGeom>
          <a:noFill/>
        </p:spPr>
        <p:txBody>
          <a:bodyPr wrap="square" lIns="45720" rIns="45720" tIns="27432" bIns="27432" anchor="t">
            <a:spAutoFit/>
          </a:bodyPr>
          <a:lstStyle/>
          <a:p>
            <a:pPr algn="l"/>
            <a:r>
              <a:rPr sz="1550" b="0" i="0">
                <a:solidFill>
                  <a:srgbClr val="1C2430"/>
                </a:solidFill>
                <a:latin typeface="Calibri"/>
              </a:rPr>
              <a:t>Licence or pilot talk. FTBI incubation if it becomes a venture.</a:t>
            </a:r>
          </a:p>
        </p:txBody>
      </p:sp>
      <p:sp>
        <p:nvSpPr>
          <p:cNvPr id="27" name="Rounded Rectangle 26"/>
          <p:cNvSpPr/>
          <p:nvPr/>
        </p:nvSpPr>
        <p:spPr>
          <a:xfrm>
            <a:off x="457200" y="4663440"/>
            <a:ext cx="5577840" cy="1600200"/>
          </a:xfrm>
          <a:prstGeom prst="roundRect">
            <a:avLst>
              <a:gd name="adj" fmla="val 8000"/>
            </a:avLst>
          </a:prstGeom>
          <a:solidFill>
            <a:srgbClr val="E9E9E9"/>
          </a:solidFill>
          <a:ln w="9525">
            <a:solidFill>
              <a:srgbClr val="9A9A9A"/>
            </a:solidFill>
          </a:ln>
        </p:spPr>
        <p:txBody>
          <a:bodyPr rtlCol="0" anchor="ctr"/>
          <a:lstStyle/>
          <a:p>
            <a:pPr algn="ctr"/>
          </a:p>
        </p:txBody>
      </p:sp>
      <p:sp>
        <p:nvSpPr>
          <p:cNvPr id="28" name="TextBox 27"/>
          <p:cNvSpPr txBox="1"/>
          <p:nvPr/>
        </p:nvSpPr>
        <p:spPr>
          <a:xfrm>
            <a:off x="640080" y="4754880"/>
            <a:ext cx="5212080" cy="365760"/>
          </a:xfrm>
          <a:prstGeom prst="rect">
            <a:avLst/>
          </a:prstGeom>
          <a:noFill/>
        </p:spPr>
        <p:txBody>
          <a:bodyPr wrap="square" lIns="45720" rIns="45720" tIns="27432" bIns="27432" anchor="t">
            <a:spAutoFit/>
          </a:bodyPr>
          <a:lstStyle/>
          <a:p>
            <a:pPr algn="l"/>
            <a:r>
              <a:rPr sz="1800" b="1" i="0">
                <a:solidFill>
                  <a:srgbClr val="1B3A4B"/>
                </a:solidFill>
                <a:latin typeface="Calibri"/>
              </a:rPr>
              <a:t>Users</a:t>
            </a:r>
          </a:p>
        </p:txBody>
      </p:sp>
      <p:sp>
        <p:nvSpPr>
          <p:cNvPr id="29" name="TextBox 28"/>
          <p:cNvSpPr txBox="1"/>
          <p:nvPr/>
        </p:nvSpPr>
        <p:spPr>
          <a:xfrm>
            <a:off x="640080" y="5166360"/>
            <a:ext cx="5212080" cy="1005840"/>
          </a:xfrm>
          <a:prstGeom prst="rect">
            <a:avLst/>
          </a:prstGeom>
          <a:noFill/>
        </p:spPr>
        <p:txBody>
          <a:bodyPr wrap="square" lIns="45720" rIns="45720" tIns="27432" bIns="27432" anchor="t">
            <a:spAutoFit/>
          </a:bodyPr>
          <a:lstStyle/>
          <a:p>
            <a:pPr algn="l"/>
            <a:r>
              <a:rPr sz="1500" b="0" i="0">
                <a:solidFill>
                  <a:srgbClr val="1C2430"/>
                </a:solidFill>
                <a:latin typeface="Calibri"/>
              </a:rPr>
              <a:t>Underground coal and metal mines (managers, safety officers, rescue rooms) and mine-communication equipment makers.</a:t>
            </a:r>
          </a:p>
        </p:txBody>
      </p:sp>
      <p:sp>
        <p:nvSpPr>
          <p:cNvPr id="30" name="Rounded Rectangle 29"/>
          <p:cNvSpPr/>
          <p:nvPr/>
        </p:nvSpPr>
        <p:spPr>
          <a:xfrm>
            <a:off x="6172200" y="4663440"/>
            <a:ext cx="5577840" cy="1600200"/>
          </a:xfrm>
          <a:prstGeom prst="roundRect">
            <a:avLst>
              <a:gd name="adj" fmla="val 8000"/>
            </a:avLst>
          </a:prstGeom>
          <a:solidFill>
            <a:srgbClr val="E9E9E9"/>
          </a:solidFill>
          <a:ln w="9525">
            <a:solidFill>
              <a:srgbClr val="9A9A9A"/>
            </a:solidFill>
          </a:ln>
        </p:spPr>
        <p:txBody>
          <a:bodyPr rtlCol="0" anchor="ctr"/>
          <a:lstStyle/>
          <a:p>
            <a:pPr algn="ctr"/>
          </a:p>
        </p:txBody>
      </p:sp>
      <p:sp>
        <p:nvSpPr>
          <p:cNvPr id="31" name="TextBox 30"/>
          <p:cNvSpPr txBox="1"/>
          <p:nvPr/>
        </p:nvSpPr>
        <p:spPr>
          <a:xfrm>
            <a:off x="6355080" y="4754880"/>
            <a:ext cx="5212080" cy="365760"/>
          </a:xfrm>
          <a:prstGeom prst="rect">
            <a:avLst/>
          </a:prstGeom>
          <a:noFill/>
        </p:spPr>
        <p:txBody>
          <a:bodyPr wrap="square" lIns="45720" rIns="45720" tIns="27432" bIns="27432" anchor="t">
            <a:spAutoFit/>
          </a:bodyPr>
          <a:lstStyle/>
          <a:p>
            <a:pPr algn="l"/>
            <a:r>
              <a:rPr sz="1800" b="1" i="0">
                <a:solidFill>
                  <a:srgbClr val="1B3A4B"/>
                </a:solidFill>
                <a:latin typeface="Calibri"/>
              </a:rPr>
              <a:t>Asked of TEXMiN, non-financial</a:t>
            </a:r>
          </a:p>
        </p:txBody>
      </p:sp>
      <p:sp>
        <p:nvSpPr>
          <p:cNvPr id="32" name="TextBox 31"/>
          <p:cNvSpPr txBox="1"/>
          <p:nvPr/>
        </p:nvSpPr>
        <p:spPr>
          <a:xfrm>
            <a:off x="6355080" y="5166360"/>
            <a:ext cx="5212080" cy="1005840"/>
          </a:xfrm>
          <a:prstGeom prst="rect">
            <a:avLst/>
          </a:prstGeom>
          <a:noFill/>
        </p:spPr>
        <p:txBody>
          <a:bodyPr wrap="square" lIns="45720" rIns="45720" tIns="27432" bIns="27432" anchor="t">
            <a:spAutoFit/>
          </a:bodyPr>
          <a:lstStyle/>
          <a:p>
            <a:pPr algn="l"/>
            <a:r>
              <a:rPr sz="1500" b="0" i="0">
                <a:solidFill>
                  <a:srgbClr val="1C2430"/>
                </a:solidFill>
                <a:latin typeface="Calibri"/>
              </a:rPr>
              <a:t>Mentorship on mining standards, commercialization guidance, and test-mine access if it can be arranged.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4" name="Section"/>
          <p:cNvSpPr txBox="1"/>
          <p:nvPr/>
        </p:nvSpPr>
        <p:spPr>
          <a:xfrm>
            <a:off x="457200" y="182880"/>
            <a:ext cx="11247120" cy="256032"/>
          </a:xfrm>
          <a:prstGeom prst="rect">
            <a:avLst/>
          </a:prstGeom>
          <a:noFill/>
        </p:spPr>
        <p:txBody>
          <a:bodyPr wrap="square" lIns="45720" rIns="45720" tIns="27432" bIns="27432" anchor="t">
            <a:spAutoFit/>
          </a:bodyPr>
          <a:lstStyle/>
          <a:p>
            <a:pPr algn="l"/>
            <a:r>
              <a:rPr sz="1300" b="1" i="0">
                <a:solidFill>
                  <a:srgbClr val="B5740A"/>
                </a:solidFill>
                <a:latin typeface="Calibri"/>
              </a:rPr>
              <a:t>07     ·     IMPACT AND COMMERCIALIZATION PLAN</a:t>
            </a:r>
          </a:p>
        </p:txBody>
      </p:sp>
      <p:sp>
        <p:nvSpPr>
          <p:cNvPr id="5" name="Title"/>
          <p:cNvSpPr txBox="1"/>
          <p:nvPr/>
        </p:nvSpPr>
        <p:spPr>
          <a:xfrm>
            <a:off x="438912" y="420624"/>
            <a:ext cx="11338560" cy="502920"/>
          </a:xfrm>
          <a:prstGeom prst="rect">
            <a:avLst/>
          </a:prstGeom>
          <a:noFill/>
        </p:spPr>
        <p:txBody>
          <a:bodyPr wrap="square" lIns="45720" rIns="45720" tIns="27432" bIns="27432" anchor="t">
            <a:spAutoFit/>
          </a:bodyPr>
          <a:lstStyle/>
          <a:p>
            <a:pPr algn="l"/>
            <a:r>
              <a:rPr sz="2800" b="1" i="0">
                <a:solidFill>
                  <a:srgbClr val="1B3A4B"/>
                </a:solidFill>
                <a:latin typeface="Calibri"/>
              </a:rPr>
              <a:t>Impact, and how it would be deployed</a:t>
            </a:r>
          </a:p>
        </p:txBody>
      </p:sp>
      <p:sp>
        <p:nvSpPr>
          <p:cNvPr id="6" name="Footer rule"/>
          <p:cNvSpPr/>
          <p:nvPr/>
        </p:nvSpPr>
        <p:spPr>
          <a:xfrm>
            <a:off x="457200" y="6565392"/>
            <a:ext cx="11292840" cy="9144"/>
          </a:xfrm>
          <a:prstGeom prst="rect">
            <a:avLst/>
          </a:prstGeom>
          <a:solidFill>
            <a:srgbClr val="D0D0D0"/>
          </a:solidFill>
          <a:ln>
            <a:noFill/>
          </a:ln>
        </p:spPr>
        <p:txBody>
          <a:bodyPr rtlCol="0" anchor="ctr"/>
          <a:lstStyle/>
          <a:p>
            <a:pPr algn="ctr"/>
          </a:p>
        </p:txBody>
      </p:sp>
      <p:sp>
        <p:nvSpPr>
          <p:cNvPr id="7"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Impact and commercialization</a:t>
            </a:r>
          </a:p>
        </p:txBody>
      </p:sp>
      <p:sp>
        <p:nvSpPr>
          <p:cNvPr id="8"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12  /  15</a:t>
            </a:r>
          </a:p>
        </p:txBody>
      </p:sp>
      <p:sp>
        <p:nvSpPr>
          <p:cNvPr id="9" name="TextBox 8"/>
          <p:cNvSpPr txBox="1"/>
          <p:nvPr/>
        </p:nvSpPr>
        <p:spPr>
          <a:xfrm>
            <a:off x="457200" y="1005840"/>
            <a:ext cx="5486400" cy="365760"/>
          </a:xfrm>
          <a:prstGeom prst="rect">
            <a:avLst/>
          </a:prstGeom>
          <a:noFill/>
        </p:spPr>
        <p:txBody>
          <a:bodyPr wrap="square" lIns="45720" rIns="45720" tIns="27432" bIns="27432" anchor="t">
            <a:spAutoFit/>
          </a:bodyPr>
          <a:lstStyle/>
          <a:p>
            <a:pPr algn="l"/>
            <a:r>
              <a:rPr sz="2000" b="1" i="0">
                <a:solidFill>
                  <a:srgbClr val="1B3A4B"/>
                </a:solidFill>
                <a:latin typeface="Calibri"/>
              </a:rPr>
              <a:t>What the tunnel trial will measure</a:t>
            </a:r>
          </a:p>
        </p:txBody>
      </p:sp>
      <p:sp>
        <p:nvSpPr>
          <p:cNvPr id="10" name="Rounded Rectangle 9"/>
          <p:cNvSpPr/>
          <p:nvPr/>
        </p:nvSpPr>
        <p:spPr>
          <a:xfrm>
            <a:off x="457200" y="1463040"/>
            <a:ext cx="2697480" cy="1280160"/>
          </a:xfrm>
          <a:prstGeom prst="roundRect">
            <a:avLst>
              <a:gd name="adj" fmla="val 8000"/>
            </a:avLst>
          </a:prstGeom>
          <a:solidFill>
            <a:srgbClr val="0071C1"/>
          </a:solidFill>
          <a:ln w="9525">
            <a:solidFill>
              <a:srgbClr val="00548F"/>
            </a:solidFill>
          </a:ln>
        </p:spPr>
        <p:txBody>
          <a:bodyPr rtlCol="0" anchor="ctr"/>
          <a:lstStyle/>
          <a:p>
            <a:pPr algn="ctr"/>
          </a:p>
        </p:txBody>
      </p:sp>
      <p:sp>
        <p:nvSpPr>
          <p:cNvPr id="11" name="TextBox 10"/>
          <p:cNvSpPr txBox="1"/>
          <p:nvPr/>
        </p:nvSpPr>
        <p:spPr>
          <a:xfrm>
            <a:off x="594360" y="1572768"/>
            <a:ext cx="1920240" cy="457200"/>
          </a:xfrm>
          <a:prstGeom prst="rect">
            <a:avLst/>
          </a:prstGeom>
          <a:noFill/>
        </p:spPr>
        <p:txBody>
          <a:bodyPr wrap="square" lIns="45720" rIns="45720" tIns="27432" bIns="27432" anchor="t">
            <a:spAutoFit/>
          </a:bodyPr>
          <a:lstStyle/>
          <a:p>
            <a:pPr algn="l"/>
            <a:r>
              <a:rPr sz="1900" b="1" i="0">
                <a:solidFill>
                  <a:srgbClr val="FFD966"/>
                </a:solidFill>
                <a:latin typeface="Calibri"/>
              </a:rPr>
              <a:t>Video continuity</a:t>
            </a:r>
          </a:p>
        </p:txBody>
      </p:sp>
      <p:sp>
        <p:nvSpPr>
          <p:cNvPr id="12" name="TextBox 11"/>
          <p:cNvSpPr txBox="1"/>
          <p:nvPr/>
        </p:nvSpPr>
        <p:spPr>
          <a:xfrm>
            <a:off x="594360" y="2103120"/>
            <a:ext cx="2423160" cy="594360"/>
          </a:xfrm>
          <a:prstGeom prst="rect">
            <a:avLst/>
          </a:prstGeom>
          <a:noFill/>
        </p:spPr>
        <p:txBody>
          <a:bodyPr wrap="square" lIns="45720" rIns="45720" tIns="27432" bIns="27432" anchor="t">
            <a:spAutoFit/>
          </a:bodyPr>
          <a:lstStyle/>
          <a:p>
            <a:pPr algn="l"/>
            <a:r>
              <a:rPr sz="1500" b="0" i="0">
                <a:solidFill>
                  <a:srgbClr val="FFFFFF"/>
                </a:solidFill>
                <a:latin typeface="Calibri"/>
              </a:rPr>
              <a:t>on a 50–100 m hop</a:t>
            </a:r>
          </a:p>
        </p:txBody>
      </p:sp>
      <p:pic>
        <p:nvPicPr>
          <p:cNvPr id="13" name="Picture" descr="Monitoring dashboard"/>
          <p:cNvPicPr>
            <a:picLocks noChangeAspect="1"/>
          </p:cNvPicPr>
          <p:nvPr/>
        </p:nvPicPr>
        <p:blipFill>
          <a:blip r:embed="rId2"/>
          <a:stretch>
            <a:fillRect/>
          </a:stretch>
        </p:blipFill>
        <p:spPr>
          <a:xfrm>
            <a:off x="2468880" y="1591056"/>
            <a:ext cx="530352" cy="427036"/>
          </a:xfrm>
          <a:prstGeom prst="rect">
            <a:avLst/>
          </a:prstGeom>
        </p:spPr>
      </p:pic>
      <p:sp>
        <p:nvSpPr>
          <p:cNvPr id="14" name="Rounded Rectangle 13"/>
          <p:cNvSpPr/>
          <p:nvPr/>
        </p:nvSpPr>
        <p:spPr>
          <a:xfrm>
            <a:off x="3291840" y="1463040"/>
            <a:ext cx="2697480" cy="1280160"/>
          </a:xfrm>
          <a:prstGeom prst="roundRect">
            <a:avLst>
              <a:gd name="adj" fmla="val 8000"/>
            </a:avLst>
          </a:prstGeom>
          <a:solidFill>
            <a:srgbClr val="0071C1"/>
          </a:solidFill>
          <a:ln w="9525">
            <a:solidFill>
              <a:srgbClr val="00548F"/>
            </a:solidFill>
          </a:ln>
        </p:spPr>
        <p:txBody>
          <a:bodyPr rtlCol="0" anchor="ctr"/>
          <a:lstStyle/>
          <a:p>
            <a:pPr algn="ctr"/>
          </a:p>
        </p:txBody>
      </p:sp>
      <p:sp>
        <p:nvSpPr>
          <p:cNvPr id="15" name="TextBox 14"/>
          <p:cNvSpPr txBox="1"/>
          <p:nvPr/>
        </p:nvSpPr>
        <p:spPr>
          <a:xfrm>
            <a:off x="3429000" y="1572768"/>
            <a:ext cx="1920240" cy="457200"/>
          </a:xfrm>
          <a:prstGeom prst="rect">
            <a:avLst/>
          </a:prstGeom>
          <a:noFill/>
        </p:spPr>
        <p:txBody>
          <a:bodyPr wrap="square" lIns="45720" rIns="45720" tIns="27432" bIns="27432" anchor="t">
            <a:spAutoFit/>
          </a:bodyPr>
          <a:lstStyle/>
          <a:p>
            <a:pPr algn="l"/>
            <a:r>
              <a:rPr sz="1900" b="1" i="0">
                <a:solidFill>
                  <a:srgbClr val="FFD966"/>
                </a:solidFill>
                <a:latin typeface="Calibri"/>
              </a:rPr>
              <a:t>Alert delivery</a:t>
            </a:r>
          </a:p>
        </p:txBody>
      </p:sp>
      <p:sp>
        <p:nvSpPr>
          <p:cNvPr id="16" name="TextBox 15"/>
          <p:cNvSpPr txBox="1"/>
          <p:nvPr/>
        </p:nvSpPr>
        <p:spPr>
          <a:xfrm>
            <a:off x="3429000" y="2103120"/>
            <a:ext cx="2423160" cy="594360"/>
          </a:xfrm>
          <a:prstGeom prst="rect">
            <a:avLst/>
          </a:prstGeom>
          <a:noFill/>
        </p:spPr>
        <p:txBody>
          <a:bodyPr wrap="square" lIns="45720" rIns="45720" tIns="27432" bIns="27432" anchor="t">
            <a:spAutoFit/>
          </a:bodyPr>
          <a:lstStyle/>
          <a:p>
            <a:pPr algn="l"/>
            <a:r>
              <a:rPr sz="1500" b="0" i="0">
                <a:solidFill>
                  <a:srgbClr val="FFFFFF"/>
                </a:solidFill>
                <a:latin typeface="Calibri"/>
              </a:rPr>
              <a:t>when the hop is interrupted</a:t>
            </a:r>
          </a:p>
        </p:txBody>
      </p:sp>
      <p:pic>
        <p:nvPicPr>
          <p:cNvPr id="17" name="Picture" descr="Alert message"/>
          <p:cNvPicPr>
            <a:picLocks noChangeAspect="1"/>
          </p:cNvPicPr>
          <p:nvPr/>
        </p:nvPicPr>
        <p:blipFill>
          <a:blip r:embed="rId3"/>
          <a:stretch>
            <a:fillRect/>
          </a:stretch>
        </p:blipFill>
        <p:spPr>
          <a:xfrm>
            <a:off x="5257800" y="1591056"/>
            <a:ext cx="621792" cy="353017"/>
          </a:xfrm>
          <a:prstGeom prst="rect">
            <a:avLst/>
          </a:prstGeom>
        </p:spPr>
      </p:pic>
      <p:sp>
        <p:nvSpPr>
          <p:cNvPr id="18" name="Rounded Rectangle 17"/>
          <p:cNvSpPr/>
          <p:nvPr/>
        </p:nvSpPr>
        <p:spPr>
          <a:xfrm>
            <a:off x="457200" y="2880360"/>
            <a:ext cx="2697480" cy="1280160"/>
          </a:xfrm>
          <a:prstGeom prst="roundRect">
            <a:avLst>
              <a:gd name="adj" fmla="val 8000"/>
            </a:avLst>
          </a:prstGeom>
          <a:solidFill>
            <a:srgbClr val="0071C1"/>
          </a:solidFill>
          <a:ln w="9525">
            <a:solidFill>
              <a:srgbClr val="00548F"/>
            </a:solidFill>
          </a:ln>
        </p:spPr>
        <p:txBody>
          <a:bodyPr rtlCol="0" anchor="ctr"/>
          <a:lstStyle/>
          <a:p>
            <a:pPr algn="ctr"/>
          </a:p>
        </p:txBody>
      </p:sp>
      <p:sp>
        <p:nvSpPr>
          <p:cNvPr id="19" name="TextBox 18"/>
          <p:cNvSpPr txBox="1"/>
          <p:nvPr/>
        </p:nvSpPr>
        <p:spPr>
          <a:xfrm>
            <a:off x="594360" y="2990088"/>
            <a:ext cx="1920240" cy="457200"/>
          </a:xfrm>
          <a:prstGeom prst="rect">
            <a:avLst/>
          </a:prstGeom>
          <a:noFill/>
        </p:spPr>
        <p:txBody>
          <a:bodyPr wrap="square" lIns="45720" rIns="45720" tIns="27432" bIns="27432" anchor="t">
            <a:spAutoFit/>
          </a:bodyPr>
          <a:lstStyle/>
          <a:p>
            <a:pPr algn="l"/>
            <a:r>
              <a:rPr sz="1900" b="1" i="0">
                <a:solidFill>
                  <a:srgbClr val="FFD966"/>
                </a:solidFill>
                <a:latin typeface="Calibri"/>
              </a:rPr>
              <a:t>Realignment time</a:t>
            </a:r>
          </a:p>
        </p:txBody>
      </p:sp>
      <p:sp>
        <p:nvSpPr>
          <p:cNvPr id="20" name="TextBox 19"/>
          <p:cNvSpPr txBox="1"/>
          <p:nvPr/>
        </p:nvSpPr>
        <p:spPr>
          <a:xfrm>
            <a:off x="594360" y="3520440"/>
            <a:ext cx="2423160" cy="594360"/>
          </a:xfrm>
          <a:prstGeom prst="rect">
            <a:avLst/>
          </a:prstGeom>
          <a:noFill/>
        </p:spPr>
        <p:txBody>
          <a:bodyPr wrap="square" lIns="45720" rIns="45720" tIns="27432" bIns="27432" anchor="t">
            <a:spAutoFit/>
          </a:bodyPr>
          <a:lstStyle/>
          <a:p>
            <a:pPr algn="l"/>
            <a:r>
              <a:rPr sz="1500" b="0" i="0">
                <a:solidFill>
                  <a:srgbClr val="FFFFFF"/>
                </a:solidFill>
                <a:latin typeface="Calibri"/>
              </a:rPr>
              <a:t>after a deliberate disturbance</a:t>
            </a:r>
          </a:p>
        </p:txBody>
      </p:sp>
      <p:pic>
        <p:nvPicPr>
          <p:cNvPr id="21" name="Picture" descr="IMU module"/>
          <p:cNvPicPr>
            <a:picLocks noChangeAspect="1"/>
          </p:cNvPicPr>
          <p:nvPr/>
        </p:nvPicPr>
        <p:blipFill>
          <a:blip r:embed="rId4"/>
          <a:stretch>
            <a:fillRect/>
          </a:stretch>
        </p:blipFill>
        <p:spPr>
          <a:xfrm>
            <a:off x="2542032" y="2990088"/>
            <a:ext cx="457200" cy="335280"/>
          </a:xfrm>
          <a:prstGeom prst="rect">
            <a:avLst/>
          </a:prstGeom>
        </p:spPr>
      </p:pic>
      <p:sp>
        <p:nvSpPr>
          <p:cNvPr id="22" name="Rounded Rectangle 21"/>
          <p:cNvSpPr/>
          <p:nvPr/>
        </p:nvSpPr>
        <p:spPr>
          <a:xfrm>
            <a:off x="3291840" y="2880360"/>
            <a:ext cx="2697480" cy="1280160"/>
          </a:xfrm>
          <a:prstGeom prst="roundRect">
            <a:avLst>
              <a:gd name="adj" fmla="val 8000"/>
            </a:avLst>
          </a:prstGeom>
          <a:solidFill>
            <a:srgbClr val="0071C1"/>
          </a:solidFill>
          <a:ln w="9525">
            <a:solidFill>
              <a:srgbClr val="00548F"/>
            </a:solidFill>
          </a:ln>
        </p:spPr>
        <p:txBody>
          <a:bodyPr rtlCol="0" anchor="ctr"/>
          <a:lstStyle/>
          <a:p>
            <a:pPr algn="ctr"/>
          </a:p>
        </p:txBody>
      </p:sp>
      <p:sp>
        <p:nvSpPr>
          <p:cNvPr id="23" name="TextBox 22"/>
          <p:cNvSpPr txBox="1"/>
          <p:nvPr/>
        </p:nvSpPr>
        <p:spPr>
          <a:xfrm>
            <a:off x="3429000" y="2990088"/>
            <a:ext cx="1920240" cy="457200"/>
          </a:xfrm>
          <a:prstGeom prst="rect">
            <a:avLst/>
          </a:prstGeom>
          <a:noFill/>
        </p:spPr>
        <p:txBody>
          <a:bodyPr wrap="square" lIns="45720" rIns="45720" tIns="27432" bIns="27432" anchor="t">
            <a:spAutoFit/>
          </a:bodyPr>
          <a:lstStyle/>
          <a:p>
            <a:pPr algn="l"/>
            <a:r>
              <a:rPr sz="1900" b="1" i="0">
                <a:solidFill>
                  <a:srgbClr val="FFD966"/>
                </a:solidFill>
                <a:latin typeface="Calibri"/>
              </a:rPr>
              <a:t>Energy per node</a:t>
            </a:r>
          </a:p>
        </p:txBody>
      </p:sp>
      <p:sp>
        <p:nvSpPr>
          <p:cNvPr id="24" name="TextBox 23"/>
          <p:cNvSpPr txBox="1"/>
          <p:nvPr/>
        </p:nvSpPr>
        <p:spPr>
          <a:xfrm>
            <a:off x="3429000" y="3520440"/>
            <a:ext cx="2423160" cy="594360"/>
          </a:xfrm>
          <a:prstGeom prst="rect">
            <a:avLst/>
          </a:prstGeom>
          <a:noFill/>
        </p:spPr>
        <p:txBody>
          <a:bodyPr wrap="square" lIns="45720" rIns="45720" tIns="27432" bIns="27432" anchor="t">
            <a:spAutoFit/>
          </a:bodyPr>
          <a:lstStyle/>
          <a:p>
            <a:pPr algn="l"/>
            <a:r>
              <a:rPr sz="1500" b="0" i="0">
                <a:solidFill>
                  <a:srgbClr val="FFFFFF"/>
                </a:solidFill>
                <a:latin typeface="Calibri"/>
              </a:rPr>
              <a:t>and bill of materials</a:t>
            </a:r>
          </a:p>
        </p:txBody>
      </p:sp>
      <p:pic>
        <p:nvPicPr>
          <p:cNvPr id="25" name="Picture" descr="Motorized alignment system"/>
          <p:cNvPicPr>
            <a:picLocks noChangeAspect="1"/>
          </p:cNvPicPr>
          <p:nvPr/>
        </p:nvPicPr>
        <p:blipFill>
          <a:blip r:embed="rId5"/>
          <a:stretch>
            <a:fillRect/>
          </a:stretch>
        </p:blipFill>
        <p:spPr>
          <a:xfrm>
            <a:off x="5349240" y="3008376"/>
            <a:ext cx="502920" cy="419100"/>
          </a:xfrm>
          <a:prstGeom prst="rect">
            <a:avLst/>
          </a:prstGeom>
        </p:spPr>
      </p:pic>
      <p:sp>
        <p:nvSpPr>
          <p:cNvPr id="26" name="TextBox 25"/>
          <p:cNvSpPr txBox="1"/>
          <p:nvPr/>
        </p:nvSpPr>
        <p:spPr>
          <a:xfrm>
            <a:off x="6355080" y="1005840"/>
            <a:ext cx="5486400" cy="365760"/>
          </a:xfrm>
          <a:prstGeom prst="rect">
            <a:avLst/>
          </a:prstGeom>
          <a:noFill/>
        </p:spPr>
        <p:txBody>
          <a:bodyPr wrap="square" lIns="45720" rIns="45720" tIns="27432" bIns="27432" anchor="t">
            <a:spAutoFit/>
          </a:bodyPr>
          <a:lstStyle/>
          <a:p>
            <a:pPr algn="l"/>
            <a:r>
              <a:rPr sz="2000" b="1" i="0">
                <a:solidFill>
                  <a:srgbClr val="1B3A4B"/>
                </a:solidFill>
                <a:latin typeface="Calibri"/>
              </a:rPr>
              <a:t>What it changes for a mine</a:t>
            </a:r>
          </a:p>
        </p:txBody>
      </p:sp>
      <p:sp>
        <p:nvSpPr>
          <p:cNvPr id="27" name="Rounded Rectangle 26"/>
          <p:cNvSpPr/>
          <p:nvPr/>
        </p:nvSpPr>
        <p:spPr>
          <a:xfrm>
            <a:off x="6355080" y="1463040"/>
            <a:ext cx="5394960" cy="777240"/>
          </a:xfrm>
          <a:prstGeom prst="roundRect">
            <a:avLst>
              <a:gd name="adj" fmla="val 8000"/>
            </a:avLst>
          </a:prstGeom>
          <a:solidFill>
            <a:srgbClr val="E9E9E9"/>
          </a:solidFill>
          <a:ln w="9525">
            <a:solidFill>
              <a:srgbClr val="9A9A9A"/>
            </a:solidFill>
          </a:ln>
        </p:spPr>
        <p:txBody>
          <a:bodyPr rtlCol="0" anchor="ctr"/>
          <a:lstStyle/>
          <a:p>
            <a:pPr algn="ctr"/>
          </a:p>
        </p:txBody>
      </p:sp>
      <p:sp>
        <p:nvSpPr>
          <p:cNvPr id="28" name="Oval 27"/>
          <p:cNvSpPr/>
          <p:nvPr/>
        </p:nvSpPr>
        <p:spPr>
          <a:xfrm>
            <a:off x="6492240" y="1655064"/>
            <a:ext cx="384048" cy="384048"/>
          </a:xfrm>
          <a:prstGeom prst="ellipse">
            <a:avLst/>
          </a:prstGeom>
          <a:solidFill>
            <a:srgbClr val="ED7D31"/>
          </a:solidFill>
          <a:ln>
            <a:noFill/>
          </a:ln>
        </p:spPr>
        <p:txBody>
          <a:bodyPr rtlCol="0" anchor="ctr" lIns="36576" rIns="36576" tIns="0" bIns="0" wrap="square"/>
          <a:lstStyle/>
          <a:p>
            <a:pPr algn="ctr"/>
            <a:r>
              <a:rPr sz="1600" b="1">
                <a:solidFill>
                  <a:srgbClr val="FFFFFF"/>
                </a:solidFill>
                <a:latin typeface="Calibri"/>
              </a:rPr>
              <a:t>1</a:t>
            </a:r>
          </a:p>
        </p:txBody>
      </p:sp>
      <p:sp>
        <p:nvSpPr>
          <p:cNvPr id="29" name="TextBox 28"/>
          <p:cNvSpPr txBox="1"/>
          <p:nvPr/>
        </p:nvSpPr>
        <p:spPr>
          <a:xfrm>
            <a:off x="7040880" y="1508760"/>
            <a:ext cx="4617720" cy="685800"/>
          </a:xfrm>
          <a:prstGeom prst="rect">
            <a:avLst/>
          </a:prstGeom>
          <a:noFill/>
        </p:spPr>
        <p:txBody>
          <a:bodyPr wrap="square" lIns="45720" rIns="45720" tIns="27432" bIns="27432" anchor="ctr">
            <a:spAutoFit/>
          </a:bodyPr>
          <a:lstStyle/>
          <a:p>
            <a:pPr algn="l"/>
            <a:r>
              <a:rPr sz="1550" b="0" i="0">
                <a:solidFill>
                  <a:srgbClr val="1C2430"/>
                </a:solidFill>
                <a:latin typeface="Calibri"/>
              </a:rPr>
              <a:t>Re-entry decisions taken with a current picture of the face</a:t>
            </a:r>
          </a:p>
        </p:txBody>
      </p:sp>
      <p:sp>
        <p:nvSpPr>
          <p:cNvPr id="30" name="Rounded Rectangle 29"/>
          <p:cNvSpPr/>
          <p:nvPr/>
        </p:nvSpPr>
        <p:spPr>
          <a:xfrm>
            <a:off x="6355080" y="2359152"/>
            <a:ext cx="5394960" cy="777240"/>
          </a:xfrm>
          <a:prstGeom prst="roundRect">
            <a:avLst>
              <a:gd name="adj" fmla="val 8000"/>
            </a:avLst>
          </a:prstGeom>
          <a:solidFill>
            <a:srgbClr val="E9E9E9"/>
          </a:solidFill>
          <a:ln w="9525">
            <a:solidFill>
              <a:srgbClr val="9A9A9A"/>
            </a:solidFill>
          </a:ln>
        </p:spPr>
        <p:txBody>
          <a:bodyPr rtlCol="0" anchor="ctr"/>
          <a:lstStyle/>
          <a:p>
            <a:pPr algn="ctr"/>
          </a:p>
        </p:txBody>
      </p:sp>
      <p:sp>
        <p:nvSpPr>
          <p:cNvPr id="31" name="Oval 30"/>
          <p:cNvSpPr/>
          <p:nvPr/>
        </p:nvSpPr>
        <p:spPr>
          <a:xfrm>
            <a:off x="6492240" y="2551176"/>
            <a:ext cx="384048" cy="384048"/>
          </a:xfrm>
          <a:prstGeom prst="ellipse">
            <a:avLst/>
          </a:prstGeom>
          <a:solidFill>
            <a:srgbClr val="ED7D31"/>
          </a:solidFill>
          <a:ln>
            <a:noFill/>
          </a:ln>
        </p:spPr>
        <p:txBody>
          <a:bodyPr rtlCol="0" anchor="ctr" lIns="36576" rIns="36576" tIns="0" bIns="0" wrap="square"/>
          <a:lstStyle/>
          <a:p>
            <a:pPr algn="ctr"/>
            <a:r>
              <a:rPr sz="1600" b="1">
                <a:solidFill>
                  <a:srgbClr val="FFFFFF"/>
                </a:solidFill>
                <a:latin typeface="Calibri"/>
              </a:rPr>
              <a:t>2</a:t>
            </a:r>
          </a:p>
        </p:txBody>
      </p:sp>
      <p:sp>
        <p:nvSpPr>
          <p:cNvPr id="32" name="TextBox 31"/>
          <p:cNvSpPr txBox="1"/>
          <p:nvPr/>
        </p:nvSpPr>
        <p:spPr>
          <a:xfrm>
            <a:off x="7040880" y="2404872"/>
            <a:ext cx="4617720" cy="685800"/>
          </a:xfrm>
          <a:prstGeom prst="rect">
            <a:avLst/>
          </a:prstGeom>
          <a:noFill/>
        </p:spPr>
        <p:txBody>
          <a:bodyPr wrap="square" lIns="45720" rIns="45720" tIns="27432" bIns="27432" anchor="ctr">
            <a:spAutoFit/>
          </a:bodyPr>
          <a:lstStyle/>
          <a:p>
            <a:pPr algn="l"/>
            <a:r>
              <a:rPr sz="1550" b="0" i="0">
                <a:solidFill>
                  <a:srgbClr val="1C2430"/>
                </a:solidFill>
                <a:latin typeface="Calibri"/>
              </a:rPr>
              <a:t>The alert does not depend on a single cable</a:t>
            </a:r>
          </a:p>
        </p:txBody>
      </p:sp>
      <p:sp>
        <p:nvSpPr>
          <p:cNvPr id="33" name="Rounded Rectangle 32"/>
          <p:cNvSpPr/>
          <p:nvPr/>
        </p:nvSpPr>
        <p:spPr>
          <a:xfrm>
            <a:off x="6355080" y="3255264"/>
            <a:ext cx="5394960" cy="777240"/>
          </a:xfrm>
          <a:prstGeom prst="roundRect">
            <a:avLst>
              <a:gd name="adj" fmla="val 8000"/>
            </a:avLst>
          </a:prstGeom>
          <a:solidFill>
            <a:srgbClr val="E9E9E9"/>
          </a:solidFill>
          <a:ln w="9525">
            <a:solidFill>
              <a:srgbClr val="9A9A9A"/>
            </a:solidFill>
          </a:ln>
        </p:spPr>
        <p:txBody>
          <a:bodyPr rtlCol="0" anchor="ctr"/>
          <a:lstStyle/>
          <a:p>
            <a:pPr algn="ctr"/>
          </a:p>
        </p:txBody>
      </p:sp>
      <p:sp>
        <p:nvSpPr>
          <p:cNvPr id="34" name="Oval 33"/>
          <p:cNvSpPr/>
          <p:nvPr/>
        </p:nvSpPr>
        <p:spPr>
          <a:xfrm>
            <a:off x="6492240" y="3447288"/>
            <a:ext cx="384048" cy="384048"/>
          </a:xfrm>
          <a:prstGeom prst="ellipse">
            <a:avLst/>
          </a:prstGeom>
          <a:solidFill>
            <a:srgbClr val="ED7D31"/>
          </a:solidFill>
          <a:ln>
            <a:noFill/>
          </a:ln>
        </p:spPr>
        <p:txBody>
          <a:bodyPr rtlCol="0" anchor="ctr" lIns="36576" rIns="36576" tIns="0" bIns="0" wrap="square"/>
          <a:lstStyle/>
          <a:p>
            <a:pPr algn="ctr"/>
            <a:r>
              <a:rPr sz="1600" b="1">
                <a:solidFill>
                  <a:srgbClr val="FFFFFF"/>
                </a:solidFill>
                <a:latin typeface="Calibri"/>
              </a:rPr>
              <a:t>3</a:t>
            </a:r>
          </a:p>
        </p:txBody>
      </p:sp>
      <p:sp>
        <p:nvSpPr>
          <p:cNvPr id="35" name="TextBox 34"/>
          <p:cNvSpPr txBox="1"/>
          <p:nvPr/>
        </p:nvSpPr>
        <p:spPr>
          <a:xfrm>
            <a:off x="7040880" y="3300984"/>
            <a:ext cx="4617720" cy="685800"/>
          </a:xfrm>
          <a:prstGeom prst="rect">
            <a:avLst/>
          </a:prstGeom>
          <a:noFill/>
        </p:spPr>
        <p:txBody>
          <a:bodyPr wrap="square" lIns="45720" rIns="45720" tIns="27432" bIns="27432" anchor="ctr">
            <a:spAutoFit/>
          </a:bodyPr>
          <a:lstStyle/>
          <a:p>
            <a:pPr algn="l"/>
            <a:r>
              <a:rPr sz="1550" b="0" i="0">
                <a:solidFill>
                  <a:srgbClr val="1C2430"/>
                </a:solidFill>
                <a:latin typeface="Calibri"/>
              </a:rPr>
              <a:t>An indigenous node, where this class is largely imported</a:t>
            </a:r>
          </a:p>
        </p:txBody>
      </p:sp>
      <p:sp>
        <p:nvSpPr>
          <p:cNvPr id="36" name="TextBox 35"/>
          <p:cNvSpPr txBox="1"/>
          <p:nvPr/>
        </p:nvSpPr>
        <p:spPr>
          <a:xfrm>
            <a:off x="457200" y="4343400"/>
            <a:ext cx="5486400" cy="365760"/>
          </a:xfrm>
          <a:prstGeom prst="rect">
            <a:avLst/>
          </a:prstGeom>
          <a:noFill/>
        </p:spPr>
        <p:txBody>
          <a:bodyPr wrap="square" lIns="45720" rIns="45720" tIns="27432" bIns="27432" anchor="t">
            <a:spAutoFit/>
          </a:bodyPr>
          <a:lstStyle/>
          <a:p>
            <a:pPr algn="l"/>
            <a:r>
              <a:rPr sz="2000" b="1" i="0">
                <a:solidFill>
                  <a:srgbClr val="1B3A4B"/>
                </a:solidFill>
                <a:latin typeface="Calibri"/>
              </a:rPr>
              <a:t>Commercial path</a:t>
            </a:r>
          </a:p>
        </p:txBody>
      </p:sp>
      <p:sp>
        <p:nvSpPr>
          <p:cNvPr id="37" name="Pentagon 36"/>
          <p:cNvSpPr/>
          <p:nvPr/>
        </p:nvSpPr>
        <p:spPr>
          <a:xfrm>
            <a:off x="457200" y="4754880"/>
            <a:ext cx="2788920" cy="1097280"/>
          </a:xfrm>
          <a:prstGeom prst="homePlate">
            <a:avLst/>
          </a:prstGeom>
          <a:solidFill>
            <a:srgbClr val="0071C1"/>
          </a:solidFill>
          <a:ln w="9525">
            <a:solidFill>
              <a:srgbClr val="00548F"/>
            </a:solidFill>
          </a:ln>
        </p:spPr>
        <p:txBody>
          <a:bodyPr rtlCol="0" anchor="ctr"/>
          <a:lstStyle/>
          <a:p>
            <a:pPr algn="ctr"/>
          </a:p>
        </p:txBody>
      </p:sp>
      <p:sp>
        <p:nvSpPr>
          <p:cNvPr id="38" name="TextBox 37"/>
          <p:cNvSpPr txBox="1"/>
          <p:nvPr/>
        </p:nvSpPr>
        <p:spPr>
          <a:xfrm>
            <a:off x="640080" y="4800600"/>
            <a:ext cx="2194560" cy="365760"/>
          </a:xfrm>
          <a:prstGeom prst="rect">
            <a:avLst/>
          </a:prstGeom>
          <a:noFill/>
        </p:spPr>
        <p:txBody>
          <a:bodyPr wrap="square" lIns="45720" rIns="45720" tIns="27432" bIns="27432" anchor="t">
            <a:spAutoFit/>
          </a:bodyPr>
          <a:lstStyle/>
          <a:p>
            <a:pPr algn="l"/>
            <a:r>
              <a:rPr sz="1800" b="1" i="0">
                <a:solidFill>
                  <a:srgbClr val="FFD966"/>
                </a:solidFill>
                <a:latin typeface="Calibri"/>
              </a:rPr>
              <a:t>This grant</a:t>
            </a:r>
          </a:p>
        </p:txBody>
      </p:sp>
      <p:sp>
        <p:nvSpPr>
          <p:cNvPr id="39" name="TextBox 38"/>
          <p:cNvSpPr txBox="1"/>
          <p:nvPr/>
        </p:nvSpPr>
        <p:spPr>
          <a:xfrm>
            <a:off x="640080" y="5166360"/>
            <a:ext cx="2103120" cy="685800"/>
          </a:xfrm>
          <a:prstGeom prst="rect">
            <a:avLst/>
          </a:prstGeom>
          <a:noFill/>
        </p:spPr>
        <p:txBody>
          <a:bodyPr wrap="square" lIns="45720" rIns="45720" tIns="27432" bIns="27432" anchor="t">
            <a:spAutoFit/>
          </a:bodyPr>
          <a:lstStyle/>
          <a:p>
            <a:pPr algn="l"/>
            <a:r>
              <a:rPr sz="1400" b="0" i="0">
                <a:solidFill>
                  <a:srgbClr val="FFFFFF"/>
                </a:solidFill>
                <a:latin typeface="Calibri"/>
              </a:rPr>
              <a:t>Proves one heading</a:t>
            </a:r>
          </a:p>
        </p:txBody>
      </p:sp>
      <p:sp>
        <p:nvSpPr>
          <p:cNvPr id="40" name="Pentagon 39"/>
          <p:cNvSpPr/>
          <p:nvPr/>
        </p:nvSpPr>
        <p:spPr>
          <a:xfrm>
            <a:off x="3310128" y="4754880"/>
            <a:ext cx="2788920" cy="1097280"/>
          </a:xfrm>
          <a:prstGeom prst="homePlate">
            <a:avLst/>
          </a:prstGeom>
          <a:solidFill>
            <a:srgbClr val="E9E9E9"/>
          </a:solidFill>
          <a:ln w="9525">
            <a:solidFill>
              <a:srgbClr val="9A9A9A"/>
            </a:solidFill>
          </a:ln>
        </p:spPr>
        <p:txBody>
          <a:bodyPr rtlCol="0" anchor="ctr"/>
          <a:lstStyle/>
          <a:p>
            <a:pPr algn="ctr"/>
          </a:p>
        </p:txBody>
      </p:sp>
      <p:sp>
        <p:nvSpPr>
          <p:cNvPr id="41" name="TextBox 40"/>
          <p:cNvSpPr txBox="1"/>
          <p:nvPr/>
        </p:nvSpPr>
        <p:spPr>
          <a:xfrm>
            <a:off x="3493008" y="4800600"/>
            <a:ext cx="2194560" cy="365760"/>
          </a:xfrm>
          <a:prstGeom prst="rect">
            <a:avLst/>
          </a:prstGeom>
          <a:noFill/>
        </p:spPr>
        <p:txBody>
          <a:bodyPr wrap="square" lIns="45720" rIns="45720" tIns="27432" bIns="27432" anchor="t">
            <a:spAutoFit/>
          </a:bodyPr>
          <a:lstStyle/>
          <a:p>
            <a:pPr algn="l"/>
            <a:r>
              <a:rPr sz="1800" b="1" i="0">
                <a:solidFill>
                  <a:srgbClr val="1B3A4B"/>
                </a:solidFill>
                <a:latin typeface="Calibri"/>
              </a:rPr>
              <a:t>Pilot</a:t>
            </a:r>
          </a:p>
        </p:txBody>
      </p:sp>
      <p:sp>
        <p:nvSpPr>
          <p:cNvPr id="42" name="TextBox 41"/>
          <p:cNvSpPr txBox="1"/>
          <p:nvPr/>
        </p:nvSpPr>
        <p:spPr>
          <a:xfrm>
            <a:off x="3493008" y="5166360"/>
            <a:ext cx="2103120" cy="685800"/>
          </a:xfrm>
          <a:prstGeom prst="rect">
            <a:avLst/>
          </a:prstGeom>
          <a:noFill/>
        </p:spPr>
        <p:txBody>
          <a:bodyPr wrap="square" lIns="45720" rIns="45720" tIns="27432" bIns="27432" anchor="t">
            <a:spAutoFit/>
          </a:bodyPr>
          <a:lstStyle/>
          <a:p>
            <a:pPr algn="l"/>
            <a:r>
              <a:rPr sz="1400" b="0" i="0">
                <a:solidFill>
                  <a:srgbClr val="1C2430"/>
                </a:solidFill>
                <a:latin typeface="Calibri"/>
              </a:rPr>
              <a:t>Supervised, with the partner who signs the letter</a:t>
            </a:r>
          </a:p>
        </p:txBody>
      </p:sp>
      <p:sp>
        <p:nvSpPr>
          <p:cNvPr id="43" name="Pentagon 42"/>
          <p:cNvSpPr/>
          <p:nvPr/>
        </p:nvSpPr>
        <p:spPr>
          <a:xfrm>
            <a:off x="6163056" y="4754880"/>
            <a:ext cx="2788920" cy="1097280"/>
          </a:xfrm>
          <a:prstGeom prst="homePlate">
            <a:avLst/>
          </a:prstGeom>
          <a:solidFill>
            <a:srgbClr val="E9E9E9"/>
          </a:solidFill>
          <a:ln w="9525">
            <a:solidFill>
              <a:srgbClr val="9A9A9A"/>
            </a:solidFill>
          </a:ln>
        </p:spPr>
        <p:txBody>
          <a:bodyPr rtlCol="0" anchor="ctr"/>
          <a:lstStyle/>
          <a:p>
            <a:pPr algn="ctr"/>
          </a:p>
        </p:txBody>
      </p:sp>
      <p:sp>
        <p:nvSpPr>
          <p:cNvPr id="44" name="TextBox 43"/>
          <p:cNvSpPr txBox="1"/>
          <p:nvPr/>
        </p:nvSpPr>
        <p:spPr>
          <a:xfrm>
            <a:off x="6345936" y="4800600"/>
            <a:ext cx="2194560" cy="365760"/>
          </a:xfrm>
          <a:prstGeom prst="rect">
            <a:avLst/>
          </a:prstGeom>
          <a:noFill/>
        </p:spPr>
        <p:txBody>
          <a:bodyPr wrap="square" lIns="45720" rIns="45720" tIns="27432" bIns="27432" anchor="t">
            <a:spAutoFit/>
          </a:bodyPr>
          <a:lstStyle/>
          <a:p>
            <a:pPr algn="l"/>
            <a:r>
              <a:rPr sz="1800" b="1" i="0">
                <a:solidFill>
                  <a:srgbClr val="1B3A4B"/>
                </a:solidFill>
                <a:latin typeface="Calibri"/>
              </a:rPr>
              <a:t>Licence or FTBI</a:t>
            </a:r>
          </a:p>
        </p:txBody>
      </p:sp>
      <p:sp>
        <p:nvSpPr>
          <p:cNvPr id="45" name="TextBox 44"/>
          <p:cNvSpPr txBox="1"/>
          <p:nvPr/>
        </p:nvSpPr>
        <p:spPr>
          <a:xfrm>
            <a:off x="6345936" y="5166360"/>
            <a:ext cx="2103120" cy="685800"/>
          </a:xfrm>
          <a:prstGeom prst="rect">
            <a:avLst/>
          </a:prstGeom>
          <a:noFill/>
        </p:spPr>
        <p:txBody>
          <a:bodyPr wrap="square" lIns="45720" rIns="45720" tIns="27432" bIns="27432" anchor="t">
            <a:spAutoFit/>
          </a:bodyPr>
          <a:lstStyle/>
          <a:p>
            <a:pPr algn="l"/>
            <a:r>
              <a:rPr sz="1400" b="0" i="0">
                <a:solidFill>
                  <a:srgbClr val="1C2430"/>
                </a:solidFill>
                <a:latin typeface="Calibri"/>
              </a:rPr>
              <a:t>Manufacturer licence, or incubated venture</a:t>
            </a:r>
          </a:p>
        </p:txBody>
      </p:sp>
      <p:sp>
        <p:nvSpPr>
          <p:cNvPr id="46" name="Pentagon 45"/>
          <p:cNvSpPr/>
          <p:nvPr/>
        </p:nvSpPr>
        <p:spPr>
          <a:xfrm>
            <a:off x="9015984" y="4754880"/>
            <a:ext cx="2788920" cy="1097280"/>
          </a:xfrm>
          <a:prstGeom prst="homePlate">
            <a:avLst/>
          </a:prstGeom>
          <a:solidFill>
            <a:srgbClr val="E9E9E9"/>
          </a:solidFill>
          <a:ln w="9525">
            <a:solidFill>
              <a:srgbClr val="9A9A9A"/>
            </a:solidFill>
          </a:ln>
        </p:spPr>
        <p:txBody>
          <a:bodyPr rtlCol="0" anchor="ctr"/>
          <a:lstStyle/>
          <a:p>
            <a:pPr algn="ctr"/>
          </a:p>
        </p:txBody>
      </p:sp>
      <p:sp>
        <p:nvSpPr>
          <p:cNvPr id="47" name="TextBox 46"/>
          <p:cNvSpPr txBox="1"/>
          <p:nvPr/>
        </p:nvSpPr>
        <p:spPr>
          <a:xfrm>
            <a:off x="9198863" y="4800600"/>
            <a:ext cx="2194560" cy="365760"/>
          </a:xfrm>
          <a:prstGeom prst="rect">
            <a:avLst/>
          </a:prstGeom>
          <a:noFill/>
        </p:spPr>
        <p:txBody>
          <a:bodyPr wrap="square" lIns="45720" rIns="45720" tIns="27432" bIns="27432" anchor="t">
            <a:spAutoFit/>
          </a:bodyPr>
          <a:lstStyle/>
          <a:p>
            <a:pPr algn="l"/>
            <a:r>
              <a:rPr sz="1800" b="1" i="0">
                <a:solidFill>
                  <a:srgbClr val="1B3A4B"/>
                </a:solidFill>
                <a:latin typeface="Calibri"/>
              </a:rPr>
              <a:t>Scale</a:t>
            </a:r>
          </a:p>
        </p:txBody>
      </p:sp>
      <p:sp>
        <p:nvSpPr>
          <p:cNvPr id="48" name="TextBox 47"/>
          <p:cNvSpPr txBox="1"/>
          <p:nvPr/>
        </p:nvSpPr>
        <p:spPr>
          <a:xfrm>
            <a:off x="9198863" y="5166360"/>
            <a:ext cx="2103120" cy="685800"/>
          </a:xfrm>
          <a:prstGeom prst="rect">
            <a:avLst/>
          </a:prstGeom>
          <a:noFill/>
        </p:spPr>
        <p:txBody>
          <a:bodyPr wrap="square" lIns="45720" rIns="45720" tIns="27432" bIns="27432" anchor="t">
            <a:spAutoFit/>
          </a:bodyPr>
          <a:lstStyle/>
          <a:p>
            <a:pPr algn="l"/>
            <a:r>
              <a:rPr sz="1400" b="0" i="0">
                <a:solidFill>
                  <a:srgbClr val="1C2430"/>
                </a:solidFill>
                <a:latin typeface="Calibri"/>
              </a:rPr>
              <a:t>Coverage grows by adding hops</a:t>
            </a:r>
          </a:p>
        </p:txBody>
      </p:sp>
      <p:sp>
        <p:nvSpPr>
          <p:cNvPr id="49" name="TextBox 48"/>
          <p:cNvSpPr txBox="1"/>
          <p:nvPr/>
        </p:nvSpPr>
        <p:spPr>
          <a:xfrm>
            <a:off x="457200" y="5989320"/>
            <a:ext cx="1554480" cy="365760"/>
          </a:xfrm>
          <a:prstGeom prst="rect">
            <a:avLst/>
          </a:prstGeom>
          <a:noFill/>
        </p:spPr>
        <p:txBody>
          <a:bodyPr wrap="square" lIns="45720" rIns="45720" tIns="27432" bIns="27432" anchor="ctr">
            <a:spAutoFit/>
          </a:bodyPr>
          <a:lstStyle/>
          <a:p>
            <a:pPr algn="l"/>
            <a:r>
              <a:rPr sz="1400" b="1" i="0">
                <a:solidFill>
                  <a:srgbClr val="5C6770"/>
                </a:solidFill>
                <a:latin typeface="Calibri"/>
              </a:rPr>
              <a:t>Also fits</a:t>
            </a:r>
          </a:p>
        </p:txBody>
      </p:sp>
      <p:sp>
        <p:nvSpPr>
          <p:cNvPr id="50" name="Rounded Rectangle 49"/>
          <p:cNvSpPr/>
          <p:nvPr/>
        </p:nvSpPr>
        <p:spPr>
          <a:xfrm>
            <a:off x="1463040" y="6016752"/>
            <a:ext cx="2057400" cy="329184"/>
          </a:xfrm>
          <a:prstGeom prst="roundRect">
            <a:avLst>
              <a:gd name="adj" fmla="val 40000"/>
            </a:avLst>
          </a:prstGeom>
          <a:solidFill>
            <a:srgbClr val="E9E9E9"/>
          </a:solidFill>
          <a:ln>
            <a:noFill/>
          </a:ln>
        </p:spPr>
        <p:txBody>
          <a:bodyPr rtlCol="0" anchor="ctr" lIns="36576" rIns="36576" tIns="0" bIns="0" wrap="square"/>
          <a:lstStyle/>
          <a:p>
            <a:pPr algn="ctr"/>
            <a:r>
              <a:rPr sz="1300" b="0">
                <a:solidFill>
                  <a:srgbClr val="1C2430"/>
                </a:solidFill>
                <a:latin typeface="Calibri"/>
              </a:rPr>
              <a:t>Tunnel monitoring</a:t>
            </a:r>
          </a:p>
        </p:txBody>
      </p:sp>
      <p:sp>
        <p:nvSpPr>
          <p:cNvPr id="51" name="Rounded Rectangle 50"/>
          <p:cNvSpPr/>
          <p:nvPr/>
        </p:nvSpPr>
        <p:spPr>
          <a:xfrm>
            <a:off x="3611880" y="6016752"/>
            <a:ext cx="2057400" cy="329184"/>
          </a:xfrm>
          <a:prstGeom prst="roundRect">
            <a:avLst>
              <a:gd name="adj" fmla="val 40000"/>
            </a:avLst>
          </a:prstGeom>
          <a:solidFill>
            <a:srgbClr val="E9E9E9"/>
          </a:solidFill>
          <a:ln>
            <a:noFill/>
          </a:ln>
        </p:spPr>
        <p:txBody>
          <a:bodyPr rtlCol="0" anchor="ctr" lIns="36576" rIns="36576" tIns="0" bIns="0" wrap="square"/>
          <a:lstStyle/>
          <a:p>
            <a:pPr algn="ctr"/>
            <a:r>
              <a:rPr sz="1300" b="0">
                <a:solidFill>
                  <a:srgbClr val="1C2430"/>
                </a:solidFill>
                <a:latin typeface="Calibri"/>
              </a:rPr>
              <a:t>Underground transport</a:t>
            </a:r>
          </a:p>
        </p:txBody>
      </p:sp>
      <p:sp>
        <p:nvSpPr>
          <p:cNvPr id="52" name="Rounded Rectangle 51"/>
          <p:cNvSpPr/>
          <p:nvPr/>
        </p:nvSpPr>
        <p:spPr>
          <a:xfrm>
            <a:off x="5760720" y="6016752"/>
            <a:ext cx="2057400" cy="329184"/>
          </a:xfrm>
          <a:prstGeom prst="roundRect">
            <a:avLst>
              <a:gd name="adj" fmla="val 40000"/>
            </a:avLst>
          </a:prstGeom>
          <a:solidFill>
            <a:srgbClr val="E9E9E9"/>
          </a:solidFill>
          <a:ln>
            <a:noFill/>
          </a:ln>
        </p:spPr>
        <p:txBody>
          <a:bodyPr rtlCol="0" anchor="ctr" lIns="36576" rIns="36576" tIns="0" bIns="0" wrap="square"/>
          <a:lstStyle/>
          <a:p>
            <a:pPr algn="ctr"/>
            <a:r>
              <a:rPr sz="1300" b="0">
                <a:solidFill>
                  <a:srgbClr val="1C2430"/>
                </a:solidFill>
                <a:latin typeface="Calibri"/>
              </a:rPr>
              <a:t>Oil and gas sites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4" name="Section"/>
          <p:cNvSpPr txBox="1"/>
          <p:nvPr/>
        </p:nvSpPr>
        <p:spPr>
          <a:xfrm>
            <a:off x="457200" y="182880"/>
            <a:ext cx="11247120" cy="256032"/>
          </a:xfrm>
          <a:prstGeom prst="rect">
            <a:avLst/>
          </a:prstGeom>
          <a:noFill/>
        </p:spPr>
        <p:txBody>
          <a:bodyPr wrap="square" lIns="45720" rIns="45720" tIns="27432" bIns="27432" anchor="t">
            <a:spAutoFit/>
          </a:bodyPr>
          <a:lstStyle/>
          <a:p>
            <a:pPr algn="l"/>
            <a:r>
              <a:rPr sz="1300" b="1" i="0">
                <a:solidFill>
                  <a:srgbClr val="B5740A"/>
                </a:solidFill>
                <a:latin typeface="Calibri"/>
              </a:rPr>
              <a:t>08     ·     TEAM DETAILS AND BUDGET SUMMARY</a:t>
            </a:r>
          </a:p>
        </p:txBody>
      </p:sp>
      <p:sp>
        <p:nvSpPr>
          <p:cNvPr id="5" name="Title"/>
          <p:cNvSpPr txBox="1"/>
          <p:nvPr/>
        </p:nvSpPr>
        <p:spPr>
          <a:xfrm>
            <a:off x="438912" y="420624"/>
            <a:ext cx="11338560" cy="502920"/>
          </a:xfrm>
          <a:prstGeom prst="rect">
            <a:avLst/>
          </a:prstGeom>
          <a:noFill/>
        </p:spPr>
        <p:txBody>
          <a:bodyPr wrap="square" lIns="45720" rIns="45720" tIns="27432" bIns="27432" anchor="t">
            <a:spAutoFit/>
          </a:bodyPr>
          <a:lstStyle/>
          <a:p>
            <a:pPr algn="l"/>
            <a:r>
              <a:rPr sz="2800" b="1" i="0">
                <a:solidFill>
                  <a:srgbClr val="1B3A4B"/>
                </a:solidFill>
                <a:latin typeface="Calibri"/>
              </a:rPr>
              <a:t>Team</a:t>
            </a:r>
          </a:p>
        </p:txBody>
      </p:sp>
      <p:sp>
        <p:nvSpPr>
          <p:cNvPr id="6" name="Footer rule"/>
          <p:cNvSpPr/>
          <p:nvPr/>
        </p:nvSpPr>
        <p:spPr>
          <a:xfrm>
            <a:off x="457200" y="6565392"/>
            <a:ext cx="11292840" cy="9144"/>
          </a:xfrm>
          <a:prstGeom prst="rect">
            <a:avLst/>
          </a:prstGeom>
          <a:solidFill>
            <a:srgbClr val="D0D0D0"/>
          </a:solidFill>
          <a:ln>
            <a:noFill/>
          </a:ln>
        </p:spPr>
        <p:txBody>
          <a:bodyPr rtlCol="0" anchor="ctr"/>
          <a:lstStyle/>
          <a:p>
            <a:pPr algn="ctr"/>
          </a:p>
        </p:txBody>
      </p:sp>
      <p:sp>
        <p:nvSpPr>
          <p:cNvPr id="7"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Team</a:t>
            </a:r>
          </a:p>
        </p:txBody>
      </p:sp>
      <p:sp>
        <p:nvSpPr>
          <p:cNvPr id="8"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13  /  15</a:t>
            </a:r>
          </a:p>
        </p:txBody>
      </p:sp>
      <p:sp>
        <p:nvSpPr>
          <p:cNvPr id="9" name="Rounded Rectangle 8"/>
          <p:cNvSpPr/>
          <p:nvPr/>
        </p:nvSpPr>
        <p:spPr>
          <a:xfrm>
            <a:off x="457200" y="1097280"/>
            <a:ext cx="4206240" cy="5166360"/>
          </a:xfrm>
          <a:prstGeom prst="roundRect">
            <a:avLst>
              <a:gd name="adj" fmla="val 8000"/>
            </a:avLst>
          </a:prstGeom>
          <a:solidFill>
            <a:srgbClr val="0071C1"/>
          </a:solidFill>
          <a:ln w="9525">
            <a:solidFill>
              <a:srgbClr val="00548F"/>
            </a:solidFill>
          </a:ln>
        </p:spPr>
        <p:txBody>
          <a:bodyPr rtlCol="0" anchor="ctr"/>
          <a:lstStyle/>
          <a:p>
            <a:pPr algn="ctr"/>
          </a:p>
        </p:txBody>
      </p:sp>
      <p:sp>
        <p:nvSpPr>
          <p:cNvPr id="10" name="TextBox 9"/>
          <p:cNvSpPr txBox="1"/>
          <p:nvPr/>
        </p:nvSpPr>
        <p:spPr>
          <a:xfrm>
            <a:off x="685800" y="1280160"/>
            <a:ext cx="3749039" cy="365760"/>
          </a:xfrm>
          <a:prstGeom prst="rect">
            <a:avLst/>
          </a:prstGeom>
          <a:noFill/>
        </p:spPr>
        <p:txBody>
          <a:bodyPr wrap="square" lIns="45720" rIns="45720" tIns="27432" bIns="27432" anchor="t">
            <a:spAutoFit/>
          </a:bodyPr>
          <a:lstStyle/>
          <a:p>
            <a:pPr algn="l"/>
            <a:r>
              <a:rPr sz="1400" b="1" i="0">
                <a:solidFill>
                  <a:srgbClr val="FFD966"/>
                </a:solidFill>
                <a:latin typeface="Calibri"/>
              </a:rPr>
              <a:t>Principal Investigator</a:t>
            </a:r>
          </a:p>
        </p:txBody>
      </p:sp>
      <p:sp>
        <p:nvSpPr>
          <p:cNvPr id="11" name="TextBox 10"/>
          <p:cNvSpPr txBox="1"/>
          <p:nvPr/>
        </p:nvSpPr>
        <p:spPr>
          <a:xfrm>
            <a:off x="685800" y="1691640"/>
            <a:ext cx="3749039" cy="914400"/>
          </a:xfrm>
          <a:prstGeom prst="rect">
            <a:avLst/>
          </a:prstGeom>
          <a:noFill/>
        </p:spPr>
        <p:txBody>
          <a:bodyPr wrap="square" lIns="45720" rIns="45720" tIns="27432" bIns="27432" anchor="t">
            <a:spAutoFit/>
          </a:bodyPr>
          <a:lstStyle/>
          <a:p>
            <a:pPr algn="l"/>
            <a:r>
              <a:rPr sz="2500" b="1" i="0">
                <a:solidFill>
                  <a:srgbClr val="FFFFFF"/>
                </a:solidFill>
                <a:latin typeface="Calibri"/>
              </a:rPr>
              <a:t>Prof. Sadananda Behera</a:t>
            </a:r>
          </a:p>
        </p:txBody>
      </p:sp>
      <p:sp>
        <p:nvSpPr>
          <p:cNvPr id="12" name="TextBox 11"/>
          <p:cNvSpPr txBox="1"/>
          <p:nvPr/>
        </p:nvSpPr>
        <p:spPr>
          <a:xfrm>
            <a:off x="685800" y="2514600"/>
            <a:ext cx="3749039" cy="640080"/>
          </a:xfrm>
          <a:prstGeom prst="rect">
            <a:avLst/>
          </a:prstGeom>
          <a:noFill/>
        </p:spPr>
        <p:txBody>
          <a:bodyPr wrap="square" lIns="45720" rIns="45720" tIns="27432" bIns="27432" anchor="t">
            <a:spAutoFit/>
          </a:bodyPr>
          <a:lstStyle/>
          <a:p>
            <a:pPr algn="l"/>
            <a:r>
              <a:rPr sz="1700" b="0" i="0">
                <a:solidFill>
                  <a:srgbClr val="FFFFFF"/>
                </a:solidFill>
                <a:latin typeface="Calibri"/>
              </a:rPr>
              <a:t>Assistant Professor</a:t>
            </a:r>
          </a:p>
          <a:p>
            <a:pPr algn="l"/>
            <a:r>
              <a:rPr sz="1700" b="0" i="0">
                <a:solidFill>
                  <a:srgbClr val="FFFFFF"/>
                </a:solidFill>
                <a:latin typeface="Calibri"/>
              </a:rPr>
              <a:t>NIT Rourkela</a:t>
            </a:r>
          </a:p>
        </p:txBody>
      </p:sp>
      <p:sp>
        <p:nvSpPr>
          <p:cNvPr id="13" name="TextBox 12"/>
          <p:cNvSpPr txBox="1"/>
          <p:nvPr/>
        </p:nvSpPr>
        <p:spPr>
          <a:xfrm>
            <a:off x="685800" y="3246120"/>
            <a:ext cx="3749039" cy="365760"/>
          </a:xfrm>
          <a:prstGeom prst="rect">
            <a:avLst/>
          </a:prstGeom>
          <a:noFill/>
        </p:spPr>
        <p:txBody>
          <a:bodyPr wrap="square" lIns="45720" rIns="45720" tIns="27432" bIns="27432" anchor="t">
            <a:spAutoFit/>
          </a:bodyPr>
          <a:lstStyle/>
          <a:p>
            <a:pPr algn="l"/>
            <a:r>
              <a:rPr sz="1700" b="0" i="0">
                <a:solidFill>
                  <a:srgbClr val="FFFFFF"/>
                </a:solidFill>
                <a:latin typeface="Calibri"/>
              </a:rPr>
              <a:t>98610 77539</a:t>
            </a:r>
          </a:p>
        </p:txBody>
      </p:sp>
      <p:sp>
        <p:nvSpPr>
          <p:cNvPr id="14" name="Rectangle 13"/>
          <p:cNvSpPr/>
          <p:nvPr/>
        </p:nvSpPr>
        <p:spPr>
          <a:xfrm>
            <a:off x="685800" y="3840480"/>
            <a:ext cx="3291840" cy="9144"/>
          </a:xfrm>
          <a:prstGeom prst="rect">
            <a:avLst/>
          </a:prstGeom>
          <a:solidFill>
            <a:srgbClr val="7FB4DD"/>
          </a:solidFill>
          <a:ln>
            <a:noFill/>
          </a:ln>
        </p:spPr>
        <p:txBody>
          <a:bodyPr rtlCol="0" anchor="ctr"/>
          <a:lstStyle/>
          <a:p>
            <a:pPr algn="ctr"/>
          </a:p>
        </p:txBody>
      </p:sp>
      <p:sp>
        <p:nvSpPr>
          <p:cNvPr id="15" name="TextBox 14"/>
          <p:cNvSpPr txBox="1"/>
          <p:nvPr/>
        </p:nvSpPr>
        <p:spPr>
          <a:xfrm>
            <a:off x="685800" y="3977639"/>
            <a:ext cx="3749039" cy="2103120"/>
          </a:xfrm>
          <a:prstGeom prst="rect">
            <a:avLst/>
          </a:prstGeom>
          <a:noFill/>
        </p:spPr>
        <p:txBody>
          <a:bodyPr wrap="square" lIns="45720" rIns="45720" tIns="27432" bIns="27432" anchor="t">
            <a:spAutoFit/>
          </a:bodyPr>
          <a:lstStyle/>
          <a:p>
            <a:pPr algn="l"/>
            <a:r>
              <a:rPr sz="1550" b="1" i="0">
                <a:solidFill>
                  <a:srgbClr val="FFD966"/>
                </a:solidFill>
                <a:latin typeface="Calibri"/>
              </a:rPr>
              <a:t>No co-PI. </a:t>
            </a:r>
            <a:r>
              <a:rPr sz="1550" b="0" i="0">
                <a:solidFill>
                  <a:srgbClr val="FFFFFF"/>
                </a:solidFill>
                <a:latin typeface="Calibri"/>
              </a:rPr>
              <a:t>Two project assistants for 24 months. The PI leads every work package.</a:t>
            </a:r>
          </a:p>
          <a:p>
            <a:pPr algn="l"/>
            <a:r>
              <a:rPr sz="1550" b="0" i="0">
                <a:solidFill>
                  <a:srgbClr val="FFFFFF"/>
                </a:solidFill>
                <a:latin typeface="Calibri"/>
              </a:rPr>
              <a:t/>
            </a:r>
          </a:p>
          <a:p>
            <a:pPr algn="l"/>
            <a:r>
              <a:rPr sz="1550" b="0" i="0">
                <a:solidFill>
                  <a:srgbClr val="FFFFFF"/>
                </a:solidFill>
                <a:latin typeface="Calibri"/>
              </a:rPr>
              <a:t>Mining practice comes from TEXMiN mentors and the industry engineer, before the enclosure is frozen.</a:t>
            </a:r>
          </a:p>
        </p:txBody>
      </p:sp>
      <p:sp>
        <p:nvSpPr>
          <p:cNvPr id="16" name="TextBox 15"/>
          <p:cNvSpPr txBox="1"/>
          <p:nvPr/>
        </p:nvSpPr>
        <p:spPr>
          <a:xfrm>
            <a:off x="4937760" y="1097280"/>
            <a:ext cx="6400800" cy="365760"/>
          </a:xfrm>
          <a:prstGeom prst="rect">
            <a:avLst/>
          </a:prstGeom>
          <a:noFill/>
        </p:spPr>
        <p:txBody>
          <a:bodyPr wrap="square" lIns="45720" rIns="45720" tIns="27432" bIns="27432" anchor="t">
            <a:spAutoFit/>
          </a:bodyPr>
          <a:lstStyle/>
          <a:p>
            <a:pPr algn="l"/>
            <a:r>
              <a:rPr sz="2000" b="1" i="0">
                <a:solidFill>
                  <a:srgbClr val="1B3A4B"/>
                </a:solidFill>
                <a:latin typeface="Calibri"/>
              </a:rPr>
              <a:t>Relevant experience</a:t>
            </a:r>
          </a:p>
        </p:txBody>
      </p:sp>
      <p:sp>
        <p:nvSpPr>
          <p:cNvPr id="17" name="Rounded Rectangle 16"/>
          <p:cNvSpPr/>
          <p:nvPr/>
        </p:nvSpPr>
        <p:spPr>
          <a:xfrm>
            <a:off x="4937760" y="1554480"/>
            <a:ext cx="2194560" cy="1965960"/>
          </a:xfrm>
          <a:prstGeom prst="roundRect">
            <a:avLst>
              <a:gd name="adj" fmla="val 8000"/>
            </a:avLst>
          </a:prstGeom>
          <a:solidFill>
            <a:srgbClr val="E9E9E9"/>
          </a:solidFill>
          <a:ln w="9525">
            <a:solidFill>
              <a:srgbClr val="9A9A9A"/>
            </a:solidFill>
          </a:ln>
        </p:spPr>
        <p:txBody>
          <a:bodyPr rtlCol="0" anchor="ctr"/>
          <a:lstStyle/>
          <a:p>
            <a:pPr algn="ctr"/>
          </a:p>
        </p:txBody>
      </p:sp>
      <p:sp>
        <p:nvSpPr>
          <p:cNvPr id="18" name="TextBox 17"/>
          <p:cNvSpPr txBox="1"/>
          <p:nvPr/>
        </p:nvSpPr>
        <p:spPr>
          <a:xfrm>
            <a:off x="5047488" y="1627632"/>
            <a:ext cx="2011680" cy="640080"/>
          </a:xfrm>
          <a:prstGeom prst="rect">
            <a:avLst/>
          </a:prstGeom>
          <a:noFill/>
        </p:spPr>
        <p:txBody>
          <a:bodyPr wrap="square" lIns="45720" rIns="45720" tIns="27432" bIns="27432" anchor="t">
            <a:spAutoFit/>
          </a:bodyPr>
          <a:lstStyle/>
          <a:p>
            <a:pPr algn="l"/>
            <a:r>
              <a:rPr sz="1700" b="1" i="0">
                <a:solidFill>
                  <a:srgbClr val="C55A11"/>
                </a:solidFill>
                <a:latin typeface="Calibri"/>
              </a:rPr>
              <a:t>JLT, JOCN</a:t>
            </a:r>
          </a:p>
        </p:txBody>
      </p:sp>
      <p:sp>
        <p:nvSpPr>
          <p:cNvPr id="19" name="TextBox 18"/>
          <p:cNvSpPr txBox="1"/>
          <p:nvPr/>
        </p:nvSpPr>
        <p:spPr>
          <a:xfrm>
            <a:off x="5047488" y="2286000"/>
            <a:ext cx="2011680" cy="1188720"/>
          </a:xfrm>
          <a:prstGeom prst="rect">
            <a:avLst/>
          </a:prstGeom>
          <a:noFill/>
        </p:spPr>
        <p:txBody>
          <a:bodyPr wrap="square" lIns="45720" rIns="45720" tIns="27432" bIns="27432" anchor="t">
            <a:spAutoFit/>
          </a:bodyPr>
          <a:lstStyle/>
          <a:p>
            <a:pPr algn="l"/>
            <a:r>
              <a:rPr sz="1350" b="0" i="0">
                <a:solidFill>
                  <a:srgbClr val="1C2430"/>
                </a:solidFill>
                <a:latin typeface="Calibri"/>
              </a:rPr>
              <a:t>Optical links under impairment: soft-failure detection and localization</a:t>
            </a:r>
          </a:p>
        </p:txBody>
      </p:sp>
      <p:sp>
        <p:nvSpPr>
          <p:cNvPr id="20" name="Rounded Rectangle 19"/>
          <p:cNvSpPr/>
          <p:nvPr/>
        </p:nvSpPr>
        <p:spPr>
          <a:xfrm>
            <a:off x="7223760" y="1554480"/>
            <a:ext cx="2194560" cy="1965960"/>
          </a:xfrm>
          <a:prstGeom prst="roundRect">
            <a:avLst>
              <a:gd name="adj" fmla="val 8000"/>
            </a:avLst>
          </a:prstGeom>
          <a:solidFill>
            <a:srgbClr val="E9E9E9"/>
          </a:solidFill>
          <a:ln w="9525">
            <a:solidFill>
              <a:srgbClr val="9A9A9A"/>
            </a:solidFill>
          </a:ln>
        </p:spPr>
        <p:txBody>
          <a:bodyPr rtlCol="0" anchor="ctr"/>
          <a:lstStyle/>
          <a:p>
            <a:pPr algn="ctr"/>
          </a:p>
        </p:txBody>
      </p:sp>
      <p:sp>
        <p:nvSpPr>
          <p:cNvPr id="21" name="TextBox 20"/>
          <p:cNvSpPr txBox="1"/>
          <p:nvPr/>
        </p:nvSpPr>
        <p:spPr>
          <a:xfrm>
            <a:off x="7333488" y="1627632"/>
            <a:ext cx="2011680" cy="640080"/>
          </a:xfrm>
          <a:prstGeom prst="rect">
            <a:avLst/>
          </a:prstGeom>
          <a:noFill/>
        </p:spPr>
        <p:txBody>
          <a:bodyPr wrap="square" lIns="45720" rIns="45720" tIns="27432" bIns="27432" anchor="t">
            <a:spAutoFit/>
          </a:bodyPr>
          <a:lstStyle/>
          <a:p>
            <a:pPr algn="l"/>
            <a:r>
              <a:rPr sz="1700" b="1" i="0">
                <a:solidFill>
                  <a:srgbClr val="C55A11"/>
                </a:solidFill>
                <a:latin typeface="Calibri"/>
              </a:rPr>
              <a:t>Indian patent</a:t>
            </a:r>
          </a:p>
        </p:txBody>
      </p:sp>
      <p:sp>
        <p:nvSpPr>
          <p:cNvPr id="22" name="TextBox 21"/>
          <p:cNvSpPr txBox="1"/>
          <p:nvPr/>
        </p:nvSpPr>
        <p:spPr>
          <a:xfrm>
            <a:off x="7333488" y="2286000"/>
            <a:ext cx="2011680" cy="1188720"/>
          </a:xfrm>
          <a:prstGeom prst="rect">
            <a:avLst/>
          </a:prstGeom>
          <a:noFill/>
        </p:spPr>
        <p:txBody>
          <a:bodyPr wrap="square" lIns="45720" rIns="45720" tIns="27432" bIns="27432" anchor="t">
            <a:spAutoFit/>
          </a:bodyPr>
          <a:lstStyle/>
          <a:p>
            <a:pPr algn="l"/>
            <a:r>
              <a:rPr sz="1350" b="0" i="0">
                <a:solidFill>
                  <a:srgbClr val="1C2430"/>
                </a:solidFill>
                <a:latin typeface="Calibri"/>
              </a:rPr>
              <a:t>Published application for a deployable hardware testbed</a:t>
            </a:r>
          </a:p>
        </p:txBody>
      </p:sp>
      <p:sp>
        <p:nvSpPr>
          <p:cNvPr id="23" name="Rounded Rectangle 22"/>
          <p:cNvSpPr/>
          <p:nvPr/>
        </p:nvSpPr>
        <p:spPr>
          <a:xfrm>
            <a:off x="9509760" y="1554480"/>
            <a:ext cx="2194560" cy="1965960"/>
          </a:xfrm>
          <a:prstGeom prst="roundRect">
            <a:avLst>
              <a:gd name="adj" fmla="val 8000"/>
            </a:avLst>
          </a:prstGeom>
          <a:solidFill>
            <a:srgbClr val="E9E9E9"/>
          </a:solidFill>
          <a:ln w="9525">
            <a:solidFill>
              <a:srgbClr val="9A9A9A"/>
            </a:solidFill>
          </a:ln>
        </p:spPr>
        <p:txBody>
          <a:bodyPr rtlCol="0" anchor="ctr"/>
          <a:lstStyle/>
          <a:p>
            <a:pPr algn="ctr"/>
          </a:p>
        </p:txBody>
      </p:sp>
      <p:sp>
        <p:nvSpPr>
          <p:cNvPr id="24" name="TextBox 23"/>
          <p:cNvSpPr txBox="1"/>
          <p:nvPr/>
        </p:nvSpPr>
        <p:spPr>
          <a:xfrm>
            <a:off x="9619488" y="1627632"/>
            <a:ext cx="2011680" cy="640080"/>
          </a:xfrm>
          <a:prstGeom prst="rect">
            <a:avLst/>
          </a:prstGeom>
          <a:noFill/>
        </p:spPr>
        <p:txBody>
          <a:bodyPr wrap="square" lIns="45720" rIns="45720" tIns="27432" bIns="27432" anchor="t">
            <a:spAutoFit/>
          </a:bodyPr>
          <a:lstStyle/>
          <a:p>
            <a:pPr algn="l"/>
            <a:r>
              <a:rPr sz="1700" b="1" i="0">
                <a:solidFill>
                  <a:srgbClr val="C55A11"/>
                </a:solidFill>
                <a:latin typeface="Calibri"/>
              </a:rPr>
              <a:t>2 DoT / TCoE projects</a:t>
            </a:r>
          </a:p>
        </p:txBody>
      </p:sp>
      <p:sp>
        <p:nvSpPr>
          <p:cNvPr id="25" name="TextBox 24"/>
          <p:cNvSpPr txBox="1"/>
          <p:nvPr/>
        </p:nvSpPr>
        <p:spPr>
          <a:xfrm>
            <a:off x="9619488" y="2286000"/>
            <a:ext cx="2011680" cy="1188720"/>
          </a:xfrm>
          <a:prstGeom prst="rect">
            <a:avLst/>
          </a:prstGeom>
          <a:noFill/>
        </p:spPr>
        <p:txBody>
          <a:bodyPr wrap="square" lIns="45720" rIns="45720" tIns="27432" bIns="27432" anchor="t">
            <a:spAutoFit/>
          </a:bodyPr>
          <a:lstStyle/>
          <a:p>
            <a:pPr algn="l"/>
            <a:r>
              <a:rPr sz="1350" b="0" i="0">
                <a:solidFill>
                  <a:srgbClr val="1C2430"/>
                </a:solidFill>
                <a:latin typeface="Calibri"/>
              </a:rPr>
              <a:t>Co-PI on 6G projects, about ₹80 lakh and ₹82.4 lakh. One is a hybrid transceiver</a:t>
            </a:r>
          </a:p>
        </p:txBody>
      </p:sp>
      <p:sp>
        <p:nvSpPr>
          <p:cNvPr id="26" name="TextBox 25"/>
          <p:cNvSpPr txBox="1"/>
          <p:nvPr/>
        </p:nvSpPr>
        <p:spPr>
          <a:xfrm>
            <a:off x="4937760" y="3749039"/>
            <a:ext cx="6400800" cy="365760"/>
          </a:xfrm>
          <a:prstGeom prst="rect">
            <a:avLst/>
          </a:prstGeom>
          <a:noFill/>
        </p:spPr>
        <p:txBody>
          <a:bodyPr wrap="square" lIns="45720" rIns="45720" tIns="27432" bIns="27432" anchor="t">
            <a:spAutoFit/>
          </a:bodyPr>
          <a:lstStyle/>
          <a:p>
            <a:pPr algn="l"/>
            <a:r>
              <a:rPr sz="2000" b="1" i="0">
                <a:solidFill>
                  <a:srgbClr val="1B3A4B"/>
                </a:solidFill>
                <a:latin typeface="Calibri"/>
              </a:rPr>
              <a:t>Division of the work</a:t>
            </a:r>
          </a:p>
        </p:txBody>
      </p:sp>
      <p:sp>
        <p:nvSpPr>
          <p:cNvPr id="27" name="Rounded Rectangle 26"/>
          <p:cNvSpPr/>
          <p:nvPr/>
        </p:nvSpPr>
        <p:spPr>
          <a:xfrm>
            <a:off x="4937760" y="4206240"/>
            <a:ext cx="3291840" cy="2057400"/>
          </a:xfrm>
          <a:prstGeom prst="roundRect">
            <a:avLst>
              <a:gd name="adj" fmla="val 8000"/>
            </a:avLst>
          </a:prstGeom>
          <a:solidFill>
            <a:srgbClr val="E9E9E9"/>
          </a:solidFill>
          <a:ln w="9525">
            <a:solidFill>
              <a:srgbClr val="9A9A9A"/>
            </a:solidFill>
          </a:ln>
        </p:spPr>
        <p:txBody>
          <a:bodyPr rtlCol="0" anchor="ctr"/>
          <a:lstStyle/>
          <a:p>
            <a:pPr algn="ctr"/>
          </a:p>
        </p:txBody>
      </p:sp>
      <p:sp>
        <p:nvSpPr>
          <p:cNvPr id="28" name="TextBox 27"/>
          <p:cNvSpPr txBox="1"/>
          <p:nvPr/>
        </p:nvSpPr>
        <p:spPr>
          <a:xfrm>
            <a:off x="5074920" y="4279392"/>
            <a:ext cx="3017520" cy="365760"/>
          </a:xfrm>
          <a:prstGeom prst="rect">
            <a:avLst/>
          </a:prstGeom>
          <a:noFill/>
        </p:spPr>
        <p:txBody>
          <a:bodyPr wrap="square" lIns="45720" rIns="45720" tIns="27432" bIns="27432" anchor="t">
            <a:spAutoFit/>
          </a:bodyPr>
          <a:lstStyle/>
          <a:p>
            <a:pPr algn="l"/>
            <a:r>
              <a:rPr sz="1700" b="1" i="0">
                <a:solidFill>
                  <a:srgbClr val="1B3A4B"/>
                </a:solidFill>
                <a:latin typeface="Calibri"/>
              </a:rPr>
              <a:t>Project assistant 1</a:t>
            </a:r>
          </a:p>
        </p:txBody>
      </p:sp>
      <p:sp>
        <p:nvSpPr>
          <p:cNvPr id="29" name="TextBox 28"/>
          <p:cNvSpPr txBox="1"/>
          <p:nvPr/>
        </p:nvSpPr>
        <p:spPr>
          <a:xfrm>
            <a:off x="5074920" y="4681728"/>
            <a:ext cx="3017520" cy="1051560"/>
          </a:xfrm>
          <a:prstGeom prst="rect">
            <a:avLst/>
          </a:prstGeom>
          <a:noFill/>
        </p:spPr>
        <p:txBody>
          <a:bodyPr wrap="square" lIns="45720" rIns="45720" tIns="27432" bIns="27432" anchor="t">
            <a:spAutoFit/>
          </a:bodyPr>
          <a:lstStyle/>
          <a:p>
            <a:pPr algn="l"/>
            <a:r>
              <a:rPr sz="1450" b="0" i="0">
                <a:solidFill>
                  <a:srgbClr val="1C2430"/>
                </a:solidFill>
                <a:latin typeface="Calibri"/>
              </a:rPr>
              <a:t>Hardware: FSO, IMU, pan-tilt, LoRa, PCB, enclosure</a:t>
            </a:r>
          </a:p>
        </p:txBody>
      </p:sp>
      <p:sp>
        <p:nvSpPr>
          <p:cNvPr id="30" name="TextBox 29"/>
          <p:cNvSpPr txBox="1"/>
          <p:nvPr/>
        </p:nvSpPr>
        <p:spPr>
          <a:xfrm>
            <a:off x="5074920" y="5806440"/>
            <a:ext cx="3017520" cy="365760"/>
          </a:xfrm>
          <a:prstGeom prst="rect">
            <a:avLst/>
          </a:prstGeom>
          <a:noFill/>
        </p:spPr>
        <p:txBody>
          <a:bodyPr wrap="square" lIns="45720" rIns="45720" tIns="27432" bIns="27432" anchor="t">
            <a:spAutoFit/>
          </a:bodyPr>
          <a:lstStyle/>
          <a:p>
            <a:pPr algn="l"/>
            <a:r>
              <a:rPr sz="1450" b="1" i="0">
                <a:solidFill>
                  <a:srgbClr val="C55A11"/>
                </a:solidFill>
                <a:latin typeface="Calibri"/>
              </a:rPr>
              <a:t>₹15,000 / month</a:t>
            </a:r>
          </a:p>
        </p:txBody>
      </p:sp>
      <p:sp>
        <p:nvSpPr>
          <p:cNvPr id="31" name="Rounded Rectangle 30"/>
          <p:cNvSpPr/>
          <p:nvPr/>
        </p:nvSpPr>
        <p:spPr>
          <a:xfrm>
            <a:off x="8366760" y="4206240"/>
            <a:ext cx="3291840" cy="2057400"/>
          </a:xfrm>
          <a:prstGeom prst="roundRect">
            <a:avLst>
              <a:gd name="adj" fmla="val 8000"/>
            </a:avLst>
          </a:prstGeom>
          <a:solidFill>
            <a:srgbClr val="E9E9E9"/>
          </a:solidFill>
          <a:ln w="9525">
            <a:solidFill>
              <a:srgbClr val="9A9A9A"/>
            </a:solidFill>
          </a:ln>
        </p:spPr>
        <p:txBody>
          <a:bodyPr rtlCol="0" anchor="ctr"/>
          <a:lstStyle/>
          <a:p>
            <a:pPr algn="ctr"/>
          </a:p>
        </p:txBody>
      </p:sp>
      <p:sp>
        <p:nvSpPr>
          <p:cNvPr id="32" name="TextBox 31"/>
          <p:cNvSpPr txBox="1"/>
          <p:nvPr/>
        </p:nvSpPr>
        <p:spPr>
          <a:xfrm>
            <a:off x="8503920" y="4279392"/>
            <a:ext cx="3017520" cy="365760"/>
          </a:xfrm>
          <a:prstGeom prst="rect">
            <a:avLst/>
          </a:prstGeom>
          <a:noFill/>
        </p:spPr>
        <p:txBody>
          <a:bodyPr wrap="square" lIns="45720" rIns="45720" tIns="27432" bIns="27432" anchor="t">
            <a:spAutoFit/>
          </a:bodyPr>
          <a:lstStyle/>
          <a:p>
            <a:pPr algn="l"/>
            <a:r>
              <a:rPr sz="1700" b="1" i="0">
                <a:solidFill>
                  <a:srgbClr val="1B3A4B"/>
                </a:solidFill>
                <a:latin typeface="Calibri"/>
              </a:rPr>
              <a:t>Project assistant 2</a:t>
            </a:r>
          </a:p>
        </p:txBody>
      </p:sp>
      <p:sp>
        <p:nvSpPr>
          <p:cNvPr id="33" name="TextBox 32"/>
          <p:cNvSpPr txBox="1"/>
          <p:nvPr/>
        </p:nvSpPr>
        <p:spPr>
          <a:xfrm>
            <a:off x="8503920" y="4681728"/>
            <a:ext cx="3017520" cy="1051560"/>
          </a:xfrm>
          <a:prstGeom prst="rect">
            <a:avLst/>
          </a:prstGeom>
          <a:noFill/>
        </p:spPr>
        <p:txBody>
          <a:bodyPr wrap="square" lIns="45720" rIns="45720" tIns="27432" bIns="27432" anchor="t">
            <a:spAutoFit/>
          </a:bodyPr>
          <a:lstStyle/>
          <a:p>
            <a:pPr algn="l"/>
            <a:r>
              <a:rPr sz="1450" b="0" i="0">
                <a:solidFill>
                  <a:srgbClr val="1C2430"/>
                </a:solidFill>
                <a:latin typeface="Calibri"/>
              </a:rPr>
              <a:t>Software: multi-hop forwarding, video, tracking loop, surface display</a:t>
            </a:r>
          </a:p>
        </p:txBody>
      </p:sp>
      <p:sp>
        <p:nvSpPr>
          <p:cNvPr id="34" name="TextBox 33"/>
          <p:cNvSpPr txBox="1"/>
          <p:nvPr/>
        </p:nvSpPr>
        <p:spPr>
          <a:xfrm>
            <a:off x="8503920" y="5806440"/>
            <a:ext cx="3017520" cy="365760"/>
          </a:xfrm>
          <a:prstGeom prst="rect">
            <a:avLst/>
          </a:prstGeom>
          <a:noFill/>
        </p:spPr>
        <p:txBody>
          <a:bodyPr wrap="square" lIns="45720" rIns="45720" tIns="27432" bIns="27432" anchor="t">
            <a:spAutoFit/>
          </a:bodyPr>
          <a:lstStyle/>
          <a:p>
            <a:pPr algn="l"/>
            <a:r>
              <a:rPr sz="1450" b="1" i="0">
                <a:solidFill>
                  <a:srgbClr val="C55A11"/>
                </a:solidFill>
                <a:latin typeface="Calibri"/>
              </a:rPr>
              <a:t>₹15,000 / month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4" name="Section"/>
          <p:cNvSpPr txBox="1"/>
          <p:nvPr/>
        </p:nvSpPr>
        <p:spPr>
          <a:xfrm>
            <a:off x="457200" y="182880"/>
            <a:ext cx="11247120" cy="256032"/>
          </a:xfrm>
          <a:prstGeom prst="rect">
            <a:avLst/>
          </a:prstGeom>
          <a:noFill/>
        </p:spPr>
        <p:txBody>
          <a:bodyPr wrap="square" lIns="45720" rIns="45720" tIns="27432" bIns="27432" anchor="t">
            <a:spAutoFit/>
          </a:bodyPr>
          <a:lstStyle/>
          <a:p>
            <a:pPr algn="l"/>
            <a:r>
              <a:rPr sz="1300" b="1" i="0">
                <a:solidFill>
                  <a:srgbClr val="B5740A"/>
                </a:solidFill>
                <a:latin typeface="Calibri"/>
              </a:rPr>
              <a:t>08     ·     TEAM DETAILS AND BUDGET SUMMARY</a:t>
            </a:r>
          </a:p>
        </p:txBody>
      </p:sp>
      <p:sp>
        <p:nvSpPr>
          <p:cNvPr id="5" name="Title"/>
          <p:cNvSpPr txBox="1"/>
          <p:nvPr/>
        </p:nvSpPr>
        <p:spPr>
          <a:xfrm>
            <a:off x="438912" y="420624"/>
            <a:ext cx="11338560" cy="502920"/>
          </a:xfrm>
          <a:prstGeom prst="rect">
            <a:avLst/>
          </a:prstGeom>
          <a:noFill/>
        </p:spPr>
        <p:txBody>
          <a:bodyPr wrap="square" lIns="45720" rIns="45720" tIns="27432" bIns="27432" anchor="t">
            <a:spAutoFit/>
          </a:bodyPr>
          <a:lstStyle/>
          <a:p>
            <a:pPr algn="l"/>
            <a:r>
              <a:rPr sz="2800" b="1" i="0">
                <a:solidFill>
                  <a:srgbClr val="1B3A4B"/>
                </a:solidFill>
                <a:latin typeface="Calibri"/>
              </a:rPr>
              <a:t>Budget: ₹15.00 lakh</a:t>
            </a:r>
          </a:p>
        </p:txBody>
      </p:sp>
      <p:sp>
        <p:nvSpPr>
          <p:cNvPr id="6" name="Footer rule"/>
          <p:cNvSpPr/>
          <p:nvPr/>
        </p:nvSpPr>
        <p:spPr>
          <a:xfrm>
            <a:off x="457200" y="6565392"/>
            <a:ext cx="11292840" cy="9144"/>
          </a:xfrm>
          <a:prstGeom prst="rect">
            <a:avLst/>
          </a:prstGeom>
          <a:solidFill>
            <a:srgbClr val="D0D0D0"/>
          </a:solidFill>
          <a:ln>
            <a:noFill/>
          </a:ln>
        </p:spPr>
        <p:txBody>
          <a:bodyPr rtlCol="0" anchor="ctr"/>
          <a:lstStyle/>
          <a:p>
            <a:pPr algn="ctr"/>
          </a:p>
        </p:txBody>
      </p:sp>
      <p:sp>
        <p:nvSpPr>
          <p:cNvPr id="7"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Budget</a:t>
            </a:r>
          </a:p>
        </p:txBody>
      </p:sp>
      <p:sp>
        <p:nvSpPr>
          <p:cNvPr id="8"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14  /  15</a:t>
            </a:r>
          </a:p>
        </p:txBody>
      </p:sp>
      <p:sp>
        <p:nvSpPr>
          <p:cNvPr id="9" name="TextBox 8"/>
          <p:cNvSpPr txBox="1"/>
          <p:nvPr/>
        </p:nvSpPr>
        <p:spPr>
          <a:xfrm>
            <a:off x="457200" y="960120"/>
            <a:ext cx="11247120" cy="365760"/>
          </a:xfrm>
          <a:prstGeom prst="rect">
            <a:avLst/>
          </a:prstGeom>
          <a:noFill/>
        </p:spPr>
        <p:txBody>
          <a:bodyPr wrap="square" lIns="45720" rIns="45720" tIns="27432" bIns="27432" anchor="t">
            <a:spAutoFit/>
          </a:bodyPr>
          <a:lstStyle/>
          <a:p>
            <a:pPr algn="l"/>
            <a:r>
              <a:rPr sz="1500" b="0" i="0">
                <a:solidFill>
                  <a:srgbClr val="5C6770"/>
                </a:solidFill>
                <a:latin typeface="Calibri"/>
              </a:rPr>
              <a:t>In ₹ lakh. Institute overhead is zero. Year 1 is ₹7.60 lakh and Year 2 is ₹7.40 lakh.</a:t>
            </a:r>
          </a:p>
        </p:txBody>
      </p:sp>
      <p:graphicFrame>
        <p:nvGraphicFramePr>
          <p:cNvPr id="10" name="Chart 9"/>
          <p:cNvGraphicFramePr>
            <a:graphicFrameLocks noGrp="1"/>
          </p:cNvGraphicFramePr>
          <p:nvPr/>
        </p:nvGraphicFramePr>
        <p:xfrm>
          <a:off x="365760" y="1371600"/>
          <a:ext cx="4297680" cy="4114800"/>
        </p:xfrm>
        <a:graphic>
          <a:graphicData uri="http://schemas.openxmlformats.org/drawingml/2006/chart">
            <c:chart xmlns:c="http://schemas.openxmlformats.org/drawingml/2006/chart" r:id="rId2"/>
          </a:graphicData>
        </a:graphic>
      </p:graphicFrame>
      <p:sp>
        <p:nvSpPr>
          <p:cNvPr id="11" name="TextBox 10"/>
          <p:cNvSpPr txBox="1"/>
          <p:nvPr/>
        </p:nvSpPr>
        <p:spPr>
          <a:xfrm>
            <a:off x="1417320" y="3017520"/>
            <a:ext cx="2194560" cy="502920"/>
          </a:xfrm>
          <a:prstGeom prst="rect">
            <a:avLst/>
          </a:prstGeom>
          <a:noFill/>
        </p:spPr>
        <p:txBody>
          <a:bodyPr wrap="square" lIns="45720" rIns="45720" tIns="27432" bIns="27432" anchor="t">
            <a:spAutoFit/>
          </a:bodyPr>
          <a:lstStyle/>
          <a:p>
            <a:pPr algn="ctr"/>
            <a:r>
              <a:rPr sz="3000" b="1" i="0">
                <a:solidFill>
                  <a:srgbClr val="1B3A4B"/>
                </a:solidFill>
                <a:latin typeface="Calibri"/>
              </a:rPr>
              <a:t>₹15.00</a:t>
            </a:r>
          </a:p>
        </p:txBody>
      </p:sp>
      <p:sp>
        <p:nvSpPr>
          <p:cNvPr id="12" name="TextBox 11"/>
          <p:cNvSpPr txBox="1"/>
          <p:nvPr/>
        </p:nvSpPr>
        <p:spPr>
          <a:xfrm>
            <a:off x="1417320" y="3520440"/>
            <a:ext cx="2194560" cy="365760"/>
          </a:xfrm>
          <a:prstGeom prst="rect">
            <a:avLst/>
          </a:prstGeom>
          <a:noFill/>
        </p:spPr>
        <p:txBody>
          <a:bodyPr wrap="square" lIns="45720" rIns="45720" tIns="27432" bIns="27432" anchor="t">
            <a:spAutoFit/>
          </a:bodyPr>
          <a:lstStyle/>
          <a:p>
            <a:pPr algn="ctr"/>
            <a:r>
              <a:rPr sz="1400" b="0" i="0">
                <a:solidFill>
                  <a:srgbClr val="5C6770"/>
                </a:solidFill>
                <a:latin typeface="Calibri"/>
              </a:rPr>
              <a:t>lakh · 24 months</a:t>
            </a:r>
          </a:p>
        </p:txBody>
      </p:sp>
      <p:graphicFrame>
        <p:nvGraphicFramePr>
          <p:cNvPr id="13" name="Table 12"/>
          <p:cNvGraphicFramePr>
            <a:graphicFrameLocks noGrp="1"/>
          </p:cNvGraphicFramePr>
          <p:nvPr/>
        </p:nvGraphicFramePr>
        <p:xfrm>
          <a:off x="4937760" y="1371600"/>
          <a:ext cx="6492240" cy="3657600"/>
        </p:xfrm>
        <a:graphic>
          <a:graphicData uri="http://schemas.openxmlformats.org/drawingml/2006/table">
            <a:tbl>
              <a:tblPr firstRow="0" bandRow="0">
                <a:tableStyleId>{2D5ABB26-0587-4C30-8999-92F81FD0307C}</a:tableStyleId>
              </a:tblPr>
              <a:tblGrid>
                <a:gridCol w="2468880"/>
                <a:gridCol w="1005840"/>
                <a:gridCol w="1005840"/>
                <a:gridCol w="1005840"/>
                <a:gridCol w="1005840"/>
              </a:tblGrid>
              <a:tr h="457200">
                <a:tc>
                  <a:txBody>
                    <a:bodyPr/>
                    <a:lstStyle/>
                    <a:p>
                      <a:pPr algn="l"/>
                      <a:r>
                        <a:rPr sz="1500" b="1">
                          <a:solidFill>
                            <a:srgbClr val="FFFFFF"/>
                          </a:solidFill>
                          <a:latin typeface="Calibri"/>
                        </a:rPr>
                        <a:t>Head</a:t>
                      </a:r>
                    </a:p>
                  </a:txBody>
                  <a:tcPr marL="365760" marR="91440" anchor="ctr">
                    <a:solidFill>
                      <a:srgbClr val="0071C1"/>
                    </a:solidFill>
                  </a:tcPr>
                </a:tc>
                <a:tc>
                  <a:txBody>
                    <a:bodyPr/>
                    <a:lstStyle/>
                    <a:p>
                      <a:pPr algn="r"/>
                      <a:r>
                        <a:rPr sz="1500" b="1">
                          <a:solidFill>
                            <a:srgbClr val="FFFFFF"/>
                          </a:solidFill>
                          <a:latin typeface="Calibri"/>
                        </a:rPr>
                        <a:t>Year 1</a:t>
                      </a:r>
                    </a:p>
                  </a:txBody>
                  <a:tcPr marL="109728" marR="91440" anchor="ctr">
                    <a:solidFill>
                      <a:srgbClr val="0071C1"/>
                    </a:solidFill>
                  </a:tcPr>
                </a:tc>
                <a:tc>
                  <a:txBody>
                    <a:bodyPr/>
                    <a:lstStyle/>
                    <a:p>
                      <a:pPr algn="r"/>
                      <a:r>
                        <a:rPr sz="1500" b="1">
                          <a:solidFill>
                            <a:srgbClr val="FFFFFF"/>
                          </a:solidFill>
                          <a:latin typeface="Calibri"/>
                        </a:rPr>
                        <a:t>Year 2</a:t>
                      </a:r>
                    </a:p>
                  </a:txBody>
                  <a:tcPr marL="109728" marR="91440" anchor="ctr">
                    <a:solidFill>
                      <a:srgbClr val="0071C1"/>
                    </a:solidFill>
                  </a:tcPr>
                </a:tc>
                <a:tc>
                  <a:txBody>
                    <a:bodyPr/>
                    <a:lstStyle/>
                    <a:p>
                      <a:pPr algn="r"/>
                      <a:r>
                        <a:rPr sz="1500" b="1">
                          <a:solidFill>
                            <a:srgbClr val="FFFFFF"/>
                          </a:solidFill>
                          <a:latin typeface="Calibri"/>
                        </a:rPr>
                        <a:t>Total</a:t>
                      </a:r>
                    </a:p>
                  </a:txBody>
                  <a:tcPr marL="109728" marR="91440" anchor="ctr">
                    <a:solidFill>
                      <a:srgbClr val="0071C1"/>
                    </a:solidFill>
                  </a:tcPr>
                </a:tc>
                <a:tc>
                  <a:txBody>
                    <a:bodyPr/>
                    <a:lstStyle/>
                    <a:p>
                      <a:pPr algn="r"/>
                      <a:r>
                        <a:rPr sz="1500" b="1">
                          <a:solidFill>
                            <a:srgbClr val="FFFFFF"/>
                          </a:solidFill>
                          <a:latin typeface="Calibri"/>
                        </a:rPr>
                        <a:t>Share</a:t>
                      </a:r>
                    </a:p>
                  </a:txBody>
                  <a:tcPr marL="109728" marR="91440" anchor="ctr">
                    <a:solidFill>
                      <a:srgbClr val="0071C1"/>
                    </a:solidFill>
                  </a:tcPr>
                </a:tc>
              </a:tr>
              <a:tr h="457200">
                <a:tc>
                  <a:txBody>
                    <a:bodyPr/>
                    <a:lstStyle/>
                    <a:p>
                      <a:pPr algn="l"/>
                      <a:r>
                        <a:rPr sz="1500" b="0">
                          <a:solidFill>
                            <a:srgbClr val="1C2430"/>
                          </a:solidFill>
                          <a:latin typeface="Calibri"/>
                        </a:rPr>
                        <a:t>Project assistants (2)</a:t>
                      </a:r>
                    </a:p>
                  </a:txBody>
                  <a:tcPr marL="365760" marR="91440" anchor="ctr">
                    <a:solidFill>
                      <a:srgbClr val="E9E9E9"/>
                    </a:solidFill>
                  </a:tcPr>
                </a:tc>
                <a:tc>
                  <a:txBody>
                    <a:bodyPr/>
                    <a:lstStyle/>
                    <a:p>
                      <a:pPr algn="r"/>
                      <a:r>
                        <a:rPr sz="1500" b="0">
                          <a:solidFill>
                            <a:srgbClr val="1C2430"/>
                          </a:solidFill>
                          <a:latin typeface="Calibri"/>
                        </a:rPr>
                        <a:t>3.60</a:t>
                      </a:r>
                    </a:p>
                  </a:txBody>
                  <a:tcPr marL="109728" marR="91440" anchor="ctr">
                    <a:solidFill>
                      <a:srgbClr val="E9E9E9"/>
                    </a:solidFill>
                  </a:tcPr>
                </a:tc>
                <a:tc>
                  <a:txBody>
                    <a:bodyPr/>
                    <a:lstStyle/>
                    <a:p>
                      <a:pPr algn="r"/>
                      <a:r>
                        <a:rPr sz="1500" b="0">
                          <a:solidFill>
                            <a:srgbClr val="1C2430"/>
                          </a:solidFill>
                          <a:latin typeface="Calibri"/>
                        </a:rPr>
                        <a:t>3.60</a:t>
                      </a:r>
                    </a:p>
                  </a:txBody>
                  <a:tcPr marL="109728" marR="91440" anchor="ctr">
                    <a:solidFill>
                      <a:srgbClr val="E9E9E9"/>
                    </a:solidFill>
                  </a:tcPr>
                </a:tc>
                <a:tc>
                  <a:txBody>
                    <a:bodyPr/>
                    <a:lstStyle/>
                    <a:p>
                      <a:pPr algn="r"/>
                      <a:r>
                        <a:rPr sz="1500" b="1">
                          <a:solidFill>
                            <a:srgbClr val="1C2430"/>
                          </a:solidFill>
                          <a:latin typeface="Calibri"/>
                        </a:rPr>
                        <a:t>7.20</a:t>
                      </a:r>
                    </a:p>
                  </a:txBody>
                  <a:tcPr marL="109728" marR="91440" anchor="ctr">
                    <a:solidFill>
                      <a:srgbClr val="E9E9E9"/>
                    </a:solidFill>
                  </a:tcPr>
                </a:tc>
                <a:tc>
                  <a:txBody>
                    <a:bodyPr/>
                    <a:lstStyle/>
                    <a:p>
                      <a:pPr algn="r"/>
                      <a:r>
                        <a:rPr sz="1500" b="0">
                          <a:solidFill>
                            <a:srgbClr val="1C2430"/>
                          </a:solidFill>
                          <a:latin typeface="Calibri"/>
                        </a:rPr>
                        <a:t>48%</a:t>
                      </a:r>
                    </a:p>
                  </a:txBody>
                  <a:tcPr marL="109728" marR="91440" anchor="ctr">
                    <a:solidFill>
                      <a:srgbClr val="E9E9E9"/>
                    </a:solidFill>
                  </a:tcPr>
                </a:tc>
              </a:tr>
              <a:tr h="457200">
                <a:tc>
                  <a:txBody>
                    <a:bodyPr/>
                    <a:lstStyle/>
                    <a:p>
                      <a:pPr algn="l"/>
                      <a:r>
                        <a:rPr sz="1500" b="0">
                          <a:solidFill>
                            <a:srgbClr val="1C2430"/>
                          </a:solidFill>
                          <a:latin typeface="Calibri"/>
                        </a:rPr>
                        <a:t>Equipment</a:t>
                      </a:r>
                    </a:p>
                  </a:txBody>
                  <a:tcPr marL="365760" marR="91440" anchor="ctr">
                    <a:solidFill>
                      <a:srgbClr val="FFFFFF"/>
                    </a:solidFill>
                  </a:tcPr>
                </a:tc>
                <a:tc>
                  <a:txBody>
                    <a:bodyPr/>
                    <a:lstStyle/>
                    <a:p>
                      <a:pPr algn="r"/>
                      <a:r>
                        <a:rPr sz="1500" b="0">
                          <a:solidFill>
                            <a:srgbClr val="1C2430"/>
                          </a:solidFill>
                          <a:latin typeface="Calibri"/>
                        </a:rPr>
                        <a:t>2.00</a:t>
                      </a:r>
                    </a:p>
                  </a:txBody>
                  <a:tcPr marL="109728" marR="91440" anchor="ctr">
                    <a:solidFill>
                      <a:srgbClr val="FFFFFF"/>
                    </a:solidFill>
                  </a:tcPr>
                </a:tc>
                <a:tc>
                  <a:txBody>
                    <a:bodyPr/>
                    <a:lstStyle/>
                    <a:p>
                      <a:pPr algn="r"/>
                      <a:r>
                        <a:rPr sz="1500" b="0">
                          <a:solidFill>
                            <a:srgbClr val="1C2430"/>
                          </a:solidFill>
                          <a:latin typeface="Calibri"/>
                        </a:rPr>
                        <a:t>1.50</a:t>
                      </a:r>
                    </a:p>
                  </a:txBody>
                  <a:tcPr marL="109728" marR="91440" anchor="ctr">
                    <a:solidFill>
                      <a:srgbClr val="FFFFFF"/>
                    </a:solidFill>
                  </a:tcPr>
                </a:tc>
                <a:tc>
                  <a:txBody>
                    <a:bodyPr/>
                    <a:lstStyle/>
                    <a:p>
                      <a:pPr algn="r"/>
                      <a:r>
                        <a:rPr sz="1500" b="1">
                          <a:solidFill>
                            <a:srgbClr val="1C2430"/>
                          </a:solidFill>
                          <a:latin typeface="Calibri"/>
                        </a:rPr>
                        <a:t>3.50</a:t>
                      </a:r>
                    </a:p>
                  </a:txBody>
                  <a:tcPr marL="109728" marR="91440" anchor="ctr">
                    <a:solidFill>
                      <a:srgbClr val="FFFFFF"/>
                    </a:solidFill>
                  </a:tcPr>
                </a:tc>
                <a:tc>
                  <a:txBody>
                    <a:bodyPr/>
                    <a:lstStyle/>
                    <a:p>
                      <a:pPr algn="r"/>
                      <a:r>
                        <a:rPr sz="1500" b="0">
                          <a:solidFill>
                            <a:srgbClr val="1C2430"/>
                          </a:solidFill>
                          <a:latin typeface="Calibri"/>
                        </a:rPr>
                        <a:t>23%</a:t>
                      </a:r>
                    </a:p>
                  </a:txBody>
                  <a:tcPr marL="109728" marR="91440" anchor="ctr">
                    <a:solidFill>
                      <a:srgbClr val="FFFFFF"/>
                    </a:solidFill>
                  </a:tcPr>
                </a:tc>
              </a:tr>
              <a:tr h="457200">
                <a:tc>
                  <a:txBody>
                    <a:bodyPr/>
                    <a:lstStyle/>
                    <a:p>
                      <a:pPr algn="l"/>
                      <a:r>
                        <a:rPr sz="1500" b="0">
                          <a:solidFill>
                            <a:srgbClr val="1C2430"/>
                          </a:solidFill>
                          <a:latin typeface="Calibri"/>
                        </a:rPr>
                        <a:t>Consumables</a:t>
                      </a:r>
                    </a:p>
                  </a:txBody>
                  <a:tcPr marL="365760" marR="91440" anchor="ctr">
                    <a:solidFill>
                      <a:srgbClr val="E9E9E9"/>
                    </a:solidFill>
                  </a:tcPr>
                </a:tc>
                <a:tc>
                  <a:txBody>
                    <a:bodyPr/>
                    <a:lstStyle/>
                    <a:p>
                      <a:pPr algn="r"/>
                      <a:r>
                        <a:rPr sz="1500" b="0">
                          <a:solidFill>
                            <a:srgbClr val="1C2430"/>
                          </a:solidFill>
                          <a:latin typeface="Calibri"/>
                        </a:rPr>
                        <a:t>0.75</a:t>
                      </a:r>
                    </a:p>
                  </a:txBody>
                  <a:tcPr marL="109728" marR="91440" anchor="ctr">
                    <a:solidFill>
                      <a:srgbClr val="E9E9E9"/>
                    </a:solidFill>
                  </a:tcPr>
                </a:tc>
                <a:tc>
                  <a:txBody>
                    <a:bodyPr/>
                    <a:lstStyle/>
                    <a:p>
                      <a:pPr algn="r"/>
                      <a:r>
                        <a:rPr sz="1500" b="0">
                          <a:solidFill>
                            <a:srgbClr val="1C2430"/>
                          </a:solidFill>
                          <a:latin typeface="Calibri"/>
                        </a:rPr>
                        <a:t>0.75</a:t>
                      </a:r>
                    </a:p>
                  </a:txBody>
                  <a:tcPr marL="109728" marR="91440" anchor="ctr">
                    <a:solidFill>
                      <a:srgbClr val="E9E9E9"/>
                    </a:solidFill>
                  </a:tcPr>
                </a:tc>
                <a:tc>
                  <a:txBody>
                    <a:bodyPr/>
                    <a:lstStyle/>
                    <a:p>
                      <a:pPr algn="r"/>
                      <a:r>
                        <a:rPr sz="1500" b="1">
                          <a:solidFill>
                            <a:srgbClr val="1C2430"/>
                          </a:solidFill>
                          <a:latin typeface="Calibri"/>
                        </a:rPr>
                        <a:t>1.50</a:t>
                      </a:r>
                    </a:p>
                  </a:txBody>
                  <a:tcPr marL="109728" marR="91440" anchor="ctr">
                    <a:solidFill>
                      <a:srgbClr val="E9E9E9"/>
                    </a:solidFill>
                  </a:tcPr>
                </a:tc>
                <a:tc>
                  <a:txBody>
                    <a:bodyPr/>
                    <a:lstStyle/>
                    <a:p>
                      <a:pPr algn="r"/>
                      <a:r>
                        <a:rPr sz="1500" b="0">
                          <a:solidFill>
                            <a:srgbClr val="1C2430"/>
                          </a:solidFill>
                          <a:latin typeface="Calibri"/>
                        </a:rPr>
                        <a:t>10%</a:t>
                      </a:r>
                    </a:p>
                  </a:txBody>
                  <a:tcPr marL="109728" marR="91440" anchor="ctr">
                    <a:solidFill>
                      <a:srgbClr val="E9E9E9"/>
                    </a:solidFill>
                  </a:tcPr>
                </a:tc>
              </a:tr>
              <a:tr h="457200">
                <a:tc>
                  <a:txBody>
                    <a:bodyPr/>
                    <a:lstStyle/>
                    <a:p>
                      <a:pPr algn="l"/>
                      <a:r>
                        <a:rPr sz="1500" b="0">
                          <a:solidFill>
                            <a:srgbClr val="1C2430"/>
                          </a:solidFill>
                          <a:latin typeface="Calibri"/>
                        </a:rPr>
                        <a:t>Contingency</a:t>
                      </a:r>
                    </a:p>
                  </a:txBody>
                  <a:tcPr marL="365760" marR="91440" anchor="ctr">
                    <a:solidFill>
                      <a:srgbClr val="FFFFFF"/>
                    </a:solidFill>
                  </a:tcPr>
                </a:tc>
                <a:tc>
                  <a:txBody>
                    <a:bodyPr/>
                    <a:lstStyle/>
                    <a:p>
                      <a:pPr algn="r"/>
                      <a:r>
                        <a:rPr sz="1500" b="0">
                          <a:solidFill>
                            <a:srgbClr val="1C2430"/>
                          </a:solidFill>
                          <a:latin typeface="Calibri"/>
                        </a:rPr>
                        <a:t>0.75</a:t>
                      </a:r>
                    </a:p>
                  </a:txBody>
                  <a:tcPr marL="109728" marR="91440" anchor="ctr">
                    <a:solidFill>
                      <a:srgbClr val="FFFFFF"/>
                    </a:solidFill>
                  </a:tcPr>
                </a:tc>
                <a:tc>
                  <a:txBody>
                    <a:bodyPr/>
                    <a:lstStyle/>
                    <a:p>
                      <a:pPr algn="r"/>
                      <a:r>
                        <a:rPr sz="1500" b="0">
                          <a:solidFill>
                            <a:srgbClr val="1C2430"/>
                          </a:solidFill>
                          <a:latin typeface="Calibri"/>
                        </a:rPr>
                        <a:t>0.75</a:t>
                      </a:r>
                    </a:p>
                  </a:txBody>
                  <a:tcPr marL="109728" marR="91440" anchor="ctr">
                    <a:solidFill>
                      <a:srgbClr val="FFFFFF"/>
                    </a:solidFill>
                  </a:tcPr>
                </a:tc>
                <a:tc>
                  <a:txBody>
                    <a:bodyPr/>
                    <a:lstStyle/>
                    <a:p>
                      <a:pPr algn="r"/>
                      <a:r>
                        <a:rPr sz="1500" b="1">
                          <a:solidFill>
                            <a:srgbClr val="1C2430"/>
                          </a:solidFill>
                          <a:latin typeface="Calibri"/>
                        </a:rPr>
                        <a:t>1.50</a:t>
                      </a:r>
                    </a:p>
                  </a:txBody>
                  <a:tcPr marL="109728" marR="91440" anchor="ctr">
                    <a:solidFill>
                      <a:srgbClr val="FFFFFF"/>
                    </a:solidFill>
                  </a:tcPr>
                </a:tc>
                <a:tc>
                  <a:txBody>
                    <a:bodyPr/>
                    <a:lstStyle/>
                    <a:p>
                      <a:pPr algn="r"/>
                      <a:r>
                        <a:rPr sz="1500" b="0">
                          <a:solidFill>
                            <a:srgbClr val="1C2430"/>
                          </a:solidFill>
                          <a:latin typeface="Calibri"/>
                        </a:rPr>
                        <a:t>10%</a:t>
                      </a:r>
                    </a:p>
                  </a:txBody>
                  <a:tcPr marL="109728" marR="91440" anchor="ctr">
                    <a:solidFill>
                      <a:srgbClr val="FFFFFF"/>
                    </a:solidFill>
                  </a:tcPr>
                </a:tc>
              </a:tr>
              <a:tr h="457200">
                <a:tc>
                  <a:txBody>
                    <a:bodyPr/>
                    <a:lstStyle/>
                    <a:p>
                      <a:pPr algn="l"/>
                      <a:r>
                        <a:rPr sz="1500" b="0">
                          <a:solidFill>
                            <a:srgbClr val="1C2430"/>
                          </a:solidFill>
                          <a:latin typeface="Calibri"/>
                        </a:rPr>
                        <a:t>Travel</a:t>
                      </a:r>
                    </a:p>
                  </a:txBody>
                  <a:tcPr marL="365760" marR="91440" anchor="ctr">
                    <a:solidFill>
                      <a:srgbClr val="E9E9E9"/>
                    </a:solidFill>
                  </a:tcPr>
                </a:tc>
                <a:tc>
                  <a:txBody>
                    <a:bodyPr/>
                    <a:lstStyle/>
                    <a:p>
                      <a:pPr algn="r"/>
                      <a:r>
                        <a:rPr sz="1500" b="0">
                          <a:solidFill>
                            <a:srgbClr val="1C2430"/>
                          </a:solidFill>
                          <a:latin typeface="Calibri"/>
                        </a:rPr>
                        <a:t>0.50</a:t>
                      </a:r>
                    </a:p>
                  </a:txBody>
                  <a:tcPr marL="109728" marR="91440" anchor="ctr">
                    <a:solidFill>
                      <a:srgbClr val="E9E9E9"/>
                    </a:solidFill>
                  </a:tcPr>
                </a:tc>
                <a:tc>
                  <a:txBody>
                    <a:bodyPr/>
                    <a:lstStyle/>
                    <a:p>
                      <a:pPr algn="r"/>
                      <a:r>
                        <a:rPr sz="1500" b="0">
                          <a:solidFill>
                            <a:srgbClr val="1C2430"/>
                          </a:solidFill>
                          <a:latin typeface="Calibri"/>
                        </a:rPr>
                        <a:t>0.80</a:t>
                      </a:r>
                    </a:p>
                  </a:txBody>
                  <a:tcPr marL="109728" marR="91440" anchor="ctr">
                    <a:solidFill>
                      <a:srgbClr val="E9E9E9"/>
                    </a:solidFill>
                  </a:tcPr>
                </a:tc>
                <a:tc>
                  <a:txBody>
                    <a:bodyPr/>
                    <a:lstStyle/>
                    <a:p>
                      <a:pPr algn="r"/>
                      <a:r>
                        <a:rPr sz="1500" b="1">
                          <a:solidFill>
                            <a:srgbClr val="1C2430"/>
                          </a:solidFill>
                          <a:latin typeface="Calibri"/>
                        </a:rPr>
                        <a:t>1.30</a:t>
                      </a:r>
                    </a:p>
                  </a:txBody>
                  <a:tcPr marL="109728" marR="91440" anchor="ctr">
                    <a:solidFill>
                      <a:srgbClr val="E9E9E9"/>
                    </a:solidFill>
                  </a:tcPr>
                </a:tc>
                <a:tc>
                  <a:txBody>
                    <a:bodyPr/>
                    <a:lstStyle/>
                    <a:p>
                      <a:pPr algn="r"/>
                      <a:r>
                        <a:rPr sz="1500" b="0">
                          <a:solidFill>
                            <a:srgbClr val="1C2430"/>
                          </a:solidFill>
                          <a:latin typeface="Calibri"/>
                        </a:rPr>
                        <a:t>9%</a:t>
                      </a:r>
                    </a:p>
                  </a:txBody>
                  <a:tcPr marL="109728" marR="91440" anchor="ctr">
                    <a:solidFill>
                      <a:srgbClr val="E9E9E9"/>
                    </a:solidFill>
                  </a:tcPr>
                </a:tc>
              </a:tr>
              <a:tr h="457200">
                <a:tc>
                  <a:txBody>
                    <a:bodyPr/>
                    <a:lstStyle/>
                    <a:p>
                      <a:pPr algn="l"/>
                      <a:r>
                        <a:rPr sz="1500" b="0">
                          <a:solidFill>
                            <a:srgbClr val="1C2430"/>
                          </a:solidFill>
                          <a:latin typeface="Calibri"/>
                        </a:rPr>
                        <a:t>Overhead</a:t>
                      </a:r>
                    </a:p>
                  </a:txBody>
                  <a:tcPr marL="365760" marR="91440" anchor="ctr">
                    <a:solidFill>
                      <a:srgbClr val="FFFFFF"/>
                    </a:solidFill>
                  </a:tcPr>
                </a:tc>
                <a:tc>
                  <a:txBody>
                    <a:bodyPr/>
                    <a:lstStyle/>
                    <a:p>
                      <a:pPr algn="r"/>
                      <a:r>
                        <a:rPr sz="1500" b="0">
                          <a:solidFill>
                            <a:srgbClr val="1C2430"/>
                          </a:solidFill>
                          <a:latin typeface="Calibri"/>
                        </a:rPr>
                        <a:t>0</a:t>
                      </a:r>
                    </a:p>
                  </a:txBody>
                  <a:tcPr marL="109728" marR="91440" anchor="ctr">
                    <a:solidFill>
                      <a:srgbClr val="FFFFFF"/>
                    </a:solidFill>
                  </a:tcPr>
                </a:tc>
                <a:tc>
                  <a:txBody>
                    <a:bodyPr/>
                    <a:lstStyle/>
                    <a:p>
                      <a:pPr algn="r"/>
                      <a:r>
                        <a:rPr sz="1500" b="0">
                          <a:solidFill>
                            <a:srgbClr val="1C2430"/>
                          </a:solidFill>
                          <a:latin typeface="Calibri"/>
                        </a:rPr>
                        <a:t>0</a:t>
                      </a:r>
                    </a:p>
                  </a:txBody>
                  <a:tcPr marL="109728" marR="91440" anchor="ctr">
                    <a:solidFill>
                      <a:srgbClr val="FFFFFF"/>
                    </a:solidFill>
                  </a:tcPr>
                </a:tc>
                <a:tc>
                  <a:txBody>
                    <a:bodyPr/>
                    <a:lstStyle/>
                    <a:p>
                      <a:pPr algn="r"/>
                      <a:r>
                        <a:rPr sz="1500" b="1">
                          <a:solidFill>
                            <a:srgbClr val="1C2430"/>
                          </a:solidFill>
                          <a:latin typeface="Calibri"/>
                        </a:rPr>
                        <a:t>0</a:t>
                      </a:r>
                    </a:p>
                  </a:txBody>
                  <a:tcPr marL="109728" marR="91440" anchor="ctr">
                    <a:solidFill>
                      <a:srgbClr val="FFFFFF"/>
                    </a:solidFill>
                  </a:tcPr>
                </a:tc>
                <a:tc>
                  <a:txBody>
                    <a:bodyPr/>
                    <a:lstStyle/>
                    <a:p>
                      <a:pPr algn="r"/>
                      <a:r>
                        <a:rPr sz="1500" b="0">
                          <a:solidFill>
                            <a:srgbClr val="1C2430"/>
                          </a:solidFill>
                          <a:latin typeface="Calibri"/>
                        </a:rPr>
                        <a:t>0%</a:t>
                      </a:r>
                    </a:p>
                  </a:txBody>
                  <a:tcPr marL="109728" marR="91440" anchor="ctr">
                    <a:solidFill>
                      <a:srgbClr val="FFFFFF"/>
                    </a:solidFill>
                  </a:tcPr>
                </a:tc>
              </a:tr>
              <a:tr h="457200">
                <a:tc>
                  <a:txBody>
                    <a:bodyPr/>
                    <a:lstStyle/>
                    <a:p>
                      <a:pPr algn="l"/>
                      <a:r>
                        <a:rPr sz="1500" b="1">
                          <a:solidFill>
                            <a:srgbClr val="FFFFFF"/>
                          </a:solidFill>
                          <a:latin typeface="Calibri"/>
                        </a:rPr>
                        <a:t>Total</a:t>
                      </a:r>
                    </a:p>
                  </a:txBody>
                  <a:tcPr marL="365760" marR="91440" anchor="ctr">
                    <a:solidFill>
                      <a:srgbClr val="0071C1"/>
                    </a:solidFill>
                  </a:tcPr>
                </a:tc>
                <a:tc>
                  <a:txBody>
                    <a:bodyPr/>
                    <a:lstStyle/>
                    <a:p>
                      <a:pPr algn="r"/>
                      <a:r>
                        <a:rPr sz="1500" b="1">
                          <a:solidFill>
                            <a:srgbClr val="FFFFFF"/>
                          </a:solidFill>
                          <a:latin typeface="Calibri"/>
                        </a:rPr>
                        <a:t>7.60</a:t>
                      </a:r>
                    </a:p>
                  </a:txBody>
                  <a:tcPr marL="109728" marR="91440" anchor="ctr">
                    <a:solidFill>
                      <a:srgbClr val="0071C1"/>
                    </a:solidFill>
                  </a:tcPr>
                </a:tc>
                <a:tc>
                  <a:txBody>
                    <a:bodyPr/>
                    <a:lstStyle/>
                    <a:p>
                      <a:pPr algn="r"/>
                      <a:r>
                        <a:rPr sz="1500" b="1">
                          <a:solidFill>
                            <a:srgbClr val="FFFFFF"/>
                          </a:solidFill>
                          <a:latin typeface="Calibri"/>
                        </a:rPr>
                        <a:t>7.40</a:t>
                      </a:r>
                    </a:p>
                  </a:txBody>
                  <a:tcPr marL="109728" marR="91440" anchor="ctr">
                    <a:solidFill>
                      <a:srgbClr val="0071C1"/>
                    </a:solidFill>
                  </a:tcPr>
                </a:tc>
                <a:tc>
                  <a:txBody>
                    <a:bodyPr/>
                    <a:lstStyle/>
                    <a:p>
                      <a:pPr algn="r"/>
                      <a:r>
                        <a:rPr sz="1500" b="1">
                          <a:solidFill>
                            <a:srgbClr val="FFFFFF"/>
                          </a:solidFill>
                          <a:latin typeface="Calibri"/>
                        </a:rPr>
                        <a:t>15.00</a:t>
                      </a:r>
                    </a:p>
                  </a:txBody>
                  <a:tcPr marL="109728" marR="91440" anchor="ctr">
                    <a:solidFill>
                      <a:srgbClr val="0071C1"/>
                    </a:solidFill>
                  </a:tcPr>
                </a:tc>
                <a:tc>
                  <a:txBody>
                    <a:bodyPr/>
                    <a:lstStyle/>
                    <a:p>
                      <a:pPr algn="r"/>
                      <a:r>
                        <a:rPr sz="1500" b="1">
                          <a:solidFill>
                            <a:srgbClr val="FFFFFF"/>
                          </a:solidFill>
                          <a:latin typeface="Calibri"/>
                        </a:rPr>
                        <a:t>100%</a:t>
                      </a:r>
                    </a:p>
                  </a:txBody>
                  <a:tcPr marL="109728" marR="91440" anchor="ctr">
                    <a:solidFill>
                      <a:srgbClr val="0071C1"/>
                    </a:solidFill>
                  </a:tcPr>
                </a:tc>
              </a:tr>
            </a:tbl>
          </a:graphicData>
        </a:graphic>
      </p:graphicFrame>
      <p:sp>
        <p:nvSpPr>
          <p:cNvPr id="14" name="Oval 13"/>
          <p:cNvSpPr/>
          <p:nvPr/>
        </p:nvSpPr>
        <p:spPr>
          <a:xfrm>
            <a:off x="5056632" y="1984248"/>
            <a:ext cx="146304" cy="146304"/>
          </a:xfrm>
          <a:prstGeom prst="ellipse">
            <a:avLst/>
          </a:prstGeom>
          <a:solidFill>
            <a:srgbClr val="0071C1"/>
          </a:solidFill>
          <a:ln>
            <a:noFill/>
          </a:ln>
        </p:spPr>
        <p:txBody>
          <a:bodyPr rtlCol="0" anchor="ctr"/>
          <a:lstStyle/>
          <a:p>
            <a:pPr algn="ctr"/>
          </a:p>
        </p:txBody>
      </p:sp>
      <p:sp>
        <p:nvSpPr>
          <p:cNvPr id="15" name="Oval 14"/>
          <p:cNvSpPr/>
          <p:nvPr/>
        </p:nvSpPr>
        <p:spPr>
          <a:xfrm>
            <a:off x="5056632" y="2441448"/>
            <a:ext cx="146304" cy="146304"/>
          </a:xfrm>
          <a:prstGeom prst="ellipse">
            <a:avLst/>
          </a:prstGeom>
          <a:solidFill>
            <a:srgbClr val="ED7D31"/>
          </a:solidFill>
          <a:ln>
            <a:noFill/>
          </a:ln>
        </p:spPr>
        <p:txBody>
          <a:bodyPr rtlCol="0" anchor="ctr"/>
          <a:lstStyle/>
          <a:p>
            <a:pPr algn="ctr"/>
          </a:p>
        </p:txBody>
      </p:sp>
      <p:sp>
        <p:nvSpPr>
          <p:cNvPr id="16" name="Oval 15"/>
          <p:cNvSpPr/>
          <p:nvPr/>
        </p:nvSpPr>
        <p:spPr>
          <a:xfrm>
            <a:off x="5056632" y="2898648"/>
            <a:ext cx="146304" cy="146304"/>
          </a:xfrm>
          <a:prstGeom prst="ellipse">
            <a:avLst/>
          </a:prstGeom>
          <a:solidFill>
            <a:srgbClr val="1B3A4B"/>
          </a:solidFill>
          <a:ln>
            <a:noFill/>
          </a:ln>
        </p:spPr>
        <p:txBody>
          <a:bodyPr rtlCol="0" anchor="ctr"/>
          <a:lstStyle/>
          <a:p>
            <a:pPr algn="ctr"/>
          </a:p>
        </p:txBody>
      </p:sp>
      <p:sp>
        <p:nvSpPr>
          <p:cNvPr id="17" name="Oval 16"/>
          <p:cNvSpPr/>
          <p:nvPr/>
        </p:nvSpPr>
        <p:spPr>
          <a:xfrm>
            <a:off x="5056632" y="3355848"/>
            <a:ext cx="146304" cy="146304"/>
          </a:xfrm>
          <a:prstGeom prst="ellipse">
            <a:avLst/>
          </a:prstGeom>
          <a:solidFill>
            <a:srgbClr val="A6A6A6"/>
          </a:solidFill>
          <a:ln>
            <a:noFill/>
          </a:ln>
        </p:spPr>
        <p:txBody>
          <a:bodyPr rtlCol="0" anchor="ctr"/>
          <a:lstStyle/>
          <a:p>
            <a:pPr algn="ctr"/>
          </a:p>
        </p:txBody>
      </p:sp>
      <p:sp>
        <p:nvSpPr>
          <p:cNvPr id="18" name="Oval 17"/>
          <p:cNvSpPr/>
          <p:nvPr/>
        </p:nvSpPr>
        <p:spPr>
          <a:xfrm>
            <a:off x="5056632" y="3813048"/>
            <a:ext cx="146304" cy="146304"/>
          </a:xfrm>
          <a:prstGeom prst="ellipse">
            <a:avLst/>
          </a:prstGeom>
          <a:solidFill>
            <a:srgbClr val="FFC000"/>
          </a:solidFill>
          <a:ln>
            <a:noFill/>
          </a:ln>
        </p:spPr>
        <p:txBody>
          <a:bodyPr rtlCol="0" anchor="ctr"/>
          <a:lstStyle/>
          <a:p>
            <a:pPr algn="ctr"/>
          </a:p>
        </p:txBody>
      </p:sp>
      <p:sp>
        <p:nvSpPr>
          <p:cNvPr id="19" name="Rounded Rectangle 18"/>
          <p:cNvSpPr/>
          <p:nvPr/>
        </p:nvSpPr>
        <p:spPr>
          <a:xfrm>
            <a:off x="457200" y="5532120"/>
            <a:ext cx="11292840" cy="868680"/>
          </a:xfrm>
          <a:prstGeom prst="roundRect">
            <a:avLst>
              <a:gd name="adj" fmla="val 8000"/>
            </a:avLst>
          </a:prstGeom>
          <a:solidFill>
            <a:srgbClr val="E9E9E9"/>
          </a:solidFill>
          <a:ln w="9525">
            <a:solidFill>
              <a:srgbClr val="9A9A9A"/>
            </a:solidFill>
          </a:ln>
        </p:spPr>
        <p:txBody>
          <a:bodyPr rtlCol="0" anchor="ctr"/>
          <a:lstStyle/>
          <a:p>
            <a:pPr algn="ctr"/>
          </a:p>
        </p:txBody>
      </p:sp>
      <p:sp>
        <p:nvSpPr>
          <p:cNvPr id="20" name="TextBox 19"/>
          <p:cNvSpPr txBox="1"/>
          <p:nvPr/>
        </p:nvSpPr>
        <p:spPr>
          <a:xfrm>
            <a:off x="594360" y="5550408"/>
            <a:ext cx="1828800" cy="822960"/>
          </a:xfrm>
          <a:prstGeom prst="rect">
            <a:avLst/>
          </a:prstGeom>
          <a:noFill/>
        </p:spPr>
        <p:txBody>
          <a:bodyPr wrap="square" lIns="45720" rIns="45720" tIns="27432" bIns="27432" anchor="ctr">
            <a:spAutoFit/>
          </a:bodyPr>
          <a:lstStyle/>
          <a:p>
            <a:pPr algn="l"/>
            <a:r>
              <a:rPr sz="1600" b="1" i="0">
                <a:solidFill>
                  <a:srgbClr val="C55A11"/>
                </a:solidFill>
                <a:latin typeface="Calibri"/>
              </a:rPr>
              <a:t>Equipment</a:t>
            </a:r>
          </a:p>
        </p:txBody>
      </p:sp>
      <p:sp>
        <p:nvSpPr>
          <p:cNvPr id="21" name="TextBox 20"/>
          <p:cNvSpPr txBox="1"/>
          <p:nvPr/>
        </p:nvSpPr>
        <p:spPr>
          <a:xfrm>
            <a:off x="2103120" y="5550408"/>
            <a:ext cx="9509760" cy="822960"/>
          </a:xfrm>
          <a:prstGeom prst="rect">
            <a:avLst/>
          </a:prstGeom>
          <a:noFill/>
        </p:spPr>
        <p:txBody>
          <a:bodyPr wrap="square" lIns="45720" rIns="45720" tIns="27432" bIns="27432" anchor="ctr">
            <a:spAutoFit/>
          </a:bodyPr>
          <a:lstStyle/>
          <a:p>
            <a:pPr algn="l"/>
            <a:r>
              <a:rPr sz="1350" b="1" i="0">
                <a:solidFill>
                  <a:srgbClr val="1B3A4B"/>
                </a:solidFill>
                <a:latin typeface="Calibri"/>
              </a:rPr>
              <a:t>Year 1: </a:t>
            </a:r>
            <a:r>
              <a:rPr sz="1350" b="0" i="0">
                <a:solidFill>
                  <a:srgbClr val="1C2430"/>
                </a:solidFill>
                <a:latin typeface="Calibri"/>
              </a:rPr>
              <a:t>FSO modules, pan-tilt, IMUs, controllers, cameras, LoRa and gateway, batteries, enclosures, edge computer, optics.   </a:t>
            </a:r>
            <a:r>
              <a:rPr sz="1350" b="1" i="0">
                <a:solidFill>
                  <a:srgbClr val="1B3A4B"/>
                </a:solidFill>
                <a:latin typeface="Calibri"/>
              </a:rPr>
              <a:t>Year 2: </a:t>
            </a:r>
            <a:r>
              <a:rPr sz="1350" b="0" i="0">
                <a:solidFill>
                  <a:srgbClr val="1C2430"/>
                </a:solidFill>
                <a:latin typeface="Calibri"/>
              </a:rPr>
              <a:t>LoRa antennas, PCB fabrication, 3D printer for mounts.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1B3A4B"/>
          </a:solidFill>
          <a:ln>
            <a:noFill/>
          </a:ln>
        </p:spPr>
        <p:txBody>
          <a:bodyPr rtlCol="0" anchor="ctr"/>
          <a:lstStyle/>
          <a:p>
            <a:pPr algn="ctr"/>
          </a:p>
        </p:txBody>
      </p:sp>
      <p:sp>
        <p:nvSpPr>
          <p:cNvPr id="3" name="TextBox 2"/>
          <p:cNvSpPr txBox="1"/>
          <p:nvPr/>
        </p:nvSpPr>
        <p:spPr>
          <a:xfrm>
            <a:off x="731520" y="914400"/>
            <a:ext cx="7315200" cy="365760"/>
          </a:xfrm>
          <a:prstGeom prst="rect">
            <a:avLst/>
          </a:prstGeom>
          <a:noFill/>
        </p:spPr>
        <p:txBody>
          <a:bodyPr wrap="square" lIns="45720" rIns="45720" tIns="27432" bIns="27432" anchor="t">
            <a:spAutoFit/>
          </a:bodyPr>
          <a:lstStyle/>
          <a:p>
            <a:pPr algn="l"/>
            <a:r>
              <a:rPr sz="1400" b="1" i="0">
                <a:solidFill>
                  <a:srgbClr val="FFD966"/>
                </a:solidFill>
                <a:latin typeface="Calibri"/>
              </a:rPr>
              <a:t>FTBI–TEXMiN MINING CPS CoE</a:t>
            </a:r>
          </a:p>
        </p:txBody>
      </p:sp>
      <p:sp>
        <p:nvSpPr>
          <p:cNvPr id="4" name="TextBox 3"/>
          <p:cNvSpPr txBox="1"/>
          <p:nvPr/>
        </p:nvSpPr>
        <p:spPr>
          <a:xfrm>
            <a:off x="731520" y="1371600"/>
            <a:ext cx="5943600" cy="1097280"/>
          </a:xfrm>
          <a:prstGeom prst="rect">
            <a:avLst/>
          </a:prstGeom>
          <a:noFill/>
        </p:spPr>
        <p:txBody>
          <a:bodyPr wrap="square" lIns="45720" rIns="45720" tIns="27432" bIns="27432" anchor="t">
            <a:spAutoFit/>
          </a:bodyPr>
          <a:lstStyle/>
          <a:p>
            <a:pPr algn="l"/>
            <a:r>
              <a:rPr sz="4800" b="1" i="0">
                <a:solidFill>
                  <a:srgbClr val="FFFFFF"/>
                </a:solidFill>
                <a:latin typeface="Calibri"/>
              </a:rPr>
              <a:t>Thank you.</a:t>
            </a:r>
          </a:p>
        </p:txBody>
      </p:sp>
      <p:sp>
        <p:nvSpPr>
          <p:cNvPr id="5" name="TextBox 4"/>
          <p:cNvSpPr txBox="1"/>
          <p:nvPr/>
        </p:nvSpPr>
        <p:spPr>
          <a:xfrm>
            <a:off x="731520" y="2651760"/>
            <a:ext cx="5669280" cy="1554480"/>
          </a:xfrm>
          <a:prstGeom prst="rect">
            <a:avLst/>
          </a:prstGeom>
          <a:noFill/>
        </p:spPr>
        <p:txBody>
          <a:bodyPr wrap="square" lIns="45720" rIns="45720" tIns="27432" bIns="27432" anchor="t">
            <a:spAutoFit/>
          </a:bodyPr>
          <a:lstStyle/>
          <a:p>
            <a:pPr algn="l"/>
            <a:r>
              <a:rPr sz="1900" b="0" i="0">
                <a:solidFill>
                  <a:srgbClr val="FFFFFF"/>
                </a:solidFill>
                <a:latin typeface="Calibri"/>
              </a:rPr>
              <a:t>Request: ₹15 lakh over 24 months, to take the department’s auto-tracking FSO prototype to a hybrid underground link, validated at TRL 5.</a:t>
            </a:r>
          </a:p>
        </p:txBody>
      </p:sp>
      <p:sp>
        <p:nvSpPr>
          <p:cNvPr id="6" name="Rectangle 5"/>
          <p:cNvSpPr/>
          <p:nvPr/>
        </p:nvSpPr>
        <p:spPr>
          <a:xfrm>
            <a:off x="731520" y="4480560"/>
            <a:ext cx="2011680" cy="18288"/>
          </a:xfrm>
          <a:prstGeom prst="rect">
            <a:avLst/>
          </a:prstGeom>
          <a:solidFill>
            <a:srgbClr val="ED7D31"/>
          </a:solidFill>
          <a:ln>
            <a:noFill/>
          </a:ln>
        </p:spPr>
        <p:txBody>
          <a:bodyPr rtlCol="0" anchor="ctr"/>
          <a:lstStyle/>
          <a:p>
            <a:pPr algn="ctr"/>
          </a:p>
        </p:txBody>
      </p:sp>
      <p:sp>
        <p:nvSpPr>
          <p:cNvPr id="7" name="TextBox 6"/>
          <p:cNvSpPr txBox="1"/>
          <p:nvPr/>
        </p:nvSpPr>
        <p:spPr>
          <a:xfrm>
            <a:off x="731520" y="4663440"/>
            <a:ext cx="5943600" cy="1097280"/>
          </a:xfrm>
          <a:prstGeom prst="rect">
            <a:avLst/>
          </a:prstGeom>
          <a:noFill/>
        </p:spPr>
        <p:txBody>
          <a:bodyPr wrap="square" lIns="45720" rIns="45720" tIns="27432" bIns="27432" anchor="t">
            <a:spAutoFit/>
          </a:bodyPr>
          <a:lstStyle/>
          <a:p>
            <a:pPr algn="l"/>
            <a:r>
              <a:rPr sz="2000" b="1" i="0">
                <a:solidFill>
                  <a:srgbClr val="FFFFFF"/>
                </a:solidFill>
                <a:latin typeface="Calibri"/>
              </a:rPr>
              <a:t>Prof. Sadananda Behera</a:t>
            </a:r>
          </a:p>
          <a:p>
            <a:pPr algn="l"/>
            <a:r>
              <a:rPr sz="1500" b="0" i="0">
                <a:solidFill>
                  <a:srgbClr val="FFFFFF"/>
                </a:solidFill>
                <a:latin typeface="Calibri"/>
              </a:rPr>
              <a:t>Assistant Professor, National Institute of Technology Rourkela</a:t>
            </a:r>
          </a:p>
          <a:p>
            <a:pPr algn="l"/>
            <a:r>
              <a:rPr sz="1500" b="0" i="0">
                <a:solidFill>
                  <a:srgbClr val="FFFFFF"/>
                </a:solidFill>
                <a:latin typeface="Calibri"/>
              </a:rPr>
              <a:t>98610 77539</a:t>
            </a:r>
          </a:p>
        </p:txBody>
      </p:sp>
      <p:sp>
        <p:nvSpPr>
          <p:cNvPr id="8" name="Rectangle 7"/>
          <p:cNvSpPr/>
          <p:nvPr/>
        </p:nvSpPr>
        <p:spPr>
          <a:xfrm>
            <a:off x="6949440" y="1188720"/>
            <a:ext cx="4572000" cy="868680"/>
          </a:xfrm>
          <a:prstGeom prst="rect">
            <a:avLst/>
          </a:prstGeom>
          <a:solidFill>
            <a:srgbClr val="F2F7FB"/>
          </a:solidFill>
          <a:ln>
            <a:noFill/>
          </a:ln>
        </p:spPr>
        <p:txBody>
          <a:bodyPr rtlCol="0" anchor="ctr"/>
          <a:lstStyle/>
          <a:p>
            <a:pPr algn="ctr"/>
          </a:p>
        </p:txBody>
      </p:sp>
      <p:sp>
        <p:nvSpPr>
          <p:cNvPr id="9" name="Rectangle 8"/>
          <p:cNvSpPr/>
          <p:nvPr/>
        </p:nvSpPr>
        <p:spPr>
          <a:xfrm>
            <a:off x="6949440" y="2057400"/>
            <a:ext cx="4572000" cy="73152"/>
          </a:xfrm>
          <a:prstGeom prst="rect">
            <a:avLst/>
          </a:prstGeom>
          <a:solidFill>
            <a:srgbClr val="7C9A5B"/>
          </a:solidFill>
          <a:ln>
            <a:noFill/>
          </a:ln>
        </p:spPr>
        <p:txBody>
          <a:bodyPr rtlCol="0" anchor="ctr"/>
          <a:lstStyle/>
          <a:p>
            <a:pPr algn="ctr"/>
          </a:p>
        </p:txBody>
      </p:sp>
      <p:pic>
        <p:nvPicPr>
          <p:cNvPr id="10" name="Picture" descr="Rock texture"/>
          <p:cNvPicPr>
            <a:picLocks noChangeAspect="1"/>
          </p:cNvPicPr>
          <p:nvPr/>
        </p:nvPicPr>
        <p:blipFill>
          <a:blip r:embed="rId2"/>
          <a:srcRect t="1149" b="3679"/>
          <a:stretch>
            <a:fillRect/>
          </a:stretch>
        </p:blipFill>
        <p:spPr>
          <a:xfrm>
            <a:off x="6949440" y="2130552"/>
            <a:ext cx="4572000" cy="731520"/>
          </a:xfrm>
          <a:prstGeom prst="rect">
            <a:avLst/>
          </a:prstGeom>
        </p:spPr>
      </p:pic>
      <p:sp>
        <p:nvSpPr>
          <p:cNvPr id="11" name="Rectangle 10"/>
          <p:cNvSpPr/>
          <p:nvPr/>
        </p:nvSpPr>
        <p:spPr>
          <a:xfrm>
            <a:off x="6949440" y="2862072"/>
            <a:ext cx="4572000" cy="1920240"/>
          </a:xfrm>
          <a:prstGeom prst="rect">
            <a:avLst/>
          </a:prstGeom>
          <a:solidFill>
            <a:srgbClr val="F4F1EC"/>
          </a:solidFill>
          <a:ln>
            <a:noFill/>
          </a:ln>
        </p:spPr>
        <p:txBody>
          <a:bodyPr rtlCol="0" anchor="ctr"/>
          <a:lstStyle/>
          <a:p>
            <a:pPr algn="ctr"/>
          </a:p>
        </p:txBody>
      </p:sp>
      <p:sp>
        <p:nvSpPr>
          <p:cNvPr id="12" name="Rectangle 11"/>
          <p:cNvSpPr/>
          <p:nvPr/>
        </p:nvSpPr>
        <p:spPr>
          <a:xfrm>
            <a:off x="6949440" y="4700016"/>
            <a:ext cx="4572000" cy="82296"/>
          </a:xfrm>
          <a:prstGeom prst="rect">
            <a:avLst/>
          </a:prstGeom>
          <a:solidFill>
            <a:srgbClr val="D8D2C6"/>
          </a:solidFill>
          <a:ln>
            <a:noFill/>
          </a:ln>
        </p:spPr>
        <p:txBody>
          <a:bodyPr rtlCol="0" anchor="ctr"/>
          <a:lstStyle/>
          <a:p>
            <a:pPr algn="ctr"/>
          </a:p>
        </p:txBody>
      </p:sp>
      <p:sp>
        <p:nvSpPr>
          <p:cNvPr id="13" name="Rectangle 12"/>
          <p:cNvSpPr/>
          <p:nvPr/>
        </p:nvSpPr>
        <p:spPr>
          <a:xfrm>
            <a:off x="6949440" y="2862072"/>
            <a:ext cx="4572000" cy="36576"/>
          </a:xfrm>
          <a:prstGeom prst="rect">
            <a:avLst/>
          </a:prstGeom>
          <a:solidFill>
            <a:srgbClr val="7A6350"/>
          </a:solidFill>
          <a:ln>
            <a:noFill/>
          </a:ln>
        </p:spPr>
        <p:txBody>
          <a:bodyPr rtlCol="0" anchor="ctr"/>
          <a:lstStyle/>
          <a:p>
            <a:pPr algn="ctr"/>
          </a:p>
        </p:txBody>
      </p:sp>
      <p:pic>
        <p:nvPicPr>
          <p:cNvPr id="14" name="Picture" descr="Rock texture"/>
          <p:cNvPicPr>
            <a:picLocks noChangeAspect="1"/>
          </p:cNvPicPr>
          <p:nvPr/>
        </p:nvPicPr>
        <p:blipFill>
          <a:blip r:embed="rId2"/>
          <a:srcRect l="3025" r="10318"/>
          <a:stretch>
            <a:fillRect/>
          </a:stretch>
        </p:blipFill>
        <p:spPr>
          <a:xfrm>
            <a:off x="6949440" y="4782312"/>
            <a:ext cx="4572000" cy="886968"/>
          </a:xfrm>
          <a:prstGeom prst="rect">
            <a:avLst/>
          </a:prstGeom>
        </p:spPr>
      </p:pic>
      <p:cxnSp>
        <p:nvCxnSpPr>
          <p:cNvPr id="15" name="Connector 14"/>
          <p:cNvCxnSpPr/>
          <p:nvPr/>
        </p:nvCxnSpPr>
        <p:spPr>
          <a:xfrm flipH="1">
            <a:off x="10665561" y="1325880"/>
            <a:ext cx="124359" cy="731520"/>
          </a:xfrm>
          <a:prstGeom prst="line">
            <a:avLst/>
          </a:prstGeom>
          <a:ln w="31750">
            <a:solidFill>
              <a:srgbClr val="1A1A1A"/>
            </a:solidFill>
          </a:ln>
        </p:spPr>
      </p:cxnSp>
      <p:cxnSp>
        <p:nvCxnSpPr>
          <p:cNvPr id="16" name="Connector 15"/>
          <p:cNvCxnSpPr/>
          <p:nvPr/>
        </p:nvCxnSpPr>
        <p:spPr>
          <a:xfrm>
            <a:off x="10789920" y="1325880"/>
            <a:ext cx="124358" cy="731520"/>
          </a:xfrm>
          <a:prstGeom prst="line">
            <a:avLst/>
          </a:prstGeom>
          <a:ln w="31750">
            <a:solidFill>
              <a:srgbClr val="1A1A1A"/>
            </a:solidFill>
          </a:ln>
        </p:spPr>
      </p:cxnSp>
      <p:cxnSp>
        <p:nvCxnSpPr>
          <p:cNvPr id="17" name="Connector 16"/>
          <p:cNvCxnSpPr/>
          <p:nvPr/>
        </p:nvCxnSpPr>
        <p:spPr>
          <a:xfrm>
            <a:off x="10716768" y="1837943"/>
            <a:ext cx="146304" cy="0"/>
          </a:xfrm>
          <a:prstGeom prst="line">
            <a:avLst/>
          </a:prstGeom>
          <a:ln w="19050">
            <a:solidFill>
              <a:srgbClr val="1A1A1A"/>
            </a:solidFill>
          </a:ln>
        </p:spPr>
      </p:cxnSp>
      <p:cxnSp>
        <p:nvCxnSpPr>
          <p:cNvPr id="18" name="Connector 17"/>
          <p:cNvCxnSpPr/>
          <p:nvPr/>
        </p:nvCxnSpPr>
        <p:spPr>
          <a:xfrm>
            <a:off x="10746028" y="1618488"/>
            <a:ext cx="87783" cy="0"/>
          </a:xfrm>
          <a:prstGeom prst="line">
            <a:avLst/>
          </a:prstGeom>
          <a:ln w="19050">
            <a:solidFill>
              <a:srgbClr val="1A1A1A"/>
            </a:solidFill>
          </a:ln>
        </p:spPr>
      </p:cxnSp>
      <p:sp>
        <p:nvSpPr>
          <p:cNvPr id="19" name="Oval 18"/>
          <p:cNvSpPr/>
          <p:nvPr/>
        </p:nvSpPr>
        <p:spPr>
          <a:xfrm>
            <a:off x="10738713" y="1274673"/>
            <a:ext cx="102412" cy="102412"/>
          </a:xfrm>
          <a:prstGeom prst="ellipse">
            <a:avLst/>
          </a:prstGeom>
          <a:solidFill>
            <a:srgbClr val="E8445A"/>
          </a:solidFill>
          <a:ln>
            <a:noFill/>
          </a:ln>
        </p:spPr>
        <p:txBody>
          <a:bodyPr rtlCol="0" anchor="ctr"/>
          <a:lstStyle/>
          <a:p>
            <a:pPr algn="ctr"/>
          </a:p>
        </p:txBody>
      </p:sp>
      <p:pic>
        <p:nvPicPr>
          <p:cNvPr id="20" name="Picture" descr="Monitoring dashboard"/>
          <p:cNvPicPr>
            <a:picLocks noChangeAspect="1"/>
          </p:cNvPicPr>
          <p:nvPr/>
        </p:nvPicPr>
        <p:blipFill>
          <a:blip r:embed="rId3"/>
          <a:stretch>
            <a:fillRect/>
          </a:stretch>
        </p:blipFill>
        <p:spPr>
          <a:xfrm>
            <a:off x="7772400" y="1463040"/>
            <a:ext cx="704088" cy="566928"/>
          </a:xfrm>
          <a:prstGeom prst="rect">
            <a:avLst/>
          </a:prstGeom>
        </p:spPr>
      </p:pic>
      <p:pic>
        <p:nvPicPr>
          <p:cNvPr id="21" name="Picture" descr="Camera head on a tripod, laser facing right"/>
          <p:cNvPicPr>
            <a:picLocks noChangeAspect="1"/>
          </p:cNvPicPr>
          <p:nvPr/>
        </p:nvPicPr>
        <p:blipFill>
          <a:blip r:embed="rId4"/>
          <a:stretch>
            <a:fillRect/>
          </a:stretch>
        </p:blipFill>
        <p:spPr>
          <a:xfrm>
            <a:off x="7197520" y="3374136"/>
            <a:ext cx="783998" cy="1325880"/>
          </a:xfrm>
          <a:prstGeom prst="rect">
            <a:avLst/>
          </a:prstGeom>
        </p:spPr>
      </p:pic>
      <p:pic>
        <p:nvPicPr>
          <p:cNvPr id="22" name="Picture" descr="Camera head on a tripod, laser facing left"/>
          <p:cNvPicPr>
            <a:picLocks noChangeAspect="1"/>
          </p:cNvPicPr>
          <p:nvPr/>
        </p:nvPicPr>
        <p:blipFill>
          <a:blip r:embed="rId5"/>
          <a:stretch>
            <a:fillRect/>
          </a:stretch>
        </p:blipFill>
        <p:spPr>
          <a:xfrm>
            <a:off x="8382066" y="3374136"/>
            <a:ext cx="968468" cy="1325880"/>
          </a:xfrm>
          <a:prstGeom prst="rect">
            <a:avLst/>
          </a:prstGeom>
        </p:spPr>
      </p:pic>
      <p:pic>
        <p:nvPicPr>
          <p:cNvPr id="23" name="Picture" descr="Camera head on a tripod, laser facing right"/>
          <p:cNvPicPr>
            <a:picLocks noChangeAspect="1"/>
          </p:cNvPicPr>
          <p:nvPr/>
        </p:nvPicPr>
        <p:blipFill>
          <a:blip r:embed="rId4"/>
          <a:stretch>
            <a:fillRect/>
          </a:stretch>
        </p:blipFill>
        <p:spPr>
          <a:xfrm>
            <a:off x="9396255" y="3374136"/>
            <a:ext cx="783998" cy="1325880"/>
          </a:xfrm>
          <a:prstGeom prst="rect">
            <a:avLst/>
          </a:prstGeom>
        </p:spPr>
      </p:pic>
      <p:pic>
        <p:nvPicPr>
          <p:cNvPr id="24" name="Picture" descr="Camera head on a tripod, laser facing left"/>
          <p:cNvPicPr>
            <a:picLocks noChangeAspect="1"/>
          </p:cNvPicPr>
          <p:nvPr/>
        </p:nvPicPr>
        <p:blipFill>
          <a:blip r:embed="rId5"/>
          <a:stretch>
            <a:fillRect/>
          </a:stretch>
        </p:blipFill>
        <p:spPr>
          <a:xfrm>
            <a:off x="10397125" y="3374136"/>
            <a:ext cx="968468" cy="1325880"/>
          </a:xfrm>
          <a:prstGeom prst="rect">
            <a:avLst/>
          </a:prstGeom>
        </p:spPr>
      </p:pic>
      <p:sp>
        <p:nvSpPr>
          <p:cNvPr id="25" name="Rectangle 24"/>
          <p:cNvSpPr/>
          <p:nvPr/>
        </p:nvSpPr>
        <p:spPr>
          <a:xfrm>
            <a:off x="7981519" y="3438875"/>
            <a:ext cx="400546" cy="146304"/>
          </a:xfrm>
          <a:prstGeom prst="rect">
            <a:avLst/>
          </a:prstGeom>
          <a:solidFill>
            <a:srgbClr val="ED7D31">
              <a:alpha val="28000"/>
            </a:srgbClr>
          </a:solidFill>
          <a:ln>
            <a:noFill/>
          </a:ln>
        </p:spPr>
        <p:txBody>
          <a:bodyPr rtlCol="0" anchor="ctr"/>
          <a:lstStyle/>
          <a:p>
            <a:pPr algn="ctr"/>
          </a:p>
        </p:txBody>
      </p:sp>
      <p:sp>
        <p:nvSpPr>
          <p:cNvPr id="26" name="Rectangle 25"/>
          <p:cNvSpPr/>
          <p:nvPr/>
        </p:nvSpPr>
        <p:spPr>
          <a:xfrm>
            <a:off x="7981519" y="3489167"/>
            <a:ext cx="400546" cy="45720"/>
          </a:xfrm>
          <a:prstGeom prst="rect">
            <a:avLst/>
          </a:prstGeom>
          <a:solidFill>
            <a:srgbClr val="ED7D31"/>
          </a:solidFill>
          <a:ln>
            <a:noFill/>
          </a:ln>
        </p:spPr>
        <p:txBody>
          <a:bodyPr rtlCol="0" anchor="ctr"/>
          <a:lstStyle/>
          <a:p>
            <a:pPr algn="ctr"/>
          </a:p>
        </p:txBody>
      </p:sp>
      <p:sp>
        <p:nvSpPr>
          <p:cNvPr id="27" name="Rectangle 26"/>
          <p:cNvSpPr/>
          <p:nvPr/>
        </p:nvSpPr>
        <p:spPr>
          <a:xfrm>
            <a:off x="10180253" y="3438875"/>
            <a:ext cx="216871" cy="146304"/>
          </a:xfrm>
          <a:prstGeom prst="rect">
            <a:avLst/>
          </a:prstGeom>
          <a:solidFill>
            <a:srgbClr val="ED7D31">
              <a:alpha val="28000"/>
            </a:srgbClr>
          </a:solidFill>
          <a:ln>
            <a:noFill/>
          </a:ln>
        </p:spPr>
        <p:txBody>
          <a:bodyPr rtlCol="0" anchor="ctr"/>
          <a:lstStyle/>
          <a:p>
            <a:pPr algn="ctr"/>
          </a:p>
        </p:txBody>
      </p:sp>
      <p:sp>
        <p:nvSpPr>
          <p:cNvPr id="28" name="Rectangle 27"/>
          <p:cNvSpPr/>
          <p:nvPr/>
        </p:nvSpPr>
        <p:spPr>
          <a:xfrm>
            <a:off x="10180253" y="3489167"/>
            <a:ext cx="216871" cy="45720"/>
          </a:xfrm>
          <a:prstGeom prst="rect">
            <a:avLst/>
          </a:prstGeom>
          <a:solidFill>
            <a:srgbClr val="ED7D31"/>
          </a:solidFill>
          <a:ln>
            <a:noFill/>
          </a:ln>
        </p:spPr>
        <p:txBody>
          <a:bodyPr rtlCol="0" anchor="ctr"/>
          <a:lstStyle/>
          <a:p>
            <a:pPr algn="ctr"/>
          </a:p>
        </p:txBody>
      </p:sp>
      <p:cxnSp>
        <p:nvCxnSpPr>
          <p:cNvPr id="29" name="Connector 28"/>
          <p:cNvCxnSpPr/>
          <p:nvPr/>
        </p:nvCxnSpPr>
        <p:spPr>
          <a:xfrm flipV="1">
            <a:off x="9281159" y="1600200"/>
            <a:ext cx="1508761" cy="1773936"/>
          </a:xfrm>
          <a:prstGeom prst="line">
            <a:avLst/>
          </a:prstGeom>
          <a:ln w="15875">
            <a:solidFill>
              <a:srgbClr val="404040"/>
            </a:solidFill>
            <a:prstDash val="sysDot"/>
          </a:ln>
        </p:spPr>
      </p:cxnSp>
      <p:sp>
        <p:nvSpPr>
          <p:cNvPr id="30" name="Footer rule"/>
          <p:cNvSpPr/>
          <p:nvPr/>
        </p:nvSpPr>
        <p:spPr>
          <a:xfrm>
            <a:off x="457200" y="6565392"/>
            <a:ext cx="11292840" cy="9144"/>
          </a:xfrm>
          <a:prstGeom prst="rect">
            <a:avLst/>
          </a:prstGeom>
          <a:solidFill>
            <a:srgbClr val="D0D0D0"/>
          </a:solidFill>
          <a:ln>
            <a:noFill/>
          </a:ln>
        </p:spPr>
        <p:txBody>
          <a:bodyPr rtlCol="0" anchor="ctr"/>
          <a:lstStyle/>
          <a:p>
            <a:pPr algn="ctr"/>
          </a:p>
        </p:txBody>
      </p:sp>
      <p:sp>
        <p:nvSpPr>
          <p:cNvPr id="31"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9FB2BD"/>
                </a:solidFill>
                <a:latin typeface="Calibri"/>
              </a:rPr>
              <a:t>NIT Rourkela   ·   FTBI–TEXMiN   ·   Close</a:t>
            </a:r>
          </a:p>
        </p:txBody>
      </p:sp>
      <p:sp>
        <p:nvSpPr>
          <p:cNvPr id="32"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9FB2BD"/>
                </a:solidFill>
                <a:latin typeface="Calibri"/>
              </a:rPr>
              <a:t>15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Application>Microsoft Office PowerPoint</Application>
  <PresentationFormat>Widescreen</PresentationFormat>
  <Slides>15</Slides>
  <Notes>15</Notes>
  <HiddenSlides>0</HiddenSlid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Underground Audio/Video Communication System for Miner Safety and Monitoring</dc:title>
  <dc:subject>FTBI–TEXMiN Technology Development presentation</dc:subject>
  <dc:creator>Prof. Sadananda Behera, NIT Rourkela</dc:creator>
  <cp:keywords/>
  <dc:description/>
  <cp:lastModifiedBy>Prof. Sadananda Behera, NIT Rourkela</cp:lastModifiedBy>
  <cp:revision>1</cp:revision>
  <dcterms:created xsi:type="dcterms:W3CDTF">2026-10-24T19:32:57Z</dcterms:created>
  <dcterms:modified xsi:type="dcterms:W3CDTF">2026-10-24T19:32:57Z</dcterms:modified>
  <cp:category/>
</cp:coreProperties>
</file>