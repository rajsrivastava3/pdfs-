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c:v>
                </c:pt>
              </c:strCache>
            </c:strRef>
          </c:tx>
          <c:dPt>
            <c:idx val="0"/>
            <c:spPr>
              <a:solidFill>
                <a:srgbClr val="0071C1"/>
              </a:solidFill>
              <a:ln w="25400">
                <a:solidFill>
                  <a:srgbClr val="FFFFFF"/>
                </a:solidFill>
              </a:ln>
            </c:spPr>
          </c:dPt>
          <c:dPt>
            <c:idx val="1"/>
            <c:spPr>
              <a:solidFill>
                <a:srgbClr val="ED7D31"/>
              </a:solidFill>
              <a:ln w="25400">
                <a:solidFill>
                  <a:srgbClr val="FFFFFF"/>
                </a:solidFill>
              </a:ln>
            </c:spPr>
          </c:dPt>
          <c:dPt>
            <c:idx val="2"/>
            <c:spPr>
              <a:solidFill>
                <a:srgbClr val="1B3A4B"/>
              </a:solidFill>
              <a:ln w="25400">
                <a:solidFill>
                  <a:srgbClr val="FFFFFF"/>
                </a:solidFill>
              </a:ln>
            </c:spPr>
          </c:dPt>
          <c:dPt>
            <c:idx val="3"/>
            <c:spPr>
              <a:solidFill>
                <a:srgbClr val="A6A6A6"/>
              </a:solidFill>
              <a:ln w="25400">
                <a:solidFill>
                  <a:srgbClr val="FFFFFF"/>
                </a:solidFill>
              </a:ln>
            </c:spPr>
          </c:dPt>
          <c:dPt>
            <c:idx val="4"/>
            <c:spPr>
              <a:solidFill>
                <a:srgbClr val="FFC000"/>
              </a:solidFill>
              <a:ln w="25400">
                <a:solidFill>
                  <a:srgbClr val="FFFFFF"/>
                </a:solidFill>
              </a:ln>
            </c:spPr>
          </c:dPt>
          <c:cat>
            <c:strRef>
              <c:f>Sheet1!$A$2:$A$6</c:f>
              <c:strCache>
                <c:ptCount val="5"/>
                <c:pt idx="0">
                  <c:v>Project assistants</c:v>
                </c:pt>
                <c:pt idx="1">
                  <c:v>Equipment</c:v>
                </c:pt>
                <c:pt idx="2">
                  <c:v>Consumables</c:v>
                </c:pt>
                <c:pt idx="3">
                  <c:v>Contingency</c:v>
                </c:pt>
                <c:pt idx="4">
                  <c:v>Travel</c:v>
                </c:pt>
              </c:strCache>
            </c:strRef>
          </c:cat>
          <c:val>
            <c:numRef>
              <c:f>Sheet1!$B$2:$B$6</c:f>
              <c:numCache>
                <c:formatCode>General</c:formatCode>
                <c:ptCount val="5"/>
                <c:pt idx="0">
                  <c:v>7.2</c:v>
                </c:pt>
                <c:pt idx="1">
                  <c:v>3.5</c:v>
                </c:pt>
                <c:pt idx="2">
                  <c:v>1.5</c:v>
                </c:pt>
                <c:pt idx="3">
                  <c:v>1.5</c:v>
                </c:pt>
                <c:pt idx="4">
                  <c:v>1.3</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line: a hybrid link that carries live video on free-space optics and keeps an alert path on LoRa for underground mines. The ask is ₹15 lakh for 24 months, taking the work from TRL 2 to TRL 5. An industry letter is not attached; the plan for getting one is on slide 12. An auto-tracking FSO prototype already exists in the department and is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once, then the four boxes. The existing auto-tracking prototype is the base for the second objective. The last box is the limit of this grant: a lab prototype and a test in a tunnel-like or underground setting. A trial in a working mine comes after that. The fifth box is the dust switch: when the dust level is above a set threshold, the link moves from FSO to Zigbee / Wi-Fi and LoRa reports the change.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Mines today use wired phones, leaky-feeder cable and low-rate radio. These are fine for voice on an intact drift. When a fall or water cuts the cable, the link goes with it, and none of them shows the face. Wi-Fi and LTE do not pass through rock. So the need is a link that carries video where there is line of sight and still sends an alert when the cable or the beam is lost. Dust is a further problem for any optical link, which is why the proposal includes a fallback.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down the last column. A cable reaches the surface until it is cut. LoRa can carry an alert but not video. FSO can carry video but loses it when the beam moves. This proposal combines the two and keeps the beam aligned with a feedback loop. It is a system for one heading, not a replacement for voice across the whole mine. The focus area is 4S Mining, shown in the four tiles at the bottom. The dust row: cable and LoRa are not affected by dust, FSO alone loses the beam, and this proposal switches to Zigbee / Wi-Fi.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cards 2 and 3. They answer the usual question of how free-space optics can work underground: the beam runs along the open tunnel for 50 to 100 m and the next node picks it up. The IMU mount deals with misalignment, and a first version already runs in the department. Card 1 is the hybrid architecture, which now includes the dust-aware switch to Zigbee / Wi-Fi. Cards 4 and 5 are video as a safety tool and the cyber-physical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Fig. 1 from the proposal. Walk through it from left to right. Each underground node has a laser, an IMU, a motorized alignment mount and a LoRa module. The orange beam between nodes carries the video, 50 to 100 m per hop. The dotted LoRa link carries control signals and alerts to the surface base station. If a hop is blocked, the video on that hop stops but the alert still arrives. Bit rate and latency targets will be fixed in the first three months, once the camera and laser are chosen. The original figure shows the FSO and LoRa links. The dust fallback to Zigbee / Wi-Fi is explained on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camera node packs one JPEG into a small frame: start mark, length, sequence number, the JPEG and a CRC. The Pi sends it over UART to a 650 nm laser that is switched on and off with the bits. At the relay, a photodiode, amplifier and comparator turn the light back into bits. A second Pi checks the CRC, keeps the JPEG and sends the same frame out on its own laser. The relay does not amplify the light; it rebuilds the picture. The base does the same and shows the JPEG on a screen. Three separate jobs: the laser carries the JPEG, the IMU holds the camera head at its angle, and LoRa sends five-byte messages such as lock, lost, alert and the dust mode switch.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Mines are dusty, and dust scatters the laser beam, so the optical link can fail even when the tunnel is clear. Each node checks the dust level against a threshold. Below the threshold, video goes on the FSO link. Above it, the node switches the transmission to Zigbee or Wi-Fi at a lower data rate, and LoRa sends an alert so the surface knows the mode has changed. The link can return to FSO when the dust level falls below the threshold. The threshold value and the way dust is measured are fixed during system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working auto-tracking FSO unit in our laboratory. We will reuse it instead of starting alignment from scratch. The grant adds video, LoRa, relay nodes, a surface station and an enclosure for the underground trial. The first milestone is a bench setup: camera node, one new relay and a base, 2 to 5 m apart. The relay laser is aimed by hand and the IMU loop is off for the first JPEG. If the picture appears on the base screen, both hops work. Quote a range or accuracy for the existing unit only if we have the measured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gates rather than every row: month 3 hardware, month 7 architecture, month 11 tracking, month 16 integrated prototype, month 19 lab validation, month 22 tunnel-like test, month 24 report and patent filing. Point at row 3 (tracking reuses the existing prototype) and row 6 (the tunnel test depends on the lab results). The three risks at the bottom are from the proposal: LoRa backup with modular hardware, phased testing, and conservative budget margins. The technical risk now also covers the dust fallback.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TRL numbers exact. The integrated system is at TRL 2 today. The auto-tracking unit is a working subsystem, not the whole link. The target at month 24 is TRL 5, a tunnel-like or underground test. TRL 6 needs a partner or TEXMiN test mine and is outside this grant. What we will measure: hop length against 50 to 100 m, video continuity, time to realign, whether the alert arrives when the beam is blocked, and energy per node.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first: an industry letter is not attached. The plan is to find an underground operator and a mine-communication maker in months 1 to 6, hold a workshop with their engineer in months 6 to 12 so that mounting, power, dust and gas-zone limits are known before the enclosure is frozen, and run the trial with them present in months 18 to 22. Avoid naming any company as a partner. From TEXMiN we ask for mentorship on standards, commercialization guidance and test-mine access if possible. Regulatory clearance is taken before any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trial gives four measurements: video continuity, alert delivery when the hop is cut, time to realign, and energy per node. We do not yet have figures for lives saved, downtime or rupee savings, so none are quoted. The commercial path is this grant, a supervised pilot, a licence or FTBI incubation, and then growth by adding hops. Video analytics, gas-trend monitoring and drone or robot nodes are future work and are not part of the 24-month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on credibility: the PI works on optical links and hardware testbeds, with two ongoing DoT/TCoE 6G projects and a published Indian patent application. There is no mining co-PI. Mining practice will come from TEXMiN mentors and from the industry engineer in the month-6 workshop. Two project assistants: one for hardware, one for software.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₹15 lakh with no institute overhead. Year 1 is 7.60 and year 2 is 7.40. The two project assistants are the largest head at 7.20 lakh, because this is a build project. Equipment is 3.50 lakh, consumables 1.50, contingency 1.50 and travel 1.30, which is higher in year 2 for the tunnel trials. Gas, temperature and humidity sensors are covered within equipment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invite questions. Likely questions and short answers. Industry letter: not in the file; the plan is on slide 12. Why FSO underground: the beam runs down the open tunnel for 50 to 100 m and relays follow the heading. Leaky feeder: still useful for voice; this adds a picture and an alert path on one heading. TRL: the integrated system is TRL 2, the target is TRL 5, and TRL 6 needs a partner site. Laser safety: power, enclosure and exposure are part of the month-6 workshop, with clearance before any deployment. Audio: the new capacity is live video; LoRa carries alerts and control. Dust: the node switches to Zigbee or Wi-Fi when the dust level is above a threshold, and LoRa sends the alert.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jpg"/><Relationship Id="rId8" Type="http://schemas.openxmlformats.org/officeDocument/2006/relationships/image" Target="../media/image6.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pic>
        <p:nvPicPr>
          <p:cNvPr id="7" name="Picture" descr="NIT Rourkela logo"/>
          <p:cNvPicPr>
            <a:picLocks noChangeAspect="1"/>
          </p:cNvPicPr>
          <p:nvPr/>
        </p:nvPicPr>
        <p:blipFill>
          <a:blip r:embed="rId2"/>
          <a:stretch>
            <a:fillRect/>
          </a:stretch>
        </p:blipFill>
        <p:spPr>
          <a:xfrm>
            <a:off x="411480" y="256032"/>
            <a:ext cx="740664" cy="713232"/>
          </a:xfrm>
          <a:prstGeom prst="rect">
            <a:avLst/>
          </a:prstGeom>
        </p:spPr>
      </p:pic>
      <p:pic>
        <p:nvPicPr>
          <p:cNvPr id="8" name="Picture" descr="FTBI logo"/>
          <p:cNvPicPr>
            <a:picLocks noChangeAspect="1"/>
          </p:cNvPicPr>
          <p:nvPr/>
        </p:nvPicPr>
        <p:blipFill>
          <a:blip r:embed="rId3"/>
          <a:stretch>
            <a:fillRect/>
          </a:stretch>
        </p:blipFill>
        <p:spPr>
          <a:xfrm>
            <a:off x="1325880" y="292608"/>
            <a:ext cx="566928" cy="658368"/>
          </a:xfrm>
          <a:prstGeom prst="rect">
            <a:avLst/>
          </a:prstGeom>
        </p:spPr>
      </p:pic>
      <p:pic>
        <p:nvPicPr>
          <p:cNvPr id="9" name="Picture" descr="TEXMiN logo"/>
          <p:cNvPicPr>
            <a:picLocks noChangeAspect="1"/>
          </p:cNvPicPr>
          <p:nvPr/>
        </p:nvPicPr>
        <p:blipFill>
          <a:blip r:embed="rId4"/>
          <a:stretch>
            <a:fillRect/>
          </a:stretch>
        </p:blipFill>
        <p:spPr>
          <a:xfrm>
            <a:off x="9646920" y="292608"/>
            <a:ext cx="2002536" cy="640080"/>
          </a:xfrm>
          <a:prstGeom prst="rect">
            <a:avLst/>
          </a:prstGeom>
        </p:spPr>
      </p:pic>
      <p:sp>
        <p:nvSpPr>
          <p:cNvPr id="10" name="TextBox 9"/>
          <p:cNvSpPr txBox="1"/>
          <p:nvPr/>
        </p:nvSpPr>
        <p:spPr>
          <a:xfrm>
            <a:off x="457200" y="1143000"/>
            <a:ext cx="6400800" cy="274320"/>
          </a:xfrm>
          <a:prstGeom prst="rect">
            <a:avLst/>
          </a:prstGeom>
          <a:noFill/>
        </p:spPr>
        <p:txBody>
          <a:bodyPr wrap="square" lIns="45720" rIns="45720" tIns="27432" bIns="27432" anchor="t">
            <a:spAutoFit/>
          </a:bodyPr>
          <a:lstStyle/>
          <a:p>
            <a:pPr algn="l"/>
            <a:r>
              <a:rPr sz="1300" b="1" i="0">
                <a:solidFill>
                  <a:srgbClr val="B5740A"/>
                </a:solidFill>
                <a:latin typeface="Calibri"/>
              </a:rPr>
              <a:t>TECHNOLOGY DEVELOPMENT PROPOSAL    ·    FTBI–TEXMiN MINING CPS CoE</a:t>
            </a:r>
          </a:p>
        </p:txBody>
      </p:sp>
      <p:sp>
        <p:nvSpPr>
          <p:cNvPr id="11" name="TextBox 10"/>
          <p:cNvSpPr txBox="1"/>
          <p:nvPr/>
        </p:nvSpPr>
        <p:spPr>
          <a:xfrm>
            <a:off x="438912" y="1508760"/>
            <a:ext cx="6126480" cy="2103120"/>
          </a:xfrm>
          <a:prstGeom prst="rect">
            <a:avLst/>
          </a:prstGeom>
          <a:noFill/>
        </p:spPr>
        <p:txBody>
          <a:bodyPr wrap="square" lIns="45720" rIns="45720" tIns="27432" bIns="27432" anchor="t">
            <a:spAutoFit/>
          </a:bodyPr>
          <a:lstStyle/>
          <a:p>
            <a:pPr algn="l"/>
            <a:r>
              <a:rPr sz="3200" b="1" i="0">
                <a:solidFill>
                  <a:srgbClr val="1B3A4B"/>
                </a:solidFill>
                <a:latin typeface="Calibri"/>
              </a:rPr>
              <a:t>Underground Audio/Video</a:t>
            </a:r>
          </a:p>
          <a:p>
            <a:pPr algn="l"/>
            <a:r>
              <a:rPr sz="3200" b="1" i="0">
                <a:solidFill>
                  <a:srgbClr val="1B3A4B"/>
                </a:solidFill>
                <a:latin typeface="Calibri"/>
              </a:rPr>
              <a:t>Communication System</a:t>
            </a:r>
          </a:p>
          <a:p>
            <a:pPr algn="l"/>
            <a:r>
              <a:rPr sz="3200" b="1" i="0">
                <a:solidFill>
                  <a:srgbClr val="1B3A4B"/>
                </a:solidFill>
                <a:latin typeface="Calibri"/>
              </a:rPr>
              <a:t>for Miner Safety</a:t>
            </a:r>
          </a:p>
          <a:p>
            <a:pPr algn="l"/>
            <a:r>
              <a:rPr sz="3200" b="1" i="0">
                <a:solidFill>
                  <a:srgbClr val="1B3A4B"/>
                </a:solidFill>
                <a:latin typeface="Calibri"/>
              </a:rPr>
              <a:t>and Monitoring</a:t>
            </a:r>
          </a:p>
        </p:txBody>
      </p:sp>
      <p:sp>
        <p:nvSpPr>
          <p:cNvPr id="12" name="TextBox 11"/>
          <p:cNvSpPr txBox="1"/>
          <p:nvPr/>
        </p:nvSpPr>
        <p:spPr>
          <a:xfrm>
            <a:off x="457200" y="3840480"/>
            <a:ext cx="5852160" cy="731520"/>
          </a:xfrm>
          <a:prstGeom prst="rect">
            <a:avLst/>
          </a:prstGeom>
          <a:noFill/>
        </p:spPr>
        <p:txBody>
          <a:bodyPr wrap="square" lIns="45720" rIns="45720" tIns="27432" bIns="27432" anchor="t">
            <a:spAutoFit/>
          </a:bodyPr>
          <a:lstStyle/>
          <a:p>
            <a:pPr algn="l"/>
            <a:r>
              <a:rPr sz="1700" b="0" i="0">
                <a:solidFill>
                  <a:srgbClr val="1C2430"/>
                </a:solidFill>
                <a:latin typeface="Calibri"/>
              </a:rPr>
              <a:t>Hybrid free-space optical and LoRa communication for real-time video and emergency alerts in underground mines.</a:t>
            </a:r>
          </a:p>
        </p:txBody>
      </p:sp>
      <p:sp>
        <p:nvSpPr>
          <p:cNvPr id="13" name="Rectangle 12"/>
          <p:cNvSpPr/>
          <p:nvPr/>
        </p:nvSpPr>
        <p:spPr>
          <a:xfrm>
            <a:off x="6720840" y="1188720"/>
            <a:ext cx="5029200" cy="566928"/>
          </a:xfrm>
          <a:prstGeom prst="rect">
            <a:avLst/>
          </a:prstGeom>
          <a:solidFill>
            <a:srgbClr val="F2F7FB"/>
          </a:solidFill>
          <a:ln>
            <a:noFill/>
          </a:ln>
        </p:spPr>
        <p:txBody>
          <a:bodyPr rtlCol="0" anchor="ctr"/>
          <a:lstStyle/>
          <a:p>
            <a:pPr algn="ctr"/>
          </a:p>
        </p:txBody>
      </p:sp>
      <p:sp>
        <p:nvSpPr>
          <p:cNvPr id="14" name="Rectangle 13"/>
          <p:cNvSpPr/>
          <p:nvPr/>
        </p:nvSpPr>
        <p:spPr>
          <a:xfrm>
            <a:off x="6720840" y="1755648"/>
            <a:ext cx="5029200" cy="73152"/>
          </a:xfrm>
          <a:prstGeom prst="rect">
            <a:avLst/>
          </a:prstGeom>
          <a:solidFill>
            <a:srgbClr val="7C9A5B"/>
          </a:solidFill>
          <a:ln>
            <a:noFill/>
          </a:ln>
        </p:spPr>
        <p:txBody>
          <a:bodyPr rtlCol="0" anchor="ctr"/>
          <a:lstStyle/>
          <a:p>
            <a:pPr algn="ctr"/>
          </a:p>
        </p:txBody>
      </p:sp>
      <p:pic>
        <p:nvPicPr>
          <p:cNvPr id="15" name="Picture" descr="Rock texture"/>
          <p:cNvPicPr>
            <a:picLocks noChangeAspect="1"/>
          </p:cNvPicPr>
          <p:nvPr/>
        </p:nvPicPr>
        <p:blipFill>
          <a:blip r:embed="rId5"/>
          <a:srcRect t="9642" b="30876"/>
          <a:stretch>
            <a:fillRect/>
          </a:stretch>
        </p:blipFill>
        <p:spPr>
          <a:xfrm>
            <a:off x="6720840" y="1828800"/>
            <a:ext cx="5029200" cy="502920"/>
          </a:xfrm>
          <a:prstGeom prst="rect">
            <a:avLst/>
          </a:prstGeom>
        </p:spPr>
      </p:pic>
      <p:sp>
        <p:nvSpPr>
          <p:cNvPr id="16" name="Rectangle 15"/>
          <p:cNvSpPr/>
          <p:nvPr/>
        </p:nvSpPr>
        <p:spPr>
          <a:xfrm>
            <a:off x="6720840" y="2331720"/>
            <a:ext cx="5029200" cy="1691640"/>
          </a:xfrm>
          <a:prstGeom prst="rect">
            <a:avLst/>
          </a:prstGeom>
          <a:solidFill>
            <a:srgbClr val="F4F1EC"/>
          </a:solidFill>
          <a:ln>
            <a:noFill/>
          </a:ln>
        </p:spPr>
        <p:txBody>
          <a:bodyPr rtlCol="0" anchor="ctr"/>
          <a:lstStyle/>
          <a:p>
            <a:pPr algn="ctr"/>
          </a:p>
        </p:txBody>
      </p:sp>
      <p:sp>
        <p:nvSpPr>
          <p:cNvPr id="17" name="Rectangle 16"/>
          <p:cNvSpPr/>
          <p:nvPr/>
        </p:nvSpPr>
        <p:spPr>
          <a:xfrm>
            <a:off x="6720840" y="3941064"/>
            <a:ext cx="5029200" cy="82296"/>
          </a:xfrm>
          <a:prstGeom prst="rect">
            <a:avLst/>
          </a:prstGeom>
          <a:solidFill>
            <a:srgbClr val="D8D2C6"/>
          </a:solidFill>
          <a:ln>
            <a:noFill/>
          </a:ln>
        </p:spPr>
        <p:txBody>
          <a:bodyPr rtlCol="0" anchor="ctr"/>
          <a:lstStyle/>
          <a:p>
            <a:pPr algn="ctr"/>
          </a:p>
        </p:txBody>
      </p:sp>
      <p:sp>
        <p:nvSpPr>
          <p:cNvPr id="18" name="Rectangle 17"/>
          <p:cNvSpPr/>
          <p:nvPr/>
        </p:nvSpPr>
        <p:spPr>
          <a:xfrm>
            <a:off x="6720840" y="2331720"/>
            <a:ext cx="5029200" cy="36576"/>
          </a:xfrm>
          <a:prstGeom prst="rect">
            <a:avLst/>
          </a:prstGeom>
          <a:solidFill>
            <a:srgbClr val="7A6350"/>
          </a:solidFill>
          <a:ln>
            <a:noFill/>
          </a:ln>
        </p:spPr>
        <p:txBody>
          <a:bodyPr rtlCol="0" anchor="ctr"/>
          <a:lstStyle/>
          <a:p>
            <a:pPr algn="ctr"/>
          </a:p>
        </p:txBody>
      </p:sp>
      <p:pic>
        <p:nvPicPr>
          <p:cNvPr id="19" name="Picture" descr="Rock texture"/>
          <p:cNvPicPr>
            <a:picLocks noChangeAspect="1"/>
          </p:cNvPicPr>
          <p:nvPr/>
        </p:nvPicPr>
        <p:blipFill>
          <a:blip r:embed="rId5"/>
          <a:srcRect t="7960" b="27150"/>
          <a:stretch>
            <a:fillRect/>
          </a:stretch>
        </p:blipFill>
        <p:spPr>
          <a:xfrm>
            <a:off x="6720840" y="4023360"/>
            <a:ext cx="5029200" cy="548640"/>
          </a:xfrm>
          <a:prstGeom prst="rect">
            <a:avLst/>
          </a:prstGeom>
        </p:spPr>
      </p:pic>
      <p:cxnSp>
        <p:nvCxnSpPr>
          <p:cNvPr id="20" name="Connector 19"/>
          <p:cNvCxnSpPr/>
          <p:nvPr/>
        </p:nvCxnSpPr>
        <p:spPr>
          <a:xfrm flipH="1">
            <a:off x="11122761" y="1024127"/>
            <a:ext cx="124359" cy="731521"/>
          </a:xfrm>
          <a:prstGeom prst="line">
            <a:avLst/>
          </a:prstGeom>
          <a:ln w="31750">
            <a:solidFill>
              <a:srgbClr val="1A1A1A"/>
            </a:solidFill>
          </a:ln>
        </p:spPr>
      </p:cxnSp>
      <p:cxnSp>
        <p:nvCxnSpPr>
          <p:cNvPr id="21" name="Connector 20"/>
          <p:cNvCxnSpPr/>
          <p:nvPr/>
        </p:nvCxnSpPr>
        <p:spPr>
          <a:xfrm>
            <a:off x="11247120" y="1024127"/>
            <a:ext cx="124358" cy="731521"/>
          </a:xfrm>
          <a:prstGeom prst="line">
            <a:avLst/>
          </a:prstGeom>
          <a:ln w="31750">
            <a:solidFill>
              <a:srgbClr val="1A1A1A"/>
            </a:solidFill>
          </a:ln>
        </p:spPr>
      </p:cxnSp>
      <p:cxnSp>
        <p:nvCxnSpPr>
          <p:cNvPr id="22" name="Connector 21"/>
          <p:cNvCxnSpPr/>
          <p:nvPr/>
        </p:nvCxnSpPr>
        <p:spPr>
          <a:xfrm>
            <a:off x="11173968" y="1536192"/>
            <a:ext cx="146304" cy="0"/>
          </a:xfrm>
          <a:prstGeom prst="line">
            <a:avLst/>
          </a:prstGeom>
          <a:ln w="19050">
            <a:solidFill>
              <a:srgbClr val="1A1A1A"/>
            </a:solidFill>
          </a:ln>
        </p:spPr>
      </p:cxnSp>
      <p:cxnSp>
        <p:nvCxnSpPr>
          <p:cNvPr id="23" name="Connector 22"/>
          <p:cNvCxnSpPr/>
          <p:nvPr/>
        </p:nvCxnSpPr>
        <p:spPr>
          <a:xfrm>
            <a:off x="11203228" y="1316736"/>
            <a:ext cx="87783" cy="0"/>
          </a:xfrm>
          <a:prstGeom prst="line">
            <a:avLst/>
          </a:prstGeom>
          <a:ln w="19050">
            <a:solidFill>
              <a:srgbClr val="1A1A1A"/>
            </a:solidFill>
          </a:ln>
        </p:spPr>
      </p:cxnSp>
      <p:sp>
        <p:nvSpPr>
          <p:cNvPr id="24" name="Oval 23"/>
          <p:cNvSpPr/>
          <p:nvPr/>
        </p:nvSpPr>
        <p:spPr>
          <a:xfrm>
            <a:off x="11195913" y="972921"/>
            <a:ext cx="102412" cy="102412"/>
          </a:xfrm>
          <a:prstGeom prst="ellipse">
            <a:avLst/>
          </a:prstGeom>
          <a:solidFill>
            <a:srgbClr val="E8445A"/>
          </a:solidFill>
          <a:ln>
            <a:noFill/>
          </a:ln>
        </p:spPr>
        <p:txBody>
          <a:bodyPr rtlCol="0" anchor="ctr"/>
          <a:lstStyle/>
          <a:p>
            <a:pPr algn="ctr"/>
          </a:p>
        </p:txBody>
      </p:sp>
      <p:pic>
        <p:nvPicPr>
          <p:cNvPr id="25" name="Picture" descr="Camera head on a tripod, laser facing right"/>
          <p:cNvPicPr>
            <a:picLocks noChangeAspect="1"/>
          </p:cNvPicPr>
          <p:nvPr/>
        </p:nvPicPr>
        <p:blipFill>
          <a:blip r:embed="rId6"/>
          <a:stretch>
            <a:fillRect/>
          </a:stretch>
        </p:blipFill>
        <p:spPr>
          <a:xfrm>
            <a:off x="7055192" y="2752344"/>
            <a:ext cx="702895" cy="1188720"/>
          </a:xfrm>
          <a:prstGeom prst="rect">
            <a:avLst/>
          </a:prstGeom>
        </p:spPr>
      </p:pic>
      <p:pic>
        <p:nvPicPr>
          <p:cNvPr id="26" name="Picture" descr="Camera head on a tripod, laser facing left"/>
          <p:cNvPicPr>
            <a:picLocks noChangeAspect="1"/>
          </p:cNvPicPr>
          <p:nvPr/>
        </p:nvPicPr>
        <p:blipFill>
          <a:blip r:embed="rId7"/>
          <a:stretch>
            <a:fillRect/>
          </a:stretch>
        </p:blipFill>
        <p:spPr>
          <a:xfrm>
            <a:off x="8472711" y="2752344"/>
            <a:ext cx="868282" cy="1188720"/>
          </a:xfrm>
          <a:prstGeom prst="rect">
            <a:avLst/>
          </a:prstGeom>
        </p:spPr>
      </p:pic>
      <p:pic>
        <p:nvPicPr>
          <p:cNvPr id="27" name="Picture" descr="Camera head on a tripod, laser facing right"/>
          <p:cNvPicPr>
            <a:picLocks noChangeAspect="1"/>
          </p:cNvPicPr>
          <p:nvPr/>
        </p:nvPicPr>
        <p:blipFill>
          <a:blip r:embed="rId6"/>
          <a:stretch>
            <a:fillRect/>
          </a:stretch>
        </p:blipFill>
        <p:spPr>
          <a:xfrm>
            <a:off x="9386713" y="2752344"/>
            <a:ext cx="702895" cy="1188720"/>
          </a:xfrm>
          <a:prstGeom prst="rect">
            <a:avLst/>
          </a:prstGeom>
        </p:spPr>
      </p:pic>
      <p:pic>
        <p:nvPicPr>
          <p:cNvPr id="28" name="Picture" descr="Camera head on a tripod, laser facing left"/>
          <p:cNvPicPr>
            <a:picLocks noChangeAspect="1"/>
          </p:cNvPicPr>
          <p:nvPr/>
        </p:nvPicPr>
        <p:blipFill>
          <a:blip r:embed="rId7"/>
          <a:stretch>
            <a:fillRect/>
          </a:stretch>
        </p:blipFill>
        <p:spPr>
          <a:xfrm>
            <a:off x="10492938" y="2752344"/>
            <a:ext cx="868282" cy="1188720"/>
          </a:xfrm>
          <a:prstGeom prst="rect">
            <a:avLst/>
          </a:prstGeom>
        </p:spPr>
      </p:pic>
      <p:sp>
        <p:nvSpPr>
          <p:cNvPr id="29" name="Rectangle 28"/>
          <p:cNvSpPr/>
          <p:nvPr/>
        </p:nvSpPr>
        <p:spPr>
          <a:xfrm>
            <a:off x="7758087" y="2802818"/>
            <a:ext cx="714623" cy="146304"/>
          </a:xfrm>
          <a:prstGeom prst="rect">
            <a:avLst/>
          </a:prstGeom>
          <a:solidFill>
            <a:srgbClr val="ED7D31">
              <a:alpha val="28000"/>
            </a:srgbClr>
          </a:solidFill>
          <a:ln>
            <a:noFill/>
          </a:ln>
        </p:spPr>
        <p:txBody>
          <a:bodyPr rtlCol="0" anchor="ctr"/>
          <a:lstStyle/>
          <a:p>
            <a:pPr algn="ctr"/>
          </a:p>
        </p:txBody>
      </p:sp>
      <p:sp>
        <p:nvSpPr>
          <p:cNvPr id="30" name="Rectangle 29"/>
          <p:cNvSpPr/>
          <p:nvPr/>
        </p:nvSpPr>
        <p:spPr>
          <a:xfrm>
            <a:off x="7758087" y="2853110"/>
            <a:ext cx="714623" cy="45720"/>
          </a:xfrm>
          <a:prstGeom prst="rect">
            <a:avLst/>
          </a:prstGeom>
          <a:solidFill>
            <a:srgbClr val="ED7D31"/>
          </a:solidFill>
          <a:ln>
            <a:noFill/>
          </a:ln>
        </p:spPr>
        <p:txBody>
          <a:bodyPr rtlCol="0" anchor="ctr"/>
          <a:lstStyle/>
          <a:p>
            <a:pPr algn="ctr"/>
          </a:p>
        </p:txBody>
      </p:sp>
      <p:sp>
        <p:nvSpPr>
          <p:cNvPr id="31" name="Rectangle 30"/>
          <p:cNvSpPr/>
          <p:nvPr/>
        </p:nvSpPr>
        <p:spPr>
          <a:xfrm>
            <a:off x="10089608" y="2802818"/>
            <a:ext cx="403329" cy="146304"/>
          </a:xfrm>
          <a:prstGeom prst="rect">
            <a:avLst/>
          </a:prstGeom>
          <a:solidFill>
            <a:srgbClr val="ED7D31">
              <a:alpha val="28000"/>
            </a:srgbClr>
          </a:solidFill>
          <a:ln>
            <a:noFill/>
          </a:ln>
        </p:spPr>
        <p:txBody>
          <a:bodyPr rtlCol="0" anchor="ctr"/>
          <a:lstStyle/>
          <a:p>
            <a:pPr algn="ctr"/>
          </a:p>
        </p:txBody>
      </p:sp>
      <p:sp>
        <p:nvSpPr>
          <p:cNvPr id="32" name="Rectangle 31"/>
          <p:cNvSpPr/>
          <p:nvPr/>
        </p:nvSpPr>
        <p:spPr>
          <a:xfrm>
            <a:off x="10089608" y="2853110"/>
            <a:ext cx="403329" cy="45720"/>
          </a:xfrm>
          <a:prstGeom prst="rect">
            <a:avLst/>
          </a:prstGeom>
          <a:solidFill>
            <a:srgbClr val="ED7D31"/>
          </a:solidFill>
          <a:ln>
            <a:noFill/>
          </a:ln>
        </p:spPr>
        <p:txBody>
          <a:bodyPr rtlCol="0" anchor="ctr"/>
          <a:lstStyle/>
          <a:p>
            <a:pPr algn="ctr"/>
          </a:p>
        </p:txBody>
      </p:sp>
      <p:cxnSp>
        <p:nvCxnSpPr>
          <p:cNvPr id="33" name="Connector 32"/>
          <p:cNvCxnSpPr/>
          <p:nvPr/>
        </p:nvCxnSpPr>
        <p:spPr>
          <a:xfrm flipV="1">
            <a:off x="7406640" y="1252728"/>
            <a:ext cx="3840480" cy="1499616"/>
          </a:xfrm>
          <a:prstGeom prst="line">
            <a:avLst/>
          </a:prstGeom>
          <a:ln w="15875">
            <a:solidFill>
              <a:srgbClr val="404040"/>
            </a:solidFill>
            <a:prstDash val="sysDot"/>
          </a:ln>
        </p:spPr>
      </p:cxnSp>
      <p:cxnSp>
        <p:nvCxnSpPr>
          <p:cNvPr id="34" name="Connector 33"/>
          <p:cNvCxnSpPr/>
          <p:nvPr/>
        </p:nvCxnSpPr>
        <p:spPr>
          <a:xfrm flipV="1">
            <a:off x="9281159" y="1252728"/>
            <a:ext cx="1965961" cy="1499616"/>
          </a:xfrm>
          <a:prstGeom prst="line">
            <a:avLst/>
          </a:prstGeom>
          <a:ln w="15875">
            <a:solidFill>
              <a:srgbClr val="404040"/>
            </a:solidFill>
            <a:prstDash val="sysDot"/>
          </a:ln>
        </p:spPr>
      </p:cxnSp>
      <p:sp>
        <p:nvSpPr>
          <p:cNvPr id="35" name="TextBox 34"/>
          <p:cNvSpPr txBox="1"/>
          <p:nvPr/>
        </p:nvSpPr>
        <p:spPr>
          <a:xfrm>
            <a:off x="6720840" y="1298448"/>
            <a:ext cx="2926080" cy="365760"/>
          </a:xfrm>
          <a:prstGeom prst="rect">
            <a:avLst/>
          </a:prstGeom>
          <a:noFill/>
        </p:spPr>
        <p:txBody>
          <a:bodyPr wrap="square" lIns="45720" rIns="45720" tIns="27432" bIns="27432" anchor="t">
            <a:spAutoFit/>
          </a:bodyPr>
          <a:lstStyle/>
          <a:p>
            <a:pPr algn="l"/>
            <a:r>
              <a:rPr sz="1300" b="1" i="0">
                <a:solidFill>
                  <a:srgbClr val="1B3A4B"/>
                </a:solidFill>
                <a:latin typeface="Calibri"/>
              </a:rPr>
              <a:t>Underground nodes  ·  50–100 m hops</a:t>
            </a:r>
          </a:p>
        </p:txBody>
      </p:sp>
      <p:sp>
        <p:nvSpPr>
          <p:cNvPr id="36" name="Rectangle 35"/>
          <p:cNvSpPr/>
          <p:nvPr/>
        </p:nvSpPr>
        <p:spPr>
          <a:xfrm>
            <a:off x="6720840" y="1188720"/>
            <a:ext cx="5029200" cy="3383280"/>
          </a:xfrm>
          <a:prstGeom prst="rect">
            <a:avLst/>
          </a:prstGeom>
          <a:noFill/>
          <a:ln w="9525">
            <a:solidFill>
              <a:srgbClr val="A9BFD0"/>
            </a:solidFill>
          </a:ln>
        </p:spPr>
        <p:txBody>
          <a:bodyPr rtlCol="0" anchor="ctr"/>
          <a:lstStyle/>
          <a:p>
            <a:pPr algn="ctr"/>
          </a:p>
        </p:txBody>
      </p:sp>
      <p:sp>
        <p:nvSpPr>
          <p:cNvPr id="37" name="Rectangle 36"/>
          <p:cNvSpPr/>
          <p:nvPr/>
        </p:nvSpPr>
        <p:spPr>
          <a:xfrm>
            <a:off x="457200" y="4663440"/>
            <a:ext cx="2011680" cy="18288"/>
          </a:xfrm>
          <a:prstGeom prst="rect">
            <a:avLst/>
          </a:prstGeom>
          <a:solidFill>
            <a:srgbClr val="ED7D31"/>
          </a:solidFill>
          <a:ln>
            <a:noFill/>
          </a:ln>
        </p:spPr>
        <p:txBody>
          <a:bodyPr rtlCol="0" anchor="ctr"/>
          <a:lstStyle/>
          <a:p>
            <a:pPr algn="ctr"/>
          </a:p>
        </p:txBody>
      </p:sp>
      <p:sp>
        <p:nvSpPr>
          <p:cNvPr id="38" name="TextBox 37"/>
          <p:cNvSpPr txBox="1"/>
          <p:nvPr/>
        </p:nvSpPr>
        <p:spPr>
          <a:xfrm>
            <a:off x="45720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Focus</a:t>
            </a:r>
          </a:p>
        </p:txBody>
      </p:sp>
      <p:sp>
        <p:nvSpPr>
          <p:cNvPr id="39" name="TextBox 38"/>
          <p:cNvSpPr txBox="1"/>
          <p:nvPr/>
        </p:nvSpPr>
        <p:spPr>
          <a:xfrm>
            <a:off x="45720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4S Mining</a:t>
            </a:r>
          </a:p>
          <a:p>
            <a:pPr algn="l"/>
            <a:r>
              <a:rPr sz="1400" b="0" i="0">
                <a:solidFill>
                  <a:srgbClr val="5C6770"/>
                </a:solidFill>
                <a:latin typeface="Calibri"/>
              </a:rPr>
              <a:t>Safe, Smart, Sustainable, Social</a:t>
            </a:r>
          </a:p>
        </p:txBody>
      </p:sp>
      <p:sp>
        <p:nvSpPr>
          <p:cNvPr id="40" name="TextBox 39"/>
          <p:cNvSpPr txBox="1"/>
          <p:nvPr/>
        </p:nvSpPr>
        <p:spPr>
          <a:xfrm>
            <a:off x="329184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Funding</a:t>
            </a:r>
          </a:p>
        </p:txBody>
      </p:sp>
      <p:sp>
        <p:nvSpPr>
          <p:cNvPr id="41" name="TextBox 40"/>
          <p:cNvSpPr txBox="1"/>
          <p:nvPr/>
        </p:nvSpPr>
        <p:spPr>
          <a:xfrm>
            <a:off x="329184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₹15 lakh</a:t>
            </a:r>
          </a:p>
          <a:p>
            <a:pPr algn="l"/>
            <a:r>
              <a:rPr sz="1400" b="0" i="0">
                <a:solidFill>
                  <a:srgbClr val="5C6770"/>
                </a:solidFill>
                <a:latin typeface="Calibri"/>
              </a:rPr>
              <a:t>24 months</a:t>
            </a:r>
          </a:p>
        </p:txBody>
      </p:sp>
      <p:sp>
        <p:nvSpPr>
          <p:cNvPr id="42" name="TextBox 41"/>
          <p:cNvSpPr txBox="1"/>
          <p:nvPr/>
        </p:nvSpPr>
        <p:spPr>
          <a:xfrm>
            <a:off x="612648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Readiness</a:t>
            </a:r>
          </a:p>
        </p:txBody>
      </p:sp>
      <p:sp>
        <p:nvSpPr>
          <p:cNvPr id="43" name="TextBox 42"/>
          <p:cNvSpPr txBox="1"/>
          <p:nvPr/>
        </p:nvSpPr>
        <p:spPr>
          <a:xfrm>
            <a:off x="612648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TRL 2  →  TRL 5</a:t>
            </a:r>
          </a:p>
          <a:p>
            <a:pPr algn="l"/>
            <a:r>
              <a:rPr sz="1400" b="0" i="0">
                <a:solidFill>
                  <a:srgbClr val="5C6770"/>
                </a:solidFill>
                <a:latin typeface="Calibri"/>
              </a:rPr>
              <a:t>Tunnel-level validation</a:t>
            </a:r>
          </a:p>
        </p:txBody>
      </p:sp>
      <p:sp>
        <p:nvSpPr>
          <p:cNvPr id="44" name="TextBox 43"/>
          <p:cNvSpPr txBox="1"/>
          <p:nvPr/>
        </p:nvSpPr>
        <p:spPr>
          <a:xfrm>
            <a:off x="896112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Institute</a:t>
            </a:r>
          </a:p>
        </p:txBody>
      </p:sp>
      <p:sp>
        <p:nvSpPr>
          <p:cNvPr id="45" name="TextBox 44"/>
          <p:cNvSpPr txBox="1"/>
          <p:nvPr/>
        </p:nvSpPr>
        <p:spPr>
          <a:xfrm>
            <a:off x="896112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NIT Rourkela</a:t>
            </a:r>
          </a:p>
          <a:p>
            <a:pPr algn="l"/>
            <a:r>
              <a:rPr sz="1400" b="0" i="0">
                <a:solidFill>
                  <a:srgbClr val="5C6770"/>
                </a:solidFill>
                <a:latin typeface="Calibri"/>
              </a:rPr>
              <a:t>Prof. Sadananda Behera, PI</a:t>
            </a:r>
          </a:p>
        </p:txBody>
      </p:sp>
      <p:sp>
        <p:nvSpPr>
          <p:cNvPr id="46" name="TextBox 45"/>
          <p:cNvSpPr txBox="1"/>
          <p:nvPr/>
        </p:nvSpPr>
        <p:spPr>
          <a:xfrm>
            <a:off x="457200" y="5989320"/>
            <a:ext cx="11155680" cy="365760"/>
          </a:xfrm>
          <a:prstGeom prst="rect">
            <a:avLst/>
          </a:prstGeom>
          <a:noFill/>
        </p:spPr>
        <p:txBody>
          <a:bodyPr wrap="square" lIns="45720" rIns="45720" tIns="27432" bIns="27432" anchor="t">
            <a:spAutoFit/>
          </a:bodyPr>
          <a:lstStyle/>
          <a:p>
            <a:pPr algn="l"/>
            <a:r>
              <a:rPr sz="1400" b="0" i="0">
                <a:solidFill>
                  <a:srgbClr val="5C6770"/>
                </a:solidFill>
                <a:latin typeface="Calibri"/>
              </a:rPr>
              <a:t>Prof. Sadananda Behera, Assistant Professor     ·     98610 77539     ·     No co-PI     ·     Industry letter: not attached</a:t>
            </a:r>
          </a:p>
        </p:txBody>
      </p:sp>
      <p:sp>
        <p:nvSpPr>
          <p:cNvPr id="47"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4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Title</a:t>
            </a:r>
          </a:p>
        </p:txBody>
      </p:sp>
      <p:sp>
        <p:nvSpPr>
          <p:cNvPr id="4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01</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PROJECT TITLE AND OBJECTIVES</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Objective</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Objectives</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2  /  16</a:t>
            </a:r>
          </a:p>
        </p:txBody>
      </p:sp>
      <p:sp>
        <p:nvSpPr>
          <p:cNvPr id="13" name="Rounded Rectangle 12"/>
          <p:cNvSpPr/>
          <p:nvPr/>
        </p:nvSpPr>
        <p:spPr>
          <a:xfrm>
            <a:off x="457200" y="1097280"/>
            <a:ext cx="11292840" cy="10972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731520" y="1152144"/>
            <a:ext cx="10789920" cy="1005840"/>
          </a:xfrm>
          <a:prstGeom prst="rect">
            <a:avLst/>
          </a:prstGeom>
          <a:noFill/>
        </p:spPr>
        <p:txBody>
          <a:bodyPr wrap="square" lIns="45720" rIns="45720" tIns="27432" bIns="27432" anchor="ctr">
            <a:spAutoFit/>
          </a:bodyPr>
          <a:lstStyle/>
          <a:p>
            <a:pPr algn="l"/>
            <a:r>
              <a:rPr sz="2000" b="1" i="0">
                <a:solidFill>
                  <a:srgbClr val="FFFFFF"/>
                </a:solidFill>
                <a:latin typeface="Calibri"/>
              </a:rPr>
              <a:t>Real-time video from a mine heading to the surface on aligned free-space optical hops. LoRa keeps the alert path alive, and in heavy dust the link switches to Zigbee / Wi-Fi.</a:t>
            </a:r>
          </a:p>
        </p:txBody>
      </p:sp>
      <p:sp>
        <p:nvSpPr>
          <p:cNvPr id="15" name="TextBox 14"/>
          <p:cNvSpPr txBox="1"/>
          <p:nvPr/>
        </p:nvSpPr>
        <p:spPr>
          <a:xfrm>
            <a:off x="457200" y="2423160"/>
            <a:ext cx="5486400" cy="365760"/>
          </a:xfrm>
          <a:prstGeom prst="rect">
            <a:avLst/>
          </a:prstGeom>
          <a:noFill/>
        </p:spPr>
        <p:txBody>
          <a:bodyPr wrap="square" lIns="45720" rIns="45720" tIns="27432" bIns="27432" anchor="t">
            <a:spAutoFit/>
          </a:bodyPr>
          <a:lstStyle/>
          <a:p>
            <a:pPr algn="l"/>
            <a:r>
              <a:rPr sz="1900" b="1" i="0">
                <a:solidFill>
                  <a:srgbClr val="1B3A4B"/>
                </a:solidFill>
                <a:latin typeface="Calibri"/>
              </a:rPr>
              <a:t>Specific objectives</a:t>
            </a:r>
          </a:p>
        </p:txBody>
      </p:sp>
      <p:sp>
        <p:nvSpPr>
          <p:cNvPr id="16" name="Rounded Rectangle 15"/>
          <p:cNvSpPr/>
          <p:nvPr/>
        </p:nvSpPr>
        <p:spPr>
          <a:xfrm>
            <a:off x="457200" y="2880360"/>
            <a:ext cx="214884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7" name="Oval 16"/>
          <p:cNvSpPr/>
          <p:nvPr/>
        </p:nvSpPr>
        <p:spPr>
          <a:xfrm>
            <a:off x="594360" y="301752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pic>
        <p:nvPicPr>
          <p:cNvPr id="18" name="Picture" descr="Camera head on a tripod, laser facing right"/>
          <p:cNvPicPr>
            <a:picLocks noChangeAspect="1"/>
          </p:cNvPicPr>
          <p:nvPr/>
        </p:nvPicPr>
        <p:blipFill>
          <a:blip r:embed="rId2"/>
          <a:stretch>
            <a:fillRect/>
          </a:stretch>
        </p:blipFill>
        <p:spPr>
          <a:xfrm>
            <a:off x="2011680" y="2971800"/>
            <a:ext cx="351447" cy="594360"/>
          </a:xfrm>
          <a:prstGeom prst="rect">
            <a:avLst/>
          </a:prstGeom>
        </p:spPr>
      </p:pic>
      <p:sp>
        <p:nvSpPr>
          <p:cNvPr id="19" name="TextBox 18"/>
          <p:cNvSpPr txBox="1"/>
          <p:nvPr/>
        </p:nvSpPr>
        <p:spPr>
          <a:xfrm>
            <a:off x="548640" y="3611880"/>
            <a:ext cx="2011680" cy="502920"/>
          </a:xfrm>
          <a:prstGeom prst="rect">
            <a:avLst/>
          </a:prstGeom>
          <a:noFill/>
        </p:spPr>
        <p:txBody>
          <a:bodyPr wrap="square" lIns="45720" rIns="45720" tIns="27432" bIns="27432" anchor="t">
            <a:spAutoFit/>
          </a:bodyPr>
          <a:lstStyle/>
          <a:p>
            <a:pPr algn="l"/>
            <a:r>
              <a:rPr sz="2300" b="1" i="0">
                <a:solidFill>
                  <a:srgbClr val="1B3A4B"/>
                </a:solidFill>
                <a:latin typeface="Calibri"/>
              </a:rPr>
              <a:t>50–100 m</a:t>
            </a:r>
          </a:p>
        </p:txBody>
      </p:sp>
      <p:sp>
        <p:nvSpPr>
          <p:cNvPr id="20" name="TextBox 19"/>
          <p:cNvSpPr txBox="1"/>
          <p:nvPr/>
        </p:nvSpPr>
        <p:spPr>
          <a:xfrm>
            <a:off x="548640" y="4160520"/>
            <a:ext cx="2011680" cy="2011680"/>
          </a:xfrm>
          <a:prstGeom prst="rect">
            <a:avLst/>
          </a:prstGeom>
          <a:noFill/>
        </p:spPr>
        <p:txBody>
          <a:bodyPr wrap="square" lIns="45720" rIns="45720" tIns="27432" bIns="27432" anchor="t">
            <a:spAutoFit/>
          </a:bodyPr>
          <a:lstStyle/>
          <a:p>
            <a:pPr algn="l"/>
            <a:r>
              <a:rPr sz="1550" b="0" i="0">
                <a:solidFill>
                  <a:srgbClr val="1C2430"/>
                </a:solidFill>
                <a:latin typeface="Calibri"/>
              </a:rPr>
              <a:t>Real-time video on FSO links between successive tunnel nodes</a:t>
            </a:r>
          </a:p>
        </p:txBody>
      </p:sp>
      <p:sp>
        <p:nvSpPr>
          <p:cNvPr id="21" name="Rounded Rectangle 20"/>
          <p:cNvSpPr/>
          <p:nvPr/>
        </p:nvSpPr>
        <p:spPr>
          <a:xfrm>
            <a:off x="2743200" y="2880360"/>
            <a:ext cx="214884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Oval 21"/>
          <p:cNvSpPr/>
          <p:nvPr/>
        </p:nvSpPr>
        <p:spPr>
          <a:xfrm>
            <a:off x="2880360" y="301752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pic>
        <p:nvPicPr>
          <p:cNvPr id="23" name="Picture" descr="IMU module"/>
          <p:cNvPicPr>
            <a:picLocks noChangeAspect="1"/>
          </p:cNvPicPr>
          <p:nvPr/>
        </p:nvPicPr>
        <p:blipFill>
          <a:blip r:embed="rId3"/>
          <a:stretch>
            <a:fillRect/>
          </a:stretch>
        </p:blipFill>
        <p:spPr>
          <a:xfrm>
            <a:off x="4251960" y="3017520"/>
            <a:ext cx="502920" cy="368808"/>
          </a:xfrm>
          <a:prstGeom prst="rect">
            <a:avLst/>
          </a:prstGeom>
        </p:spPr>
      </p:pic>
      <p:sp>
        <p:nvSpPr>
          <p:cNvPr id="24" name="TextBox 23"/>
          <p:cNvSpPr txBox="1"/>
          <p:nvPr/>
        </p:nvSpPr>
        <p:spPr>
          <a:xfrm>
            <a:off x="2834640" y="3611880"/>
            <a:ext cx="2011680" cy="502920"/>
          </a:xfrm>
          <a:prstGeom prst="rect">
            <a:avLst/>
          </a:prstGeom>
          <a:noFill/>
        </p:spPr>
        <p:txBody>
          <a:bodyPr wrap="square" lIns="45720" rIns="45720" tIns="27432" bIns="27432" anchor="t">
            <a:spAutoFit/>
          </a:bodyPr>
          <a:lstStyle/>
          <a:p>
            <a:pPr algn="l"/>
            <a:r>
              <a:rPr sz="2300" b="1" i="0">
                <a:solidFill>
                  <a:srgbClr val="1B3A4B"/>
                </a:solidFill>
                <a:latin typeface="Calibri"/>
              </a:rPr>
              <a:t>IMU</a:t>
            </a:r>
          </a:p>
        </p:txBody>
      </p:sp>
      <p:sp>
        <p:nvSpPr>
          <p:cNvPr id="25" name="TextBox 24"/>
          <p:cNvSpPr txBox="1"/>
          <p:nvPr/>
        </p:nvSpPr>
        <p:spPr>
          <a:xfrm>
            <a:off x="2834640" y="4160520"/>
            <a:ext cx="2011680" cy="2011680"/>
          </a:xfrm>
          <a:prstGeom prst="rect">
            <a:avLst/>
          </a:prstGeom>
          <a:noFill/>
        </p:spPr>
        <p:txBody>
          <a:bodyPr wrap="square" lIns="45720" rIns="45720" tIns="27432" bIns="27432" anchor="t">
            <a:spAutoFit/>
          </a:bodyPr>
          <a:lstStyle/>
          <a:p>
            <a:pPr algn="l"/>
            <a:r>
              <a:rPr sz="1550" b="0" i="0">
                <a:solidFill>
                  <a:srgbClr val="1C2430"/>
                </a:solidFill>
                <a:latin typeface="Calibri"/>
              </a:rPr>
              <a:t>Auto-tracking with motorized steering. Department prototype already working</a:t>
            </a:r>
          </a:p>
        </p:txBody>
      </p:sp>
      <p:sp>
        <p:nvSpPr>
          <p:cNvPr id="26" name="Rounded Rectangle 25"/>
          <p:cNvSpPr/>
          <p:nvPr/>
        </p:nvSpPr>
        <p:spPr>
          <a:xfrm>
            <a:off x="5029200" y="2880360"/>
            <a:ext cx="214884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7" name="Oval 26"/>
          <p:cNvSpPr/>
          <p:nvPr/>
        </p:nvSpPr>
        <p:spPr>
          <a:xfrm>
            <a:off x="5166360" y="301752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pic>
        <p:nvPicPr>
          <p:cNvPr id="28" name="Picture" descr="LoRa module"/>
          <p:cNvPicPr>
            <a:picLocks noChangeAspect="1"/>
          </p:cNvPicPr>
          <p:nvPr/>
        </p:nvPicPr>
        <p:blipFill>
          <a:blip r:embed="rId4"/>
          <a:stretch>
            <a:fillRect/>
          </a:stretch>
        </p:blipFill>
        <p:spPr>
          <a:xfrm>
            <a:off x="6583680" y="2971800"/>
            <a:ext cx="634959" cy="566928"/>
          </a:xfrm>
          <a:prstGeom prst="rect">
            <a:avLst/>
          </a:prstGeom>
        </p:spPr>
      </p:pic>
      <p:sp>
        <p:nvSpPr>
          <p:cNvPr id="29" name="TextBox 28"/>
          <p:cNvSpPr txBox="1"/>
          <p:nvPr/>
        </p:nvSpPr>
        <p:spPr>
          <a:xfrm>
            <a:off x="5120640" y="3611880"/>
            <a:ext cx="2011680" cy="502920"/>
          </a:xfrm>
          <a:prstGeom prst="rect">
            <a:avLst/>
          </a:prstGeom>
          <a:noFill/>
        </p:spPr>
        <p:txBody>
          <a:bodyPr wrap="square" lIns="45720" rIns="45720" tIns="27432" bIns="27432" anchor="t">
            <a:spAutoFit/>
          </a:bodyPr>
          <a:lstStyle/>
          <a:p>
            <a:pPr algn="l"/>
            <a:r>
              <a:rPr sz="2300" b="1" i="0">
                <a:solidFill>
                  <a:srgbClr val="1B3A4B"/>
                </a:solidFill>
                <a:latin typeface="Calibri"/>
              </a:rPr>
              <a:t>LoRa</a:t>
            </a:r>
          </a:p>
        </p:txBody>
      </p:sp>
      <p:sp>
        <p:nvSpPr>
          <p:cNvPr id="30" name="TextBox 29"/>
          <p:cNvSpPr txBox="1"/>
          <p:nvPr/>
        </p:nvSpPr>
        <p:spPr>
          <a:xfrm>
            <a:off x="5120640" y="4160520"/>
            <a:ext cx="2011680" cy="2011680"/>
          </a:xfrm>
          <a:prstGeom prst="rect">
            <a:avLst/>
          </a:prstGeom>
          <a:noFill/>
        </p:spPr>
        <p:txBody>
          <a:bodyPr wrap="square" lIns="45720" rIns="45720" tIns="27432" bIns="27432" anchor="t">
            <a:spAutoFit/>
          </a:bodyPr>
          <a:lstStyle/>
          <a:p>
            <a:pPr algn="l"/>
            <a:r>
              <a:rPr sz="1550" b="0" i="0">
                <a:solidFill>
                  <a:srgbClr val="1C2430"/>
                </a:solidFill>
                <a:latin typeface="Calibri"/>
              </a:rPr>
              <a:t>Control, alerts and fallback when an optical hop is interrupted</a:t>
            </a:r>
          </a:p>
        </p:txBody>
      </p:sp>
      <p:sp>
        <p:nvSpPr>
          <p:cNvPr id="31" name="Rounded Rectangle 30"/>
          <p:cNvSpPr/>
          <p:nvPr/>
        </p:nvSpPr>
        <p:spPr>
          <a:xfrm>
            <a:off x="7315200" y="2880360"/>
            <a:ext cx="214884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2" name="Oval 31"/>
          <p:cNvSpPr/>
          <p:nvPr/>
        </p:nvSpPr>
        <p:spPr>
          <a:xfrm>
            <a:off x="7452360" y="301752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pic>
        <p:nvPicPr>
          <p:cNvPr id="33" name="Picture" descr="Monitoring dashboard"/>
          <p:cNvPicPr>
            <a:picLocks noChangeAspect="1"/>
          </p:cNvPicPr>
          <p:nvPr/>
        </p:nvPicPr>
        <p:blipFill>
          <a:blip r:embed="rId5"/>
          <a:stretch>
            <a:fillRect/>
          </a:stretch>
        </p:blipFill>
        <p:spPr>
          <a:xfrm>
            <a:off x="8732520" y="3017520"/>
            <a:ext cx="621792" cy="500663"/>
          </a:xfrm>
          <a:prstGeom prst="rect">
            <a:avLst/>
          </a:prstGeom>
        </p:spPr>
      </p:pic>
      <p:sp>
        <p:nvSpPr>
          <p:cNvPr id="34" name="TextBox 33"/>
          <p:cNvSpPr txBox="1"/>
          <p:nvPr/>
        </p:nvSpPr>
        <p:spPr>
          <a:xfrm>
            <a:off x="7406640" y="3611880"/>
            <a:ext cx="2011680" cy="502920"/>
          </a:xfrm>
          <a:prstGeom prst="rect">
            <a:avLst/>
          </a:prstGeom>
          <a:noFill/>
        </p:spPr>
        <p:txBody>
          <a:bodyPr wrap="square" lIns="45720" rIns="45720" tIns="27432" bIns="27432" anchor="t">
            <a:spAutoFit/>
          </a:bodyPr>
          <a:lstStyle/>
          <a:p>
            <a:pPr algn="l"/>
            <a:r>
              <a:rPr sz="2300" b="1" i="0">
                <a:solidFill>
                  <a:srgbClr val="1B3A4B"/>
                </a:solidFill>
                <a:latin typeface="Calibri"/>
              </a:rPr>
              <a:t>Multi-hop</a:t>
            </a:r>
          </a:p>
        </p:txBody>
      </p:sp>
      <p:sp>
        <p:nvSpPr>
          <p:cNvPr id="35" name="TextBox 34"/>
          <p:cNvSpPr txBox="1"/>
          <p:nvPr/>
        </p:nvSpPr>
        <p:spPr>
          <a:xfrm>
            <a:off x="7406640" y="4160520"/>
            <a:ext cx="2011680" cy="2011680"/>
          </a:xfrm>
          <a:prstGeom prst="rect">
            <a:avLst/>
          </a:prstGeom>
          <a:noFill/>
        </p:spPr>
        <p:txBody>
          <a:bodyPr wrap="square" lIns="45720" rIns="45720" tIns="27432" bIns="27432" anchor="t">
            <a:spAutoFit/>
          </a:bodyPr>
          <a:lstStyle/>
          <a:p>
            <a:pPr algn="l"/>
            <a:r>
              <a:rPr sz="1550" b="0" i="0">
                <a:solidFill>
                  <a:srgbClr val="1C2430"/>
                </a:solidFill>
                <a:latin typeface="Calibri"/>
              </a:rPr>
              <a:t>Transmitter, relays, surface base station. Lab and tunnel-like tests</a:t>
            </a:r>
          </a:p>
        </p:txBody>
      </p:sp>
      <p:sp>
        <p:nvSpPr>
          <p:cNvPr id="36" name="Rounded Rectangle 35"/>
          <p:cNvSpPr/>
          <p:nvPr/>
        </p:nvSpPr>
        <p:spPr>
          <a:xfrm>
            <a:off x="9601200" y="2880360"/>
            <a:ext cx="2148840" cy="33375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Oval 36"/>
          <p:cNvSpPr/>
          <p:nvPr/>
        </p:nvSpPr>
        <p:spPr>
          <a:xfrm>
            <a:off x="9738360" y="301752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5</a:t>
            </a:r>
          </a:p>
        </p:txBody>
      </p:sp>
      <p:sp>
        <p:nvSpPr>
          <p:cNvPr id="38" name="Oval 37"/>
          <p:cNvSpPr/>
          <p:nvPr/>
        </p:nvSpPr>
        <p:spPr>
          <a:xfrm>
            <a:off x="11406056" y="3311234"/>
            <a:ext cx="87838" cy="87838"/>
          </a:xfrm>
          <a:prstGeom prst="ellipse">
            <a:avLst/>
          </a:prstGeom>
          <a:solidFill>
            <a:srgbClr val="B08968">
              <a:alpha val="70000"/>
            </a:srgbClr>
          </a:solidFill>
          <a:ln>
            <a:noFill/>
          </a:ln>
        </p:spPr>
        <p:txBody>
          <a:bodyPr rtlCol="0" anchor="ctr"/>
          <a:lstStyle/>
          <a:p>
            <a:pPr algn="ctr"/>
          </a:p>
        </p:txBody>
      </p:sp>
      <p:sp>
        <p:nvSpPr>
          <p:cNvPr id="39" name="Oval 38"/>
          <p:cNvSpPr/>
          <p:nvPr/>
        </p:nvSpPr>
        <p:spPr>
          <a:xfrm>
            <a:off x="11175866" y="3036019"/>
            <a:ext cx="100434" cy="100434"/>
          </a:xfrm>
          <a:prstGeom prst="ellipse">
            <a:avLst/>
          </a:prstGeom>
          <a:solidFill>
            <a:srgbClr val="9C7A5B">
              <a:alpha val="55000"/>
            </a:srgbClr>
          </a:solidFill>
          <a:ln>
            <a:noFill/>
          </a:ln>
        </p:spPr>
        <p:txBody>
          <a:bodyPr rtlCol="0" anchor="ctr"/>
          <a:lstStyle/>
          <a:p>
            <a:pPr algn="ctr"/>
          </a:p>
        </p:txBody>
      </p:sp>
      <p:sp>
        <p:nvSpPr>
          <p:cNvPr id="40" name="Oval 39"/>
          <p:cNvSpPr/>
          <p:nvPr/>
        </p:nvSpPr>
        <p:spPr>
          <a:xfrm>
            <a:off x="11482367" y="3166025"/>
            <a:ext cx="67173" cy="67173"/>
          </a:xfrm>
          <a:prstGeom prst="ellipse">
            <a:avLst/>
          </a:prstGeom>
          <a:solidFill>
            <a:srgbClr val="B08968">
              <a:alpha val="85000"/>
            </a:srgbClr>
          </a:solidFill>
          <a:ln>
            <a:noFill/>
          </a:ln>
        </p:spPr>
        <p:txBody>
          <a:bodyPr rtlCol="0" anchor="ctr"/>
          <a:lstStyle/>
          <a:p>
            <a:pPr algn="ctr"/>
          </a:p>
        </p:txBody>
      </p:sp>
      <p:sp>
        <p:nvSpPr>
          <p:cNvPr id="41" name="Oval 40"/>
          <p:cNvSpPr/>
          <p:nvPr/>
        </p:nvSpPr>
        <p:spPr>
          <a:xfrm>
            <a:off x="11423649" y="3180823"/>
            <a:ext cx="57094" cy="57094"/>
          </a:xfrm>
          <a:prstGeom prst="ellipse">
            <a:avLst/>
          </a:prstGeom>
          <a:solidFill>
            <a:srgbClr val="9C7A5B">
              <a:alpha val="70000"/>
            </a:srgbClr>
          </a:solidFill>
          <a:ln>
            <a:noFill/>
          </a:ln>
        </p:spPr>
        <p:txBody>
          <a:bodyPr rtlCol="0" anchor="ctr"/>
          <a:lstStyle/>
          <a:p>
            <a:pPr algn="ctr"/>
          </a:p>
        </p:txBody>
      </p:sp>
      <p:sp>
        <p:nvSpPr>
          <p:cNvPr id="42" name="Oval 41"/>
          <p:cNvSpPr/>
          <p:nvPr/>
        </p:nvSpPr>
        <p:spPr>
          <a:xfrm>
            <a:off x="11461959" y="3074066"/>
            <a:ext cx="49710" cy="49710"/>
          </a:xfrm>
          <a:prstGeom prst="ellipse">
            <a:avLst/>
          </a:prstGeom>
          <a:solidFill>
            <a:srgbClr val="8B6B4E">
              <a:alpha val="55000"/>
            </a:srgbClr>
          </a:solidFill>
          <a:ln>
            <a:noFill/>
          </a:ln>
        </p:spPr>
        <p:txBody>
          <a:bodyPr rtlCol="0" anchor="ctr"/>
          <a:lstStyle/>
          <a:p>
            <a:pPr algn="ctr"/>
          </a:p>
        </p:txBody>
      </p:sp>
      <p:sp>
        <p:nvSpPr>
          <p:cNvPr id="43" name="Oval 42"/>
          <p:cNvSpPr/>
          <p:nvPr/>
        </p:nvSpPr>
        <p:spPr>
          <a:xfrm>
            <a:off x="11551557" y="3019697"/>
            <a:ext cx="47458" cy="47458"/>
          </a:xfrm>
          <a:prstGeom prst="ellipse">
            <a:avLst/>
          </a:prstGeom>
          <a:solidFill>
            <a:srgbClr val="9C7A5B">
              <a:alpha val="55000"/>
            </a:srgbClr>
          </a:solidFill>
          <a:ln>
            <a:noFill/>
          </a:ln>
        </p:spPr>
        <p:txBody>
          <a:bodyPr rtlCol="0" anchor="ctr"/>
          <a:lstStyle/>
          <a:p>
            <a:pPr algn="ctr"/>
          </a:p>
        </p:txBody>
      </p:sp>
      <p:sp>
        <p:nvSpPr>
          <p:cNvPr id="44" name="Oval 43"/>
          <p:cNvSpPr/>
          <p:nvPr/>
        </p:nvSpPr>
        <p:spPr>
          <a:xfrm>
            <a:off x="11191611" y="3352910"/>
            <a:ext cx="108371" cy="108371"/>
          </a:xfrm>
          <a:prstGeom prst="ellipse">
            <a:avLst/>
          </a:prstGeom>
          <a:solidFill>
            <a:srgbClr val="9C7A5B">
              <a:alpha val="55000"/>
            </a:srgbClr>
          </a:solidFill>
          <a:ln>
            <a:noFill/>
          </a:ln>
        </p:spPr>
        <p:txBody>
          <a:bodyPr rtlCol="0" anchor="ctr"/>
          <a:lstStyle/>
          <a:p>
            <a:pPr algn="ctr"/>
          </a:p>
        </p:txBody>
      </p:sp>
      <p:sp>
        <p:nvSpPr>
          <p:cNvPr id="45" name="Oval 44"/>
          <p:cNvSpPr/>
          <p:nvPr/>
        </p:nvSpPr>
        <p:spPr>
          <a:xfrm>
            <a:off x="11364410" y="3349230"/>
            <a:ext cx="114014" cy="114014"/>
          </a:xfrm>
          <a:prstGeom prst="ellipse">
            <a:avLst/>
          </a:prstGeom>
          <a:solidFill>
            <a:srgbClr val="8B6B4E">
              <a:alpha val="70000"/>
            </a:srgbClr>
          </a:solidFill>
          <a:ln>
            <a:noFill/>
          </a:ln>
        </p:spPr>
        <p:txBody>
          <a:bodyPr rtlCol="0" anchor="ctr"/>
          <a:lstStyle/>
          <a:p>
            <a:pPr algn="ctr"/>
          </a:p>
        </p:txBody>
      </p:sp>
      <p:sp>
        <p:nvSpPr>
          <p:cNvPr id="46" name="Oval 45"/>
          <p:cNvSpPr/>
          <p:nvPr/>
        </p:nvSpPr>
        <p:spPr>
          <a:xfrm>
            <a:off x="11275962" y="3409475"/>
            <a:ext cx="38351" cy="38351"/>
          </a:xfrm>
          <a:prstGeom prst="ellipse">
            <a:avLst/>
          </a:prstGeom>
          <a:solidFill>
            <a:srgbClr val="C4A484">
              <a:alpha val="55000"/>
            </a:srgbClr>
          </a:solidFill>
          <a:ln>
            <a:noFill/>
          </a:ln>
        </p:spPr>
        <p:txBody>
          <a:bodyPr rtlCol="0" anchor="ctr"/>
          <a:lstStyle/>
          <a:p>
            <a:pPr algn="ctr"/>
          </a:p>
        </p:txBody>
      </p:sp>
      <p:sp>
        <p:nvSpPr>
          <p:cNvPr id="47" name="TextBox 46"/>
          <p:cNvSpPr txBox="1"/>
          <p:nvPr/>
        </p:nvSpPr>
        <p:spPr>
          <a:xfrm>
            <a:off x="9692640" y="3611880"/>
            <a:ext cx="2011680" cy="502920"/>
          </a:xfrm>
          <a:prstGeom prst="rect">
            <a:avLst/>
          </a:prstGeom>
          <a:noFill/>
        </p:spPr>
        <p:txBody>
          <a:bodyPr wrap="square" lIns="45720" rIns="45720" tIns="27432" bIns="27432" anchor="t">
            <a:spAutoFit/>
          </a:bodyPr>
          <a:lstStyle/>
          <a:p>
            <a:pPr algn="l"/>
            <a:r>
              <a:rPr sz="2300" b="1" i="0">
                <a:solidFill>
                  <a:srgbClr val="1B3A4B"/>
                </a:solidFill>
                <a:latin typeface="Calibri"/>
              </a:rPr>
              <a:t>Dust switch</a:t>
            </a:r>
          </a:p>
        </p:txBody>
      </p:sp>
      <p:sp>
        <p:nvSpPr>
          <p:cNvPr id="48" name="TextBox 47"/>
          <p:cNvSpPr txBox="1"/>
          <p:nvPr/>
        </p:nvSpPr>
        <p:spPr>
          <a:xfrm>
            <a:off x="9692640" y="4160520"/>
            <a:ext cx="2011680" cy="2011680"/>
          </a:xfrm>
          <a:prstGeom prst="rect">
            <a:avLst/>
          </a:prstGeom>
          <a:noFill/>
        </p:spPr>
        <p:txBody>
          <a:bodyPr wrap="square" lIns="45720" rIns="45720" tIns="27432" bIns="27432" anchor="t">
            <a:spAutoFit/>
          </a:bodyPr>
          <a:lstStyle/>
          <a:p>
            <a:pPr algn="l"/>
            <a:r>
              <a:rPr sz="1550" b="0" i="0">
                <a:solidFill>
                  <a:srgbClr val="1C2430"/>
                </a:solidFill>
                <a:latin typeface="Calibri"/>
              </a:rPr>
              <a:t>Zigbee / Wi-Fi takes over when dust is above a threshold. LoRa sends the alert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02</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PROBLEM STATEMENT AND RELEVANCE TO THE MINING SECTOR</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Background: communication underground today</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Background and problem</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3  /  16</a:t>
            </a:r>
          </a:p>
        </p:txBody>
      </p:sp>
      <p:sp>
        <p:nvSpPr>
          <p:cNvPr id="13" name="TextBox 12"/>
          <p:cNvSpPr txBox="1"/>
          <p:nvPr/>
        </p:nvSpPr>
        <p:spPr>
          <a:xfrm>
            <a:off x="457200" y="1005840"/>
            <a:ext cx="11247120" cy="41148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4" name="Rectangle 13"/>
          <p:cNvSpPr/>
          <p:nvPr/>
        </p:nvSpPr>
        <p:spPr>
          <a:xfrm>
            <a:off x="457200" y="1554480"/>
            <a:ext cx="11292840" cy="548640"/>
          </a:xfrm>
          <a:prstGeom prst="rect">
            <a:avLst/>
          </a:prstGeom>
          <a:solidFill>
            <a:srgbClr val="F2F7FB"/>
          </a:solidFill>
          <a:ln>
            <a:noFill/>
          </a:ln>
        </p:spPr>
        <p:txBody>
          <a:bodyPr rtlCol="0" anchor="ctr"/>
          <a:lstStyle/>
          <a:p>
            <a:pPr algn="ctr"/>
          </a:p>
        </p:txBody>
      </p:sp>
      <p:sp>
        <p:nvSpPr>
          <p:cNvPr id="15" name="Rectangle 14"/>
          <p:cNvSpPr/>
          <p:nvPr/>
        </p:nvSpPr>
        <p:spPr>
          <a:xfrm>
            <a:off x="457200" y="2057400"/>
            <a:ext cx="11292840" cy="91440"/>
          </a:xfrm>
          <a:prstGeom prst="rect">
            <a:avLst/>
          </a:prstGeom>
          <a:solidFill>
            <a:srgbClr val="7C9A5B"/>
          </a:solidFill>
          <a:ln>
            <a:noFill/>
          </a:ln>
        </p:spPr>
        <p:txBody>
          <a:bodyPr rtlCol="0" anchor="ctr"/>
          <a:lstStyle/>
          <a:p>
            <a:pPr algn="ctr"/>
          </a:p>
        </p:txBody>
      </p:sp>
      <p:pic>
        <p:nvPicPr>
          <p:cNvPr id="16" name="Picture" descr="Rock texture"/>
          <p:cNvPicPr>
            <a:picLocks noChangeAspect="1"/>
          </p:cNvPicPr>
          <p:nvPr/>
        </p:nvPicPr>
        <p:blipFill>
          <a:blip r:embed="rId2"/>
          <a:srcRect l="212" r="679"/>
          <a:stretch>
            <a:fillRect/>
          </a:stretch>
        </p:blipFill>
        <p:spPr>
          <a:xfrm>
            <a:off x="457200" y="2148840"/>
            <a:ext cx="3773423" cy="640080"/>
          </a:xfrm>
          <a:prstGeom prst="rect">
            <a:avLst/>
          </a:prstGeom>
        </p:spPr>
      </p:pic>
      <p:pic>
        <p:nvPicPr>
          <p:cNvPr id="17" name="Picture" descr="Rock texture"/>
          <p:cNvPicPr>
            <a:picLocks noChangeAspect="1"/>
          </p:cNvPicPr>
          <p:nvPr/>
        </p:nvPicPr>
        <p:blipFill>
          <a:blip r:embed="rId2"/>
          <a:srcRect l="210" r="681"/>
          <a:stretch>
            <a:fillRect/>
          </a:stretch>
        </p:blipFill>
        <p:spPr>
          <a:xfrm>
            <a:off x="4221480" y="2148840"/>
            <a:ext cx="3773423" cy="640080"/>
          </a:xfrm>
          <a:prstGeom prst="rect">
            <a:avLst/>
          </a:prstGeom>
        </p:spPr>
      </p:pic>
      <p:pic>
        <p:nvPicPr>
          <p:cNvPr id="18" name="Picture" descr="Rock texture"/>
          <p:cNvPicPr>
            <a:picLocks noChangeAspect="1"/>
          </p:cNvPicPr>
          <p:nvPr/>
        </p:nvPicPr>
        <p:blipFill>
          <a:blip r:embed="rId2"/>
          <a:srcRect l="705" r="427"/>
          <a:stretch>
            <a:fillRect/>
          </a:stretch>
        </p:blipFill>
        <p:spPr>
          <a:xfrm>
            <a:off x="7985759" y="2148840"/>
            <a:ext cx="3764279" cy="640080"/>
          </a:xfrm>
          <a:prstGeom prst="rect">
            <a:avLst/>
          </a:prstGeom>
        </p:spPr>
      </p:pic>
      <p:sp>
        <p:nvSpPr>
          <p:cNvPr id="19" name="Rectangle 18"/>
          <p:cNvSpPr/>
          <p:nvPr/>
        </p:nvSpPr>
        <p:spPr>
          <a:xfrm>
            <a:off x="457200" y="2788920"/>
            <a:ext cx="11292840" cy="1554480"/>
          </a:xfrm>
          <a:prstGeom prst="rect">
            <a:avLst/>
          </a:prstGeom>
          <a:solidFill>
            <a:srgbClr val="F4F1EC"/>
          </a:solidFill>
          <a:ln>
            <a:noFill/>
          </a:ln>
        </p:spPr>
        <p:txBody>
          <a:bodyPr rtlCol="0" anchor="ctr"/>
          <a:lstStyle/>
          <a:p>
            <a:pPr algn="ctr"/>
          </a:p>
        </p:txBody>
      </p:sp>
      <p:sp>
        <p:nvSpPr>
          <p:cNvPr id="20" name="Rectangle 19"/>
          <p:cNvSpPr/>
          <p:nvPr/>
        </p:nvSpPr>
        <p:spPr>
          <a:xfrm>
            <a:off x="457200" y="4261104"/>
            <a:ext cx="11292840" cy="82296"/>
          </a:xfrm>
          <a:prstGeom prst="rect">
            <a:avLst/>
          </a:prstGeom>
          <a:solidFill>
            <a:srgbClr val="D8D2C6"/>
          </a:solidFill>
          <a:ln>
            <a:noFill/>
          </a:ln>
        </p:spPr>
        <p:txBody>
          <a:bodyPr rtlCol="0" anchor="ctr"/>
          <a:lstStyle/>
          <a:p>
            <a:pPr algn="ctr"/>
          </a:p>
        </p:txBody>
      </p:sp>
      <p:sp>
        <p:nvSpPr>
          <p:cNvPr id="21" name="Rectangle 20"/>
          <p:cNvSpPr/>
          <p:nvPr/>
        </p:nvSpPr>
        <p:spPr>
          <a:xfrm>
            <a:off x="457200" y="2788920"/>
            <a:ext cx="11292840" cy="36576"/>
          </a:xfrm>
          <a:prstGeom prst="rect">
            <a:avLst/>
          </a:prstGeom>
          <a:solidFill>
            <a:srgbClr val="7A6350"/>
          </a:solidFill>
          <a:ln>
            <a:noFill/>
          </a:ln>
        </p:spPr>
        <p:txBody>
          <a:bodyPr rtlCol="0" anchor="ctr"/>
          <a:lstStyle/>
          <a:p>
            <a:pPr algn="ctr"/>
          </a:p>
        </p:txBody>
      </p:sp>
      <p:pic>
        <p:nvPicPr>
          <p:cNvPr id="22" name="Picture" descr="Rock texture"/>
          <p:cNvPicPr>
            <a:picLocks noChangeAspect="1"/>
          </p:cNvPicPr>
          <p:nvPr/>
        </p:nvPicPr>
        <p:blipFill>
          <a:blip r:embed="rId2"/>
          <a:srcRect l="3011" r="10269"/>
          <a:stretch>
            <a:fillRect/>
          </a:stretch>
        </p:blipFill>
        <p:spPr>
          <a:xfrm>
            <a:off x="457200" y="4343400"/>
            <a:ext cx="3773423" cy="731520"/>
          </a:xfrm>
          <a:prstGeom prst="rect">
            <a:avLst/>
          </a:prstGeom>
        </p:spPr>
      </p:pic>
      <p:pic>
        <p:nvPicPr>
          <p:cNvPr id="23" name="Picture" descr="Rock texture"/>
          <p:cNvPicPr>
            <a:picLocks noChangeAspect="1"/>
          </p:cNvPicPr>
          <p:nvPr/>
        </p:nvPicPr>
        <p:blipFill>
          <a:blip r:embed="rId2"/>
          <a:srcRect l="6149" r="7131"/>
          <a:stretch>
            <a:fillRect/>
          </a:stretch>
        </p:blipFill>
        <p:spPr>
          <a:xfrm>
            <a:off x="4221480" y="4343400"/>
            <a:ext cx="3773423" cy="731520"/>
          </a:xfrm>
          <a:prstGeom prst="rect">
            <a:avLst/>
          </a:prstGeom>
        </p:spPr>
      </p:pic>
      <p:pic>
        <p:nvPicPr>
          <p:cNvPr id="24" name="Picture" descr="Rock texture"/>
          <p:cNvPicPr>
            <a:picLocks noChangeAspect="1"/>
          </p:cNvPicPr>
          <p:nvPr/>
        </p:nvPicPr>
        <p:blipFill>
          <a:blip r:embed="rId2"/>
          <a:srcRect l="7708" r="5782"/>
          <a:stretch>
            <a:fillRect/>
          </a:stretch>
        </p:blipFill>
        <p:spPr>
          <a:xfrm>
            <a:off x="7985759" y="4343400"/>
            <a:ext cx="3764279" cy="731520"/>
          </a:xfrm>
          <a:prstGeom prst="rect">
            <a:avLst/>
          </a:prstGeom>
        </p:spPr>
      </p:pic>
      <p:pic>
        <p:nvPicPr>
          <p:cNvPr id="25" name="Picture" descr="Monitoring dashboard"/>
          <p:cNvPicPr>
            <a:picLocks noChangeAspect="1"/>
          </p:cNvPicPr>
          <p:nvPr/>
        </p:nvPicPr>
        <p:blipFill>
          <a:blip r:embed="rId3"/>
          <a:stretch>
            <a:fillRect/>
          </a:stretch>
        </p:blipFill>
        <p:spPr>
          <a:xfrm>
            <a:off x="1097280" y="1591056"/>
            <a:ext cx="590525" cy="475488"/>
          </a:xfrm>
          <a:prstGeom prst="rect">
            <a:avLst/>
          </a:prstGeom>
        </p:spPr>
      </p:pic>
      <p:sp>
        <p:nvSpPr>
          <p:cNvPr id="26" name="TextBox 25"/>
          <p:cNvSpPr txBox="1"/>
          <p:nvPr/>
        </p:nvSpPr>
        <p:spPr>
          <a:xfrm>
            <a:off x="2377440" y="1627632"/>
            <a:ext cx="2194560" cy="365760"/>
          </a:xfrm>
          <a:prstGeom prst="rect">
            <a:avLst/>
          </a:prstGeom>
          <a:noFill/>
        </p:spPr>
        <p:txBody>
          <a:bodyPr wrap="square" lIns="45720" rIns="45720" tIns="27432" bIns="27432" anchor="t">
            <a:spAutoFit/>
          </a:bodyPr>
          <a:lstStyle/>
          <a:p>
            <a:pPr algn="l"/>
            <a:r>
              <a:rPr sz="1400" b="1" i="0">
                <a:solidFill>
                  <a:srgbClr val="1B3A4B"/>
                </a:solidFill>
                <a:latin typeface="Calibri"/>
              </a:rPr>
              <a:t>Surface control room</a:t>
            </a:r>
          </a:p>
        </p:txBody>
      </p:sp>
      <p:cxnSp>
        <p:nvCxnSpPr>
          <p:cNvPr id="27" name="Connector 26"/>
          <p:cNvCxnSpPr/>
          <p:nvPr/>
        </p:nvCxnSpPr>
        <p:spPr>
          <a:xfrm>
            <a:off x="1600200" y="2148840"/>
            <a:ext cx="0" cy="1920240"/>
          </a:xfrm>
          <a:prstGeom prst="line">
            <a:avLst/>
          </a:prstGeom>
          <a:ln w="28575">
            <a:solidFill>
              <a:srgbClr val="6B7780"/>
            </a:solidFill>
          </a:ln>
        </p:spPr>
      </p:cxnSp>
      <p:cxnSp>
        <p:nvCxnSpPr>
          <p:cNvPr id="28" name="Connector 27"/>
          <p:cNvCxnSpPr/>
          <p:nvPr/>
        </p:nvCxnSpPr>
        <p:spPr>
          <a:xfrm>
            <a:off x="1600200" y="4069080"/>
            <a:ext cx="3337560" cy="0"/>
          </a:xfrm>
          <a:prstGeom prst="line">
            <a:avLst/>
          </a:prstGeom>
          <a:ln w="28575">
            <a:solidFill>
              <a:srgbClr val="6B7780"/>
            </a:solidFill>
          </a:ln>
        </p:spPr>
      </p:cxnSp>
      <p:cxnSp>
        <p:nvCxnSpPr>
          <p:cNvPr id="29" name="Connector 28"/>
          <p:cNvCxnSpPr/>
          <p:nvPr/>
        </p:nvCxnSpPr>
        <p:spPr>
          <a:xfrm>
            <a:off x="6126480" y="4069080"/>
            <a:ext cx="4389120" cy="0"/>
          </a:xfrm>
          <a:prstGeom prst="line">
            <a:avLst/>
          </a:prstGeom>
          <a:ln w="28575">
            <a:solidFill>
              <a:srgbClr val="6B7780"/>
            </a:solidFill>
            <a:prstDash val="dash"/>
          </a:ln>
        </p:spPr>
      </p:cxnSp>
      <p:sp>
        <p:nvSpPr>
          <p:cNvPr id="30" name="Rounded Rectangle 29"/>
          <p:cNvSpPr/>
          <p:nvPr/>
        </p:nvSpPr>
        <p:spPr>
          <a:xfrm>
            <a:off x="5452573" y="3795994"/>
            <a:ext cx="260270" cy="341356"/>
          </a:xfrm>
          <a:prstGeom prst="roundRect">
            <a:avLst>
              <a:gd name="adj" fmla="val 30000"/>
            </a:avLst>
          </a:prstGeom>
          <a:solidFill>
            <a:srgbClr val="7A6A58"/>
          </a:solidFill>
          <a:ln>
            <a:noFill/>
          </a:ln>
        </p:spPr>
        <p:txBody>
          <a:bodyPr rtlCol="0" anchor="ctr"/>
          <a:lstStyle/>
          <a:p>
            <a:pPr algn="ctr"/>
          </a:p>
        </p:txBody>
      </p:sp>
      <p:sp>
        <p:nvSpPr>
          <p:cNvPr id="31" name="Rounded Rectangle 30"/>
          <p:cNvSpPr/>
          <p:nvPr/>
        </p:nvSpPr>
        <p:spPr>
          <a:xfrm>
            <a:off x="5338564" y="3729858"/>
            <a:ext cx="366834" cy="243966"/>
          </a:xfrm>
          <a:prstGeom prst="roundRect">
            <a:avLst>
              <a:gd name="adj" fmla="val 30000"/>
            </a:avLst>
          </a:prstGeom>
          <a:solidFill>
            <a:srgbClr val="6B5D4D"/>
          </a:solidFill>
          <a:ln>
            <a:noFill/>
          </a:ln>
        </p:spPr>
        <p:txBody>
          <a:bodyPr rtlCol="0" anchor="ctr"/>
          <a:lstStyle/>
          <a:p>
            <a:pPr algn="ctr"/>
          </a:p>
        </p:txBody>
      </p:sp>
      <p:sp>
        <p:nvSpPr>
          <p:cNvPr id="32" name="Rounded Rectangle 31"/>
          <p:cNvSpPr/>
          <p:nvPr/>
        </p:nvSpPr>
        <p:spPr>
          <a:xfrm>
            <a:off x="5669369" y="3536392"/>
            <a:ext cx="267328" cy="355923"/>
          </a:xfrm>
          <a:prstGeom prst="roundRect">
            <a:avLst>
              <a:gd name="adj" fmla="val 30000"/>
            </a:avLst>
          </a:prstGeom>
          <a:solidFill>
            <a:srgbClr val="6B5D4D"/>
          </a:solidFill>
          <a:ln>
            <a:noFill/>
          </a:ln>
        </p:spPr>
        <p:txBody>
          <a:bodyPr rtlCol="0" anchor="ctr"/>
          <a:lstStyle/>
          <a:p>
            <a:pPr algn="ctr"/>
          </a:p>
        </p:txBody>
      </p:sp>
      <p:sp>
        <p:nvSpPr>
          <p:cNvPr id="33" name="Rounded Rectangle 32"/>
          <p:cNvSpPr/>
          <p:nvPr/>
        </p:nvSpPr>
        <p:spPr>
          <a:xfrm>
            <a:off x="5415613" y="3945871"/>
            <a:ext cx="240334" cy="207097"/>
          </a:xfrm>
          <a:prstGeom prst="roundRect">
            <a:avLst>
              <a:gd name="adj" fmla="val 30000"/>
            </a:avLst>
          </a:prstGeom>
          <a:solidFill>
            <a:srgbClr val="6B5D4D"/>
          </a:solidFill>
          <a:ln>
            <a:noFill/>
          </a:ln>
        </p:spPr>
        <p:txBody>
          <a:bodyPr rtlCol="0" anchor="ctr"/>
          <a:lstStyle/>
          <a:p>
            <a:pPr algn="ctr"/>
          </a:p>
        </p:txBody>
      </p:sp>
      <p:sp>
        <p:nvSpPr>
          <p:cNvPr id="34" name="Rounded Rectangle 33"/>
          <p:cNvSpPr/>
          <p:nvPr/>
        </p:nvSpPr>
        <p:spPr>
          <a:xfrm>
            <a:off x="5087106" y="3565471"/>
            <a:ext cx="409101" cy="345142"/>
          </a:xfrm>
          <a:prstGeom prst="roundRect">
            <a:avLst>
              <a:gd name="adj" fmla="val 30000"/>
            </a:avLst>
          </a:prstGeom>
          <a:solidFill>
            <a:srgbClr val="8A7A66"/>
          </a:solidFill>
          <a:ln>
            <a:noFill/>
          </a:ln>
        </p:spPr>
        <p:txBody>
          <a:bodyPr rtlCol="0" anchor="ctr"/>
          <a:lstStyle/>
          <a:p>
            <a:pPr algn="ctr"/>
          </a:p>
        </p:txBody>
      </p:sp>
      <p:sp>
        <p:nvSpPr>
          <p:cNvPr id="35" name="Rounded Rectangle 34"/>
          <p:cNvSpPr/>
          <p:nvPr/>
        </p:nvSpPr>
        <p:spPr>
          <a:xfrm>
            <a:off x="5216615" y="3904999"/>
            <a:ext cx="409878" cy="345565"/>
          </a:xfrm>
          <a:prstGeom prst="roundRect">
            <a:avLst>
              <a:gd name="adj" fmla="val 30000"/>
            </a:avLst>
          </a:prstGeom>
          <a:solidFill>
            <a:srgbClr val="8A7A66"/>
          </a:solidFill>
          <a:ln>
            <a:noFill/>
          </a:ln>
        </p:spPr>
        <p:txBody>
          <a:bodyPr rtlCol="0" anchor="ctr"/>
          <a:lstStyle/>
          <a:p>
            <a:pPr algn="ctr"/>
          </a:p>
        </p:txBody>
      </p:sp>
      <p:sp>
        <p:nvSpPr>
          <p:cNvPr id="36" name="Rounded Rectangle 35"/>
          <p:cNvSpPr/>
          <p:nvPr/>
        </p:nvSpPr>
        <p:spPr>
          <a:xfrm>
            <a:off x="5862565" y="3779000"/>
            <a:ext cx="306703" cy="190779"/>
          </a:xfrm>
          <a:prstGeom prst="roundRect">
            <a:avLst>
              <a:gd name="adj" fmla="val 30000"/>
            </a:avLst>
          </a:prstGeom>
          <a:solidFill>
            <a:srgbClr val="6B5D4D"/>
          </a:solidFill>
          <a:ln>
            <a:noFill/>
          </a:ln>
        </p:spPr>
        <p:txBody>
          <a:bodyPr rtlCol="0" anchor="ctr"/>
          <a:lstStyle/>
          <a:p>
            <a:pPr algn="ctr"/>
          </a:p>
        </p:txBody>
      </p:sp>
      <p:sp>
        <p:nvSpPr>
          <p:cNvPr id="37" name="Rounded Rectangle 36"/>
          <p:cNvSpPr/>
          <p:nvPr/>
        </p:nvSpPr>
        <p:spPr>
          <a:xfrm>
            <a:off x="5839723" y="3425800"/>
            <a:ext cx="241124" cy="252157"/>
          </a:xfrm>
          <a:prstGeom prst="roundRect">
            <a:avLst>
              <a:gd name="adj" fmla="val 30000"/>
            </a:avLst>
          </a:prstGeom>
          <a:solidFill>
            <a:srgbClr val="8A7A66"/>
          </a:solidFill>
          <a:ln>
            <a:noFill/>
          </a:ln>
        </p:spPr>
        <p:txBody>
          <a:bodyPr rtlCol="0" anchor="ctr"/>
          <a:lstStyle/>
          <a:p>
            <a:pPr algn="ctr"/>
          </a:p>
        </p:txBody>
      </p:sp>
      <p:sp>
        <p:nvSpPr>
          <p:cNvPr id="38" name="Rounded Rectangle 37"/>
          <p:cNvSpPr/>
          <p:nvPr/>
        </p:nvSpPr>
        <p:spPr>
          <a:xfrm>
            <a:off x="5156432" y="3895904"/>
            <a:ext cx="396903" cy="338461"/>
          </a:xfrm>
          <a:prstGeom prst="roundRect">
            <a:avLst>
              <a:gd name="adj" fmla="val 30000"/>
            </a:avLst>
          </a:prstGeom>
          <a:solidFill>
            <a:srgbClr val="6B5D4D"/>
          </a:solidFill>
          <a:ln>
            <a:noFill/>
          </a:ln>
        </p:spPr>
        <p:txBody>
          <a:bodyPr rtlCol="0" anchor="ctr"/>
          <a:lstStyle/>
          <a:p>
            <a:pPr algn="ctr"/>
          </a:p>
        </p:txBody>
      </p:sp>
      <p:sp>
        <p:nvSpPr>
          <p:cNvPr id="39" name="Rounded Rectangle 38"/>
          <p:cNvSpPr/>
          <p:nvPr/>
        </p:nvSpPr>
        <p:spPr>
          <a:xfrm>
            <a:off x="5032742" y="3509933"/>
            <a:ext cx="273787" cy="338729"/>
          </a:xfrm>
          <a:prstGeom prst="roundRect">
            <a:avLst>
              <a:gd name="adj" fmla="val 30000"/>
            </a:avLst>
          </a:prstGeom>
          <a:solidFill>
            <a:srgbClr val="8A7A66"/>
          </a:solidFill>
          <a:ln>
            <a:noFill/>
          </a:ln>
        </p:spPr>
        <p:txBody>
          <a:bodyPr rtlCol="0" anchor="ctr"/>
          <a:lstStyle/>
          <a:p>
            <a:pPr algn="ctr"/>
          </a:p>
        </p:txBody>
      </p:sp>
      <p:sp>
        <p:nvSpPr>
          <p:cNvPr id="40" name="Rounded Rectangle 39"/>
          <p:cNvSpPr/>
          <p:nvPr/>
        </p:nvSpPr>
        <p:spPr>
          <a:xfrm>
            <a:off x="5036746" y="4007995"/>
            <a:ext cx="351991" cy="186073"/>
          </a:xfrm>
          <a:prstGeom prst="roundRect">
            <a:avLst>
              <a:gd name="adj" fmla="val 30000"/>
            </a:avLst>
          </a:prstGeom>
          <a:solidFill>
            <a:srgbClr val="7A6A58"/>
          </a:solidFill>
          <a:ln>
            <a:noFill/>
          </a:ln>
        </p:spPr>
        <p:txBody>
          <a:bodyPr rtlCol="0" anchor="ctr"/>
          <a:lstStyle/>
          <a:p>
            <a:pPr algn="ctr"/>
          </a:p>
        </p:txBody>
      </p:sp>
      <p:sp>
        <p:nvSpPr>
          <p:cNvPr id="41" name="Rounded Rectangle 40"/>
          <p:cNvSpPr/>
          <p:nvPr/>
        </p:nvSpPr>
        <p:spPr>
          <a:xfrm>
            <a:off x="5553131" y="3675823"/>
            <a:ext cx="273902" cy="195465"/>
          </a:xfrm>
          <a:prstGeom prst="roundRect">
            <a:avLst>
              <a:gd name="adj" fmla="val 30000"/>
            </a:avLst>
          </a:prstGeom>
          <a:solidFill>
            <a:srgbClr val="7A6A58"/>
          </a:solidFill>
          <a:ln>
            <a:noFill/>
          </a:ln>
        </p:spPr>
        <p:txBody>
          <a:bodyPr rtlCol="0" anchor="ctr"/>
          <a:lstStyle/>
          <a:p>
            <a:pPr algn="ctr"/>
          </a:p>
        </p:txBody>
      </p:sp>
      <p:sp>
        <p:nvSpPr>
          <p:cNvPr id="42" name="Rounded Rectangle 41"/>
          <p:cNvSpPr/>
          <p:nvPr/>
        </p:nvSpPr>
        <p:spPr>
          <a:xfrm>
            <a:off x="5613243" y="4000743"/>
            <a:ext cx="361142" cy="214436"/>
          </a:xfrm>
          <a:prstGeom prst="roundRect">
            <a:avLst>
              <a:gd name="adj" fmla="val 30000"/>
            </a:avLst>
          </a:prstGeom>
          <a:solidFill>
            <a:srgbClr val="6B5D4D"/>
          </a:solidFill>
          <a:ln>
            <a:noFill/>
          </a:ln>
        </p:spPr>
        <p:txBody>
          <a:bodyPr rtlCol="0" anchor="ctr"/>
          <a:lstStyle/>
          <a:p>
            <a:pPr algn="ctr"/>
          </a:p>
        </p:txBody>
      </p:sp>
      <p:sp>
        <p:nvSpPr>
          <p:cNvPr id="43" name="Rounded Rectangle 42"/>
          <p:cNvSpPr/>
          <p:nvPr/>
        </p:nvSpPr>
        <p:spPr>
          <a:xfrm>
            <a:off x="5687234" y="4038941"/>
            <a:ext cx="290320" cy="307828"/>
          </a:xfrm>
          <a:prstGeom prst="roundRect">
            <a:avLst>
              <a:gd name="adj" fmla="val 30000"/>
            </a:avLst>
          </a:prstGeom>
          <a:solidFill>
            <a:srgbClr val="7A6A58"/>
          </a:solidFill>
          <a:ln>
            <a:noFill/>
          </a:ln>
        </p:spPr>
        <p:txBody>
          <a:bodyPr rtlCol="0" anchor="ctr"/>
          <a:lstStyle/>
          <a:p>
            <a:pPr algn="ctr"/>
          </a:p>
        </p:txBody>
      </p:sp>
      <p:sp>
        <p:nvSpPr>
          <p:cNvPr id="44" name="Rounded Rectangle 43"/>
          <p:cNvSpPr/>
          <p:nvPr/>
        </p:nvSpPr>
        <p:spPr>
          <a:xfrm>
            <a:off x="5029200" y="4023360"/>
            <a:ext cx="1097280" cy="228600"/>
          </a:xfrm>
          <a:prstGeom prst="roundRect">
            <a:avLst>
              <a:gd name="adj" fmla="val 30000"/>
            </a:avLst>
          </a:prstGeom>
          <a:solidFill>
            <a:srgbClr val="6B5D4D"/>
          </a:solidFill>
          <a:ln>
            <a:noFill/>
          </a:ln>
        </p:spPr>
        <p:txBody>
          <a:bodyPr rtlCol="0" anchor="ctr"/>
          <a:lstStyle/>
          <a:p>
            <a:pPr algn="ctr"/>
          </a:p>
        </p:txBody>
      </p:sp>
      <p:sp>
        <p:nvSpPr>
          <p:cNvPr id="45" name="Oval 44"/>
          <p:cNvSpPr/>
          <p:nvPr/>
        </p:nvSpPr>
        <p:spPr>
          <a:xfrm>
            <a:off x="5349240" y="3749040"/>
            <a:ext cx="457200" cy="457200"/>
          </a:xfrm>
          <a:prstGeom prst="ellipse">
            <a:avLst/>
          </a:prstGeom>
          <a:solidFill>
            <a:srgbClr val="C8402A"/>
          </a:solidFill>
          <a:ln>
            <a:noFill/>
          </a:ln>
        </p:spPr>
        <p:txBody>
          <a:bodyPr rtlCol="0" anchor="ctr" lIns="36576" rIns="36576" tIns="0" bIns="0" wrap="square"/>
          <a:lstStyle/>
          <a:p>
            <a:pPr algn="ctr"/>
            <a:r>
              <a:rPr sz="1600" b="1">
                <a:solidFill>
                  <a:srgbClr val="FFFFFF"/>
                </a:solidFill>
                <a:latin typeface="Calibri"/>
              </a:rPr>
              <a:t>✕</a:t>
            </a:r>
          </a:p>
        </p:txBody>
      </p:sp>
      <p:sp>
        <p:nvSpPr>
          <p:cNvPr id="46" name="Rounded Rectangle 45"/>
          <p:cNvSpPr/>
          <p:nvPr/>
        </p:nvSpPr>
        <p:spPr>
          <a:xfrm>
            <a:off x="10597896" y="3749040"/>
            <a:ext cx="201168" cy="341985"/>
          </a:xfrm>
          <a:prstGeom prst="roundRect">
            <a:avLst>
              <a:gd name="adj" fmla="val 30000"/>
            </a:avLst>
          </a:prstGeom>
          <a:solidFill>
            <a:srgbClr val="ED7D31"/>
          </a:solidFill>
          <a:ln>
            <a:noFill/>
          </a:ln>
        </p:spPr>
        <p:txBody>
          <a:bodyPr rtlCol="0" anchor="ctr"/>
          <a:lstStyle/>
          <a:p>
            <a:pPr algn="ctr"/>
          </a:p>
        </p:txBody>
      </p:sp>
      <p:sp>
        <p:nvSpPr>
          <p:cNvPr id="47" name="Rectangle 46"/>
          <p:cNvSpPr/>
          <p:nvPr/>
        </p:nvSpPr>
        <p:spPr>
          <a:xfrm>
            <a:off x="10628071" y="4080967"/>
            <a:ext cx="60350" cy="170992"/>
          </a:xfrm>
          <a:prstGeom prst="rect">
            <a:avLst/>
          </a:prstGeom>
          <a:solidFill>
            <a:srgbClr val="0071C1"/>
          </a:solidFill>
          <a:ln>
            <a:noFill/>
          </a:ln>
        </p:spPr>
        <p:txBody>
          <a:bodyPr rtlCol="0" anchor="ctr"/>
          <a:lstStyle/>
          <a:p>
            <a:pPr algn="ctr"/>
          </a:p>
        </p:txBody>
      </p:sp>
      <p:sp>
        <p:nvSpPr>
          <p:cNvPr id="48" name="Rectangle 47"/>
          <p:cNvSpPr/>
          <p:nvPr/>
        </p:nvSpPr>
        <p:spPr>
          <a:xfrm>
            <a:off x="10708538" y="4080967"/>
            <a:ext cx="60350" cy="170992"/>
          </a:xfrm>
          <a:prstGeom prst="rect">
            <a:avLst/>
          </a:prstGeom>
          <a:solidFill>
            <a:srgbClr val="0071C1"/>
          </a:solidFill>
          <a:ln>
            <a:noFill/>
          </a:ln>
        </p:spPr>
        <p:txBody>
          <a:bodyPr rtlCol="0" anchor="ctr"/>
          <a:lstStyle/>
          <a:p>
            <a:pPr algn="ctr"/>
          </a:p>
        </p:txBody>
      </p:sp>
      <p:sp>
        <p:nvSpPr>
          <p:cNvPr id="49" name="Oval 48"/>
          <p:cNvSpPr/>
          <p:nvPr/>
        </p:nvSpPr>
        <p:spPr>
          <a:xfrm>
            <a:off x="10623042" y="3608222"/>
            <a:ext cx="150876" cy="150876"/>
          </a:xfrm>
          <a:prstGeom prst="ellipse">
            <a:avLst/>
          </a:prstGeom>
          <a:solidFill>
            <a:srgbClr val="E7B98F"/>
          </a:solidFill>
          <a:ln>
            <a:noFill/>
          </a:ln>
        </p:spPr>
        <p:txBody>
          <a:bodyPr rtlCol="0" anchor="ctr"/>
          <a:lstStyle/>
          <a:p>
            <a:pPr algn="ctr"/>
          </a:p>
        </p:txBody>
      </p:sp>
      <p:sp>
        <p:nvSpPr>
          <p:cNvPr id="50" name="Oval 49"/>
          <p:cNvSpPr/>
          <p:nvPr/>
        </p:nvSpPr>
        <p:spPr>
          <a:xfrm>
            <a:off x="10597896" y="3567988"/>
            <a:ext cx="201168" cy="100584"/>
          </a:xfrm>
          <a:prstGeom prst="ellipse">
            <a:avLst/>
          </a:prstGeom>
          <a:solidFill>
            <a:srgbClr val="D99A2B"/>
          </a:solidFill>
          <a:ln>
            <a:noFill/>
          </a:ln>
        </p:spPr>
        <p:txBody>
          <a:bodyPr rtlCol="0" anchor="ctr"/>
          <a:lstStyle/>
          <a:p>
            <a:pPr algn="ctr"/>
          </a:p>
        </p:txBody>
      </p:sp>
      <p:sp>
        <p:nvSpPr>
          <p:cNvPr id="51" name="Rounded Rectangle 50"/>
          <p:cNvSpPr/>
          <p:nvPr/>
        </p:nvSpPr>
        <p:spPr>
          <a:xfrm>
            <a:off x="11064240" y="3794760"/>
            <a:ext cx="182880" cy="310896"/>
          </a:xfrm>
          <a:prstGeom prst="roundRect">
            <a:avLst>
              <a:gd name="adj" fmla="val 30000"/>
            </a:avLst>
          </a:prstGeom>
          <a:solidFill>
            <a:srgbClr val="ED7D31"/>
          </a:solidFill>
          <a:ln>
            <a:noFill/>
          </a:ln>
        </p:spPr>
        <p:txBody>
          <a:bodyPr rtlCol="0" anchor="ctr"/>
          <a:lstStyle/>
          <a:p>
            <a:pPr algn="ctr"/>
          </a:p>
        </p:txBody>
      </p:sp>
      <p:sp>
        <p:nvSpPr>
          <p:cNvPr id="52" name="Rectangle 51"/>
          <p:cNvSpPr/>
          <p:nvPr/>
        </p:nvSpPr>
        <p:spPr>
          <a:xfrm>
            <a:off x="11091672" y="4096512"/>
            <a:ext cx="54864" cy="155448"/>
          </a:xfrm>
          <a:prstGeom prst="rect">
            <a:avLst/>
          </a:prstGeom>
          <a:solidFill>
            <a:srgbClr val="0071C1"/>
          </a:solidFill>
          <a:ln>
            <a:noFill/>
          </a:ln>
        </p:spPr>
        <p:txBody>
          <a:bodyPr rtlCol="0" anchor="ctr"/>
          <a:lstStyle/>
          <a:p>
            <a:pPr algn="ctr"/>
          </a:p>
        </p:txBody>
      </p:sp>
      <p:sp>
        <p:nvSpPr>
          <p:cNvPr id="53" name="Rectangle 52"/>
          <p:cNvSpPr/>
          <p:nvPr/>
        </p:nvSpPr>
        <p:spPr>
          <a:xfrm>
            <a:off x="11164824" y="4096512"/>
            <a:ext cx="54864" cy="155448"/>
          </a:xfrm>
          <a:prstGeom prst="rect">
            <a:avLst/>
          </a:prstGeom>
          <a:solidFill>
            <a:srgbClr val="0071C1"/>
          </a:solidFill>
          <a:ln>
            <a:noFill/>
          </a:ln>
        </p:spPr>
        <p:txBody>
          <a:bodyPr rtlCol="0" anchor="ctr"/>
          <a:lstStyle/>
          <a:p>
            <a:pPr algn="ctr"/>
          </a:p>
        </p:txBody>
      </p:sp>
      <p:sp>
        <p:nvSpPr>
          <p:cNvPr id="54" name="Oval 53"/>
          <p:cNvSpPr/>
          <p:nvPr/>
        </p:nvSpPr>
        <p:spPr>
          <a:xfrm>
            <a:off x="11087100" y="3666744"/>
            <a:ext cx="137160" cy="137160"/>
          </a:xfrm>
          <a:prstGeom prst="ellipse">
            <a:avLst/>
          </a:prstGeom>
          <a:solidFill>
            <a:srgbClr val="E7B98F"/>
          </a:solidFill>
          <a:ln>
            <a:noFill/>
          </a:ln>
        </p:spPr>
        <p:txBody>
          <a:bodyPr rtlCol="0" anchor="ctr"/>
          <a:lstStyle/>
          <a:p>
            <a:pPr algn="ctr"/>
          </a:p>
        </p:txBody>
      </p:sp>
      <p:sp>
        <p:nvSpPr>
          <p:cNvPr id="55" name="Oval 54"/>
          <p:cNvSpPr/>
          <p:nvPr/>
        </p:nvSpPr>
        <p:spPr>
          <a:xfrm>
            <a:off x="11064240" y="3630168"/>
            <a:ext cx="182880" cy="91440"/>
          </a:xfrm>
          <a:prstGeom prst="ellipse">
            <a:avLst/>
          </a:prstGeom>
          <a:solidFill>
            <a:srgbClr val="D99A2B"/>
          </a:solidFill>
          <a:ln>
            <a:noFill/>
          </a:ln>
        </p:spPr>
        <p:txBody>
          <a:bodyPr rtlCol="0" anchor="ctr"/>
          <a:lstStyle/>
          <a:p>
            <a:pPr algn="ctr"/>
          </a:p>
        </p:txBody>
      </p:sp>
      <p:pic>
        <p:nvPicPr>
          <p:cNvPr id="56" name="Picture" descr="Rock texture"/>
          <p:cNvPicPr>
            <a:picLocks noChangeAspect="1"/>
          </p:cNvPicPr>
          <p:nvPr/>
        </p:nvPicPr>
        <p:blipFill>
          <a:blip r:embed="rId2"/>
          <a:srcRect l="60442" r="36591"/>
          <a:stretch>
            <a:fillRect/>
          </a:stretch>
        </p:blipFill>
        <p:spPr>
          <a:xfrm>
            <a:off x="11475720" y="2788920"/>
            <a:ext cx="274320" cy="1554480"/>
          </a:xfrm>
          <a:prstGeom prst="rect">
            <a:avLst/>
          </a:prstGeom>
        </p:spPr>
      </p:pic>
      <p:sp>
        <p:nvSpPr>
          <p:cNvPr id="57" name="Rounded Rectangle 56"/>
          <p:cNvSpPr/>
          <p:nvPr/>
        </p:nvSpPr>
        <p:spPr>
          <a:xfrm>
            <a:off x="2743200" y="2423160"/>
            <a:ext cx="228600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Wi-Fi, LTE: no signal in rock</a:t>
            </a:r>
          </a:p>
        </p:txBody>
      </p:sp>
      <p:sp>
        <p:nvSpPr>
          <p:cNvPr id="58" name="Rounded Rectangle 57"/>
          <p:cNvSpPr/>
          <p:nvPr/>
        </p:nvSpPr>
        <p:spPr>
          <a:xfrm>
            <a:off x="5029200" y="2423160"/>
            <a:ext cx="2468880" cy="566928"/>
          </a:xfrm>
          <a:prstGeom prst="roundRect">
            <a:avLst>
              <a:gd name="adj" fmla="val 15000"/>
            </a:avLst>
          </a:prstGeom>
          <a:solidFill>
            <a:srgbClr val="FFFFFF"/>
          </a:solidFill>
          <a:ln w="15875">
            <a:solidFill>
              <a:srgbClr val="C8402A"/>
            </a:solidFill>
          </a:ln>
        </p:spPr>
        <p:txBody>
          <a:bodyPr rtlCol="0" anchor="ctr" lIns="36576" rIns="36576" tIns="0" bIns="0" wrap="square"/>
          <a:lstStyle/>
          <a:p>
            <a:pPr algn="ctr"/>
            <a:r>
              <a:rPr sz="1400" b="1">
                <a:solidFill>
                  <a:srgbClr val="C8402A"/>
                </a:solidFill>
                <a:latin typeface="Calibri"/>
              </a:rPr>
              <a:t>Cable cut by fall, water, machines</a:t>
            </a:r>
          </a:p>
        </p:txBody>
      </p:sp>
      <p:sp>
        <p:nvSpPr>
          <p:cNvPr id="59" name="Rounded Rectangle 58"/>
          <p:cNvSpPr/>
          <p:nvPr/>
        </p:nvSpPr>
        <p:spPr>
          <a:xfrm>
            <a:off x="7772400" y="2423160"/>
            <a:ext cx="256032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Voice and text do not show the face</a:t>
            </a:r>
          </a:p>
        </p:txBody>
      </p:sp>
      <p:sp>
        <p:nvSpPr>
          <p:cNvPr id="60" name="Oval 59"/>
          <p:cNvSpPr/>
          <p:nvPr/>
        </p:nvSpPr>
        <p:spPr>
          <a:xfrm>
            <a:off x="7153475" y="3597023"/>
            <a:ext cx="63226" cy="63226"/>
          </a:xfrm>
          <a:prstGeom prst="ellipse">
            <a:avLst/>
          </a:prstGeom>
          <a:solidFill>
            <a:srgbClr val="B08968">
              <a:alpha val="85000"/>
            </a:srgbClr>
          </a:solidFill>
          <a:ln>
            <a:noFill/>
          </a:ln>
        </p:spPr>
        <p:txBody>
          <a:bodyPr rtlCol="0" anchor="ctr"/>
          <a:lstStyle/>
          <a:p>
            <a:pPr algn="ctr"/>
          </a:p>
        </p:txBody>
      </p:sp>
      <p:sp>
        <p:nvSpPr>
          <p:cNvPr id="61" name="Oval 60"/>
          <p:cNvSpPr/>
          <p:nvPr/>
        </p:nvSpPr>
        <p:spPr>
          <a:xfrm>
            <a:off x="8796035" y="3917294"/>
            <a:ext cx="44322" cy="44322"/>
          </a:xfrm>
          <a:prstGeom prst="ellipse">
            <a:avLst/>
          </a:prstGeom>
          <a:solidFill>
            <a:srgbClr val="9C7A5B">
              <a:alpha val="55000"/>
            </a:srgbClr>
          </a:solidFill>
          <a:ln>
            <a:noFill/>
          </a:ln>
        </p:spPr>
        <p:txBody>
          <a:bodyPr rtlCol="0" anchor="ctr"/>
          <a:lstStyle/>
          <a:p>
            <a:pPr algn="ctr"/>
          </a:p>
        </p:txBody>
      </p:sp>
      <p:sp>
        <p:nvSpPr>
          <p:cNvPr id="62" name="Oval 61"/>
          <p:cNvSpPr/>
          <p:nvPr/>
        </p:nvSpPr>
        <p:spPr>
          <a:xfrm>
            <a:off x="8171408" y="3121219"/>
            <a:ext cx="43649" cy="43649"/>
          </a:xfrm>
          <a:prstGeom prst="ellipse">
            <a:avLst/>
          </a:prstGeom>
          <a:solidFill>
            <a:srgbClr val="8B6B4E">
              <a:alpha val="55000"/>
            </a:srgbClr>
          </a:solidFill>
          <a:ln>
            <a:noFill/>
          </a:ln>
        </p:spPr>
        <p:txBody>
          <a:bodyPr rtlCol="0" anchor="ctr"/>
          <a:lstStyle/>
          <a:p>
            <a:pPr algn="ctr"/>
          </a:p>
        </p:txBody>
      </p:sp>
      <p:sp>
        <p:nvSpPr>
          <p:cNvPr id="63" name="Oval 62"/>
          <p:cNvSpPr/>
          <p:nvPr/>
        </p:nvSpPr>
        <p:spPr>
          <a:xfrm>
            <a:off x="7046186" y="3086859"/>
            <a:ext cx="104622" cy="104622"/>
          </a:xfrm>
          <a:prstGeom prst="ellipse">
            <a:avLst/>
          </a:prstGeom>
          <a:solidFill>
            <a:srgbClr val="B08968">
              <a:alpha val="85000"/>
            </a:srgbClr>
          </a:solidFill>
          <a:ln>
            <a:noFill/>
          </a:ln>
        </p:spPr>
        <p:txBody>
          <a:bodyPr rtlCol="0" anchor="ctr"/>
          <a:lstStyle/>
          <a:p>
            <a:pPr algn="ctr"/>
          </a:p>
        </p:txBody>
      </p:sp>
      <p:sp>
        <p:nvSpPr>
          <p:cNvPr id="64" name="Oval 63"/>
          <p:cNvSpPr/>
          <p:nvPr/>
        </p:nvSpPr>
        <p:spPr>
          <a:xfrm>
            <a:off x="6769923" y="3088812"/>
            <a:ext cx="84763" cy="84763"/>
          </a:xfrm>
          <a:prstGeom prst="ellipse">
            <a:avLst/>
          </a:prstGeom>
          <a:solidFill>
            <a:srgbClr val="9C7A5B">
              <a:alpha val="70000"/>
            </a:srgbClr>
          </a:solidFill>
          <a:ln>
            <a:noFill/>
          </a:ln>
        </p:spPr>
        <p:txBody>
          <a:bodyPr rtlCol="0" anchor="ctr"/>
          <a:lstStyle/>
          <a:p>
            <a:pPr algn="ctr"/>
          </a:p>
        </p:txBody>
      </p:sp>
      <p:sp>
        <p:nvSpPr>
          <p:cNvPr id="65" name="Oval 64"/>
          <p:cNvSpPr/>
          <p:nvPr/>
        </p:nvSpPr>
        <p:spPr>
          <a:xfrm>
            <a:off x="8621747" y="3498824"/>
            <a:ext cx="71069" cy="71069"/>
          </a:xfrm>
          <a:prstGeom prst="ellipse">
            <a:avLst/>
          </a:prstGeom>
          <a:solidFill>
            <a:srgbClr val="9C7A5B">
              <a:alpha val="55000"/>
            </a:srgbClr>
          </a:solidFill>
          <a:ln>
            <a:noFill/>
          </a:ln>
        </p:spPr>
        <p:txBody>
          <a:bodyPr rtlCol="0" anchor="ctr"/>
          <a:lstStyle/>
          <a:p>
            <a:pPr algn="ctr"/>
          </a:p>
        </p:txBody>
      </p:sp>
      <p:sp>
        <p:nvSpPr>
          <p:cNvPr id="66" name="Oval 65"/>
          <p:cNvSpPr/>
          <p:nvPr/>
        </p:nvSpPr>
        <p:spPr>
          <a:xfrm>
            <a:off x="8983464" y="3262897"/>
            <a:ext cx="84439" cy="84439"/>
          </a:xfrm>
          <a:prstGeom prst="ellipse">
            <a:avLst/>
          </a:prstGeom>
          <a:solidFill>
            <a:srgbClr val="B08968">
              <a:alpha val="85000"/>
            </a:srgbClr>
          </a:solidFill>
          <a:ln>
            <a:noFill/>
          </a:ln>
        </p:spPr>
        <p:txBody>
          <a:bodyPr rtlCol="0" anchor="ctr"/>
          <a:lstStyle/>
          <a:p>
            <a:pPr algn="ctr"/>
          </a:p>
        </p:txBody>
      </p:sp>
      <p:sp>
        <p:nvSpPr>
          <p:cNvPr id="67" name="Oval 66"/>
          <p:cNvSpPr/>
          <p:nvPr/>
        </p:nvSpPr>
        <p:spPr>
          <a:xfrm>
            <a:off x="7366116" y="3646329"/>
            <a:ext cx="41480" cy="41480"/>
          </a:xfrm>
          <a:prstGeom prst="ellipse">
            <a:avLst/>
          </a:prstGeom>
          <a:solidFill>
            <a:srgbClr val="8B6B4E">
              <a:alpha val="70000"/>
            </a:srgbClr>
          </a:solidFill>
          <a:ln>
            <a:noFill/>
          </a:ln>
        </p:spPr>
        <p:txBody>
          <a:bodyPr rtlCol="0" anchor="ctr"/>
          <a:lstStyle/>
          <a:p>
            <a:pPr algn="ctr"/>
          </a:p>
        </p:txBody>
      </p:sp>
      <p:sp>
        <p:nvSpPr>
          <p:cNvPr id="68" name="Oval 67"/>
          <p:cNvSpPr/>
          <p:nvPr/>
        </p:nvSpPr>
        <p:spPr>
          <a:xfrm>
            <a:off x="10060978" y="3253911"/>
            <a:ext cx="74893" cy="74893"/>
          </a:xfrm>
          <a:prstGeom prst="ellipse">
            <a:avLst/>
          </a:prstGeom>
          <a:solidFill>
            <a:srgbClr val="9C7A5B">
              <a:alpha val="55000"/>
            </a:srgbClr>
          </a:solidFill>
          <a:ln>
            <a:noFill/>
          </a:ln>
        </p:spPr>
        <p:txBody>
          <a:bodyPr rtlCol="0" anchor="ctr"/>
          <a:lstStyle/>
          <a:p>
            <a:pPr algn="ctr"/>
          </a:p>
        </p:txBody>
      </p:sp>
      <p:sp>
        <p:nvSpPr>
          <p:cNvPr id="69" name="Oval 68"/>
          <p:cNvSpPr/>
          <p:nvPr/>
        </p:nvSpPr>
        <p:spPr>
          <a:xfrm>
            <a:off x="7498158" y="3489678"/>
            <a:ext cx="94100" cy="94100"/>
          </a:xfrm>
          <a:prstGeom prst="ellipse">
            <a:avLst/>
          </a:prstGeom>
          <a:solidFill>
            <a:srgbClr val="8B6B4E">
              <a:alpha val="70000"/>
            </a:srgbClr>
          </a:solidFill>
          <a:ln>
            <a:noFill/>
          </a:ln>
        </p:spPr>
        <p:txBody>
          <a:bodyPr rtlCol="0" anchor="ctr"/>
          <a:lstStyle/>
          <a:p>
            <a:pPr algn="ctr"/>
          </a:p>
        </p:txBody>
      </p:sp>
      <p:sp>
        <p:nvSpPr>
          <p:cNvPr id="70" name="Oval 69"/>
          <p:cNvSpPr/>
          <p:nvPr/>
        </p:nvSpPr>
        <p:spPr>
          <a:xfrm>
            <a:off x="7661682" y="3949915"/>
            <a:ext cx="96606" cy="96606"/>
          </a:xfrm>
          <a:prstGeom prst="ellipse">
            <a:avLst/>
          </a:prstGeom>
          <a:solidFill>
            <a:srgbClr val="B08968">
              <a:alpha val="85000"/>
            </a:srgbClr>
          </a:solidFill>
          <a:ln>
            <a:noFill/>
          </a:ln>
        </p:spPr>
        <p:txBody>
          <a:bodyPr rtlCol="0" anchor="ctr"/>
          <a:lstStyle/>
          <a:p>
            <a:pPr algn="ctr"/>
          </a:p>
        </p:txBody>
      </p:sp>
      <p:sp>
        <p:nvSpPr>
          <p:cNvPr id="71" name="Oval 70"/>
          <p:cNvSpPr/>
          <p:nvPr/>
        </p:nvSpPr>
        <p:spPr>
          <a:xfrm>
            <a:off x="9437718" y="3011467"/>
            <a:ext cx="70985" cy="70985"/>
          </a:xfrm>
          <a:prstGeom prst="ellipse">
            <a:avLst/>
          </a:prstGeom>
          <a:solidFill>
            <a:srgbClr val="8B6B4E">
              <a:alpha val="70000"/>
            </a:srgbClr>
          </a:solidFill>
          <a:ln>
            <a:noFill/>
          </a:ln>
        </p:spPr>
        <p:txBody>
          <a:bodyPr rtlCol="0" anchor="ctr"/>
          <a:lstStyle/>
          <a:p>
            <a:pPr algn="ctr"/>
          </a:p>
        </p:txBody>
      </p:sp>
      <p:sp>
        <p:nvSpPr>
          <p:cNvPr id="72" name="Oval 71"/>
          <p:cNvSpPr/>
          <p:nvPr/>
        </p:nvSpPr>
        <p:spPr>
          <a:xfrm>
            <a:off x="9123352" y="3748024"/>
            <a:ext cx="39802" cy="39802"/>
          </a:xfrm>
          <a:prstGeom prst="ellipse">
            <a:avLst/>
          </a:prstGeom>
          <a:solidFill>
            <a:srgbClr val="C4A484">
              <a:alpha val="70000"/>
            </a:srgbClr>
          </a:solidFill>
          <a:ln>
            <a:noFill/>
          </a:ln>
        </p:spPr>
        <p:txBody>
          <a:bodyPr rtlCol="0" anchor="ctr"/>
          <a:lstStyle/>
          <a:p>
            <a:pPr algn="ctr"/>
          </a:p>
        </p:txBody>
      </p:sp>
      <p:sp>
        <p:nvSpPr>
          <p:cNvPr id="73" name="Oval 72"/>
          <p:cNvSpPr/>
          <p:nvPr/>
        </p:nvSpPr>
        <p:spPr>
          <a:xfrm>
            <a:off x="8810596" y="3496093"/>
            <a:ext cx="93796" cy="93796"/>
          </a:xfrm>
          <a:prstGeom prst="ellipse">
            <a:avLst/>
          </a:prstGeom>
          <a:solidFill>
            <a:srgbClr val="8B6B4E">
              <a:alpha val="55000"/>
            </a:srgbClr>
          </a:solidFill>
          <a:ln>
            <a:noFill/>
          </a:ln>
        </p:spPr>
        <p:txBody>
          <a:bodyPr rtlCol="0" anchor="ctr"/>
          <a:lstStyle/>
          <a:p>
            <a:pPr algn="ctr"/>
          </a:p>
        </p:txBody>
      </p:sp>
      <p:sp>
        <p:nvSpPr>
          <p:cNvPr id="74" name="Oval 73"/>
          <p:cNvSpPr/>
          <p:nvPr/>
        </p:nvSpPr>
        <p:spPr>
          <a:xfrm>
            <a:off x="10111854" y="3369772"/>
            <a:ext cx="105701" cy="105701"/>
          </a:xfrm>
          <a:prstGeom prst="ellipse">
            <a:avLst/>
          </a:prstGeom>
          <a:solidFill>
            <a:srgbClr val="B08968">
              <a:alpha val="55000"/>
            </a:srgbClr>
          </a:solidFill>
          <a:ln>
            <a:noFill/>
          </a:ln>
        </p:spPr>
        <p:txBody>
          <a:bodyPr rtlCol="0" anchor="ctr"/>
          <a:lstStyle/>
          <a:p>
            <a:pPr algn="ctr"/>
          </a:p>
        </p:txBody>
      </p:sp>
      <p:sp>
        <p:nvSpPr>
          <p:cNvPr id="75" name="Oval 74"/>
          <p:cNvSpPr/>
          <p:nvPr/>
        </p:nvSpPr>
        <p:spPr>
          <a:xfrm>
            <a:off x="7742767" y="3492165"/>
            <a:ext cx="96747" cy="96747"/>
          </a:xfrm>
          <a:prstGeom prst="ellipse">
            <a:avLst/>
          </a:prstGeom>
          <a:solidFill>
            <a:srgbClr val="8B6B4E">
              <a:alpha val="70000"/>
            </a:srgbClr>
          </a:solidFill>
          <a:ln>
            <a:noFill/>
          </a:ln>
        </p:spPr>
        <p:txBody>
          <a:bodyPr rtlCol="0" anchor="ctr"/>
          <a:lstStyle/>
          <a:p>
            <a:pPr algn="ctr"/>
          </a:p>
        </p:txBody>
      </p:sp>
      <p:sp>
        <p:nvSpPr>
          <p:cNvPr id="76" name="Oval 75"/>
          <p:cNvSpPr/>
          <p:nvPr/>
        </p:nvSpPr>
        <p:spPr>
          <a:xfrm>
            <a:off x="9905582" y="3229840"/>
            <a:ext cx="95551" cy="95551"/>
          </a:xfrm>
          <a:prstGeom prst="ellipse">
            <a:avLst/>
          </a:prstGeom>
          <a:solidFill>
            <a:srgbClr val="8B6B4E">
              <a:alpha val="70000"/>
            </a:srgbClr>
          </a:solidFill>
          <a:ln>
            <a:noFill/>
          </a:ln>
        </p:spPr>
        <p:txBody>
          <a:bodyPr rtlCol="0" anchor="ctr"/>
          <a:lstStyle/>
          <a:p>
            <a:pPr algn="ctr"/>
          </a:p>
        </p:txBody>
      </p:sp>
      <p:sp>
        <p:nvSpPr>
          <p:cNvPr id="77" name="Oval 76"/>
          <p:cNvSpPr/>
          <p:nvPr/>
        </p:nvSpPr>
        <p:spPr>
          <a:xfrm>
            <a:off x="7027481" y="2904444"/>
            <a:ext cx="50405" cy="50405"/>
          </a:xfrm>
          <a:prstGeom prst="ellipse">
            <a:avLst/>
          </a:prstGeom>
          <a:solidFill>
            <a:srgbClr val="C4A484">
              <a:alpha val="55000"/>
            </a:srgbClr>
          </a:solidFill>
          <a:ln>
            <a:noFill/>
          </a:ln>
        </p:spPr>
        <p:txBody>
          <a:bodyPr rtlCol="0" anchor="ctr"/>
          <a:lstStyle/>
          <a:p>
            <a:pPr algn="ctr"/>
          </a:p>
        </p:txBody>
      </p:sp>
      <p:sp>
        <p:nvSpPr>
          <p:cNvPr id="78" name="Oval 77"/>
          <p:cNvSpPr/>
          <p:nvPr/>
        </p:nvSpPr>
        <p:spPr>
          <a:xfrm>
            <a:off x="8073066" y="3877151"/>
            <a:ext cx="97340" cy="97340"/>
          </a:xfrm>
          <a:prstGeom prst="ellipse">
            <a:avLst/>
          </a:prstGeom>
          <a:solidFill>
            <a:srgbClr val="8B6B4E">
              <a:alpha val="55000"/>
            </a:srgbClr>
          </a:solidFill>
          <a:ln>
            <a:noFill/>
          </a:ln>
        </p:spPr>
        <p:txBody>
          <a:bodyPr rtlCol="0" anchor="ctr"/>
          <a:lstStyle/>
          <a:p>
            <a:pPr algn="ctr"/>
          </a:p>
        </p:txBody>
      </p:sp>
      <p:sp>
        <p:nvSpPr>
          <p:cNvPr id="79" name="Oval 78"/>
          <p:cNvSpPr/>
          <p:nvPr/>
        </p:nvSpPr>
        <p:spPr>
          <a:xfrm>
            <a:off x="8105997" y="3163649"/>
            <a:ext cx="50267" cy="50267"/>
          </a:xfrm>
          <a:prstGeom prst="ellipse">
            <a:avLst/>
          </a:prstGeom>
          <a:solidFill>
            <a:srgbClr val="9C7A5B">
              <a:alpha val="70000"/>
            </a:srgbClr>
          </a:solidFill>
          <a:ln>
            <a:noFill/>
          </a:ln>
        </p:spPr>
        <p:txBody>
          <a:bodyPr rtlCol="0" anchor="ctr"/>
          <a:lstStyle/>
          <a:p>
            <a:pPr algn="ctr"/>
          </a:p>
        </p:txBody>
      </p:sp>
      <p:sp>
        <p:nvSpPr>
          <p:cNvPr id="80" name="Oval 79"/>
          <p:cNvSpPr/>
          <p:nvPr/>
        </p:nvSpPr>
        <p:spPr>
          <a:xfrm>
            <a:off x="7622970" y="3302580"/>
            <a:ext cx="107678" cy="107678"/>
          </a:xfrm>
          <a:prstGeom prst="ellipse">
            <a:avLst/>
          </a:prstGeom>
          <a:solidFill>
            <a:srgbClr val="C4A484">
              <a:alpha val="85000"/>
            </a:srgbClr>
          </a:solidFill>
          <a:ln>
            <a:noFill/>
          </a:ln>
        </p:spPr>
        <p:txBody>
          <a:bodyPr rtlCol="0" anchor="ctr"/>
          <a:lstStyle/>
          <a:p>
            <a:pPr algn="ctr"/>
          </a:p>
        </p:txBody>
      </p:sp>
      <p:sp>
        <p:nvSpPr>
          <p:cNvPr id="81" name="Oval 80"/>
          <p:cNvSpPr/>
          <p:nvPr/>
        </p:nvSpPr>
        <p:spPr>
          <a:xfrm>
            <a:off x="10157107" y="3004440"/>
            <a:ext cx="109341" cy="109341"/>
          </a:xfrm>
          <a:prstGeom prst="ellipse">
            <a:avLst/>
          </a:prstGeom>
          <a:solidFill>
            <a:srgbClr val="9C7A5B">
              <a:alpha val="55000"/>
            </a:srgbClr>
          </a:solidFill>
          <a:ln>
            <a:noFill/>
          </a:ln>
        </p:spPr>
        <p:txBody>
          <a:bodyPr rtlCol="0" anchor="ctr"/>
          <a:lstStyle/>
          <a:p>
            <a:pPr algn="ctr"/>
          </a:p>
        </p:txBody>
      </p:sp>
      <p:sp>
        <p:nvSpPr>
          <p:cNvPr id="82" name="Oval 81"/>
          <p:cNvSpPr/>
          <p:nvPr/>
        </p:nvSpPr>
        <p:spPr>
          <a:xfrm>
            <a:off x="7466813" y="3406301"/>
            <a:ext cx="55665" cy="55665"/>
          </a:xfrm>
          <a:prstGeom prst="ellipse">
            <a:avLst/>
          </a:prstGeom>
          <a:solidFill>
            <a:srgbClr val="9C7A5B">
              <a:alpha val="70000"/>
            </a:srgbClr>
          </a:solidFill>
          <a:ln>
            <a:noFill/>
          </a:ln>
        </p:spPr>
        <p:txBody>
          <a:bodyPr rtlCol="0" anchor="ctr"/>
          <a:lstStyle/>
          <a:p>
            <a:pPr algn="ctr"/>
          </a:p>
        </p:txBody>
      </p:sp>
      <p:sp>
        <p:nvSpPr>
          <p:cNvPr id="83" name="Oval 82"/>
          <p:cNvSpPr/>
          <p:nvPr/>
        </p:nvSpPr>
        <p:spPr>
          <a:xfrm>
            <a:off x="7134439" y="3462603"/>
            <a:ext cx="59777" cy="59777"/>
          </a:xfrm>
          <a:prstGeom prst="ellipse">
            <a:avLst/>
          </a:prstGeom>
          <a:solidFill>
            <a:srgbClr val="C4A484">
              <a:alpha val="55000"/>
            </a:srgbClr>
          </a:solidFill>
          <a:ln>
            <a:noFill/>
          </a:ln>
        </p:spPr>
        <p:txBody>
          <a:bodyPr rtlCol="0" anchor="ctr"/>
          <a:lstStyle/>
          <a:p>
            <a:pPr algn="ctr"/>
          </a:p>
        </p:txBody>
      </p:sp>
      <p:sp>
        <p:nvSpPr>
          <p:cNvPr id="84" name="Oval 83"/>
          <p:cNvSpPr/>
          <p:nvPr/>
        </p:nvSpPr>
        <p:spPr>
          <a:xfrm>
            <a:off x="8515267" y="3539337"/>
            <a:ext cx="93400" cy="93400"/>
          </a:xfrm>
          <a:prstGeom prst="ellipse">
            <a:avLst/>
          </a:prstGeom>
          <a:solidFill>
            <a:srgbClr val="B08968">
              <a:alpha val="70000"/>
            </a:srgbClr>
          </a:solidFill>
          <a:ln>
            <a:noFill/>
          </a:ln>
        </p:spPr>
        <p:txBody>
          <a:bodyPr rtlCol="0" anchor="ctr"/>
          <a:lstStyle/>
          <a:p>
            <a:pPr algn="ctr"/>
          </a:p>
        </p:txBody>
      </p:sp>
      <p:sp>
        <p:nvSpPr>
          <p:cNvPr id="85" name="Oval 84"/>
          <p:cNvSpPr/>
          <p:nvPr/>
        </p:nvSpPr>
        <p:spPr>
          <a:xfrm>
            <a:off x="9492869" y="3817449"/>
            <a:ext cx="110603" cy="110603"/>
          </a:xfrm>
          <a:prstGeom prst="ellipse">
            <a:avLst/>
          </a:prstGeom>
          <a:solidFill>
            <a:srgbClr val="8B6B4E">
              <a:alpha val="70000"/>
            </a:srgbClr>
          </a:solidFill>
          <a:ln>
            <a:noFill/>
          </a:ln>
        </p:spPr>
        <p:txBody>
          <a:bodyPr rtlCol="0" anchor="ctr"/>
          <a:lstStyle/>
          <a:p>
            <a:pPr algn="ctr"/>
          </a:p>
        </p:txBody>
      </p:sp>
      <p:sp>
        <p:nvSpPr>
          <p:cNvPr id="86" name="Oval 85"/>
          <p:cNvSpPr/>
          <p:nvPr/>
        </p:nvSpPr>
        <p:spPr>
          <a:xfrm>
            <a:off x="6974125" y="3573606"/>
            <a:ext cx="69410" cy="69410"/>
          </a:xfrm>
          <a:prstGeom prst="ellipse">
            <a:avLst/>
          </a:prstGeom>
          <a:solidFill>
            <a:srgbClr val="B08968">
              <a:alpha val="55000"/>
            </a:srgbClr>
          </a:solidFill>
          <a:ln>
            <a:noFill/>
          </a:ln>
        </p:spPr>
        <p:txBody>
          <a:bodyPr rtlCol="0" anchor="ctr"/>
          <a:lstStyle/>
          <a:p>
            <a:pPr algn="ctr"/>
          </a:p>
        </p:txBody>
      </p:sp>
      <p:sp>
        <p:nvSpPr>
          <p:cNvPr id="87" name="Oval 86"/>
          <p:cNvSpPr/>
          <p:nvPr/>
        </p:nvSpPr>
        <p:spPr>
          <a:xfrm>
            <a:off x="7376638" y="3028157"/>
            <a:ext cx="42118" cy="42118"/>
          </a:xfrm>
          <a:prstGeom prst="ellipse">
            <a:avLst/>
          </a:prstGeom>
          <a:solidFill>
            <a:srgbClr val="C4A484">
              <a:alpha val="85000"/>
            </a:srgbClr>
          </a:solidFill>
          <a:ln>
            <a:noFill/>
          </a:ln>
        </p:spPr>
        <p:txBody>
          <a:bodyPr rtlCol="0" anchor="ctr"/>
          <a:lstStyle/>
          <a:p>
            <a:pPr algn="ctr"/>
          </a:p>
        </p:txBody>
      </p:sp>
      <p:sp>
        <p:nvSpPr>
          <p:cNvPr id="88" name="Oval 87"/>
          <p:cNvSpPr/>
          <p:nvPr/>
        </p:nvSpPr>
        <p:spPr>
          <a:xfrm>
            <a:off x="6584566" y="3015180"/>
            <a:ext cx="40902" cy="40902"/>
          </a:xfrm>
          <a:prstGeom prst="ellipse">
            <a:avLst/>
          </a:prstGeom>
          <a:solidFill>
            <a:srgbClr val="B08968">
              <a:alpha val="70000"/>
            </a:srgbClr>
          </a:solidFill>
          <a:ln>
            <a:noFill/>
          </a:ln>
        </p:spPr>
        <p:txBody>
          <a:bodyPr rtlCol="0" anchor="ctr"/>
          <a:lstStyle/>
          <a:p>
            <a:pPr algn="ctr"/>
          </a:p>
        </p:txBody>
      </p:sp>
      <p:sp>
        <p:nvSpPr>
          <p:cNvPr id="89" name="Oval 88"/>
          <p:cNvSpPr/>
          <p:nvPr/>
        </p:nvSpPr>
        <p:spPr>
          <a:xfrm>
            <a:off x="6847602" y="3073235"/>
            <a:ext cx="87084" cy="87084"/>
          </a:xfrm>
          <a:prstGeom prst="ellipse">
            <a:avLst/>
          </a:prstGeom>
          <a:solidFill>
            <a:srgbClr val="8B6B4E">
              <a:alpha val="55000"/>
            </a:srgbClr>
          </a:solidFill>
          <a:ln>
            <a:noFill/>
          </a:ln>
        </p:spPr>
        <p:txBody>
          <a:bodyPr rtlCol="0" anchor="ctr"/>
          <a:lstStyle/>
          <a:p>
            <a:pPr algn="ctr"/>
          </a:p>
        </p:txBody>
      </p:sp>
      <p:sp>
        <p:nvSpPr>
          <p:cNvPr id="90" name="Oval 89"/>
          <p:cNvSpPr/>
          <p:nvPr/>
        </p:nvSpPr>
        <p:spPr>
          <a:xfrm>
            <a:off x="10168304" y="3524643"/>
            <a:ext cx="88785" cy="88785"/>
          </a:xfrm>
          <a:prstGeom prst="ellipse">
            <a:avLst/>
          </a:prstGeom>
          <a:solidFill>
            <a:srgbClr val="8B6B4E">
              <a:alpha val="55000"/>
            </a:srgbClr>
          </a:solidFill>
          <a:ln>
            <a:noFill/>
          </a:ln>
        </p:spPr>
        <p:txBody>
          <a:bodyPr rtlCol="0" anchor="ctr"/>
          <a:lstStyle/>
          <a:p>
            <a:pPr algn="ctr"/>
          </a:p>
        </p:txBody>
      </p:sp>
      <p:sp>
        <p:nvSpPr>
          <p:cNvPr id="91" name="Oval 90"/>
          <p:cNvSpPr/>
          <p:nvPr/>
        </p:nvSpPr>
        <p:spPr>
          <a:xfrm>
            <a:off x="8435610" y="3996656"/>
            <a:ext cx="46069" cy="46069"/>
          </a:xfrm>
          <a:prstGeom prst="ellipse">
            <a:avLst/>
          </a:prstGeom>
          <a:solidFill>
            <a:srgbClr val="8B6B4E">
              <a:alpha val="70000"/>
            </a:srgbClr>
          </a:solidFill>
          <a:ln>
            <a:noFill/>
          </a:ln>
        </p:spPr>
        <p:txBody>
          <a:bodyPr rtlCol="0" anchor="ctr"/>
          <a:lstStyle/>
          <a:p>
            <a:pPr algn="ctr"/>
          </a:p>
        </p:txBody>
      </p:sp>
      <p:sp>
        <p:nvSpPr>
          <p:cNvPr id="92" name="Oval 91"/>
          <p:cNvSpPr/>
          <p:nvPr/>
        </p:nvSpPr>
        <p:spPr>
          <a:xfrm>
            <a:off x="7128190" y="3713407"/>
            <a:ext cx="62240" cy="62240"/>
          </a:xfrm>
          <a:prstGeom prst="ellipse">
            <a:avLst/>
          </a:prstGeom>
          <a:solidFill>
            <a:srgbClr val="C4A484">
              <a:alpha val="70000"/>
            </a:srgbClr>
          </a:solidFill>
          <a:ln>
            <a:noFill/>
          </a:ln>
        </p:spPr>
        <p:txBody>
          <a:bodyPr rtlCol="0" anchor="ctr"/>
          <a:lstStyle/>
          <a:p>
            <a:pPr algn="ctr"/>
          </a:p>
        </p:txBody>
      </p:sp>
      <p:sp>
        <p:nvSpPr>
          <p:cNvPr id="93" name="Oval 92"/>
          <p:cNvSpPr/>
          <p:nvPr/>
        </p:nvSpPr>
        <p:spPr>
          <a:xfrm>
            <a:off x="7186765" y="2860730"/>
            <a:ext cx="104787" cy="104787"/>
          </a:xfrm>
          <a:prstGeom prst="ellipse">
            <a:avLst/>
          </a:prstGeom>
          <a:solidFill>
            <a:srgbClr val="C4A484">
              <a:alpha val="55000"/>
            </a:srgbClr>
          </a:solidFill>
          <a:ln>
            <a:noFill/>
          </a:ln>
        </p:spPr>
        <p:txBody>
          <a:bodyPr rtlCol="0" anchor="ctr"/>
          <a:lstStyle/>
          <a:p>
            <a:pPr algn="ctr"/>
          </a:p>
        </p:txBody>
      </p:sp>
      <p:sp>
        <p:nvSpPr>
          <p:cNvPr id="94" name="Oval 93"/>
          <p:cNvSpPr/>
          <p:nvPr/>
        </p:nvSpPr>
        <p:spPr>
          <a:xfrm>
            <a:off x="10009088" y="3699737"/>
            <a:ext cx="93365" cy="93365"/>
          </a:xfrm>
          <a:prstGeom prst="ellipse">
            <a:avLst/>
          </a:prstGeom>
          <a:solidFill>
            <a:srgbClr val="C4A484">
              <a:alpha val="85000"/>
            </a:srgbClr>
          </a:solidFill>
          <a:ln>
            <a:noFill/>
          </a:ln>
        </p:spPr>
        <p:txBody>
          <a:bodyPr rtlCol="0" anchor="ctr"/>
          <a:lstStyle/>
          <a:p>
            <a:pPr algn="ctr"/>
          </a:p>
        </p:txBody>
      </p:sp>
      <p:sp>
        <p:nvSpPr>
          <p:cNvPr id="95" name="Oval 94"/>
          <p:cNvSpPr/>
          <p:nvPr/>
        </p:nvSpPr>
        <p:spPr>
          <a:xfrm>
            <a:off x="9182482" y="3128868"/>
            <a:ext cx="107624" cy="107624"/>
          </a:xfrm>
          <a:prstGeom prst="ellipse">
            <a:avLst/>
          </a:prstGeom>
          <a:solidFill>
            <a:srgbClr val="C4A484">
              <a:alpha val="55000"/>
            </a:srgbClr>
          </a:solidFill>
          <a:ln>
            <a:noFill/>
          </a:ln>
        </p:spPr>
        <p:txBody>
          <a:bodyPr rtlCol="0" anchor="ctr"/>
          <a:lstStyle/>
          <a:p>
            <a:pPr algn="ctr"/>
          </a:p>
        </p:txBody>
      </p:sp>
      <p:sp>
        <p:nvSpPr>
          <p:cNvPr id="96" name="Oval 95"/>
          <p:cNvSpPr/>
          <p:nvPr/>
        </p:nvSpPr>
        <p:spPr>
          <a:xfrm>
            <a:off x="7424640" y="3467510"/>
            <a:ext cx="65848" cy="65848"/>
          </a:xfrm>
          <a:prstGeom prst="ellipse">
            <a:avLst/>
          </a:prstGeom>
          <a:solidFill>
            <a:srgbClr val="C4A484">
              <a:alpha val="85000"/>
            </a:srgbClr>
          </a:solidFill>
          <a:ln>
            <a:noFill/>
          </a:ln>
        </p:spPr>
        <p:txBody>
          <a:bodyPr rtlCol="0" anchor="ctr"/>
          <a:lstStyle/>
          <a:p>
            <a:pPr algn="ctr"/>
          </a:p>
        </p:txBody>
      </p:sp>
      <p:sp>
        <p:nvSpPr>
          <p:cNvPr id="97" name="Oval 96"/>
          <p:cNvSpPr/>
          <p:nvPr/>
        </p:nvSpPr>
        <p:spPr>
          <a:xfrm>
            <a:off x="9655695" y="3996368"/>
            <a:ext cx="54931" cy="54931"/>
          </a:xfrm>
          <a:prstGeom prst="ellipse">
            <a:avLst/>
          </a:prstGeom>
          <a:solidFill>
            <a:srgbClr val="9C7A5B">
              <a:alpha val="55000"/>
            </a:srgbClr>
          </a:solidFill>
          <a:ln>
            <a:noFill/>
          </a:ln>
        </p:spPr>
        <p:txBody>
          <a:bodyPr rtlCol="0" anchor="ctr"/>
          <a:lstStyle/>
          <a:p>
            <a:pPr algn="ctr"/>
          </a:p>
        </p:txBody>
      </p:sp>
      <p:sp>
        <p:nvSpPr>
          <p:cNvPr id="98" name="Oval 97"/>
          <p:cNvSpPr/>
          <p:nvPr/>
        </p:nvSpPr>
        <p:spPr>
          <a:xfrm>
            <a:off x="9348258" y="3090973"/>
            <a:ext cx="103921" cy="103921"/>
          </a:xfrm>
          <a:prstGeom prst="ellipse">
            <a:avLst/>
          </a:prstGeom>
          <a:solidFill>
            <a:srgbClr val="8B6B4E">
              <a:alpha val="70000"/>
            </a:srgbClr>
          </a:solidFill>
          <a:ln>
            <a:noFill/>
          </a:ln>
        </p:spPr>
        <p:txBody>
          <a:bodyPr rtlCol="0" anchor="ctr"/>
          <a:lstStyle/>
          <a:p>
            <a:pPr algn="ctr"/>
          </a:p>
        </p:txBody>
      </p:sp>
      <p:sp>
        <p:nvSpPr>
          <p:cNvPr id="99" name="Oval 98"/>
          <p:cNvSpPr/>
          <p:nvPr/>
        </p:nvSpPr>
        <p:spPr>
          <a:xfrm>
            <a:off x="10288503" y="3733557"/>
            <a:ext cx="96734" cy="96734"/>
          </a:xfrm>
          <a:prstGeom prst="ellipse">
            <a:avLst/>
          </a:prstGeom>
          <a:solidFill>
            <a:srgbClr val="8B6B4E">
              <a:alpha val="70000"/>
            </a:srgbClr>
          </a:solidFill>
          <a:ln>
            <a:noFill/>
          </a:ln>
        </p:spPr>
        <p:txBody>
          <a:bodyPr rtlCol="0" anchor="ctr"/>
          <a:lstStyle/>
          <a:p>
            <a:pPr algn="ctr"/>
          </a:p>
        </p:txBody>
      </p:sp>
      <p:sp>
        <p:nvSpPr>
          <p:cNvPr id="100" name="Oval 99"/>
          <p:cNvSpPr/>
          <p:nvPr/>
        </p:nvSpPr>
        <p:spPr>
          <a:xfrm>
            <a:off x="8875927" y="3241555"/>
            <a:ext cx="52512" cy="52512"/>
          </a:xfrm>
          <a:prstGeom prst="ellipse">
            <a:avLst/>
          </a:prstGeom>
          <a:solidFill>
            <a:srgbClr val="C4A484">
              <a:alpha val="70000"/>
            </a:srgbClr>
          </a:solidFill>
          <a:ln>
            <a:noFill/>
          </a:ln>
        </p:spPr>
        <p:txBody>
          <a:bodyPr rtlCol="0" anchor="ctr"/>
          <a:lstStyle/>
          <a:p>
            <a:pPr algn="ctr"/>
          </a:p>
        </p:txBody>
      </p:sp>
      <p:sp>
        <p:nvSpPr>
          <p:cNvPr id="101" name="Oval 100"/>
          <p:cNvSpPr/>
          <p:nvPr/>
        </p:nvSpPr>
        <p:spPr>
          <a:xfrm>
            <a:off x="6971598" y="3394616"/>
            <a:ext cx="43203" cy="43203"/>
          </a:xfrm>
          <a:prstGeom prst="ellipse">
            <a:avLst/>
          </a:prstGeom>
          <a:solidFill>
            <a:srgbClr val="C4A484">
              <a:alpha val="55000"/>
            </a:srgbClr>
          </a:solidFill>
          <a:ln>
            <a:noFill/>
          </a:ln>
        </p:spPr>
        <p:txBody>
          <a:bodyPr rtlCol="0" anchor="ctr"/>
          <a:lstStyle/>
          <a:p>
            <a:pPr algn="ctr"/>
          </a:p>
        </p:txBody>
      </p:sp>
      <p:sp>
        <p:nvSpPr>
          <p:cNvPr id="102" name="Oval 101"/>
          <p:cNvSpPr/>
          <p:nvPr/>
        </p:nvSpPr>
        <p:spPr>
          <a:xfrm>
            <a:off x="10292338" y="3541411"/>
            <a:ext cx="76296" cy="76296"/>
          </a:xfrm>
          <a:prstGeom prst="ellipse">
            <a:avLst/>
          </a:prstGeom>
          <a:solidFill>
            <a:srgbClr val="B08968">
              <a:alpha val="70000"/>
            </a:srgbClr>
          </a:solidFill>
          <a:ln>
            <a:noFill/>
          </a:ln>
        </p:spPr>
        <p:txBody>
          <a:bodyPr rtlCol="0" anchor="ctr"/>
          <a:lstStyle/>
          <a:p>
            <a:pPr algn="ctr"/>
          </a:p>
        </p:txBody>
      </p:sp>
      <p:sp>
        <p:nvSpPr>
          <p:cNvPr id="103" name="Oval 102"/>
          <p:cNvSpPr/>
          <p:nvPr/>
        </p:nvSpPr>
        <p:spPr>
          <a:xfrm>
            <a:off x="7866509" y="3556904"/>
            <a:ext cx="111399" cy="111399"/>
          </a:xfrm>
          <a:prstGeom prst="ellipse">
            <a:avLst/>
          </a:prstGeom>
          <a:solidFill>
            <a:srgbClr val="B08968">
              <a:alpha val="70000"/>
            </a:srgbClr>
          </a:solidFill>
          <a:ln>
            <a:noFill/>
          </a:ln>
        </p:spPr>
        <p:txBody>
          <a:bodyPr rtlCol="0" anchor="ctr"/>
          <a:lstStyle/>
          <a:p>
            <a:pPr algn="ctr"/>
          </a:p>
        </p:txBody>
      </p:sp>
      <p:sp>
        <p:nvSpPr>
          <p:cNvPr id="104" name="Oval 103"/>
          <p:cNvSpPr/>
          <p:nvPr/>
        </p:nvSpPr>
        <p:spPr>
          <a:xfrm>
            <a:off x="9388847" y="3376482"/>
            <a:ext cx="100956" cy="100956"/>
          </a:xfrm>
          <a:prstGeom prst="ellipse">
            <a:avLst/>
          </a:prstGeom>
          <a:solidFill>
            <a:srgbClr val="9C7A5B">
              <a:alpha val="70000"/>
            </a:srgbClr>
          </a:solidFill>
          <a:ln>
            <a:noFill/>
          </a:ln>
        </p:spPr>
        <p:txBody>
          <a:bodyPr rtlCol="0" anchor="ctr"/>
          <a:lstStyle/>
          <a:p>
            <a:pPr algn="ctr"/>
          </a:p>
        </p:txBody>
      </p:sp>
      <p:sp>
        <p:nvSpPr>
          <p:cNvPr id="105" name="Oval 104"/>
          <p:cNvSpPr/>
          <p:nvPr/>
        </p:nvSpPr>
        <p:spPr>
          <a:xfrm>
            <a:off x="7826948" y="3741910"/>
            <a:ext cx="101518" cy="101518"/>
          </a:xfrm>
          <a:prstGeom prst="ellipse">
            <a:avLst/>
          </a:prstGeom>
          <a:solidFill>
            <a:srgbClr val="8B6B4E">
              <a:alpha val="70000"/>
            </a:srgbClr>
          </a:solidFill>
          <a:ln>
            <a:noFill/>
          </a:ln>
        </p:spPr>
        <p:txBody>
          <a:bodyPr rtlCol="0" anchor="ctr"/>
          <a:lstStyle/>
          <a:p>
            <a:pPr algn="ctr"/>
          </a:p>
        </p:txBody>
      </p:sp>
      <p:sp>
        <p:nvSpPr>
          <p:cNvPr id="106" name="Oval 105"/>
          <p:cNvSpPr/>
          <p:nvPr/>
        </p:nvSpPr>
        <p:spPr>
          <a:xfrm>
            <a:off x="10153929" y="3678908"/>
            <a:ext cx="69608" cy="69608"/>
          </a:xfrm>
          <a:prstGeom prst="ellipse">
            <a:avLst/>
          </a:prstGeom>
          <a:solidFill>
            <a:srgbClr val="9C7A5B">
              <a:alpha val="55000"/>
            </a:srgbClr>
          </a:solidFill>
          <a:ln>
            <a:noFill/>
          </a:ln>
        </p:spPr>
        <p:txBody>
          <a:bodyPr rtlCol="0" anchor="ctr"/>
          <a:lstStyle/>
          <a:p>
            <a:pPr algn="ctr"/>
          </a:p>
        </p:txBody>
      </p:sp>
      <p:sp>
        <p:nvSpPr>
          <p:cNvPr id="107" name="Oval 106"/>
          <p:cNvSpPr/>
          <p:nvPr/>
        </p:nvSpPr>
        <p:spPr>
          <a:xfrm>
            <a:off x="8829733" y="3391015"/>
            <a:ext cx="38843" cy="38843"/>
          </a:xfrm>
          <a:prstGeom prst="ellipse">
            <a:avLst/>
          </a:prstGeom>
          <a:solidFill>
            <a:srgbClr val="9C7A5B">
              <a:alpha val="85000"/>
            </a:srgbClr>
          </a:solidFill>
          <a:ln>
            <a:noFill/>
          </a:ln>
        </p:spPr>
        <p:txBody>
          <a:bodyPr rtlCol="0" anchor="ctr"/>
          <a:lstStyle/>
          <a:p>
            <a:pPr algn="ctr"/>
          </a:p>
        </p:txBody>
      </p:sp>
      <p:sp>
        <p:nvSpPr>
          <p:cNvPr id="108" name="Oval 107"/>
          <p:cNvSpPr/>
          <p:nvPr/>
        </p:nvSpPr>
        <p:spPr>
          <a:xfrm>
            <a:off x="10245990" y="3577251"/>
            <a:ext cx="104594" cy="104594"/>
          </a:xfrm>
          <a:prstGeom prst="ellipse">
            <a:avLst/>
          </a:prstGeom>
          <a:solidFill>
            <a:srgbClr val="C4A484">
              <a:alpha val="55000"/>
            </a:srgbClr>
          </a:solidFill>
          <a:ln>
            <a:noFill/>
          </a:ln>
        </p:spPr>
        <p:txBody>
          <a:bodyPr rtlCol="0" anchor="ctr"/>
          <a:lstStyle/>
          <a:p>
            <a:pPr algn="ctr"/>
          </a:p>
        </p:txBody>
      </p:sp>
      <p:sp>
        <p:nvSpPr>
          <p:cNvPr id="109" name="Oval 108"/>
          <p:cNvSpPr/>
          <p:nvPr/>
        </p:nvSpPr>
        <p:spPr>
          <a:xfrm>
            <a:off x="7076015" y="2851057"/>
            <a:ext cx="81728" cy="81728"/>
          </a:xfrm>
          <a:prstGeom prst="ellipse">
            <a:avLst/>
          </a:prstGeom>
          <a:solidFill>
            <a:srgbClr val="B08968">
              <a:alpha val="85000"/>
            </a:srgbClr>
          </a:solidFill>
          <a:ln>
            <a:noFill/>
          </a:ln>
        </p:spPr>
        <p:txBody>
          <a:bodyPr rtlCol="0" anchor="ctr"/>
          <a:lstStyle/>
          <a:p>
            <a:pPr algn="ctr"/>
          </a:p>
        </p:txBody>
      </p:sp>
      <p:sp>
        <p:nvSpPr>
          <p:cNvPr id="110" name="Oval 109"/>
          <p:cNvSpPr/>
          <p:nvPr/>
        </p:nvSpPr>
        <p:spPr>
          <a:xfrm>
            <a:off x="7104787" y="3955541"/>
            <a:ext cx="98256" cy="98256"/>
          </a:xfrm>
          <a:prstGeom prst="ellipse">
            <a:avLst/>
          </a:prstGeom>
          <a:solidFill>
            <a:srgbClr val="9C7A5B">
              <a:alpha val="55000"/>
            </a:srgbClr>
          </a:solidFill>
          <a:ln>
            <a:noFill/>
          </a:ln>
        </p:spPr>
        <p:txBody>
          <a:bodyPr rtlCol="0" anchor="ctr"/>
          <a:lstStyle/>
          <a:p>
            <a:pPr algn="ctr"/>
          </a:p>
        </p:txBody>
      </p:sp>
      <p:sp>
        <p:nvSpPr>
          <p:cNvPr id="111" name="Oval 110"/>
          <p:cNvSpPr/>
          <p:nvPr/>
        </p:nvSpPr>
        <p:spPr>
          <a:xfrm>
            <a:off x="7392583" y="3433809"/>
            <a:ext cx="38879" cy="38879"/>
          </a:xfrm>
          <a:prstGeom prst="ellipse">
            <a:avLst/>
          </a:prstGeom>
          <a:solidFill>
            <a:srgbClr val="C4A484">
              <a:alpha val="70000"/>
            </a:srgbClr>
          </a:solidFill>
          <a:ln>
            <a:noFill/>
          </a:ln>
        </p:spPr>
        <p:txBody>
          <a:bodyPr rtlCol="0" anchor="ctr"/>
          <a:lstStyle/>
          <a:p>
            <a:pPr algn="ctr"/>
          </a:p>
        </p:txBody>
      </p:sp>
      <p:sp>
        <p:nvSpPr>
          <p:cNvPr id="112" name="Oval 111"/>
          <p:cNvSpPr/>
          <p:nvPr/>
        </p:nvSpPr>
        <p:spPr>
          <a:xfrm>
            <a:off x="9719507" y="2904866"/>
            <a:ext cx="81374" cy="81374"/>
          </a:xfrm>
          <a:prstGeom prst="ellipse">
            <a:avLst/>
          </a:prstGeom>
          <a:solidFill>
            <a:srgbClr val="C4A484">
              <a:alpha val="70000"/>
            </a:srgbClr>
          </a:solidFill>
          <a:ln>
            <a:noFill/>
          </a:ln>
        </p:spPr>
        <p:txBody>
          <a:bodyPr rtlCol="0" anchor="ctr"/>
          <a:lstStyle/>
          <a:p>
            <a:pPr algn="ctr"/>
          </a:p>
        </p:txBody>
      </p:sp>
      <p:sp>
        <p:nvSpPr>
          <p:cNvPr id="113" name="Oval 112"/>
          <p:cNvSpPr/>
          <p:nvPr/>
        </p:nvSpPr>
        <p:spPr>
          <a:xfrm>
            <a:off x="9639605" y="3425475"/>
            <a:ext cx="91095" cy="91095"/>
          </a:xfrm>
          <a:prstGeom prst="ellipse">
            <a:avLst/>
          </a:prstGeom>
          <a:solidFill>
            <a:srgbClr val="9C7A5B">
              <a:alpha val="85000"/>
            </a:srgbClr>
          </a:solidFill>
          <a:ln>
            <a:noFill/>
          </a:ln>
        </p:spPr>
        <p:txBody>
          <a:bodyPr rtlCol="0" anchor="ctr"/>
          <a:lstStyle/>
          <a:p>
            <a:pPr algn="ctr"/>
          </a:p>
        </p:txBody>
      </p:sp>
      <p:sp>
        <p:nvSpPr>
          <p:cNvPr id="114" name="Oval 113"/>
          <p:cNvSpPr/>
          <p:nvPr/>
        </p:nvSpPr>
        <p:spPr>
          <a:xfrm>
            <a:off x="8519372" y="3869236"/>
            <a:ext cx="49071" cy="49071"/>
          </a:xfrm>
          <a:prstGeom prst="ellipse">
            <a:avLst/>
          </a:prstGeom>
          <a:solidFill>
            <a:srgbClr val="9C7A5B">
              <a:alpha val="85000"/>
            </a:srgbClr>
          </a:solidFill>
          <a:ln>
            <a:noFill/>
          </a:ln>
        </p:spPr>
        <p:txBody>
          <a:bodyPr rtlCol="0" anchor="ctr"/>
          <a:lstStyle/>
          <a:p>
            <a:pPr algn="ctr"/>
          </a:p>
        </p:txBody>
      </p:sp>
      <p:sp>
        <p:nvSpPr>
          <p:cNvPr id="115" name="Oval 114"/>
          <p:cNvSpPr/>
          <p:nvPr/>
        </p:nvSpPr>
        <p:spPr>
          <a:xfrm>
            <a:off x="9623389" y="3041032"/>
            <a:ext cx="36899" cy="36899"/>
          </a:xfrm>
          <a:prstGeom prst="ellipse">
            <a:avLst/>
          </a:prstGeom>
          <a:solidFill>
            <a:srgbClr val="8B6B4E">
              <a:alpha val="85000"/>
            </a:srgbClr>
          </a:solidFill>
          <a:ln>
            <a:noFill/>
          </a:ln>
        </p:spPr>
        <p:txBody>
          <a:bodyPr rtlCol="0" anchor="ctr"/>
          <a:lstStyle/>
          <a:p>
            <a:pPr algn="ctr"/>
          </a:p>
        </p:txBody>
      </p:sp>
      <p:sp>
        <p:nvSpPr>
          <p:cNvPr id="116" name="Oval 115"/>
          <p:cNvSpPr/>
          <p:nvPr/>
        </p:nvSpPr>
        <p:spPr>
          <a:xfrm>
            <a:off x="8667249" y="3205667"/>
            <a:ext cx="96256" cy="96256"/>
          </a:xfrm>
          <a:prstGeom prst="ellipse">
            <a:avLst/>
          </a:prstGeom>
          <a:solidFill>
            <a:srgbClr val="8B6B4E">
              <a:alpha val="55000"/>
            </a:srgbClr>
          </a:solidFill>
          <a:ln>
            <a:noFill/>
          </a:ln>
        </p:spPr>
        <p:txBody>
          <a:bodyPr rtlCol="0" anchor="ctr"/>
          <a:lstStyle/>
          <a:p>
            <a:pPr algn="ctr"/>
          </a:p>
        </p:txBody>
      </p:sp>
      <p:sp>
        <p:nvSpPr>
          <p:cNvPr id="117" name="Oval 116"/>
          <p:cNvSpPr/>
          <p:nvPr/>
        </p:nvSpPr>
        <p:spPr>
          <a:xfrm>
            <a:off x="6795697" y="3049893"/>
            <a:ext cx="109262" cy="109262"/>
          </a:xfrm>
          <a:prstGeom prst="ellipse">
            <a:avLst/>
          </a:prstGeom>
          <a:solidFill>
            <a:srgbClr val="B08968">
              <a:alpha val="55000"/>
            </a:srgbClr>
          </a:solidFill>
          <a:ln>
            <a:noFill/>
          </a:ln>
        </p:spPr>
        <p:txBody>
          <a:bodyPr rtlCol="0" anchor="ctr"/>
          <a:lstStyle/>
          <a:p>
            <a:pPr algn="ctr"/>
          </a:p>
        </p:txBody>
      </p:sp>
      <p:sp>
        <p:nvSpPr>
          <p:cNvPr id="118" name="Oval 117"/>
          <p:cNvSpPr/>
          <p:nvPr/>
        </p:nvSpPr>
        <p:spPr>
          <a:xfrm>
            <a:off x="8696974" y="3713253"/>
            <a:ext cx="78358" cy="78358"/>
          </a:xfrm>
          <a:prstGeom prst="ellipse">
            <a:avLst/>
          </a:prstGeom>
          <a:solidFill>
            <a:srgbClr val="B08968">
              <a:alpha val="70000"/>
            </a:srgbClr>
          </a:solidFill>
          <a:ln>
            <a:noFill/>
          </a:ln>
        </p:spPr>
        <p:txBody>
          <a:bodyPr rtlCol="0" anchor="ctr"/>
          <a:lstStyle/>
          <a:p>
            <a:pPr algn="ctr"/>
          </a:p>
        </p:txBody>
      </p:sp>
      <p:sp>
        <p:nvSpPr>
          <p:cNvPr id="119" name="Oval 118"/>
          <p:cNvSpPr/>
          <p:nvPr/>
        </p:nvSpPr>
        <p:spPr>
          <a:xfrm>
            <a:off x="10260166" y="3544468"/>
            <a:ext cx="63372" cy="63372"/>
          </a:xfrm>
          <a:prstGeom prst="ellipse">
            <a:avLst/>
          </a:prstGeom>
          <a:solidFill>
            <a:srgbClr val="9C7A5B">
              <a:alpha val="85000"/>
            </a:srgbClr>
          </a:solidFill>
          <a:ln>
            <a:noFill/>
          </a:ln>
        </p:spPr>
        <p:txBody>
          <a:bodyPr rtlCol="0" anchor="ctr"/>
          <a:lstStyle/>
          <a:p>
            <a:pPr algn="ctr"/>
          </a:p>
        </p:txBody>
      </p:sp>
      <p:sp>
        <p:nvSpPr>
          <p:cNvPr id="120" name="Oval 119"/>
          <p:cNvSpPr/>
          <p:nvPr/>
        </p:nvSpPr>
        <p:spPr>
          <a:xfrm>
            <a:off x="8505065" y="3783333"/>
            <a:ext cx="59387" cy="59387"/>
          </a:xfrm>
          <a:prstGeom prst="ellipse">
            <a:avLst/>
          </a:prstGeom>
          <a:solidFill>
            <a:srgbClr val="9C7A5B">
              <a:alpha val="85000"/>
            </a:srgbClr>
          </a:solidFill>
          <a:ln>
            <a:noFill/>
          </a:ln>
        </p:spPr>
        <p:txBody>
          <a:bodyPr rtlCol="0" anchor="ctr"/>
          <a:lstStyle/>
          <a:p>
            <a:pPr algn="ctr"/>
          </a:p>
        </p:txBody>
      </p:sp>
      <p:sp>
        <p:nvSpPr>
          <p:cNvPr id="121" name="Oval 120"/>
          <p:cNvSpPr/>
          <p:nvPr/>
        </p:nvSpPr>
        <p:spPr>
          <a:xfrm>
            <a:off x="9878093" y="3906079"/>
            <a:ext cx="79634" cy="79634"/>
          </a:xfrm>
          <a:prstGeom prst="ellipse">
            <a:avLst/>
          </a:prstGeom>
          <a:solidFill>
            <a:srgbClr val="9C7A5B">
              <a:alpha val="70000"/>
            </a:srgbClr>
          </a:solidFill>
          <a:ln>
            <a:noFill/>
          </a:ln>
        </p:spPr>
        <p:txBody>
          <a:bodyPr rtlCol="0" anchor="ctr"/>
          <a:lstStyle/>
          <a:p>
            <a:pPr algn="ctr"/>
          </a:p>
        </p:txBody>
      </p:sp>
      <p:sp>
        <p:nvSpPr>
          <p:cNvPr id="122" name="Oval 121"/>
          <p:cNvSpPr/>
          <p:nvPr/>
        </p:nvSpPr>
        <p:spPr>
          <a:xfrm>
            <a:off x="7044945" y="3359247"/>
            <a:ext cx="47861" cy="47861"/>
          </a:xfrm>
          <a:prstGeom prst="ellipse">
            <a:avLst/>
          </a:prstGeom>
          <a:solidFill>
            <a:srgbClr val="B08968">
              <a:alpha val="85000"/>
            </a:srgbClr>
          </a:solidFill>
          <a:ln>
            <a:noFill/>
          </a:ln>
        </p:spPr>
        <p:txBody>
          <a:bodyPr rtlCol="0" anchor="ctr"/>
          <a:lstStyle/>
          <a:p>
            <a:pPr algn="ctr"/>
          </a:p>
        </p:txBody>
      </p:sp>
      <p:sp>
        <p:nvSpPr>
          <p:cNvPr id="123" name="Oval 122"/>
          <p:cNvSpPr/>
          <p:nvPr/>
        </p:nvSpPr>
        <p:spPr>
          <a:xfrm>
            <a:off x="6860376" y="3623318"/>
            <a:ext cx="56379" cy="56379"/>
          </a:xfrm>
          <a:prstGeom prst="ellipse">
            <a:avLst/>
          </a:prstGeom>
          <a:solidFill>
            <a:srgbClr val="B08968">
              <a:alpha val="55000"/>
            </a:srgbClr>
          </a:solidFill>
          <a:ln>
            <a:noFill/>
          </a:ln>
        </p:spPr>
        <p:txBody>
          <a:bodyPr rtlCol="0" anchor="ctr"/>
          <a:lstStyle/>
          <a:p>
            <a:pPr algn="ctr"/>
          </a:p>
        </p:txBody>
      </p:sp>
      <p:sp>
        <p:nvSpPr>
          <p:cNvPr id="124" name="Oval 123"/>
          <p:cNvSpPr/>
          <p:nvPr/>
        </p:nvSpPr>
        <p:spPr>
          <a:xfrm>
            <a:off x="8981581" y="3244965"/>
            <a:ext cx="113893" cy="113893"/>
          </a:xfrm>
          <a:prstGeom prst="ellipse">
            <a:avLst/>
          </a:prstGeom>
          <a:solidFill>
            <a:srgbClr val="C4A484">
              <a:alpha val="55000"/>
            </a:srgbClr>
          </a:solidFill>
          <a:ln>
            <a:noFill/>
          </a:ln>
        </p:spPr>
        <p:txBody>
          <a:bodyPr rtlCol="0" anchor="ctr"/>
          <a:lstStyle/>
          <a:p>
            <a:pPr algn="ctr"/>
          </a:p>
        </p:txBody>
      </p:sp>
      <p:sp>
        <p:nvSpPr>
          <p:cNvPr id="125" name="Oval 124"/>
          <p:cNvSpPr/>
          <p:nvPr/>
        </p:nvSpPr>
        <p:spPr>
          <a:xfrm>
            <a:off x="7401486" y="3899767"/>
            <a:ext cx="116201" cy="116201"/>
          </a:xfrm>
          <a:prstGeom prst="ellipse">
            <a:avLst/>
          </a:prstGeom>
          <a:solidFill>
            <a:srgbClr val="8B6B4E">
              <a:alpha val="70000"/>
            </a:srgbClr>
          </a:solidFill>
          <a:ln>
            <a:noFill/>
          </a:ln>
        </p:spPr>
        <p:txBody>
          <a:bodyPr rtlCol="0" anchor="ctr"/>
          <a:lstStyle/>
          <a:p>
            <a:pPr algn="ctr"/>
          </a:p>
        </p:txBody>
      </p:sp>
      <p:sp>
        <p:nvSpPr>
          <p:cNvPr id="126" name="Oval 125"/>
          <p:cNvSpPr/>
          <p:nvPr/>
        </p:nvSpPr>
        <p:spPr>
          <a:xfrm>
            <a:off x="9115105" y="3099619"/>
            <a:ext cx="49973" cy="49973"/>
          </a:xfrm>
          <a:prstGeom prst="ellipse">
            <a:avLst/>
          </a:prstGeom>
          <a:solidFill>
            <a:srgbClr val="8B6B4E">
              <a:alpha val="85000"/>
            </a:srgbClr>
          </a:solidFill>
          <a:ln>
            <a:noFill/>
          </a:ln>
        </p:spPr>
        <p:txBody>
          <a:bodyPr rtlCol="0" anchor="ctr"/>
          <a:lstStyle/>
          <a:p>
            <a:pPr algn="ctr"/>
          </a:p>
        </p:txBody>
      </p:sp>
      <p:sp>
        <p:nvSpPr>
          <p:cNvPr id="127" name="Oval 126"/>
          <p:cNvSpPr/>
          <p:nvPr/>
        </p:nvSpPr>
        <p:spPr>
          <a:xfrm>
            <a:off x="8172175" y="3249965"/>
            <a:ext cx="69807" cy="69807"/>
          </a:xfrm>
          <a:prstGeom prst="ellipse">
            <a:avLst/>
          </a:prstGeom>
          <a:solidFill>
            <a:srgbClr val="B08968">
              <a:alpha val="85000"/>
            </a:srgbClr>
          </a:solidFill>
          <a:ln>
            <a:noFill/>
          </a:ln>
        </p:spPr>
        <p:txBody>
          <a:bodyPr rtlCol="0" anchor="ctr"/>
          <a:lstStyle/>
          <a:p>
            <a:pPr algn="ctr"/>
          </a:p>
        </p:txBody>
      </p:sp>
      <p:sp>
        <p:nvSpPr>
          <p:cNvPr id="128" name="Oval 127"/>
          <p:cNvSpPr/>
          <p:nvPr/>
        </p:nvSpPr>
        <p:spPr>
          <a:xfrm>
            <a:off x="7859143" y="3370251"/>
            <a:ext cx="66692" cy="66692"/>
          </a:xfrm>
          <a:prstGeom prst="ellipse">
            <a:avLst/>
          </a:prstGeom>
          <a:solidFill>
            <a:srgbClr val="B08968">
              <a:alpha val="70000"/>
            </a:srgbClr>
          </a:solidFill>
          <a:ln>
            <a:noFill/>
          </a:ln>
        </p:spPr>
        <p:txBody>
          <a:bodyPr rtlCol="0" anchor="ctr"/>
          <a:lstStyle/>
          <a:p>
            <a:pPr algn="ctr"/>
          </a:p>
        </p:txBody>
      </p:sp>
      <p:sp>
        <p:nvSpPr>
          <p:cNvPr id="129" name="Oval 128"/>
          <p:cNvSpPr/>
          <p:nvPr/>
        </p:nvSpPr>
        <p:spPr>
          <a:xfrm>
            <a:off x="8940017" y="3434285"/>
            <a:ext cx="63856" cy="63856"/>
          </a:xfrm>
          <a:prstGeom prst="ellipse">
            <a:avLst/>
          </a:prstGeom>
          <a:solidFill>
            <a:srgbClr val="B08968">
              <a:alpha val="55000"/>
            </a:srgbClr>
          </a:solidFill>
          <a:ln>
            <a:noFill/>
          </a:ln>
        </p:spPr>
        <p:txBody>
          <a:bodyPr rtlCol="0" anchor="ctr"/>
          <a:lstStyle/>
          <a:p>
            <a:pPr algn="ctr"/>
          </a:p>
        </p:txBody>
      </p:sp>
      <p:sp>
        <p:nvSpPr>
          <p:cNvPr id="130" name="Rounded Rectangle 129"/>
          <p:cNvSpPr/>
          <p:nvPr/>
        </p:nvSpPr>
        <p:spPr>
          <a:xfrm>
            <a:off x="7269480" y="3035808"/>
            <a:ext cx="3017520" cy="566928"/>
          </a:xfrm>
          <a:prstGeom prst="roundRect">
            <a:avLst>
              <a:gd name="adj" fmla="val 15000"/>
            </a:avLst>
          </a:prstGeom>
          <a:solidFill>
            <a:srgbClr val="FFFFFF"/>
          </a:solidFill>
          <a:ln w="15875">
            <a:solidFill>
              <a:srgbClr val="C55A11"/>
            </a:solidFill>
          </a:ln>
        </p:spPr>
        <p:txBody>
          <a:bodyPr rtlCol="0" anchor="ctr" lIns="36576" rIns="36576" tIns="0" bIns="0" wrap="square"/>
          <a:lstStyle/>
          <a:p>
            <a:pPr algn="ctr"/>
            <a:r>
              <a:rPr sz="1400" b="1">
                <a:solidFill>
                  <a:srgbClr val="C55A11"/>
                </a:solidFill>
                <a:latin typeface="Calibri"/>
              </a:rPr>
              <a:t>Heavy dust weakens optical links</a:t>
            </a:r>
          </a:p>
        </p:txBody>
      </p:sp>
      <p:sp>
        <p:nvSpPr>
          <p:cNvPr id="131" name="Rectangle 130"/>
          <p:cNvSpPr/>
          <p:nvPr/>
        </p:nvSpPr>
        <p:spPr>
          <a:xfrm>
            <a:off x="457200" y="1554480"/>
            <a:ext cx="11292840" cy="3520440"/>
          </a:xfrm>
          <a:prstGeom prst="rect">
            <a:avLst/>
          </a:prstGeom>
          <a:noFill/>
          <a:ln w="9525">
            <a:solidFill>
              <a:srgbClr val="A9BFD0"/>
            </a:solidFill>
          </a:ln>
        </p:spPr>
        <p:txBody>
          <a:bodyPr rtlCol="0" anchor="ctr"/>
          <a:lstStyle/>
          <a:p>
            <a:pPr algn="ctr"/>
          </a:p>
        </p:txBody>
      </p:sp>
      <p:sp>
        <p:nvSpPr>
          <p:cNvPr id="132" name="TextBox 131"/>
          <p:cNvSpPr txBox="1"/>
          <p:nvPr/>
        </p:nvSpPr>
        <p:spPr>
          <a:xfrm>
            <a:off x="457200" y="521208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What mines use now</a:t>
            </a:r>
          </a:p>
        </p:txBody>
      </p:sp>
      <p:sp>
        <p:nvSpPr>
          <p:cNvPr id="133" name="Rounded Rectangle 132"/>
          <p:cNvSpPr/>
          <p:nvPr/>
        </p:nvSpPr>
        <p:spPr>
          <a:xfrm>
            <a:off x="45720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Wired phones</a:t>
            </a:r>
          </a:p>
        </p:txBody>
      </p:sp>
      <p:sp>
        <p:nvSpPr>
          <p:cNvPr id="134" name="Rounded Rectangle 133"/>
          <p:cNvSpPr/>
          <p:nvPr/>
        </p:nvSpPr>
        <p:spPr>
          <a:xfrm>
            <a:off x="242316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Leaky-feeder cable</a:t>
            </a:r>
          </a:p>
        </p:txBody>
      </p:sp>
      <p:sp>
        <p:nvSpPr>
          <p:cNvPr id="135" name="Rounded Rectangle 134"/>
          <p:cNvSpPr/>
          <p:nvPr/>
        </p:nvSpPr>
        <p:spPr>
          <a:xfrm>
            <a:off x="4389120"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Low-rate radio</a:t>
            </a:r>
          </a:p>
        </p:txBody>
      </p:sp>
      <p:sp>
        <p:nvSpPr>
          <p:cNvPr id="136" name="Rounded Rectangle 135"/>
          <p:cNvSpPr/>
          <p:nvPr/>
        </p:nvSpPr>
        <p:spPr>
          <a:xfrm>
            <a:off x="6355079" y="5623560"/>
            <a:ext cx="1874519" cy="457200"/>
          </a:xfrm>
          <a:prstGeom prst="roundRect">
            <a:avLst>
              <a:gd name="adj" fmla="val 30000"/>
            </a:avLst>
          </a:prstGeom>
          <a:solidFill>
            <a:srgbClr val="FFFFFF"/>
          </a:solidFill>
          <a:ln>
            <a:noFill/>
          </a:ln>
        </p:spPr>
        <p:txBody>
          <a:bodyPr rtlCol="0" anchor="ctr" lIns="36576" rIns="36576" tIns="0" bIns="0" wrap="square"/>
          <a:lstStyle/>
          <a:p>
            <a:pPr algn="ctr"/>
            <a:r>
              <a:rPr sz="1400" b="0">
                <a:solidFill>
                  <a:srgbClr val="1C2430"/>
                </a:solidFill>
                <a:latin typeface="Calibri"/>
              </a:rPr>
              <a:t>Surface control room</a:t>
            </a:r>
          </a:p>
        </p:txBody>
      </p:sp>
      <p:sp>
        <p:nvSpPr>
          <p:cNvPr id="137" name="Rounded Rectangle 136"/>
          <p:cNvSpPr/>
          <p:nvPr/>
        </p:nvSpPr>
        <p:spPr>
          <a:xfrm>
            <a:off x="8366760" y="5212080"/>
            <a:ext cx="3383280" cy="1005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38" name="TextBox 137"/>
          <p:cNvSpPr txBox="1"/>
          <p:nvPr/>
        </p:nvSpPr>
        <p:spPr>
          <a:xfrm>
            <a:off x="8503920" y="5230368"/>
            <a:ext cx="3108960" cy="969264"/>
          </a:xfrm>
          <a:prstGeom prst="rect">
            <a:avLst/>
          </a:prstGeom>
          <a:noFill/>
        </p:spPr>
        <p:txBody>
          <a:bodyPr wrap="square" lIns="45720" rIns="45720" tIns="27432" bIns="27432" anchor="ctr">
            <a:spAutoFit/>
          </a:bodyPr>
          <a:lstStyle/>
          <a:p>
            <a:pPr algn="l"/>
            <a:r>
              <a:rPr sz="1500" b="1" i="0">
                <a:solidFill>
                  <a:srgbClr val="FFD966"/>
                </a:solidFill>
                <a:latin typeface="Calibri"/>
              </a:rPr>
              <a:t>Need: </a:t>
            </a:r>
            <a:r>
              <a:rPr sz="1500" b="0" i="0">
                <a:solidFill>
                  <a:srgbClr val="FFFFFF"/>
                </a:solidFill>
                <a:latin typeface="Calibri"/>
              </a:rPr>
              <a:t>video where there is line of sight, and an alert that survives a cut 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02</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PROBLEM STATEMENT AND RELEVANCE TO THE MINING SECTOR</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Relevance to underground mining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Relevance to mining</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4  /  16</a:t>
            </a:r>
          </a:p>
        </p:txBody>
      </p:sp>
      <p:sp>
        <p:nvSpPr>
          <p:cNvPr id="13" name="TextBox 12"/>
          <p:cNvSpPr txBox="1"/>
          <p:nvPr/>
        </p:nvSpPr>
        <p:spPr>
          <a:xfrm>
            <a:off x="457200" y="932688"/>
            <a:ext cx="7863840" cy="365760"/>
          </a:xfrm>
          <a:prstGeom prst="rect">
            <a:avLst/>
          </a:prstGeom>
          <a:noFill/>
        </p:spPr>
        <p:txBody>
          <a:bodyPr wrap="square" lIns="45720" rIns="45720" tIns="27432" bIns="27432" anchor="t">
            <a:spAutoFit/>
          </a:bodyPr>
          <a:lstStyle/>
          <a:p>
            <a:pPr algn="l"/>
            <a:r>
              <a:rPr sz="1600" b="0" i="0">
                <a:solidFill>
                  <a:srgbClr val="5C6770"/>
                </a:solidFill>
                <a:latin typeface="Calibri"/>
              </a:rPr>
              <a:t>What an underground heading needs, set against the systems available today.</a:t>
            </a:r>
          </a:p>
        </p:txBody>
      </p:sp>
      <p:sp>
        <p:nvSpPr>
          <p:cNvPr id="14" name="Rectangle 13"/>
          <p:cNvSpPr/>
          <p:nvPr/>
        </p:nvSpPr>
        <p:spPr>
          <a:xfrm>
            <a:off x="3090672"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Cable / leaky feeder</a:t>
            </a:r>
          </a:p>
        </p:txBody>
      </p:sp>
      <p:sp>
        <p:nvSpPr>
          <p:cNvPr id="15" name="Rectangle 14"/>
          <p:cNvSpPr/>
          <p:nvPr/>
        </p:nvSpPr>
        <p:spPr>
          <a:xfrm>
            <a:off x="4828032"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Wi-Fi / LTE</a:t>
            </a:r>
          </a:p>
        </p:txBody>
      </p:sp>
      <p:sp>
        <p:nvSpPr>
          <p:cNvPr id="16" name="Rectangle 15"/>
          <p:cNvSpPr/>
          <p:nvPr/>
        </p:nvSpPr>
        <p:spPr>
          <a:xfrm>
            <a:off x="6565392"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LoRa only</a:t>
            </a:r>
          </a:p>
        </p:txBody>
      </p:sp>
      <p:sp>
        <p:nvSpPr>
          <p:cNvPr id="17" name="Rectangle 16"/>
          <p:cNvSpPr/>
          <p:nvPr/>
        </p:nvSpPr>
        <p:spPr>
          <a:xfrm>
            <a:off x="8302751" y="1280160"/>
            <a:ext cx="1682495" cy="420624"/>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FSO only</a:t>
            </a:r>
          </a:p>
        </p:txBody>
      </p:sp>
      <p:sp>
        <p:nvSpPr>
          <p:cNvPr id="18" name="Rectangle 17"/>
          <p:cNvSpPr/>
          <p:nvPr/>
        </p:nvSpPr>
        <p:spPr>
          <a:xfrm>
            <a:off x="10040111" y="1280160"/>
            <a:ext cx="1682495" cy="420624"/>
          </a:xfrm>
          <a:prstGeom prst="rect">
            <a:avLst/>
          </a:prstGeom>
          <a:solidFill>
            <a:srgbClr val="ED7D31"/>
          </a:solidFill>
          <a:ln>
            <a:noFill/>
          </a:ln>
        </p:spPr>
        <p:txBody>
          <a:bodyPr rtlCol="0" anchor="ctr" lIns="36576" rIns="36576" tIns="0" bIns="0" wrap="square"/>
          <a:lstStyle/>
          <a:p>
            <a:pPr algn="ctr"/>
            <a:r>
              <a:rPr sz="1400" b="1">
                <a:solidFill>
                  <a:srgbClr val="FFFFFF"/>
                </a:solidFill>
                <a:latin typeface="Calibri"/>
              </a:rPr>
              <a:t>This proposal</a:t>
            </a:r>
          </a:p>
        </p:txBody>
      </p:sp>
      <p:sp>
        <p:nvSpPr>
          <p:cNvPr id="19" name="Rectangle 18"/>
          <p:cNvSpPr/>
          <p:nvPr/>
        </p:nvSpPr>
        <p:spPr>
          <a:xfrm>
            <a:off x="457200" y="1755648"/>
            <a:ext cx="2551176" cy="713232"/>
          </a:xfrm>
          <a:prstGeom prst="rect">
            <a:avLst/>
          </a:prstGeom>
          <a:solidFill>
            <a:srgbClr val="FFFFFF"/>
          </a:solidFill>
          <a:ln>
            <a:noFill/>
          </a:ln>
        </p:spPr>
        <p:txBody>
          <a:bodyPr rtlCol="0" anchor="ctr"/>
          <a:lstStyle/>
          <a:p>
            <a:pPr algn="ctr"/>
          </a:p>
        </p:txBody>
      </p:sp>
      <p:sp>
        <p:nvSpPr>
          <p:cNvPr id="20" name="TextBox 19"/>
          <p:cNvSpPr txBox="1"/>
          <p:nvPr/>
        </p:nvSpPr>
        <p:spPr>
          <a:xfrm>
            <a:off x="548640" y="1755648"/>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Reach the surface in an emergency</a:t>
            </a:r>
          </a:p>
        </p:txBody>
      </p:sp>
      <p:sp>
        <p:nvSpPr>
          <p:cNvPr id="21" name="Rectangle 20"/>
          <p:cNvSpPr/>
          <p:nvPr/>
        </p:nvSpPr>
        <p:spPr>
          <a:xfrm>
            <a:off x="3090672" y="1755648"/>
            <a:ext cx="1682495" cy="713232"/>
          </a:xfrm>
          <a:prstGeom prst="rect">
            <a:avLst/>
          </a:prstGeom>
          <a:solidFill>
            <a:srgbClr val="FFFFFF"/>
          </a:solidFill>
          <a:ln>
            <a:noFill/>
          </a:ln>
        </p:spPr>
        <p:txBody>
          <a:bodyPr rtlCol="0" anchor="ctr"/>
          <a:lstStyle/>
          <a:p>
            <a:pPr algn="ctr"/>
          </a:p>
        </p:txBody>
      </p:sp>
      <p:sp>
        <p:nvSpPr>
          <p:cNvPr id="22" name="Oval 21"/>
          <p:cNvSpPr/>
          <p:nvPr/>
        </p:nvSpPr>
        <p:spPr>
          <a:xfrm>
            <a:off x="3154680" y="1819656"/>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23" name="TextBox 22"/>
          <p:cNvSpPr txBox="1"/>
          <p:nvPr/>
        </p:nvSpPr>
        <p:spPr>
          <a:xfrm>
            <a:off x="310896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Until the cable is cut</a:t>
            </a:r>
          </a:p>
        </p:txBody>
      </p:sp>
      <p:sp>
        <p:nvSpPr>
          <p:cNvPr id="24" name="Rectangle 23"/>
          <p:cNvSpPr/>
          <p:nvPr/>
        </p:nvSpPr>
        <p:spPr>
          <a:xfrm>
            <a:off x="4828032" y="1755648"/>
            <a:ext cx="1682495" cy="713232"/>
          </a:xfrm>
          <a:prstGeom prst="rect">
            <a:avLst/>
          </a:prstGeom>
          <a:solidFill>
            <a:srgbClr val="FFFFFF"/>
          </a:solidFill>
          <a:ln>
            <a:noFill/>
          </a:ln>
        </p:spPr>
        <p:txBody>
          <a:bodyPr rtlCol="0" anchor="ctr"/>
          <a:lstStyle/>
          <a:p>
            <a:pPr algn="ctr"/>
          </a:p>
        </p:txBody>
      </p:sp>
      <p:sp>
        <p:nvSpPr>
          <p:cNvPr id="25" name="Oval 24"/>
          <p:cNvSpPr/>
          <p:nvPr/>
        </p:nvSpPr>
        <p:spPr>
          <a:xfrm>
            <a:off x="4892040" y="1819656"/>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26" name="TextBox 25"/>
          <p:cNvSpPr txBox="1"/>
          <p:nvPr/>
        </p:nvSpPr>
        <p:spPr>
          <a:xfrm>
            <a:off x="484632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signal in rock</a:t>
            </a:r>
          </a:p>
        </p:txBody>
      </p:sp>
      <p:sp>
        <p:nvSpPr>
          <p:cNvPr id="27" name="Rectangle 26"/>
          <p:cNvSpPr/>
          <p:nvPr/>
        </p:nvSpPr>
        <p:spPr>
          <a:xfrm>
            <a:off x="6565392" y="1755648"/>
            <a:ext cx="1682495" cy="713232"/>
          </a:xfrm>
          <a:prstGeom prst="rect">
            <a:avLst/>
          </a:prstGeom>
          <a:solidFill>
            <a:srgbClr val="FFFFFF"/>
          </a:solidFill>
          <a:ln>
            <a:noFill/>
          </a:ln>
        </p:spPr>
        <p:txBody>
          <a:bodyPr rtlCol="0" anchor="ctr"/>
          <a:lstStyle/>
          <a:p>
            <a:pPr algn="ctr"/>
          </a:p>
        </p:txBody>
      </p:sp>
      <p:sp>
        <p:nvSpPr>
          <p:cNvPr id="28" name="Oval 27"/>
          <p:cNvSpPr/>
          <p:nvPr/>
        </p:nvSpPr>
        <p:spPr>
          <a:xfrm>
            <a:off x="6629400" y="1819656"/>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29" name="TextBox 28"/>
          <p:cNvSpPr txBox="1"/>
          <p:nvPr/>
        </p:nvSpPr>
        <p:spPr>
          <a:xfrm>
            <a:off x="658368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at low data rate</a:t>
            </a:r>
          </a:p>
        </p:txBody>
      </p:sp>
      <p:sp>
        <p:nvSpPr>
          <p:cNvPr id="30" name="Rectangle 29"/>
          <p:cNvSpPr/>
          <p:nvPr/>
        </p:nvSpPr>
        <p:spPr>
          <a:xfrm>
            <a:off x="8302751" y="1755648"/>
            <a:ext cx="1682495" cy="713232"/>
          </a:xfrm>
          <a:prstGeom prst="rect">
            <a:avLst/>
          </a:prstGeom>
          <a:solidFill>
            <a:srgbClr val="FFFFFF"/>
          </a:solidFill>
          <a:ln>
            <a:noFill/>
          </a:ln>
        </p:spPr>
        <p:txBody>
          <a:bodyPr rtlCol="0" anchor="ctr"/>
          <a:lstStyle/>
          <a:p>
            <a:pPr algn="ctr"/>
          </a:p>
        </p:txBody>
      </p:sp>
      <p:sp>
        <p:nvSpPr>
          <p:cNvPr id="31" name="Oval 30"/>
          <p:cNvSpPr/>
          <p:nvPr/>
        </p:nvSpPr>
        <p:spPr>
          <a:xfrm>
            <a:off x="8366759" y="1819656"/>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32" name="TextBox 31"/>
          <p:cNvSpPr txBox="1"/>
          <p:nvPr/>
        </p:nvSpPr>
        <p:spPr>
          <a:xfrm>
            <a:off x="832104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Only with clear sightline</a:t>
            </a:r>
          </a:p>
        </p:txBody>
      </p:sp>
      <p:sp>
        <p:nvSpPr>
          <p:cNvPr id="33" name="Rectangle 32"/>
          <p:cNvSpPr/>
          <p:nvPr/>
        </p:nvSpPr>
        <p:spPr>
          <a:xfrm>
            <a:off x="10040111" y="1755648"/>
            <a:ext cx="1682495" cy="713232"/>
          </a:xfrm>
          <a:prstGeom prst="rect">
            <a:avLst/>
          </a:prstGeom>
          <a:solidFill>
            <a:srgbClr val="FBF3E3"/>
          </a:solidFill>
          <a:ln>
            <a:noFill/>
          </a:ln>
        </p:spPr>
        <p:txBody>
          <a:bodyPr rtlCol="0" anchor="ctr"/>
          <a:lstStyle/>
          <a:p>
            <a:pPr algn="ctr"/>
          </a:p>
        </p:txBody>
      </p:sp>
      <p:sp>
        <p:nvSpPr>
          <p:cNvPr id="34" name="Oval 33"/>
          <p:cNvSpPr/>
          <p:nvPr/>
        </p:nvSpPr>
        <p:spPr>
          <a:xfrm>
            <a:off x="10104119" y="1819656"/>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35" name="TextBox 34"/>
          <p:cNvSpPr txBox="1"/>
          <p:nvPr/>
        </p:nvSpPr>
        <p:spPr>
          <a:xfrm>
            <a:off x="10058400" y="2039112"/>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LoRa stays up if beam drops</a:t>
            </a:r>
          </a:p>
        </p:txBody>
      </p:sp>
      <p:sp>
        <p:nvSpPr>
          <p:cNvPr id="36" name="Rectangle 35"/>
          <p:cNvSpPr/>
          <p:nvPr/>
        </p:nvSpPr>
        <p:spPr>
          <a:xfrm>
            <a:off x="457200" y="2523744"/>
            <a:ext cx="2551176" cy="713232"/>
          </a:xfrm>
          <a:prstGeom prst="rect">
            <a:avLst/>
          </a:prstGeom>
          <a:solidFill>
            <a:srgbClr val="FFFFFF"/>
          </a:solidFill>
          <a:ln>
            <a:noFill/>
          </a:ln>
        </p:spPr>
        <p:txBody>
          <a:bodyPr rtlCol="0" anchor="ctr"/>
          <a:lstStyle/>
          <a:p>
            <a:pPr algn="ctr"/>
          </a:p>
        </p:txBody>
      </p:sp>
      <p:sp>
        <p:nvSpPr>
          <p:cNvPr id="37" name="TextBox 36"/>
          <p:cNvSpPr txBox="1"/>
          <p:nvPr/>
        </p:nvSpPr>
        <p:spPr>
          <a:xfrm>
            <a:off x="548640" y="2523744"/>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Live picture of the face</a:t>
            </a:r>
          </a:p>
        </p:txBody>
      </p:sp>
      <p:sp>
        <p:nvSpPr>
          <p:cNvPr id="38" name="Rectangle 37"/>
          <p:cNvSpPr/>
          <p:nvPr/>
        </p:nvSpPr>
        <p:spPr>
          <a:xfrm>
            <a:off x="3090672" y="2523744"/>
            <a:ext cx="1682495" cy="713232"/>
          </a:xfrm>
          <a:prstGeom prst="rect">
            <a:avLst/>
          </a:prstGeom>
          <a:solidFill>
            <a:srgbClr val="FFFFFF"/>
          </a:solidFill>
          <a:ln>
            <a:noFill/>
          </a:ln>
        </p:spPr>
        <p:txBody>
          <a:bodyPr rtlCol="0" anchor="ctr"/>
          <a:lstStyle/>
          <a:p>
            <a:pPr algn="ctr"/>
          </a:p>
        </p:txBody>
      </p:sp>
      <p:sp>
        <p:nvSpPr>
          <p:cNvPr id="39" name="Oval 38"/>
          <p:cNvSpPr/>
          <p:nvPr/>
        </p:nvSpPr>
        <p:spPr>
          <a:xfrm>
            <a:off x="3154680" y="2587751"/>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0" name="TextBox 39"/>
          <p:cNvSpPr txBox="1"/>
          <p:nvPr/>
        </p:nvSpPr>
        <p:spPr>
          <a:xfrm>
            <a:off x="310896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what it is for</a:t>
            </a:r>
          </a:p>
        </p:txBody>
      </p:sp>
      <p:sp>
        <p:nvSpPr>
          <p:cNvPr id="41" name="Rectangle 40"/>
          <p:cNvSpPr/>
          <p:nvPr/>
        </p:nvSpPr>
        <p:spPr>
          <a:xfrm>
            <a:off x="4828032" y="2523744"/>
            <a:ext cx="1682495" cy="713232"/>
          </a:xfrm>
          <a:prstGeom prst="rect">
            <a:avLst/>
          </a:prstGeom>
          <a:solidFill>
            <a:srgbClr val="FFFFFF"/>
          </a:solidFill>
          <a:ln>
            <a:noFill/>
          </a:ln>
        </p:spPr>
        <p:txBody>
          <a:bodyPr rtlCol="0" anchor="ctr"/>
          <a:lstStyle/>
          <a:p>
            <a:pPr algn="ctr"/>
          </a:p>
        </p:txBody>
      </p:sp>
      <p:sp>
        <p:nvSpPr>
          <p:cNvPr id="42" name="Oval 41"/>
          <p:cNvSpPr/>
          <p:nvPr/>
        </p:nvSpPr>
        <p:spPr>
          <a:xfrm>
            <a:off x="4892040" y="2587751"/>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3" name="TextBox 42"/>
          <p:cNvSpPr txBox="1"/>
          <p:nvPr/>
        </p:nvSpPr>
        <p:spPr>
          <a:xfrm>
            <a:off x="484632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usable bandwidth</a:t>
            </a:r>
          </a:p>
        </p:txBody>
      </p:sp>
      <p:sp>
        <p:nvSpPr>
          <p:cNvPr id="44" name="Rectangle 43"/>
          <p:cNvSpPr/>
          <p:nvPr/>
        </p:nvSpPr>
        <p:spPr>
          <a:xfrm>
            <a:off x="6565392" y="2523744"/>
            <a:ext cx="1682495" cy="713232"/>
          </a:xfrm>
          <a:prstGeom prst="rect">
            <a:avLst/>
          </a:prstGeom>
          <a:solidFill>
            <a:srgbClr val="FFFFFF"/>
          </a:solidFill>
          <a:ln>
            <a:noFill/>
          </a:ln>
        </p:spPr>
        <p:txBody>
          <a:bodyPr rtlCol="0" anchor="ctr"/>
          <a:lstStyle/>
          <a:p>
            <a:pPr algn="ctr"/>
          </a:p>
        </p:txBody>
      </p:sp>
      <p:sp>
        <p:nvSpPr>
          <p:cNvPr id="45" name="Oval 44"/>
          <p:cNvSpPr/>
          <p:nvPr/>
        </p:nvSpPr>
        <p:spPr>
          <a:xfrm>
            <a:off x="6629400" y="2587751"/>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6" name="TextBox 45"/>
          <p:cNvSpPr txBox="1"/>
          <p:nvPr/>
        </p:nvSpPr>
        <p:spPr>
          <a:xfrm>
            <a:off x="658368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Too slow for video</a:t>
            </a:r>
          </a:p>
        </p:txBody>
      </p:sp>
      <p:sp>
        <p:nvSpPr>
          <p:cNvPr id="47" name="Rectangle 46"/>
          <p:cNvSpPr/>
          <p:nvPr/>
        </p:nvSpPr>
        <p:spPr>
          <a:xfrm>
            <a:off x="8302751" y="2523744"/>
            <a:ext cx="1682495" cy="713232"/>
          </a:xfrm>
          <a:prstGeom prst="rect">
            <a:avLst/>
          </a:prstGeom>
          <a:solidFill>
            <a:srgbClr val="FFFFFF"/>
          </a:solidFill>
          <a:ln>
            <a:noFill/>
          </a:ln>
        </p:spPr>
        <p:txBody>
          <a:bodyPr rtlCol="0" anchor="ctr"/>
          <a:lstStyle/>
          <a:p>
            <a:pPr algn="ctr"/>
          </a:p>
        </p:txBody>
      </p:sp>
      <p:sp>
        <p:nvSpPr>
          <p:cNvPr id="48" name="Oval 47"/>
          <p:cNvSpPr/>
          <p:nvPr/>
        </p:nvSpPr>
        <p:spPr>
          <a:xfrm>
            <a:off x="8366759" y="2587751"/>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9" name="TextBox 48"/>
          <p:cNvSpPr txBox="1"/>
          <p:nvPr/>
        </p:nvSpPr>
        <p:spPr>
          <a:xfrm>
            <a:off x="832104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while aligned</a:t>
            </a:r>
          </a:p>
        </p:txBody>
      </p:sp>
      <p:sp>
        <p:nvSpPr>
          <p:cNvPr id="50" name="Rectangle 49"/>
          <p:cNvSpPr/>
          <p:nvPr/>
        </p:nvSpPr>
        <p:spPr>
          <a:xfrm>
            <a:off x="10040111" y="2523744"/>
            <a:ext cx="1682495" cy="713232"/>
          </a:xfrm>
          <a:prstGeom prst="rect">
            <a:avLst/>
          </a:prstGeom>
          <a:solidFill>
            <a:srgbClr val="FBF3E3"/>
          </a:solidFill>
          <a:ln>
            <a:noFill/>
          </a:ln>
        </p:spPr>
        <p:txBody>
          <a:bodyPr rtlCol="0" anchor="ctr"/>
          <a:lstStyle/>
          <a:p>
            <a:pPr algn="ctr"/>
          </a:p>
        </p:txBody>
      </p:sp>
      <p:sp>
        <p:nvSpPr>
          <p:cNvPr id="51" name="Oval 50"/>
          <p:cNvSpPr/>
          <p:nvPr/>
        </p:nvSpPr>
        <p:spPr>
          <a:xfrm>
            <a:off x="10104119" y="2587751"/>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52" name="TextBox 51"/>
          <p:cNvSpPr txBox="1"/>
          <p:nvPr/>
        </p:nvSpPr>
        <p:spPr>
          <a:xfrm>
            <a:off x="10058400" y="280720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Aligned by closed loop</a:t>
            </a:r>
          </a:p>
        </p:txBody>
      </p:sp>
      <p:sp>
        <p:nvSpPr>
          <p:cNvPr id="53" name="Rectangle 52"/>
          <p:cNvSpPr/>
          <p:nvPr/>
        </p:nvSpPr>
        <p:spPr>
          <a:xfrm>
            <a:off x="457200" y="3291840"/>
            <a:ext cx="2551176" cy="713232"/>
          </a:xfrm>
          <a:prstGeom prst="rect">
            <a:avLst/>
          </a:prstGeom>
          <a:solidFill>
            <a:srgbClr val="FFFFFF"/>
          </a:solidFill>
          <a:ln>
            <a:noFill/>
          </a:ln>
        </p:spPr>
        <p:txBody>
          <a:bodyPr rtlCol="0" anchor="ctr"/>
          <a:lstStyle/>
          <a:p>
            <a:pPr algn="ctr"/>
          </a:p>
        </p:txBody>
      </p:sp>
      <p:sp>
        <p:nvSpPr>
          <p:cNvPr id="54" name="TextBox 53"/>
          <p:cNvSpPr txBox="1"/>
          <p:nvPr/>
        </p:nvSpPr>
        <p:spPr>
          <a:xfrm>
            <a:off x="548640" y="3291840"/>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After vibration or a fall</a:t>
            </a:r>
          </a:p>
        </p:txBody>
      </p:sp>
      <p:sp>
        <p:nvSpPr>
          <p:cNvPr id="55" name="Rectangle 54"/>
          <p:cNvSpPr/>
          <p:nvPr/>
        </p:nvSpPr>
        <p:spPr>
          <a:xfrm>
            <a:off x="3090672" y="3291840"/>
            <a:ext cx="1682495" cy="713232"/>
          </a:xfrm>
          <a:prstGeom prst="rect">
            <a:avLst/>
          </a:prstGeom>
          <a:solidFill>
            <a:srgbClr val="FFFFFF"/>
          </a:solidFill>
          <a:ln>
            <a:noFill/>
          </a:ln>
        </p:spPr>
        <p:txBody>
          <a:bodyPr rtlCol="0" anchor="ctr"/>
          <a:lstStyle/>
          <a:p>
            <a:pPr algn="ctr"/>
          </a:p>
        </p:txBody>
      </p:sp>
      <p:sp>
        <p:nvSpPr>
          <p:cNvPr id="56" name="Oval 55"/>
          <p:cNvSpPr/>
          <p:nvPr/>
        </p:nvSpPr>
        <p:spPr>
          <a:xfrm>
            <a:off x="3154680" y="3355848"/>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7" name="TextBox 56"/>
          <p:cNvSpPr txBox="1"/>
          <p:nvPr/>
        </p:nvSpPr>
        <p:spPr>
          <a:xfrm>
            <a:off x="310896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Cable often fails too</a:t>
            </a:r>
          </a:p>
        </p:txBody>
      </p:sp>
      <p:sp>
        <p:nvSpPr>
          <p:cNvPr id="58" name="Rectangle 57"/>
          <p:cNvSpPr/>
          <p:nvPr/>
        </p:nvSpPr>
        <p:spPr>
          <a:xfrm>
            <a:off x="4828032" y="3291840"/>
            <a:ext cx="1682495" cy="713232"/>
          </a:xfrm>
          <a:prstGeom prst="rect">
            <a:avLst/>
          </a:prstGeom>
          <a:solidFill>
            <a:srgbClr val="FFFFFF"/>
          </a:solidFill>
          <a:ln>
            <a:noFill/>
          </a:ln>
        </p:spPr>
        <p:txBody>
          <a:bodyPr rtlCol="0" anchor="ctr"/>
          <a:lstStyle/>
          <a:p>
            <a:pPr algn="ctr"/>
          </a:p>
        </p:txBody>
      </p:sp>
      <p:sp>
        <p:nvSpPr>
          <p:cNvPr id="59" name="Oval 58"/>
          <p:cNvSpPr/>
          <p:nvPr/>
        </p:nvSpPr>
        <p:spPr>
          <a:xfrm>
            <a:off x="4892040" y="3355848"/>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0" name="TextBox 59"/>
          <p:cNvSpPr txBox="1"/>
          <p:nvPr/>
        </p:nvSpPr>
        <p:spPr>
          <a:xfrm>
            <a:off x="484632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Link lost</a:t>
            </a:r>
          </a:p>
        </p:txBody>
      </p:sp>
      <p:sp>
        <p:nvSpPr>
          <p:cNvPr id="61" name="Rectangle 60"/>
          <p:cNvSpPr/>
          <p:nvPr/>
        </p:nvSpPr>
        <p:spPr>
          <a:xfrm>
            <a:off x="6565392" y="3291840"/>
            <a:ext cx="1682495" cy="713232"/>
          </a:xfrm>
          <a:prstGeom prst="rect">
            <a:avLst/>
          </a:prstGeom>
          <a:solidFill>
            <a:srgbClr val="FFFFFF"/>
          </a:solidFill>
          <a:ln>
            <a:noFill/>
          </a:ln>
        </p:spPr>
        <p:txBody>
          <a:bodyPr rtlCol="0" anchor="ctr"/>
          <a:lstStyle/>
          <a:p>
            <a:pPr algn="ctr"/>
          </a:p>
        </p:txBody>
      </p:sp>
      <p:sp>
        <p:nvSpPr>
          <p:cNvPr id="62" name="Oval 61"/>
          <p:cNvSpPr/>
          <p:nvPr/>
        </p:nvSpPr>
        <p:spPr>
          <a:xfrm>
            <a:off x="6629400" y="3355848"/>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3" name="TextBox 62"/>
          <p:cNvSpPr txBox="1"/>
          <p:nvPr/>
        </p:nvSpPr>
        <p:spPr>
          <a:xfrm>
            <a:off x="658368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can still be sent</a:t>
            </a:r>
          </a:p>
        </p:txBody>
      </p:sp>
      <p:sp>
        <p:nvSpPr>
          <p:cNvPr id="64" name="Rectangle 63"/>
          <p:cNvSpPr/>
          <p:nvPr/>
        </p:nvSpPr>
        <p:spPr>
          <a:xfrm>
            <a:off x="8302751" y="3291840"/>
            <a:ext cx="1682495" cy="713232"/>
          </a:xfrm>
          <a:prstGeom prst="rect">
            <a:avLst/>
          </a:prstGeom>
          <a:solidFill>
            <a:srgbClr val="FFFFFF"/>
          </a:solidFill>
          <a:ln>
            <a:noFill/>
          </a:ln>
        </p:spPr>
        <p:txBody>
          <a:bodyPr rtlCol="0" anchor="ctr"/>
          <a:lstStyle/>
          <a:p>
            <a:pPr algn="ctr"/>
          </a:p>
        </p:txBody>
      </p:sp>
      <p:sp>
        <p:nvSpPr>
          <p:cNvPr id="65" name="Oval 64"/>
          <p:cNvSpPr/>
          <p:nvPr/>
        </p:nvSpPr>
        <p:spPr>
          <a:xfrm>
            <a:off x="8366759" y="3355848"/>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6" name="TextBox 65"/>
          <p:cNvSpPr txBox="1"/>
          <p:nvPr/>
        </p:nvSpPr>
        <p:spPr>
          <a:xfrm>
            <a:off x="832104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is lost</a:t>
            </a:r>
          </a:p>
        </p:txBody>
      </p:sp>
      <p:sp>
        <p:nvSpPr>
          <p:cNvPr id="67" name="Rectangle 66"/>
          <p:cNvSpPr/>
          <p:nvPr/>
        </p:nvSpPr>
        <p:spPr>
          <a:xfrm>
            <a:off x="10040111" y="3291840"/>
            <a:ext cx="1682495" cy="713232"/>
          </a:xfrm>
          <a:prstGeom prst="rect">
            <a:avLst/>
          </a:prstGeom>
          <a:solidFill>
            <a:srgbClr val="FBF3E3"/>
          </a:solidFill>
          <a:ln>
            <a:noFill/>
          </a:ln>
        </p:spPr>
        <p:txBody>
          <a:bodyPr rtlCol="0" anchor="ctr"/>
          <a:lstStyle/>
          <a:p>
            <a:pPr algn="ctr"/>
          </a:p>
        </p:txBody>
      </p:sp>
      <p:sp>
        <p:nvSpPr>
          <p:cNvPr id="68" name="Oval 67"/>
          <p:cNvSpPr/>
          <p:nvPr/>
        </p:nvSpPr>
        <p:spPr>
          <a:xfrm>
            <a:off x="10104119" y="3355848"/>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9" name="TextBox 68"/>
          <p:cNvSpPr txBox="1"/>
          <p:nvPr/>
        </p:nvSpPr>
        <p:spPr>
          <a:xfrm>
            <a:off x="10058400" y="357530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stays. Beam reacquired</a:t>
            </a:r>
          </a:p>
        </p:txBody>
      </p:sp>
      <p:sp>
        <p:nvSpPr>
          <p:cNvPr id="70" name="Rectangle 69"/>
          <p:cNvSpPr/>
          <p:nvPr/>
        </p:nvSpPr>
        <p:spPr>
          <a:xfrm>
            <a:off x="457200" y="4059936"/>
            <a:ext cx="2551176" cy="713232"/>
          </a:xfrm>
          <a:prstGeom prst="rect">
            <a:avLst/>
          </a:prstGeom>
          <a:solidFill>
            <a:srgbClr val="FFFFFF"/>
          </a:solidFill>
          <a:ln>
            <a:noFill/>
          </a:ln>
        </p:spPr>
        <p:txBody>
          <a:bodyPr rtlCol="0" anchor="ctr"/>
          <a:lstStyle/>
          <a:p>
            <a:pPr algn="ctr"/>
          </a:p>
        </p:txBody>
      </p:sp>
      <p:sp>
        <p:nvSpPr>
          <p:cNvPr id="71" name="TextBox 70"/>
          <p:cNvSpPr txBox="1"/>
          <p:nvPr/>
        </p:nvSpPr>
        <p:spPr>
          <a:xfrm>
            <a:off x="548640" y="4059936"/>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In heavy dust</a:t>
            </a:r>
          </a:p>
        </p:txBody>
      </p:sp>
      <p:sp>
        <p:nvSpPr>
          <p:cNvPr id="72" name="Rectangle 71"/>
          <p:cNvSpPr/>
          <p:nvPr/>
        </p:nvSpPr>
        <p:spPr>
          <a:xfrm>
            <a:off x="3090672" y="4059936"/>
            <a:ext cx="1682495" cy="713232"/>
          </a:xfrm>
          <a:prstGeom prst="rect">
            <a:avLst/>
          </a:prstGeom>
          <a:solidFill>
            <a:srgbClr val="FFFFFF"/>
          </a:solidFill>
          <a:ln>
            <a:noFill/>
          </a:ln>
        </p:spPr>
        <p:txBody>
          <a:bodyPr rtlCol="0" anchor="ctr"/>
          <a:lstStyle/>
          <a:p>
            <a:pPr algn="ctr"/>
          </a:p>
        </p:txBody>
      </p:sp>
      <p:sp>
        <p:nvSpPr>
          <p:cNvPr id="73" name="Oval 72"/>
          <p:cNvSpPr/>
          <p:nvPr/>
        </p:nvSpPr>
        <p:spPr>
          <a:xfrm>
            <a:off x="3154680" y="4123944"/>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74" name="TextBox 73"/>
          <p:cNvSpPr txBox="1"/>
          <p:nvPr/>
        </p:nvSpPr>
        <p:spPr>
          <a:xfrm>
            <a:off x="310896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affected</a:t>
            </a:r>
          </a:p>
        </p:txBody>
      </p:sp>
      <p:sp>
        <p:nvSpPr>
          <p:cNvPr id="75" name="Rectangle 74"/>
          <p:cNvSpPr/>
          <p:nvPr/>
        </p:nvSpPr>
        <p:spPr>
          <a:xfrm>
            <a:off x="4828032" y="4059936"/>
            <a:ext cx="1682495" cy="713232"/>
          </a:xfrm>
          <a:prstGeom prst="rect">
            <a:avLst/>
          </a:prstGeom>
          <a:solidFill>
            <a:srgbClr val="FFFFFF"/>
          </a:solidFill>
          <a:ln>
            <a:noFill/>
          </a:ln>
        </p:spPr>
        <p:txBody>
          <a:bodyPr rtlCol="0" anchor="ctr"/>
          <a:lstStyle/>
          <a:p>
            <a:pPr algn="ctr"/>
          </a:p>
        </p:txBody>
      </p:sp>
      <p:sp>
        <p:nvSpPr>
          <p:cNvPr id="76" name="Oval 75"/>
          <p:cNvSpPr/>
          <p:nvPr/>
        </p:nvSpPr>
        <p:spPr>
          <a:xfrm>
            <a:off x="4892040" y="4123944"/>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7" name="TextBox 76"/>
          <p:cNvSpPr txBox="1"/>
          <p:nvPr/>
        </p:nvSpPr>
        <p:spPr>
          <a:xfrm>
            <a:off x="484632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affected, rock still blocks</a:t>
            </a:r>
          </a:p>
        </p:txBody>
      </p:sp>
      <p:sp>
        <p:nvSpPr>
          <p:cNvPr id="78" name="Rectangle 77"/>
          <p:cNvSpPr/>
          <p:nvPr/>
        </p:nvSpPr>
        <p:spPr>
          <a:xfrm>
            <a:off x="6565392" y="4059936"/>
            <a:ext cx="1682495" cy="713232"/>
          </a:xfrm>
          <a:prstGeom prst="rect">
            <a:avLst/>
          </a:prstGeom>
          <a:solidFill>
            <a:srgbClr val="FFFFFF"/>
          </a:solidFill>
          <a:ln>
            <a:noFill/>
          </a:ln>
        </p:spPr>
        <p:txBody>
          <a:bodyPr rtlCol="0" anchor="ctr"/>
          <a:lstStyle/>
          <a:p>
            <a:pPr algn="ctr"/>
          </a:p>
        </p:txBody>
      </p:sp>
      <p:sp>
        <p:nvSpPr>
          <p:cNvPr id="79" name="Oval 78"/>
          <p:cNvSpPr/>
          <p:nvPr/>
        </p:nvSpPr>
        <p:spPr>
          <a:xfrm>
            <a:off x="6629400" y="4123944"/>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0" name="TextBox 79"/>
          <p:cNvSpPr txBox="1"/>
          <p:nvPr/>
        </p:nvSpPr>
        <p:spPr>
          <a:xfrm>
            <a:off x="658368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affected</a:t>
            </a:r>
          </a:p>
        </p:txBody>
      </p:sp>
      <p:sp>
        <p:nvSpPr>
          <p:cNvPr id="81" name="Rectangle 80"/>
          <p:cNvSpPr/>
          <p:nvPr/>
        </p:nvSpPr>
        <p:spPr>
          <a:xfrm>
            <a:off x="8302751" y="4059936"/>
            <a:ext cx="1682495" cy="713232"/>
          </a:xfrm>
          <a:prstGeom prst="rect">
            <a:avLst/>
          </a:prstGeom>
          <a:solidFill>
            <a:srgbClr val="FFFFFF"/>
          </a:solidFill>
          <a:ln>
            <a:noFill/>
          </a:ln>
        </p:spPr>
        <p:txBody>
          <a:bodyPr rtlCol="0" anchor="ctr"/>
          <a:lstStyle/>
          <a:p>
            <a:pPr algn="ctr"/>
          </a:p>
        </p:txBody>
      </p:sp>
      <p:sp>
        <p:nvSpPr>
          <p:cNvPr id="82" name="Oval 81"/>
          <p:cNvSpPr/>
          <p:nvPr/>
        </p:nvSpPr>
        <p:spPr>
          <a:xfrm>
            <a:off x="8366759" y="4123944"/>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83" name="TextBox 82"/>
          <p:cNvSpPr txBox="1"/>
          <p:nvPr/>
        </p:nvSpPr>
        <p:spPr>
          <a:xfrm>
            <a:off x="832104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scattered, link drops</a:t>
            </a:r>
          </a:p>
        </p:txBody>
      </p:sp>
      <p:sp>
        <p:nvSpPr>
          <p:cNvPr id="84" name="Rectangle 83"/>
          <p:cNvSpPr/>
          <p:nvPr/>
        </p:nvSpPr>
        <p:spPr>
          <a:xfrm>
            <a:off x="10040111" y="4059936"/>
            <a:ext cx="1682495" cy="713232"/>
          </a:xfrm>
          <a:prstGeom prst="rect">
            <a:avLst/>
          </a:prstGeom>
          <a:solidFill>
            <a:srgbClr val="FBF3E3"/>
          </a:solidFill>
          <a:ln>
            <a:noFill/>
          </a:ln>
        </p:spPr>
        <p:txBody>
          <a:bodyPr rtlCol="0" anchor="ctr"/>
          <a:lstStyle/>
          <a:p>
            <a:pPr algn="ctr"/>
          </a:p>
        </p:txBody>
      </p:sp>
      <p:sp>
        <p:nvSpPr>
          <p:cNvPr id="85" name="Oval 84"/>
          <p:cNvSpPr/>
          <p:nvPr/>
        </p:nvSpPr>
        <p:spPr>
          <a:xfrm>
            <a:off x="10104119" y="4123944"/>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6" name="TextBox 85"/>
          <p:cNvSpPr txBox="1"/>
          <p:nvPr/>
        </p:nvSpPr>
        <p:spPr>
          <a:xfrm>
            <a:off x="10058400" y="434340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Switches to Zigbee / Wi-Fi</a:t>
            </a:r>
          </a:p>
        </p:txBody>
      </p:sp>
      <p:sp>
        <p:nvSpPr>
          <p:cNvPr id="87" name="Rectangle 86"/>
          <p:cNvSpPr/>
          <p:nvPr/>
        </p:nvSpPr>
        <p:spPr>
          <a:xfrm>
            <a:off x="457200" y="4828032"/>
            <a:ext cx="2551176" cy="713232"/>
          </a:xfrm>
          <a:prstGeom prst="rect">
            <a:avLst/>
          </a:prstGeom>
          <a:solidFill>
            <a:srgbClr val="FFFFFF"/>
          </a:solidFill>
          <a:ln>
            <a:noFill/>
          </a:ln>
        </p:spPr>
        <p:txBody>
          <a:bodyPr rtlCol="0" anchor="ctr"/>
          <a:lstStyle/>
          <a:p>
            <a:pPr algn="ctr"/>
          </a:p>
        </p:txBody>
      </p:sp>
      <p:sp>
        <p:nvSpPr>
          <p:cNvPr id="88" name="TextBox 87"/>
          <p:cNvSpPr txBox="1"/>
          <p:nvPr/>
        </p:nvSpPr>
        <p:spPr>
          <a:xfrm>
            <a:off x="548640" y="4828032"/>
            <a:ext cx="2331720" cy="713232"/>
          </a:xfrm>
          <a:prstGeom prst="rect">
            <a:avLst/>
          </a:prstGeom>
          <a:noFill/>
        </p:spPr>
        <p:txBody>
          <a:bodyPr wrap="square" lIns="45720" rIns="45720" tIns="27432" bIns="27432" anchor="ctr">
            <a:spAutoFit/>
          </a:bodyPr>
          <a:lstStyle/>
          <a:p>
            <a:pPr algn="l"/>
            <a:r>
              <a:rPr sz="1500" b="1" i="0">
                <a:solidFill>
                  <a:srgbClr val="1B3A4B"/>
                </a:solidFill>
                <a:latin typeface="Calibri"/>
              </a:rPr>
              <a:t>Fit for an Indian underground mine</a:t>
            </a:r>
          </a:p>
        </p:txBody>
      </p:sp>
      <p:sp>
        <p:nvSpPr>
          <p:cNvPr id="89" name="Rectangle 88"/>
          <p:cNvSpPr/>
          <p:nvPr/>
        </p:nvSpPr>
        <p:spPr>
          <a:xfrm>
            <a:off x="3090672" y="4828032"/>
            <a:ext cx="1682495" cy="713232"/>
          </a:xfrm>
          <a:prstGeom prst="rect">
            <a:avLst/>
          </a:prstGeom>
          <a:solidFill>
            <a:srgbClr val="FFFFFF"/>
          </a:solidFill>
          <a:ln>
            <a:noFill/>
          </a:ln>
        </p:spPr>
        <p:txBody>
          <a:bodyPr rtlCol="0" anchor="ctr"/>
          <a:lstStyle/>
          <a:p>
            <a:pPr algn="ctr"/>
          </a:p>
        </p:txBody>
      </p:sp>
      <p:sp>
        <p:nvSpPr>
          <p:cNvPr id="90" name="Oval 89"/>
          <p:cNvSpPr/>
          <p:nvPr/>
        </p:nvSpPr>
        <p:spPr>
          <a:xfrm>
            <a:off x="3154680" y="4892040"/>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91" name="TextBox 90"/>
          <p:cNvSpPr txBox="1"/>
          <p:nvPr/>
        </p:nvSpPr>
        <p:spPr>
          <a:xfrm>
            <a:off x="310896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Often imported</a:t>
            </a:r>
          </a:p>
        </p:txBody>
      </p:sp>
      <p:sp>
        <p:nvSpPr>
          <p:cNvPr id="92" name="Rectangle 91"/>
          <p:cNvSpPr/>
          <p:nvPr/>
        </p:nvSpPr>
        <p:spPr>
          <a:xfrm>
            <a:off x="4828032" y="4828032"/>
            <a:ext cx="1682495" cy="713232"/>
          </a:xfrm>
          <a:prstGeom prst="rect">
            <a:avLst/>
          </a:prstGeom>
          <a:solidFill>
            <a:srgbClr val="FFFFFF"/>
          </a:solidFill>
          <a:ln>
            <a:noFill/>
          </a:ln>
        </p:spPr>
        <p:txBody>
          <a:bodyPr rtlCol="0" anchor="ctr"/>
          <a:lstStyle/>
          <a:p>
            <a:pPr algn="ctr"/>
          </a:p>
        </p:txBody>
      </p:sp>
      <p:sp>
        <p:nvSpPr>
          <p:cNvPr id="93" name="Oval 92"/>
          <p:cNvSpPr/>
          <p:nvPr/>
        </p:nvSpPr>
        <p:spPr>
          <a:xfrm>
            <a:off x="4892040" y="4892040"/>
            <a:ext cx="210312" cy="210312"/>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94" name="TextBox 93"/>
          <p:cNvSpPr txBox="1"/>
          <p:nvPr/>
        </p:nvSpPr>
        <p:spPr>
          <a:xfrm>
            <a:off x="484632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an underground system</a:t>
            </a:r>
          </a:p>
        </p:txBody>
      </p:sp>
      <p:sp>
        <p:nvSpPr>
          <p:cNvPr id="95" name="Rectangle 94"/>
          <p:cNvSpPr/>
          <p:nvPr/>
        </p:nvSpPr>
        <p:spPr>
          <a:xfrm>
            <a:off x="6565392" y="4828032"/>
            <a:ext cx="1682495" cy="713232"/>
          </a:xfrm>
          <a:prstGeom prst="rect">
            <a:avLst/>
          </a:prstGeom>
          <a:solidFill>
            <a:srgbClr val="FFFFFF"/>
          </a:solidFill>
          <a:ln>
            <a:noFill/>
          </a:ln>
        </p:spPr>
        <p:txBody>
          <a:bodyPr rtlCol="0" anchor="ctr"/>
          <a:lstStyle/>
          <a:p>
            <a:pPr algn="ctr"/>
          </a:p>
        </p:txBody>
      </p:sp>
      <p:sp>
        <p:nvSpPr>
          <p:cNvPr id="96" name="Oval 95"/>
          <p:cNvSpPr/>
          <p:nvPr/>
        </p:nvSpPr>
        <p:spPr>
          <a:xfrm>
            <a:off x="6629400" y="4892040"/>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97" name="TextBox 96"/>
          <p:cNvSpPr txBox="1"/>
          <p:nvPr/>
        </p:nvSpPr>
        <p:spPr>
          <a:xfrm>
            <a:off x="658368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Sensors, not video</a:t>
            </a:r>
          </a:p>
        </p:txBody>
      </p:sp>
      <p:sp>
        <p:nvSpPr>
          <p:cNvPr id="98" name="Rectangle 97"/>
          <p:cNvSpPr/>
          <p:nvPr/>
        </p:nvSpPr>
        <p:spPr>
          <a:xfrm>
            <a:off x="8302751" y="4828032"/>
            <a:ext cx="1682495" cy="713232"/>
          </a:xfrm>
          <a:prstGeom prst="rect">
            <a:avLst/>
          </a:prstGeom>
          <a:solidFill>
            <a:srgbClr val="FFFFFF"/>
          </a:solidFill>
          <a:ln>
            <a:noFill/>
          </a:ln>
        </p:spPr>
        <p:txBody>
          <a:bodyPr rtlCol="0" anchor="ctr"/>
          <a:lstStyle/>
          <a:p>
            <a:pPr algn="ctr"/>
          </a:p>
        </p:txBody>
      </p:sp>
      <p:sp>
        <p:nvSpPr>
          <p:cNvPr id="99" name="Oval 98"/>
          <p:cNvSpPr/>
          <p:nvPr/>
        </p:nvSpPr>
        <p:spPr>
          <a:xfrm>
            <a:off x="8366759" y="4892040"/>
            <a:ext cx="210312" cy="210312"/>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100" name="TextBox 99"/>
          <p:cNvSpPr txBox="1"/>
          <p:nvPr/>
        </p:nvSpPr>
        <p:spPr>
          <a:xfrm>
            <a:off x="832104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Mostly shown in lab</a:t>
            </a:r>
          </a:p>
        </p:txBody>
      </p:sp>
      <p:sp>
        <p:nvSpPr>
          <p:cNvPr id="101" name="Rectangle 100"/>
          <p:cNvSpPr/>
          <p:nvPr/>
        </p:nvSpPr>
        <p:spPr>
          <a:xfrm>
            <a:off x="10040111" y="4828032"/>
            <a:ext cx="1682495" cy="713232"/>
          </a:xfrm>
          <a:prstGeom prst="rect">
            <a:avLst/>
          </a:prstGeom>
          <a:solidFill>
            <a:srgbClr val="FBF3E3"/>
          </a:solidFill>
          <a:ln>
            <a:noFill/>
          </a:ln>
        </p:spPr>
        <p:txBody>
          <a:bodyPr rtlCol="0" anchor="ctr"/>
          <a:lstStyle/>
          <a:p>
            <a:pPr algn="ctr"/>
          </a:p>
        </p:txBody>
      </p:sp>
      <p:sp>
        <p:nvSpPr>
          <p:cNvPr id="102" name="Oval 101"/>
          <p:cNvSpPr/>
          <p:nvPr/>
        </p:nvSpPr>
        <p:spPr>
          <a:xfrm>
            <a:off x="10104119" y="4892040"/>
            <a:ext cx="210312" cy="210312"/>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103" name="TextBox 102"/>
          <p:cNvSpPr txBox="1"/>
          <p:nvPr/>
        </p:nvSpPr>
        <p:spPr>
          <a:xfrm>
            <a:off x="10058400" y="5111496"/>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Indigenous node</a:t>
            </a:r>
          </a:p>
        </p:txBody>
      </p:sp>
      <p:sp>
        <p:nvSpPr>
          <p:cNvPr id="104" name="Oval 103"/>
          <p:cNvSpPr/>
          <p:nvPr/>
        </p:nvSpPr>
        <p:spPr>
          <a:xfrm>
            <a:off x="8503920" y="1024128"/>
            <a:ext cx="182880" cy="182880"/>
          </a:xfrm>
          <a:prstGeom prst="ellipse">
            <a:avLst/>
          </a:prstGeom>
          <a:solidFill>
            <a:srgbClr val="2E7D5B"/>
          </a:solidFill>
          <a:ln>
            <a:noFill/>
          </a:ln>
        </p:spPr>
        <p:txBody>
          <a:bodyPr rtlCol="0" anchor="ctr"/>
          <a:lstStyle/>
          <a:p>
            <a:pPr algn="ctr"/>
          </a:p>
        </p:txBody>
      </p:sp>
      <p:sp>
        <p:nvSpPr>
          <p:cNvPr id="105" name="TextBox 104"/>
          <p:cNvSpPr txBox="1"/>
          <p:nvPr/>
        </p:nvSpPr>
        <p:spPr>
          <a:xfrm>
            <a:off x="8732520" y="969264"/>
            <a:ext cx="914400" cy="292608"/>
          </a:xfrm>
          <a:prstGeom prst="rect">
            <a:avLst/>
          </a:prstGeom>
          <a:noFill/>
        </p:spPr>
        <p:txBody>
          <a:bodyPr wrap="square" lIns="45720" rIns="45720" tIns="27432" bIns="27432" anchor="t">
            <a:spAutoFit/>
          </a:bodyPr>
          <a:lstStyle/>
          <a:p>
            <a:pPr algn="l"/>
            <a:r>
              <a:rPr sz="1300" b="0" i="0">
                <a:solidFill>
                  <a:srgbClr val="5C6770"/>
                </a:solidFill>
                <a:latin typeface="Calibri"/>
              </a:rPr>
              <a:t>Works</a:t>
            </a:r>
          </a:p>
        </p:txBody>
      </p:sp>
      <p:sp>
        <p:nvSpPr>
          <p:cNvPr id="106" name="Oval 105"/>
          <p:cNvSpPr/>
          <p:nvPr/>
        </p:nvSpPr>
        <p:spPr>
          <a:xfrm>
            <a:off x="9601200" y="1024128"/>
            <a:ext cx="182880" cy="182880"/>
          </a:xfrm>
          <a:prstGeom prst="ellipse">
            <a:avLst/>
          </a:prstGeom>
          <a:solidFill>
            <a:srgbClr val="D99A2B"/>
          </a:solidFill>
          <a:ln>
            <a:noFill/>
          </a:ln>
        </p:spPr>
        <p:txBody>
          <a:bodyPr rtlCol="0" anchor="ctr"/>
          <a:lstStyle/>
          <a:p>
            <a:pPr algn="ctr"/>
          </a:p>
        </p:txBody>
      </p:sp>
      <p:sp>
        <p:nvSpPr>
          <p:cNvPr id="107" name="TextBox 106"/>
          <p:cNvSpPr txBox="1"/>
          <p:nvPr/>
        </p:nvSpPr>
        <p:spPr>
          <a:xfrm>
            <a:off x="9829800" y="969264"/>
            <a:ext cx="914400" cy="292608"/>
          </a:xfrm>
          <a:prstGeom prst="rect">
            <a:avLst/>
          </a:prstGeom>
          <a:noFill/>
        </p:spPr>
        <p:txBody>
          <a:bodyPr wrap="square" lIns="45720" rIns="45720" tIns="27432" bIns="27432" anchor="t">
            <a:spAutoFit/>
          </a:bodyPr>
          <a:lstStyle/>
          <a:p>
            <a:pPr algn="l"/>
            <a:r>
              <a:rPr sz="1300" b="0" i="0">
                <a:solidFill>
                  <a:srgbClr val="5C6770"/>
                </a:solidFill>
                <a:latin typeface="Calibri"/>
              </a:rPr>
              <a:t>Partly</a:t>
            </a:r>
          </a:p>
        </p:txBody>
      </p:sp>
      <p:sp>
        <p:nvSpPr>
          <p:cNvPr id="108" name="Oval 107"/>
          <p:cNvSpPr/>
          <p:nvPr/>
        </p:nvSpPr>
        <p:spPr>
          <a:xfrm>
            <a:off x="10698480" y="1024128"/>
            <a:ext cx="182880" cy="182880"/>
          </a:xfrm>
          <a:prstGeom prst="ellipse">
            <a:avLst/>
          </a:prstGeom>
          <a:solidFill>
            <a:srgbClr val="C8402A"/>
          </a:solidFill>
          <a:ln>
            <a:noFill/>
          </a:ln>
        </p:spPr>
        <p:txBody>
          <a:bodyPr rtlCol="0" anchor="ctr"/>
          <a:lstStyle/>
          <a:p>
            <a:pPr algn="ctr"/>
          </a:p>
        </p:txBody>
      </p:sp>
      <p:sp>
        <p:nvSpPr>
          <p:cNvPr id="109" name="TextBox 108"/>
          <p:cNvSpPr txBox="1"/>
          <p:nvPr/>
        </p:nvSpPr>
        <p:spPr>
          <a:xfrm>
            <a:off x="10927080" y="969264"/>
            <a:ext cx="914400" cy="292608"/>
          </a:xfrm>
          <a:prstGeom prst="rect">
            <a:avLst/>
          </a:prstGeom>
          <a:noFill/>
        </p:spPr>
        <p:txBody>
          <a:bodyPr wrap="square" lIns="45720" rIns="45720" tIns="27432" bIns="27432" anchor="t">
            <a:spAutoFit/>
          </a:bodyPr>
          <a:lstStyle/>
          <a:p>
            <a:pPr algn="l"/>
            <a:r>
              <a:rPr sz="1300" b="0" i="0">
                <a:solidFill>
                  <a:srgbClr val="5C6770"/>
                </a:solidFill>
                <a:latin typeface="Calibri"/>
              </a:rPr>
              <a:t>Does not</a:t>
            </a:r>
          </a:p>
        </p:txBody>
      </p:sp>
      <p:sp>
        <p:nvSpPr>
          <p:cNvPr id="110" name="Rounded Rectangle 109"/>
          <p:cNvSpPr/>
          <p:nvPr/>
        </p:nvSpPr>
        <p:spPr>
          <a:xfrm>
            <a:off x="457200" y="5852160"/>
            <a:ext cx="11292840" cy="6400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11" name="TextBox 110"/>
          <p:cNvSpPr txBox="1"/>
          <p:nvPr/>
        </p:nvSpPr>
        <p:spPr>
          <a:xfrm>
            <a:off x="594360" y="5870448"/>
            <a:ext cx="11064240" cy="603504"/>
          </a:xfrm>
          <a:prstGeom prst="rect">
            <a:avLst/>
          </a:prstGeom>
          <a:noFill/>
        </p:spPr>
        <p:txBody>
          <a:bodyPr wrap="square" lIns="45720" rIns="45720" tIns="27432" bIns="27432" anchor="ctr">
            <a:spAutoFit/>
          </a:bodyPr>
          <a:lstStyle/>
          <a:p>
            <a:pPr algn="l"/>
            <a:r>
              <a:rPr sz="1250" b="1" i="0">
                <a:solidFill>
                  <a:srgbClr val="C55A11"/>
                </a:solidFill>
                <a:latin typeface="Calibri"/>
              </a:rPr>
              <a:t>4S Mining.  </a:t>
            </a:r>
            <a:r>
              <a:rPr sz="1250" b="1" i="0">
                <a:solidFill>
                  <a:srgbClr val="1B3A4B"/>
                </a:solidFill>
                <a:latin typeface="Calibri"/>
              </a:rPr>
              <a:t>Safe: </a:t>
            </a:r>
            <a:r>
              <a:rPr sz="1250" b="0" i="0">
                <a:solidFill>
                  <a:srgbClr val="1C2430"/>
                </a:solidFill>
                <a:latin typeface="Calibri"/>
              </a:rPr>
              <a:t>picture of the face, alert if it drops.  </a:t>
            </a:r>
            <a:r>
              <a:rPr sz="1250" b="1" i="0">
                <a:solidFill>
                  <a:srgbClr val="1B3A4B"/>
                </a:solidFill>
                <a:latin typeface="Calibri"/>
              </a:rPr>
              <a:t>Smart: </a:t>
            </a:r>
            <a:r>
              <a:rPr sz="1250" b="0" i="0">
                <a:solidFill>
                  <a:srgbClr val="1C2430"/>
                </a:solidFill>
                <a:latin typeface="Calibri"/>
              </a:rPr>
              <a:t>sensing, radios and steering in one node.  </a:t>
            </a:r>
            <a:r>
              <a:rPr sz="1250" b="1" i="0">
                <a:solidFill>
                  <a:srgbClr val="1B3A4B"/>
                </a:solidFill>
                <a:latin typeface="Calibri"/>
              </a:rPr>
              <a:t>Sustainable: </a:t>
            </a:r>
            <a:r>
              <a:rPr sz="1250" b="0" i="0">
                <a:solidFill>
                  <a:srgbClr val="1C2430"/>
                </a:solidFill>
                <a:latin typeface="Calibri"/>
              </a:rPr>
              <a:t>heavy data on light.  </a:t>
            </a:r>
            <a:r>
              <a:rPr sz="1250" b="1" i="0">
                <a:solidFill>
                  <a:srgbClr val="1B3A4B"/>
                </a:solidFill>
                <a:latin typeface="Calibri"/>
              </a:rPr>
              <a:t>Social: </a:t>
            </a:r>
            <a:r>
              <a:rPr sz="1250" b="0" i="0">
                <a:solidFill>
                  <a:srgbClr val="1C2430"/>
                </a:solidFill>
                <a:latin typeface="Calibri"/>
              </a:rPr>
              <a:t>fewer people sent in unseen.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03</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INNOVATION AND UNIQUENESS</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What is different in the proposed system</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Innovation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5  /  16</a:t>
            </a:r>
          </a:p>
        </p:txBody>
      </p:sp>
      <p:sp>
        <p:nvSpPr>
          <p:cNvPr id="13" name="Rounded Rectangle 12"/>
          <p:cNvSpPr/>
          <p:nvPr/>
        </p:nvSpPr>
        <p:spPr>
          <a:xfrm>
            <a:off x="457200" y="114300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4" name="Oval 13"/>
          <p:cNvSpPr/>
          <p:nvPr/>
        </p:nvSpPr>
        <p:spPr>
          <a:xfrm>
            <a:off x="640080" y="132588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15" name="TextBox 14"/>
          <p:cNvSpPr txBox="1"/>
          <p:nvPr/>
        </p:nvSpPr>
        <p:spPr>
          <a:xfrm>
            <a:off x="64008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Hybrid link, dust-aware</a:t>
            </a:r>
          </a:p>
        </p:txBody>
      </p:sp>
      <p:sp>
        <p:nvSpPr>
          <p:cNvPr id="16" name="TextBox 15"/>
          <p:cNvSpPr txBox="1"/>
          <p:nvPr/>
        </p:nvSpPr>
        <p:spPr>
          <a:xfrm>
            <a:off x="64008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FSO carries video. LoRa carries control and alerts. In heavy dust the link switches to Zigbee / Wi-Fi.</a:t>
            </a:r>
          </a:p>
        </p:txBody>
      </p:sp>
      <p:sp>
        <p:nvSpPr>
          <p:cNvPr id="17" name="Rounded Rectangle 16"/>
          <p:cNvSpPr/>
          <p:nvPr/>
        </p:nvSpPr>
        <p:spPr>
          <a:xfrm>
            <a:off x="4251960" y="114300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8" name="Oval 17"/>
          <p:cNvSpPr/>
          <p:nvPr/>
        </p:nvSpPr>
        <p:spPr>
          <a:xfrm>
            <a:off x="4434840" y="132588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19" name="TextBox 18"/>
          <p:cNvSpPr txBox="1"/>
          <p:nvPr/>
        </p:nvSpPr>
        <p:spPr>
          <a:xfrm>
            <a:off x="443484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Multi-hop along the tunnel</a:t>
            </a:r>
          </a:p>
        </p:txBody>
      </p:sp>
      <p:sp>
        <p:nvSpPr>
          <p:cNvPr id="20" name="TextBox 19"/>
          <p:cNvSpPr txBox="1"/>
          <p:nvPr/>
        </p:nvSpPr>
        <p:spPr>
          <a:xfrm>
            <a:off x="443484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node every 50–100 m on line of sight. A longer heading needs more relays.</a:t>
            </a:r>
          </a:p>
        </p:txBody>
      </p:sp>
      <p:sp>
        <p:nvSpPr>
          <p:cNvPr id="21" name="Rounded Rectangle 20"/>
          <p:cNvSpPr/>
          <p:nvPr/>
        </p:nvSpPr>
        <p:spPr>
          <a:xfrm>
            <a:off x="8046720" y="114300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Oval 21"/>
          <p:cNvSpPr/>
          <p:nvPr/>
        </p:nvSpPr>
        <p:spPr>
          <a:xfrm>
            <a:off x="8229600" y="132588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23" name="TextBox 22"/>
          <p:cNvSpPr txBox="1"/>
          <p:nvPr/>
        </p:nvSpPr>
        <p:spPr>
          <a:xfrm>
            <a:off x="822960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IMU auto-tracking</a:t>
            </a:r>
          </a:p>
        </p:txBody>
      </p:sp>
      <p:sp>
        <p:nvSpPr>
          <p:cNvPr id="24" name="TextBox 23"/>
          <p:cNvSpPr txBox="1"/>
          <p:nvPr/>
        </p:nvSpPr>
        <p:spPr>
          <a:xfrm>
            <a:off x="822960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IMU drives a motorized mount and corrects pointing. Prototype exists in the department.</a:t>
            </a:r>
          </a:p>
        </p:txBody>
      </p:sp>
      <p:sp>
        <p:nvSpPr>
          <p:cNvPr id="25" name="Rounded Rectangle 24"/>
          <p:cNvSpPr/>
          <p:nvPr/>
        </p:nvSpPr>
        <p:spPr>
          <a:xfrm>
            <a:off x="457200" y="370332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Oval 25"/>
          <p:cNvSpPr/>
          <p:nvPr/>
        </p:nvSpPr>
        <p:spPr>
          <a:xfrm>
            <a:off x="640080" y="388620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sp>
        <p:nvSpPr>
          <p:cNvPr id="27" name="TextBox 26"/>
          <p:cNvSpPr txBox="1"/>
          <p:nvPr/>
        </p:nvSpPr>
        <p:spPr>
          <a:xfrm>
            <a:off x="64008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Video as safety</a:t>
            </a:r>
          </a:p>
        </p:txBody>
      </p:sp>
      <p:sp>
        <p:nvSpPr>
          <p:cNvPr id="28" name="TextBox 27"/>
          <p:cNvSpPr txBox="1"/>
          <p:nvPr/>
        </p:nvSpPr>
        <p:spPr>
          <a:xfrm>
            <a:off x="64008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live view of the zone a team is about to enter.</a:t>
            </a:r>
          </a:p>
        </p:txBody>
      </p:sp>
      <p:sp>
        <p:nvSpPr>
          <p:cNvPr id="29" name="Rounded Rectangle 28"/>
          <p:cNvSpPr/>
          <p:nvPr/>
        </p:nvSpPr>
        <p:spPr>
          <a:xfrm>
            <a:off x="4251960" y="3703320"/>
            <a:ext cx="3657600" cy="24231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0" name="Oval 29"/>
          <p:cNvSpPr/>
          <p:nvPr/>
        </p:nvSpPr>
        <p:spPr>
          <a:xfrm>
            <a:off x="4434840" y="3886200"/>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5</a:t>
            </a:r>
          </a:p>
        </p:txBody>
      </p:sp>
      <p:sp>
        <p:nvSpPr>
          <p:cNvPr id="31" name="TextBox 30"/>
          <p:cNvSpPr txBox="1"/>
          <p:nvPr/>
        </p:nvSpPr>
        <p:spPr>
          <a:xfrm>
            <a:off x="443484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One cyber-physical node</a:t>
            </a:r>
          </a:p>
        </p:txBody>
      </p:sp>
      <p:sp>
        <p:nvSpPr>
          <p:cNvPr id="32" name="TextBox 31"/>
          <p:cNvSpPr txBox="1"/>
          <p:nvPr/>
        </p:nvSpPr>
        <p:spPr>
          <a:xfrm>
            <a:off x="443484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Senses (camera, IMU, gas, temperature, humidity), communicates, and steers the beam.</a:t>
            </a:r>
          </a:p>
        </p:txBody>
      </p:sp>
      <p:pic>
        <p:nvPicPr>
          <p:cNvPr id="33" name="Picture" descr="LoRa module"/>
          <p:cNvPicPr>
            <a:picLocks noChangeAspect="1"/>
          </p:cNvPicPr>
          <p:nvPr/>
        </p:nvPicPr>
        <p:blipFill>
          <a:blip r:embed="rId2"/>
          <a:stretch>
            <a:fillRect/>
          </a:stretch>
        </p:blipFill>
        <p:spPr>
          <a:xfrm>
            <a:off x="3383280" y="1280160"/>
            <a:ext cx="716889" cy="640080"/>
          </a:xfrm>
          <a:prstGeom prst="rect">
            <a:avLst/>
          </a:prstGeom>
        </p:spPr>
      </p:pic>
      <p:pic>
        <p:nvPicPr>
          <p:cNvPr id="34" name="Picture" descr="Camera head on a tripod, laser facing right"/>
          <p:cNvPicPr>
            <a:picLocks noChangeAspect="1"/>
          </p:cNvPicPr>
          <p:nvPr/>
        </p:nvPicPr>
        <p:blipFill>
          <a:blip r:embed="rId3"/>
          <a:stretch>
            <a:fillRect/>
          </a:stretch>
        </p:blipFill>
        <p:spPr>
          <a:xfrm>
            <a:off x="7269480" y="1234440"/>
            <a:ext cx="335226" cy="566928"/>
          </a:xfrm>
          <a:prstGeom prst="rect">
            <a:avLst/>
          </a:prstGeom>
        </p:spPr>
      </p:pic>
      <p:pic>
        <p:nvPicPr>
          <p:cNvPr id="35" name="Picture" descr="IMU module"/>
          <p:cNvPicPr>
            <a:picLocks noChangeAspect="1"/>
          </p:cNvPicPr>
          <p:nvPr/>
        </p:nvPicPr>
        <p:blipFill>
          <a:blip r:embed="rId4"/>
          <a:stretch>
            <a:fillRect/>
          </a:stretch>
        </p:blipFill>
        <p:spPr>
          <a:xfrm>
            <a:off x="10927080" y="1307592"/>
            <a:ext cx="594360" cy="435863"/>
          </a:xfrm>
          <a:prstGeom prst="rect">
            <a:avLst/>
          </a:prstGeom>
        </p:spPr>
      </p:pic>
      <p:pic>
        <p:nvPicPr>
          <p:cNvPr id="36" name="Picture" descr="Monitoring dashboard"/>
          <p:cNvPicPr>
            <a:picLocks noChangeAspect="1"/>
          </p:cNvPicPr>
          <p:nvPr/>
        </p:nvPicPr>
        <p:blipFill>
          <a:blip r:embed="rId5"/>
          <a:stretch>
            <a:fillRect/>
          </a:stretch>
        </p:blipFill>
        <p:spPr>
          <a:xfrm>
            <a:off x="3291840" y="3867911"/>
            <a:ext cx="640080" cy="515389"/>
          </a:xfrm>
          <a:prstGeom prst="rect">
            <a:avLst/>
          </a:prstGeom>
        </p:spPr>
      </p:pic>
      <p:pic>
        <p:nvPicPr>
          <p:cNvPr id="37" name="Picture" descr="Motorized alignment system"/>
          <p:cNvPicPr>
            <a:picLocks noChangeAspect="1"/>
          </p:cNvPicPr>
          <p:nvPr/>
        </p:nvPicPr>
        <p:blipFill>
          <a:blip r:embed="rId6"/>
          <a:stretch>
            <a:fillRect/>
          </a:stretch>
        </p:blipFill>
        <p:spPr>
          <a:xfrm>
            <a:off x="7132320" y="3867911"/>
            <a:ext cx="594360" cy="495299"/>
          </a:xfrm>
          <a:prstGeom prst="rect">
            <a:avLst/>
          </a:prstGeom>
        </p:spPr>
      </p:pic>
      <p:sp>
        <p:nvSpPr>
          <p:cNvPr id="38" name="Rounded Rectangle 37"/>
          <p:cNvSpPr/>
          <p:nvPr/>
        </p:nvSpPr>
        <p:spPr>
          <a:xfrm>
            <a:off x="8046720" y="3703320"/>
            <a:ext cx="3657600" cy="2423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9" name="TextBox 38"/>
          <p:cNvSpPr txBox="1"/>
          <p:nvPr/>
        </p:nvSpPr>
        <p:spPr>
          <a:xfrm>
            <a:off x="8229600" y="3767328"/>
            <a:ext cx="3291840" cy="411480"/>
          </a:xfrm>
          <a:prstGeom prst="rect">
            <a:avLst/>
          </a:prstGeom>
          <a:noFill/>
        </p:spPr>
        <p:txBody>
          <a:bodyPr wrap="square" lIns="45720" rIns="45720" tIns="27432" bIns="27432" anchor="t">
            <a:spAutoFit/>
          </a:bodyPr>
          <a:lstStyle/>
          <a:p>
            <a:pPr algn="l"/>
            <a:r>
              <a:rPr sz="1800" b="1" i="0">
                <a:solidFill>
                  <a:srgbClr val="FFD966"/>
                </a:solidFill>
                <a:latin typeface="Calibri"/>
              </a:rPr>
              <a:t>Why FSO works underground</a:t>
            </a:r>
          </a:p>
        </p:txBody>
      </p:sp>
      <p:pic>
        <p:nvPicPr>
          <p:cNvPr id="40" name="Picture" descr="Rock texture"/>
          <p:cNvPicPr>
            <a:picLocks noChangeAspect="1"/>
          </p:cNvPicPr>
          <p:nvPr/>
        </p:nvPicPr>
        <p:blipFill>
          <a:blip r:embed="rId7"/>
          <a:srcRect t="10035" b="32135"/>
          <a:stretch>
            <a:fillRect/>
          </a:stretch>
        </p:blipFill>
        <p:spPr>
          <a:xfrm>
            <a:off x="8229600" y="4297680"/>
            <a:ext cx="3291840" cy="320040"/>
          </a:xfrm>
          <a:prstGeom prst="rect">
            <a:avLst/>
          </a:prstGeom>
        </p:spPr>
      </p:pic>
      <p:sp>
        <p:nvSpPr>
          <p:cNvPr id="41" name="Rectangle 40"/>
          <p:cNvSpPr/>
          <p:nvPr/>
        </p:nvSpPr>
        <p:spPr>
          <a:xfrm>
            <a:off x="8229600" y="4617720"/>
            <a:ext cx="3291840" cy="868680"/>
          </a:xfrm>
          <a:prstGeom prst="rect">
            <a:avLst/>
          </a:prstGeom>
          <a:solidFill>
            <a:srgbClr val="F4F1EC"/>
          </a:solidFill>
          <a:ln>
            <a:noFill/>
          </a:ln>
        </p:spPr>
        <p:txBody>
          <a:bodyPr rtlCol="0" anchor="ctr"/>
          <a:lstStyle/>
          <a:p>
            <a:pPr algn="ctr"/>
          </a:p>
        </p:txBody>
      </p:sp>
      <p:sp>
        <p:nvSpPr>
          <p:cNvPr id="42" name="Rectangle 41"/>
          <p:cNvSpPr/>
          <p:nvPr/>
        </p:nvSpPr>
        <p:spPr>
          <a:xfrm>
            <a:off x="8229600" y="5404104"/>
            <a:ext cx="3291840" cy="82296"/>
          </a:xfrm>
          <a:prstGeom prst="rect">
            <a:avLst/>
          </a:prstGeom>
          <a:solidFill>
            <a:srgbClr val="D8D2C6"/>
          </a:solidFill>
          <a:ln>
            <a:noFill/>
          </a:ln>
        </p:spPr>
        <p:txBody>
          <a:bodyPr rtlCol="0" anchor="ctr"/>
          <a:lstStyle/>
          <a:p>
            <a:pPr algn="ctr"/>
          </a:p>
        </p:txBody>
      </p:sp>
      <p:sp>
        <p:nvSpPr>
          <p:cNvPr id="43" name="Rectangle 42"/>
          <p:cNvSpPr/>
          <p:nvPr/>
        </p:nvSpPr>
        <p:spPr>
          <a:xfrm>
            <a:off x="8229600" y="4617720"/>
            <a:ext cx="3291840" cy="36576"/>
          </a:xfrm>
          <a:prstGeom prst="rect">
            <a:avLst/>
          </a:prstGeom>
          <a:solidFill>
            <a:srgbClr val="7A6350"/>
          </a:solidFill>
          <a:ln>
            <a:noFill/>
          </a:ln>
        </p:spPr>
        <p:txBody>
          <a:bodyPr rtlCol="0" anchor="ctr"/>
          <a:lstStyle/>
          <a:p>
            <a:pPr algn="ctr"/>
          </a:p>
        </p:txBody>
      </p:sp>
      <p:pic>
        <p:nvPicPr>
          <p:cNvPr id="44" name="Picture" descr="Rock texture"/>
          <p:cNvPicPr>
            <a:picLocks noChangeAspect="1"/>
          </p:cNvPicPr>
          <p:nvPr/>
        </p:nvPicPr>
        <p:blipFill>
          <a:blip r:embed="rId7"/>
          <a:srcRect t="13306" b="45387"/>
          <a:stretch>
            <a:fillRect/>
          </a:stretch>
        </p:blipFill>
        <p:spPr>
          <a:xfrm>
            <a:off x="8229600" y="5486400"/>
            <a:ext cx="3291840" cy="228600"/>
          </a:xfrm>
          <a:prstGeom prst="rect">
            <a:avLst/>
          </a:prstGeom>
        </p:spPr>
      </p:pic>
      <p:pic>
        <p:nvPicPr>
          <p:cNvPr id="45" name="Picture" descr="Camera head on a tripod, laser facing right"/>
          <p:cNvPicPr>
            <a:picLocks noChangeAspect="1"/>
          </p:cNvPicPr>
          <p:nvPr/>
        </p:nvPicPr>
        <p:blipFill>
          <a:blip r:embed="rId3"/>
          <a:stretch>
            <a:fillRect/>
          </a:stretch>
        </p:blipFill>
        <p:spPr>
          <a:xfrm>
            <a:off x="8457007" y="4645152"/>
            <a:ext cx="459585" cy="777240"/>
          </a:xfrm>
          <a:prstGeom prst="rect">
            <a:avLst/>
          </a:prstGeom>
        </p:spPr>
      </p:pic>
      <p:pic>
        <p:nvPicPr>
          <p:cNvPr id="46" name="Picture" descr="Camera head on a tripod, laser facing left"/>
          <p:cNvPicPr>
            <a:picLocks noChangeAspect="1"/>
          </p:cNvPicPr>
          <p:nvPr/>
        </p:nvPicPr>
        <p:blipFill>
          <a:blip r:embed="rId8"/>
          <a:stretch>
            <a:fillRect/>
          </a:stretch>
        </p:blipFill>
        <p:spPr>
          <a:xfrm>
            <a:off x="10780378" y="4645152"/>
            <a:ext cx="567723" cy="777240"/>
          </a:xfrm>
          <a:prstGeom prst="rect">
            <a:avLst/>
          </a:prstGeom>
        </p:spPr>
      </p:pic>
      <p:sp>
        <p:nvSpPr>
          <p:cNvPr id="47" name="Rectangle 46"/>
          <p:cNvSpPr/>
          <p:nvPr/>
        </p:nvSpPr>
        <p:spPr>
          <a:xfrm>
            <a:off x="8916592" y="4652832"/>
            <a:ext cx="1863785" cy="146304"/>
          </a:xfrm>
          <a:prstGeom prst="rect">
            <a:avLst/>
          </a:prstGeom>
          <a:solidFill>
            <a:srgbClr val="ED7D31">
              <a:alpha val="28000"/>
            </a:srgbClr>
          </a:solidFill>
          <a:ln>
            <a:noFill/>
          </a:ln>
        </p:spPr>
        <p:txBody>
          <a:bodyPr rtlCol="0" anchor="ctr"/>
          <a:lstStyle/>
          <a:p>
            <a:pPr algn="ctr"/>
          </a:p>
        </p:txBody>
      </p:sp>
      <p:sp>
        <p:nvSpPr>
          <p:cNvPr id="48" name="Rectangle 47"/>
          <p:cNvSpPr/>
          <p:nvPr/>
        </p:nvSpPr>
        <p:spPr>
          <a:xfrm>
            <a:off x="8916592" y="4703124"/>
            <a:ext cx="1863785" cy="45720"/>
          </a:xfrm>
          <a:prstGeom prst="rect">
            <a:avLst/>
          </a:prstGeom>
          <a:solidFill>
            <a:srgbClr val="ED7D31"/>
          </a:solidFill>
          <a:ln>
            <a:noFill/>
          </a:ln>
        </p:spPr>
        <p:txBody>
          <a:bodyPr rtlCol="0" anchor="ctr"/>
          <a:lstStyle/>
          <a:p>
            <a:pPr algn="ctr"/>
          </a:p>
        </p:txBody>
      </p:sp>
      <p:sp>
        <p:nvSpPr>
          <p:cNvPr id="49" name="TextBox 48"/>
          <p:cNvSpPr txBox="1"/>
          <p:nvPr/>
        </p:nvSpPr>
        <p:spPr>
          <a:xfrm>
            <a:off x="8229600" y="5742432"/>
            <a:ext cx="3291840" cy="320040"/>
          </a:xfrm>
          <a:prstGeom prst="rect">
            <a:avLst/>
          </a:prstGeom>
          <a:noFill/>
        </p:spPr>
        <p:txBody>
          <a:bodyPr wrap="square" lIns="45720" rIns="45720" tIns="27432" bIns="27432" anchor="t">
            <a:spAutoFit/>
          </a:bodyPr>
          <a:lstStyle/>
          <a:p>
            <a:pPr algn="ctr"/>
            <a:r>
              <a:rPr sz="1300" b="1" i="0">
                <a:solidFill>
                  <a:srgbClr val="FFFFFF"/>
                </a:solidFill>
                <a:latin typeface="Calibri"/>
              </a:rPr>
              <a:t>Beam follows the open tunnel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Proposed scheme</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Proposed scheme</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6  /  16</a:t>
            </a:r>
          </a:p>
        </p:txBody>
      </p:sp>
      <p:pic>
        <p:nvPicPr>
          <p:cNvPr id="13" name="Picture" descr="Concept diagram of the hybrid FSO and LoRa link"/>
          <p:cNvPicPr>
            <a:picLocks noChangeAspect="1"/>
          </p:cNvPicPr>
          <p:nvPr/>
        </p:nvPicPr>
        <p:blipFill>
          <a:blip r:embed="rId2"/>
          <a:stretch>
            <a:fillRect/>
          </a:stretch>
        </p:blipFill>
        <p:spPr>
          <a:xfrm>
            <a:off x="457200" y="1005840"/>
            <a:ext cx="8961120" cy="4469359"/>
          </a:xfrm>
          <a:prstGeom prst="rect">
            <a:avLst/>
          </a:prstGeom>
        </p:spPr>
      </p:pic>
      <p:sp>
        <p:nvSpPr>
          <p:cNvPr id="14" name="Rectangle 13"/>
          <p:cNvSpPr/>
          <p:nvPr/>
        </p:nvSpPr>
        <p:spPr>
          <a:xfrm>
            <a:off x="457200" y="1005840"/>
            <a:ext cx="8961120" cy="4469358"/>
          </a:xfrm>
          <a:prstGeom prst="rect">
            <a:avLst/>
          </a:prstGeom>
          <a:noFill/>
          <a:ln w="9525">
            <a:solidFill>
              <a:srgbClr val="A9BFD0"/>
            </a:solidFill>
          </a:ln>
        </p:spPr>
        <p:txBody>
          <a:bodyPr rtlCol="0" anchor="ctr"/>
          <a:lstStyle/>
          <a:p>
            <a:pPr algn="ctr"/>
          </a:p>
        </p:txBody>
      </p:sp>
      <p:sp>
        <p:nvSpPr>
          <p:cNvPr id="15" name="Rounded Rectangle 14"/>
          <p:cNvSpPr/>
          <p:nvPr/>
        </p:nvSpPr>
        <p:spPr>
          <a:xfrm>
            <a:off x="9601200" y="1005840"/>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16" name="Picture" descr="Camera head on a tripod, laser facing right"/>
          <p:cNvPicPr>
            <a:picLocks noChangeAspect="1"/>
          </p:cNvPicPr>
          <p:nvPr/>
        </p:nvPicPr>
        <p:blipFill>
          <a:blip r:embed="rId3"/>
          <a:stretch>
            <a:fillRect/>
          </a:stretch>
        </p:blipFill>
        <p:spPr>
          <a:xfrm>
            <a:off x="9710928" y="1078992"/>
            <a:ext cx="297378" cy="502920"/>
          </a:xfrm>
          <a:prstGeom prst="rect">
            <a:avLst/>
          </a:prstGeom>
        </p:spPr>
      </p:pic>
      <p:sp>
        <p:nvSpPr>
          <p:cNvPr id="17" name="TextBox 16"/>
          <p:cNvSpPr txBox="1"/>
          <p:nvPr/>
        </p:nvSpPr>
        <p:spPr>
          <a:xfrm>
            <a:off x="10287000" y="1097280"/>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FSO</a:t>
            </a:r>
          </a:p>
        </p:txBody>
      </p:sp>
      <p:sp>
        <p:nvSpPr>
          <p:cNvPr id="18" name="TextBox 17"/>
          <p:cNvSpPr txBox="1"/>
          <p:nvPr/>
        </p:nvSpPr>
        <p:spPr>
          <a:xfrm>
            <a:off x="9674352" y="1572768"/>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Video on auto-tracked hops of 50–100 m.</a:t>
            </a:r>
          </a:p>
        </p:txBody>
      </p:sp>
      <p:sp>
        <p:nvSpPr>
          <p:cNvPr id="19" name="Rounded Rectangle 18"/>
          <p:cNvSpPr/>
          <p:nvPr/>
        </p:nvSpPr>
        <p:spPr>
          <a:xfrm>
            <a:off x="9601200" y="2150611"/>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20" name="Picture" descr="IMU module"/>
          <p:cNvPicPr>
            <a:picLocks noChangeAspect="1"/>
          </p:cNvPicPr>
          <p:nvPr/>
        </p:nvPicPr>
        <p:blipFill>
          <a:blip r:embed="rId4"/>
          <a:stretch>
            <a:fillRect/>
          </a:stretch>
        </p:blipFill>
        <p:spPr>
          <a:xfrm>
            <a:off x="9692640" y="2260339"/>
            <a:ext cx="420624" cy="308457"/>
          </a:xfrm>
          <a:prstGeom prst="rect">
            <a:avLst/>
          </a:prstGeom>
        </p:spPr>
      </p:pic>
      <p:sp>
        <p:nvSpPr>
          <p:cNvPr id="21" name="TextBox 20"/>
          <p:cNvSpPr txBox="1"/>
          <p:nvPr/>
        </p:nvSpPr>
        <p:spPr>
          <a:xfrm>
            <a:off x="10287000" y="2242051"/>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IMU</a:t>
            </a:r>
          </a:p>
        </p:txBody>
      </p:sp>
      <p:sp>
        <p:nvSpPr>
          <p:cNvPr id="22" name="TextBox 21"/>
          <p:cNvSpPr txBox="1"/>
          <p:nvPr/>
        </p:nvSpPr>
        <p:spPr>
          <a:xfrm>
            <a:off x="9674352" y="2717539"/>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Holds the beam on the next node.</a:t>
            </a:r>
          </a:p>
        </p:txBody>
      </p:sp>
      <p:sp>
        <p:nvSpPr>
          <p:cNvPr id="23" name="Rounded Rectangle 22"/>
          <p:cNvSpPr/>
          <p:nvPr/>
        </p:nvSpPr>
        <p:spPr>
          <a:xfrm>
            <a:off x="9601200" y="3295383"/>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24" name="Picture" descr="LoRa module"/>
          <p:cNvPicPr>
            <a:picLocks noChangeAspect="1"/>
          </p:cNvPicPr>
          <p:nvPr/>
        </p:nvPicPr>
        <p:blipFill>
          <a:blip r:embed="rId5"/>
          <a:stretch>
            <a:fillRect/>
          </a:stretch>
        </p:blipFill>
        <p:spPr>
          <a:xfrm>
            <a:off x="9729216" y="3368535"/>
            <a:ext cx="512064" cy="457200"/>
          </a:xfrm>
          <a:prstGeom prst="rect">
            <a:avLst/>
          </a:prstGeom>
        </p:spPr>
      </p:pic>
      <p:sp>
        <p:nvSpPr>
          <p:cNvPr id="25" name="TextBox 24"/>
          <p:cNvSpPr txBox="1"/>
          <p:nvPr/>
        </p:nvSpPr>
        <p:spPr>
          <a:xfrm>
            <a:off x="10287000" y="3386823"/>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LoRa</a:t>
            </a:r>
          </a:p>
        </p:txBody>
      </p:sp>
      <p:sp>
        <p:nvSpPr>
          <p:cNvPr id="26" name="TextBox 25"/>
          <p:cNvSpPr txBox="1"/>
          <p:nvPr/>
        </p:nvSpPr>
        <p:spPr>
          <a:xfrm>
            <a:off x="9674352" y="3862311"/>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Control and alerts to the surface.</a:t>
            </a:r>
          </a:p>
        </p:txBody>
      </p:sp>
      <p:sp>
        <p:nvSpPr>
          <p:cNvPr id="27" name="Rounded Rectangle 26"/>
          <p:cNvSpPr/>
          <p:nvPr/>
        </p:nvSpPr>
        <p:spPr>
          <a:xfrm>
            <a:off x="9601200" y="4440154"/>
            <a:ext cx="2148840" cy="1035043"/>
          </a:xfrm>
          <a:prstGeom prst="roundRect">
            <a:avLst>
              <a:gd name="adj" fmla="val 8000"/>
            </a:avLst>
          </a:prstGeom>
          <a:solidFill>
            <a:srgbClr val="FFFFFF"/>
          </a:solidFill>
          <a:ln w="9525">
            <a:solidFill>
              <a:srgbClr val="A9BFD0"/>
            </a:solidFill>
          </a:ln>
        </p:spPr>
        <p:txBody>
          <a:bodyPr rtlCol="0" anchor="ctr"/>
          <a:lstStyle/>
          <a:p>
            <a:pPr algn="ctr"/>
          </a:p>
        </p:txBody>
      </p:sp>
      <p:sp>
        <p:nvSpPr>
          <p:cNvPr id="28" name="Oval 27"/>
          <p:cNvSpPr/>
          <p:nvPr/>
        </p:nvSpPr>
        <p:spPr>
          <a:xfrm>
            <a:off x="9910897" y="4664421"/>
            <a:ext cx="56159" cy="56159"/>
          </a:xfrm>
          <a:prstGeom prst="ellipse">
            <a:avLst/>
          </a:prstGeom>
          <a:solidFill>
            <a:srgbClr val="8B6B4E">
              <a:alpha val="85000"/>
            </a:srgbClr>
          </a:solidFill>
          <a:ln>
            <a:noFill/>
          </a:ln>
        </p:spPr>
        <p:txBody>
          <a:bodyPr rtlCol="0" anchor="ctr"/>
          <a:lstStyle/>
          <a:p>
            <a:pPr algn="ctr"/>
          </a:p>
        </p:txBody>
      </p:sp>
      <p:sp>
        <p:nvSpPr>
          <p:cNvPr id="29" name="Oval 28"/>
          <p:cNvSpPr/>
          <p:nvPr/>
        </p:nvSpPr>
        <p:spPr>
          <a:xfrm>
            <a:off x="9918420" y="4805608"/>
            <a:ext cx="84377" cy="84377"/>
          </a:xfrm>
          <a:prstGeom prst="ellipse">
            <a:avLst/>
          </a:prstGeom>
          <a:solidFill>
            <a:srgbClr val="8B6B4E">
              <a:alpha val="70000"/>
            </a:srgbClr>
          </a:solidFill>
          <a:ln>
            <a:noFill/>
          </a:ln>
        </p:spPr>
        <p:txBody>
          <a:bodyPr rtlCol="0" anchor="ctr"/>
          <a:lstStyle/>
          <a:p>
            <a:pPr algn="ctr"/>
          </a:p>
        </p:txBody>
      </p:sp>
      <p:sp>
        <p:nvSpPr>
          <p:cNvPr id="30" name="Oval 29"/>
          <p:cNvSpPr/>
          <p:nvPr/>
        </p:nvSpPr>
        <p:spPr>
          <a:xfrm>
            <a:off x="9764600" y="4753450"/>
            <a:ext cx="81903" cy="81903"/>
          </a:xfrm>
          <a:prstGeom prst="ellipse">
            <a:avLst/>
          </a:prstGeom>
          <a:solidFill>
            <a:srgbClr val="8B6B4E">
              <a:alpha val="70000"/>
            </a:srgbClr>
          </a:solidFill>
          <a:ln>
            <a:noFill/>
          </a:ln>
        </p:spPr>
        <p:txBody>
          <a:bodyPr rtlCol="0" anchor="ctr"/>
          <a:lstStyle/>
          <a:p>
            <a:pPr algn="ctr"/>
          </a:p>
        </p:txBody>
      </p:sp>
      <p:sp>
        <p:nvSpPr>
          <p:cNvPr id="31" name="Oval 30"/>
          <p:cNvSpPr/>
          <p:nvPr/>
        </p:nvSpPr>
        <p:spPr>
          <a:xfrm>
            <a:off x="9748071" y="4725479"/>
            <a:ext cx="89168" cy="89168"/>
          </a:xfrm>
          <a:prstGeom prst="ellipse">
            <a:avLst/>
          </a:prstGeom>
          <a:solidFill>
            <a:srgbClr val="8B6B4E">
              <a:alpha val="85000"/>
            </a:srgbClr>
          </a:solidFill>
          <a:ln>
            <a:noFill/>
          </a:ln>
        </p:spPr>
        <p:txBody>
          <a:bodyPr rtlCol="0" anchor="ctr"/>
          <a:lstStyle/>
          <a:p>
            <a:pPr algn="ctr"/>
          </a:p>
        </p:txBody>
      </p:sp>
      <p:sp>
        <p:nvSpPr>
          <p:cNvPr id="32" name="Oval 31"/>
          <p:cNvSpPr/>
          <p:nvPr/>
        </p:nvSpPr>
        <p:spPr>
          <a:xfrm>
            <a:off x="10018594" y="4602156"/>
            <a:ext cx="37822" cy="37822"/>
          </a:xfrm>
          <a:prstGeom prst="ellipse">
            <a:avLst/>
          </a:prstGeom>
          <a:solidFill>
            <a:srgbClr val="B08968">
              <a:alpha val="70000"/>
            </a:srgbClr>
          </a:solidFill>
          <a:ln>
            <a:noFill/>
          </a:ln>
        </p:spPr>
        <p:txBody>
          <a:bodyPr rtlCol="0" anchor="ctr"/>
          <a:lstStyle/>
          <a:p>
            <a:pPr algn="ctr"/>
          </a:p>
        </p:txBody>
      </p:sp>
      <p:sp>
        <p:nvSpPr>
          <p:cNvPr id="33" name="Oval 32"/>
          <p:cNvSpPr/>
          <p:nvPr/>
        </p:nvSpPr>
        <p:spPr>
          <a:xfrm>
            <a:off x="9986182" y="4621278"/>
            <a:ext cx="100773" cy="100773"/>
          </a:xfrm>
          <a:prstGeom prst="ellipse">
            <a:avLst/>
          </a:prstGeom>
          <a:solidFill>
            <a:srgbClr val="8B6B4E">
              <a:alpha val="85000"/>
            </a:srgbClr>
          </a:solidFill>
          <a:ln>
            <a:noFill/>
          </a:ln>
        </p:spPr>
        <p:txBody>
          <a:bodyPr rtlCol="0" anchor="ctr"/>
          <a:lstStyle/>
          <a:p>
            <a:pPr algn="ctr"/>
          </a:p>
        </p:txBody>
      </p:sp>
      <p:sp>
        <p:nvSpPr>
          <p:cNvPr id="34" name="Oval 33"/>
          <p:cNvSpPr/>
          <p:nvPr/>
        </p:nvSpPr>
        <p:spPr>
          <a:xfrm>
            <a:off x="9844528" y="4742345"/>
            <a:ext cx="101434" cy="101434"/>
          </a:xfrm>
          <a:prstGeom prst="ellipse">
            <a:avLst/>
          </a:prstGeom>
          <a:solidFill>
            <a:srgbClr val="8B6B4E">
              <a:alpha val="55000"/>
            </a:srgbClr>
          </a:solidFill>
          <a:ln>
            <a:noFill/>
          </a:ln>
        </p:spPr>
        <p:txBody>
          <a:bodyPr rtlCol="0" anchor="ctr"/>
          <a:lstStyle/>
          <a:p>
            <a:pPr algn="ctr"/>
          </a:p>
        </p:txBody>
      </p:sp>
      <p:sp>
        <p:nvSpPr>
          <p:cNvPr id="35" name="Oval 34"/>
          <p:cNvSpPr/>
          <p:nvPr/>
        </p:nvSpPr>
        <p:spPr>
          <a:xfrm>
            <a:off x="9726583" y="4584807"/>
            <a:ext cx="108903" cy="108903"/>
          </a:xfrm>
          <a:prstGeom prst="ellipse">
            <a:avLst/>
          </a:prstGeom>
          <a:solidFill>
            <a:srgbClr val="9C7A5B">
              <a:alpha val="70000"/>
            </a:srgbClr>
          </a:solidFill>
          <a:ln>
            <a:noFill/>
          </a:ln>
        </p:spPr>
        <p:txBody>
          <a:bodyPr rtlCol="0" anchor="ctr"/>
          <a:lstStyle/>
          <a:p>
            <a:pPr algn="ctr"/>
          </a:p>
        </p:txBody>
      </p:sp>
      <p:sp>
        <p:nvSpPr>
          <p:cNvPr id="36" name="TextBox 35"/>
          <p:cNvSpPr txBox="1"/>
          <p:nvPr/>
        </p:nvSpPr>
        <p:spPr>
          <a:xfrm>
            <a:off x="10287000" y="4531594"/>
            <a:ext cx="1463040" cy="411480"/>
          </a:xfrm>
          <a:prstGeom prst="rect">
            <a:avLst/>
          </a:prstGeom>
          <a:noFill/>
        </p:spPr>
        <p:txBody>
          <a:bodyPr wrap="square" lIns="45720" rIns="45720" tIns="27432" bIns="27432" anchor="ctr">
            <a:spAutoFit/>
          </a:bodyPr>
          <a:lstStyle/>
          <a:p>
            <a:pPr algn="l"/>
            <a:r>
              <a:rPr sz="1700" b="1" i="0">
                <a:solidFill>
                  <a:srgbClr val="1B3A4B"/>
                </a:solidFill>
                <a:latin typeface="Calibri"/>
              </a:rPr>
              <a:t>Dust switch</a:t>
            </a:r>
          </a:p>
        </p:txBody>
      </p:sp>
      <p:sp>
        <p:nvSpPr>
          <p:cNvPr id="37" name="TextBox 36"/>
          <p:cNvSpPr txBox="1"/>
          <p:nvPr/>
        </p:nvSpPr>
        <p:spPr>
          <a:xfrm>
            <a:off x="9674352" y="5007082"/>
            <a:ext cx="2029968" cy="468115"/>
          </a:xfrm>
          <a:prstGeom prst="rect">
            <a:avLst/>
          </a:prstGeom>
          <a:noFill/>
        </p:spPr>
        <p:txBody>
          <a:bodyPr wrap="square" lIns="45720" rIns="45720" tIns="27432" bIns="27432" anchor="t">
            <a:spAutoFit/>
          </a:bodyPr>
          <a:lstStyle/>
          <a:p>
            <a:pPr algn="l"/>
            <a:r>
              <a:rPr sz="1250" b="0" i="0">
                <a:solidFill>
                  <a:srgbClr val="1C2430"/>
                </a:solidFill>
                <a:latin typeface="Calibri"/>
              </a:rPr>
              <a:t>Zigbee / Wi-Fi takes over in heavy dust.</a:t>
            </a:r>
          </a:p>
        </p:txBody>
      </p:sp>
      <p:sp>
        <p:nvSpPr>
          <p:cNvPr id="38" name="Rectangle 37"/>
          <p:cNvSpPr/>
          <p:nvPr/>
        </p:nvSpPr>
        <p:spPr>
          <a:xfrm>
            <a:off x="640080" y="5786094"/>
            <a:ext cx="594360" cy="146304"/>
          </a:xfrm>
          <a:prstGeom prst="rect">
            <a:avLst/>
          </a:prstGeom>
          <a:solidFill>
            <a:srgbClr val="ED7D31">
              <a:alpha val="28000"/>
            </a:srgbClr>
          </a:solidFill>
          <a:ln>
            <a:noFill/>
          </a:ln>
        </p:spPr>
        <p:txBody>
          <a:bodyPr rtlCol="0" anchor="ctr"/>
          <a:lstStyle/>
          <a:p>
            <a:pPr algn="ctr"/>
          </a:p>
        </p:txBody>
      </p:sp>
      <p:sp>
        <p:nvSpPr>
          <p:cNvPr id="39" name="Rectangle 38"/>
          <p:cNvSpPr/>
          <p:nvPr/>
        </p:nvSpPr>
        <p:spPr>
          <a:xfrm>
            <a:off x="640080" y="5836386"/>
            <a:ext cx="594360" cy="45720"/>
          </a:xfrm>
          <a:prstGeom prst="rect">
            <a:avLst/>
          </a:prstGeom>
          <a:solidFill>
            <a:srgbClr val="ED7D31"/>
          </a:solidFill>
          <a:ln>
            <a:noFill/>
          </a:ln>
        </p:spPr>
        <p:txBody>
          <a:bodyPr rtlCol="0" anchor="ctr"/>
          <a:lstStyle/>
          <a:p>
            <a:pPr algn="ctr"/>
          </a:p>
        </p:txBody>
      </p:sp>
      <p:sp>
        <p:nvSpPr>
          <p:cNvPr id="40" name="TextBox 39"/>
          <p:cNvSpPr txBox="1"/>
          <p:nvPr/>
        </p:nvSpPr>
        <p:spPr>
          <a:xfrm>
            <a:off x="1325880" y="5703798"/>
            <a:ext cx="2377440" cy="310896"/>
          </a:xfrm>
          <a:prstGeom prst="rect">
            <a:avLst/>
          </a:prstGeom>
          <a:noFill/>
        </p:spPr>
        <p:txBody>
          <a:bodyPr wrap="square" lIns="45720" rIns="45720" tIns="27432" bIns="27432" anchor="t">
            <a:spAutoFit/>
          </a:bodyPr>
          <a:lstStyle/>
          <a:p>
            <a:pPr algn="l"/>
            <a:r>
              <a:rPr sz="1400" b="1" i="0">
                <a:solidFill>
                  <a:srgbClr val="C55A11"/>
                </a:solidFill>
                <a:latin typeface="Calibri"/>
              </a:rPr>
              <a:t>FSO beam: video</a:t>
            </a:r>
          </a:p>
        </p:txBody>
      </p:sp>
      <p:sp>
        <p:nvSpPr>
          <p:cNvPr id="41" name="Freeform 40"/>
          <p:cNvSpPr/>
          <p:nvPr/>
        </p:nvSpPr>
        <p:spPr>
          <a:xfrm>
            <a:off x="3566160" y="5777627"/>
            <a:ext cx="594360" cy="161763"/>
          </a:xfrm>
          <a:custGeom>
            <a:avLst/>
            <a:gdLst/>
            <a:ahLst/>
            <a:cxnLst/>
            <a:rect l="l" t="t" r="r" b="b"/>
            <a:pathLst>
              <a:path w="594360" h="161763">
                <a:moveTo>
                  <a:pt x="0" y="81619"/>
                </a:moveTo>
                <a:lnTo>
                  <a:pt x="14859" y="146084"/>
                </a:lnTo>
                <a:lnTo>
                  <a:pt x="29718" y="161763"/>
                </a:lnTo>
                <a:lnTo>
                  <a:pt x="44577" y="116791"/>
                </a:lnTo>
                <a:lnTo>
                  <a:pt x="59436" y="45201"/>
                </a:lnTo>
                <a:lnTo>
                  <a:pt x="74294" y="1172"/>
                </a:lnTo>
                <a:lnTo>
                  <a:pt x="89154" y="18024"/>
                </a:lnTo>
                <a:lnTo>
                  <a:pt x="104013" y="83003"/>
                </a:lnTo>
                <a:lnTo>
                  <a:pt x="118872" y="146935"/>
                </a:lnTo>
                <a:lnTo>
                  <a:pt x="133730" y="161437"/>
                </a:lnTo>
                <a:lnTo>
                  <a:pt x="148590" y="115535"/>
                </a:lnTo>
                <a:lnTo>
                  <a:pt x="163448" y="43966"/>
                </a:lnTo>
                <a:lnTo>
                  <a:pt x="178308" y="892"/>
                </a:lnTo>
                <a:lnTo>
                  <a:pt x="193167" y="18911"/>
                </a:lnTo>
                <a:lnTo>
                  <a:pt x="208025" y="84386"/>
                </a:lnTo>
                <a:lnTo>
                  <a:pt x="222885" y="147767"/>
                </a:lnTo>
                <a:lnTo>
                  <a:pt x="237744" y="161089"/>
                </a:lnTo>
                <a:lnTo>
                  <a:pt x="252602" y="114269"/>
                </a:lnTo>
                <a:lnTo>
                  <a:pt x="267462" y="42741"/>
                </a:lnTo>
                <a:lnTo>
                  <a:pt x="282321" y="634"/>
                </a:lnTo>
                <a:lnTo>
                  <a:pt x="297179" y="19816"/>
                </a:lnTo>
                <a:lnTo>
                  <a:pt x="312039" y="85769"/>
                </a:lnTo>
                <a:lnTo>
                  <a:pt x="326898" y="148581"/>
                </a:lnTo>
                <a:lnTo>
                  <a:pt x="341756" y="160718"/>
                </a:lnTo>
                <a:lnTo>
                  <a:pt x="356616" y="112994"/>
                </a:lnTo>
                <a:lnTo>
                  <a:pt x="371474" y="41527"/>
                </a:lnTo>
                <a:lnTo>
                  <a:pt x="386334" y="400"/>
                </a:lnTo>
                <a:lnTo>
                  <a:pt x="401193" y="20738"/>
                </a:lnTo>
                <a:lnTo>
                  <a:pt x="416051" y="87150"/>
                </a:lnTo>
                <a:lnTo>
                  <a:pt x="430911" y="149376"/>
                </a:lnTo>
                <a:lnTo>
                  <a:pt x="445770" y="160325"/>
                </a:lnTo>
                <a:lnTo>
                  <a:pt x="460628" y="111711"/>
                </a:lnTo>
                <a:lnTo>
                  <a:pt x="475488" y="40324"/>
                </a:lnTo>
                <a:lnTo>
                  <a:pt x="490346" y="188"/>
                </a:lnTo>
                <a:lnTo>
                  <a:pt x="505205" y="21678"/>
                </a:lnTo>
                <a:lnTo>
                  <a:pt x="520065" y="88530"/>
                </a:lnTo>
                <a:lnTo>
                  <a:pt x="534923" y="150152"/>
                </a:lnTo>
                <a:lnTo>
                  <a:pt x="549783" y="159910"/>
                </a:lnTo>
                <a:lnTo>
                  <a:pt x="564642" y="110419"/>
                </a:lnTo>
                <a:lnTo>
                  <a:pt x="579500" y="39133"/>
                </a:lnTo>
                <a:lnTo>
                  <a:pt x="594360" y="0"/>
                </a:lnTo>
              </a:path>
            </a:pathLst>
          </a:custGeom>
          <a:noFill/>
          <a:ln w="31750">
            <a:solidFill>
              <a:srgbClr val="0071C1"/>
            </a:solidFill>
          </a:ln>
        </p:spPr>
        <p:txBody>
          <a:bodyPr rtlCol="0" anchor="ctr"/>
          <a:lstStyle/>
          <a:p>
            <a:pPr algn="ctr"/>
          </a:p>
        </p:txBody>
      </p:sp>
      <p:sp>
        <p:nvSpPr>
          <p:cNvPr id="42" name="TextBox 41"/>
          <p:cNvSpPr txBox="1"/>
          <p:nvPr/>
        </p:nvSpPr>
        <p:spPr>
          <a:xfrm>
            <a:off x="4251960" y="5703798"/>
            <a:ext cx="2377440" cy="310896"/>
          </a:xfrm>
          <a:prstGeom prst="rect">
            <a:avLst/>
          </a:prstGeom>
          <a:noFill/>
        </p:spPr>
        <p:txBody>
          <a:bodyPr wrap="square" lIns="45720" rIns="45720" tIns="27432" bIns="27432" anchor="t">
            <a:spAutoFit/>
          </a:bodyPr>
          <a:lstStyle/>
          <a:p>
            <a:pPr algn="l"/>
            <a:r>
              <a:rPr sz="1400" b="1" i="0">
                <a:solidFill>
                  <a:srgbClr val="00548F"/>
                </a:solidFill>
                <a:latin typeface="Calibri"/>
              </a:rPr>
              <a:t>Zigbee / Wi-Fi: dust mode</a:t>
            </a:r>
          </a:p>
        </p:txBody>
      </p:sp>
      <p:cxnSp>
        <p:nvCxnSpPr>
          <p:cNvPr id="43" name="Connector 42"/>
          <p:cNvCxnSpPr/>
          <p:nvPr/>
        </p:nvCxnSpPr>
        <p:spPr>
          <a:xfrm>
            <a:off x="640080" y="6270726"/>
            <a:ext cx="594360" cy="0"/>
          </a:xfrm>
          <a:prstGeom prst="line">
            <a:avLst/>
          </a:prstGeom>
          <a:ln w="25400">
            <a:solidFill>
              <a:srgbClr val="404040"/>
            </a:solidFill>
            <a:prstDash val="sysDot"/>
          </a:ln>
        </p:spPr>
      </p:cxnSp>
      <p:sp>
        <p:nvSpPr>
          <p:cNvPr id="44" name="TextBox 43"/>
          <p:cNvSpPr txBox="1"/>
          <p:nvPr/>
        </p:nvSpPr>
        <p:spPr>
          <a:xfrm>
            <a:off x="1325880" y="6115278"/>
            <a:ext cx="3108960" cy="310896"/>
          </a:xfrm>
          <a:prstGeom prst="rect">
            <a:avLst/>
          </a:prstGeom>
          <a:noFill/>
        </p:spPr>
        <p:txBody>
          <a:bodyPr wrap="square" lIns="45720" rIns="45720" tIns="27432" bIns="27432" anchor="t">
            <a:spAutoFit/>
          </a:bodyPr>
          <a:lstStyle/>
          <a:p>
            <a:pPr algn="l"/>
            <a:r>
              <a:rPr sz="1400" b="1" i="0">
                <a:solidFill>
                  <a:srgbClr val="1B3A4B"/>
                </a:solidFill>
                <a:latin typeface="Calibri"/>
              </a:rPr>
              <a:t>LoRa link: control, alerts</a:t>
            </a:r>
          </a:p>
        </p:txBody>
      </p:sp>
      <p:sp>
        <p:nvSpPr>
          <p:cNvPr id="45" name="Rounded Rectangle 44"/>
          <p:cNvSpPr/>
          <p:nvPr/>
        </p:nvSpPr>
        <p:spPr>
          <a:xfrm>
            <a:off x="6858000" y="5658078"/>
            <a:ext cx="4892040"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6967728" y="5676366"/>
            <a:ext cx="4709160" cy="822960"/>
          </a:xfrm>
          <a:prstGeom prst="rect">
            <a:avLst/>
          </a:prstGeom>
          <a:noFill/>
        </p:spPr>
        <p:txBody>
          <a:bodyPr wrap="square" lIns="45720" rIns="45720" tIns="27432" bIns="27432" anchor="ctr">
            <a:spAutoFit/>
          </a:bodyPr>
          <a:lstStyle/>
          <a:p>
            <a:pPr algn="l"/>
            <a:r>
              <a:rPr sz="1400" b="1" i="0">
                <a:solidFill>
                  <a:srgbClr val="C55A11"/>
                </a:solidFill>
                <a:latin typeface="Calibri"/>
              </a:rPr>
              <a:t>Each node: </a:t>
            </a:r>
            <a:r>
              <a:rPr sz="1400" b="0" i="0">
                <a:solidFill>
                  <a:srgbClr val="1C2430"/>
                </a:solidFill>
                <a:latin typeface="Calibri"/>
              </a:rPr>
              <a:t>laser, IMU, motorized mount, LoRa.   </a:t>
            </a:r>
            <a:r>
              <a:rPr sz="1400" b="1" i="0">
                <a:solidFill>
                  <a:srgbClr val="C55A11"/>
                </a:solidFill>
                <a:latin typeface="Calibri"/>
              </a:rPr>
              <a:t>Surface: </a:t>
            </a:r>
            <a:r>
              <a:rPr sz="1400" b="0" i="0">
                <a:solidFill>
                  <a:srgbClr val="1C2430"/>
                </a:solidFill>
                <a:latin typeface="Calibri"/>
              </a:rPr>
              <a:t>dashboard, alerts, localization.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How one hop works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How one hop works</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7  /  16</a:t>
            </a:r>
          </a:p>
        </p:txBody>
      </p:sp>
      <p:sp>
        <p:nvSpPr>
          <p:cNvPr id="13" name="TextBox 12"/>
          <p:cNvSpPr txBox="1"/>
          <p:nvPr/>
        </p:nvSpPr>
        <p:spPr>
          <a:xfrm>
            <a:off x="457200" y="960120"/>
            <a:ext cx="7315200" cy="365760"/>
          </a:xfrm>
          <a:prstGeom prst="rect">
            <a:avLst/>
          </a:prstGeom>
          <a:noFill/>
        </p:spPr>
        <p:txBody>
          <a:bodyPr wrap="square" lIns="45720" rIns="45720" tIns="27432" bIns="27432" anchor="t">
            <a:spAutoFit/>
          </a:bodyPr>
          <a:lstStyle/>
          <a:p>
            <a:pPr algn="l"/>
            <a:r>
              <a:rPr sz="1600" b="0" i="0">
                <a:solidFill>
                  <a:srgbClr val="5C6770"/>
                </a:solidFill>
                <a:latin typeface="Calibri"/>
              </a:rPr>
              <a:t>The picture travels as light. Each node rebuilds it, checks it and sends it on.</a:t>
            </a:r>
          </a:p>
        </p:txBody>
      </p:sp>
      <p:sp>
        <p:nvSpPr>
          <p:cNvPr id="14" name="TextBox 13"/>
          <p:cNvSpPr txBox="1"/>
          <p:nvPr/>
        </p:nvSpPr>
        <p:spPr>
          <a:xfrm>
            <a:off x="457200" y="1417320"/>
            <a:ext cx="2743200" cy="320040"/>
          </a:xfrm>
          <a:prstGeom prst="rect">
            <a:avLst/>
          </a:prstGeom>
          <a:noFill/>
        </p:spPr>
        <p:txBody>
          <a:bodyPr wrap="square" lIns="45720" rIns="45720" tIns="27432" bIns="27432" anchor="t">
            <a:spAutoFit/>
          </a:bodyPr>
          <a:lstStyle/>
          <a:p>
            <a:pPr algn="l"/>
            <a:r>
              <a:rPr sz="1600" b="1" i="0">
                <a:solidFill>
                  <a:srgbClr val="1B3A4B"/>
                </a:solidFill>
                <a:latin typeface="Calibri"/>
              </a:rPr>
              <a:t>Optical frame</a:t>
            </a:r>
          </a:p>
        </p:txBody>
      </p:sp>
      <p:sp>
        <p:nvSpPr>
          <p:cNvPr id="15" name="Rounded Rectangle 14"/>
          <p:cNvSpPr/>
          <p:nvPr/>
        </p:nvSpPr>
        <p:spPr>
          <a:xfrm>
            <a:off x="2286000" y="1389888"/>
            <a:ext cx="91440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AA55</a:t>
            </a:r>
          </a:p>
        </p:txBody>
      </p:sp>
      <p:sp>
        <p:nvSpPr>
          <p:cNvPr id="16" name="Rounded Rectangle 15"/>
          <p:cNvSpPr/>
          <p:nvPr/>
        </p:nvSpPr>
        <p:spPr>
          <a:xfrm>
            <a:off x="329184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Length</a:t>
            </a:r>
          </a:p>
        </p:txBody>
      </p:sp>
      <p:sp>
        <p:nvSpPr>
          <p:cNvPr id="17" name="Rounded Rectangle 16"/>
          <p:cNvSpPr/>
          <p:nvPr/>
        </p:nvSpPr>
        <p:spPr>
          <a:xfrm>
            <a:off x="4572000" y="1389888"/>
            <a:ext cx="82296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Seq</a:t>
            </a:r>
          </a:p>
        </p:txBody>
      </p:sp>
      <p:sp>
        <p:nvSpPr>
          <p:cNvPr id="18" name="Rounded Rectangle 17"/>
          <p:cNvSpPr/>
          <p:nvPr/>
        </p:nvSpPr>
        <p:spPr>
          <a:xfrm>
            <a:off x="5486400" y="1389888"/>
            <a:ext cx="2651760" cy="411480"/>
          </a:xfrm>
          <a:prstGeom prst="roundRect">
            <a:avLst>
              <a:gd name="adj" fmla="val 20000"/>
            </a:avLst>
          </a:prstGeom>
          <a:solidFill>
            <a:srgbClr val="ED7D31"/>
          </a:solidFill>
          <a:ln>
            <a:noFill/>
          </a:ln>
        </p:spPr>
        <p:txBody>
          <a:bodyPr rtlCol="0" anchor="ctr" lIns="36576" rIns="36576" tIns="0" bIns="0" wrap="square"/>
          <a:lstStyle/>
          <a:p>
            <a:pPr algn="ctr"/>
            <a:r>
              <a:rPr sz="1500" b="1">
                <a:solidFill>
                  <a:srgbClr val="FFFFFF"/>
                </a:solidFill>
                <a:latin typeface="Calibri"/>
              </a:rPr>
              <a:t>JPEG</a:t>
            </a:r>
          </a:p>
        </p:txBody>
      </p:sp>
      <p:sp>
        <p:nvSpPr>
          <p:cNvPr id="19" name="Rounded Rectangle 18"/>
          <p:cNvSpPr/>
          <p:nvPr/>
        </p:nvSpPr>
        <p:spPr>
          <a:xfrm>
            <a:off x="822960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CRC-16</a:t>
            </a:r>
          </a:p>
        </p:txBody>
      </p:sp>
      <p:sp>
        <p:nvSpPr>
          <p:cNvPr id="20" name="TextBox 19"/>
          <p:cNvSpPr txBox="1"/>
          <p:nvPr/>
        </p:nvSpPr>
        <p:spPr>
          <a:xfrm>
            <a:off x="9601200" y="1344168"/>
            <a:ext cx="2148839" cy="502920"/>
          </a:xfrm>
          <a:prstGeom prst="rect">
            <a:avLst/>
          </a:prstGeom>
          <a:noFill/>
        </p:spPr>
        <p:txBody>
          <a:bodyPr wrap="square" lIns="45720" rIns="45720" tIns="27432" bIns="27432" anchor="ctr">
            <a:spAutoFit/>
          </a:bodyPr>
          <a:lstStyle/>
          <a:p>
            <a:pPr algn="l"/>
            <a:r>
              <a:rPr sz="1300" b="0" i="0">
                <a:solidFill>
                  <a:srgbClr val="5C6770"/>
                </a:solidFill>
                <a:latin typeface="Calibri"/>
              </a:rPr>
              <a:t>UART 115200 8N1, one direction</a:t>
            </a:r>
          </a:p>
        </p:txBody>
      </p:sp>
      <p:sp>
        <p:nvSpPr>
          <p:cNvPr id="21" name="Rounded Rectangle 20"/>
          <p:cNvSpPr/>
          <p:nvPr/>
        </p:nvSpPr>
        <p:spPr>
          <a:xfrm>
            <a:off x="457200" y="2103120"/>
            <a:ext cx="3246120" cy="21488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2" name="TextBox 21"/>
          <p:cNvSpPr txBox="1"/>
          <p:nvPr/>
        </p:nvSpPr>
        <p:spPr>
          <a:xfrm>
            <a:off x="640080"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Camera node</a:t>
            </a:r>
          </a:p>
        </p:txBody>
      </p:sp>
      <p:sp>
        <p:nvSpPr>
          <p:cNvPr id="23" name="TextBox 22"/>
          <p:cNvSpPr txBox="1"/>
          <p:nvPr/>
        </p:nvSpPr>
        <p:spPr>
          <a:xfrm>
            <a:off x="64008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Camera + Raspberry Pi</a:t>
            </a:r>
          </a:p>
          <a:p>
            <a:pPr algn="l">
              <a:spcAft>
                <a:spcPts val="600"/>
              </a:spcAft>
            </a:pPr>
            <a:r>
              <a:rPr sz="1500" b="0" i="0">
                <a:solidFill>
                  <a:srgbClr val="1C2430"/>
                </a:solidFill>
                <a:latin typeface="Calibri"/>
              </a:rPr>
              <a:t>•  Packet out of UART</a:t>
            </a:r>
          </a:p>
          <a:p>
            <a:pPr algn="l">
              <a:spcAft>
                <a:spcPts val="600"/>
              </a:spcAft>
            </a:pPr>
            <a:r>
              <a:rPr sz="1500" b="0" i="0">
                <a:solidFill>
                  <a:srgbClr val="1C2430"/>
                </a:solidFill>
                <a:latin typeface="Calibri"/>
              </a:rPr>
              <a:t>•  650 nm laser, on–off keying</a:t>
            </a:r>
          </a:p>
        </p:txBody>
      </p:sp>
      <p:pic>
        <p:nvPicPr>
          <p:cNvPr id="24" name="Picture" descr="Camera head on a tripod, laser facing right"/>
          <p:cNvPicPr>
            <a:picLocks noChangeAspect="1"/>
          </p:cNvPicPr>
          <p:nvPr/>
        </p:nvPicPr>
        <p:blipFill>
          <a:blip r:embed="rId2"/>
          <a:stretch>
            <a:fillRect/>
          </a:stretch>
        </p:blipFill>
        <p:spPr>
          <a:xfrm>
            <a:off x="3063240" y="2176272"/>
            <a:ext cx="270344" cy="457200"/>
          </a:xfrm>
          <a:prstGeom prst="rect">
            <a:avLst/>
          </a:prstGeom>
        </p:spPr>
      </p:pic>
      <p:sp>
        <p:nvSpPr>
          <p:cNvPr id="25" name="Rectangle 24"/>
          <p:cNvSpPr/>
          <p:nvPr/>
        </p:nvSpPr>
        <p:spPr>
          <a:xfrm>
            <a:off x="3749039" y="3081528"/>
            <a:ext cx="594360" cy="146304"/>
          </a:xfrm>
          <a:prstGeom prst="rect">
            <a:avLst/>
          </a:prstGeom>
          <a:solidFill>
            <a:srgbClr val="ED7D31">
              <a:alpha val="28000"/>
            </a:srgbClr>
          </a:solidFill>
          <a:ln>
            <a:noFill/>
          </a:ln>
        </p:spPr>
        <p:txBody>
          <a:bodyPr rtlCol="0" anchor="ctr"/>
          <a:lstStyle/>
          <a:p>
            <a:pPr algn="ctr"/>
          </a:p>
        </p:txBody>
      </p:sp>
      <p:sp>
        <p:nvSpPr>
          <p:cNvPr id="26" name="Rectangle 25"/>
          <p:cNvSpPr/>
          <p:nvPr/>
        </p:nvSpPr>
        <p:spPr>
          <a:xfrm>
            <a:off x="3749039" y="3131820"/>
            <a:ext cx="594360" cy="45720"/>
          </a:xfrm>
          <a:prstGeom prst="rect">
            <a:avLst/>
          </a:prstGeom>
          <a:solidFill>
            <a:srgbClr val="ED7D31"/>
          </a:solidFill>
          <a:ln>
            <a:noFill/>
          </a:ln>
        </p:spPr>
        <p:txBody>
          <a:bodyPr rtlCol="0" anchor="ctr"/>
          <a:lstStyle/>
          <a:p>
            <a:pPr algn="ctr"/>
          </a:p>
        </p:txBody>
      </p:sp>
      <p:sp>
        <p:nvSpPr>
          <p:cNvPr id="27" name="TextBox 26"/>
          <p:cNvSpPr txBox="1"/>
          <p:nvPr/>
        </p:nvSpPr>
        <p:spPr>
          <a:xfrm>
            <a:off x="361188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28" name="Rounded Rectangle 27"/>
          <p:cNvSpPr/>
          <p:nvPr/>
        </p:nvSpPr>
        <p:spPr>
          <a:xfrm>
            <a:off x="4389120" y="2103120"/>
            <a:ext cx="3246120" cy="2148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9" name="TextBox 28"/>
          <p:cNvSpPr txBox="1"/>
          <p:nvPr/>
        </p:nvSpPr>
        <p:spPr>
          <a:xfrm>
            <a:off x="4572000" y="2176272"/>
            <a:ext cx="2194560" cy="411480"/>
          </a:xfrm>
          <a:prstGeom prst="rect">
            <a:avLst/>
          </a:prstGeom>
          <a:noFill/>
        </p:spPr>
        <p:txBody>
          <a:bodyPr wrap="square" lIns="45720" rIns="45720" tIns="27432" bIns="27432" anchor="t">
            <a:spAutoFit/>
          </a:bodyPr>
          <a:lstStyle/>
          <a:p>
            <a:pPr algn="l"/>
            <a:r>
              <a:rPr sz="1900" b="1" i="0">
                <a:solidFill>
                  <a:srgbClr val="FFD966"/>
                </a:solidFill>
                <a:latin typeface="Calibri"/>
              </a:rPr>
              <a:t>Relay node</a:t>
            </a:r>
          </a:p>
        </p:txBody>
      </p:sp>
      <p:sp>
        <p:nvSpPr>
          <p:cNvPr id="30" name="TextBox 29"/>
          <p:cNvSpPr txBox="1"/>
          <p:nvPr/>
        </p:nvSpPr>
        <p:spPr>
          <a:xfrm>
            <a:off x="457200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FFFFFF"/>
                </a:solidFill>
                <a:latin typeface="Calibri"/>
              </a:rPr>
              <a:t>•  Photodiode, amplifier, comparator</a:t>
            </a:r>
          </a:p>
          <a:p>
            <a:pPr algn="l">
              <a:spcAft>
                <a:spcPts val="600"/>
              </a:spcAft>
            </a:pPr>
            <a:r>
              <a:rPr sz="1500" b="0" i="0">
                <a:solidFill>
                  <a:srgbClr val="FFFFFF"/>
                </a:solidFill>
                <a:latin typeface="Calibri"/>
              </a:rPr>
              <a:t>•  Second Pi checks CRC, holds JPEG</a:t>
            </a:r>
          </a:p>
          <a:p>
            <a:pPr algn="l">
              <a:spcAft>
                <a:spcPts val="600"/>
              </a:spcAft>
            </a:pPr>
            <a:r>
              <a:rPr sz="1500" b="0" i="0">
                <a:solidFill>
                  <a:srgbClr val="FFFFFF"/>
                </a:solidFill>
                <a:latin typeface="Calibri"/>
              </a:rPr>
              <a:t>•  Sends the frame again on its own laser</a:t>
            </a:r>
          </a:p>
        </p:txBody>
      </p:sp>
      <p:pic>
        <p:nvPicPr>
          <p:cNvPr id="31" name="Picture" descr="Camera head on a tripod, laser facing left"/>
          <p:cNvPicPr>
            <a:picLocks noChangeAspect="1"/>
          </p:cNvPicPr>
          <p:nvPr/>
        </p:nvPicPr>
        <p:blipFill>
          <a:blip r:embed="rId3"/>
          <a:stretch>
            <a:fillRect/>
          </a:stretch>
        </p:blipFill>
        <p:spPr>
          <a:xfrm>
            <a:off x="6629400" y="2176272"/>
            <a:ext cx="333954" cy="457200"/>
          </a:xfrm>
          <a:prstGeom prst="rect">
            <a:avLst/>
          </a:prstGeom>
        </p:spPr>
      </p:pic>
      <p:pic>
        <p:nvPicPr>
          <p:cNvPr id="32" name="Picture" descr="Camera head on a tripod, laser facing right"/>
          <p:cNvPicPr>
            <a:picLocks noChangeAspect="1"/>
          </p:cNvPicPr>
          <p:nvPr/>
        </p:nvPicPr>
        <p:blipFill>
          <a:blip r:embed="rId2"/>
          <a:stretch>
            <a:fillRect/>
          </a:stretch>
        </p:blipFill>
        <p:spPr>
          <a:xfrm>
            <a:off x="7104888" y="2176272"/>
            <a:ext cx="270344" cy="457200"/>
          </a:xfrm>
          <a:prstGeom prst="rect">
            <a:avLst/>
          </a:prstGeom>
        </p:spPr>
      </p:pic>
      <p:sp>
        <p:nvSpPr>
          <p:cNvPr id="33" name="Rectangle 32"/>
          <p:cNvSpPr/>
          <p:nvPr/>
        </p:nvSpPr>
        <p:spPr>
          <a:xfrm>
            <a:off x="7680960" y="3081528"/>
            <a:ext cx="594360" cy="146304"/>
          </a:xfrm>
          <a:prstGeom prst="rect">
            <a:avLst/>
          </a:prstGeom>
          <a:solidFill>
            <a:srgbClr val="ED7D31">
              <a:alpha val="28000"/>
            </a:srgbClr>
          </a:solidFill>
          <a:ln>
            <a:noFill/>
          </a:ln>
        </p:spPr>
        <p:txBody>
          <a:bodyPr rtlCol="0" anchor="ctr"/>
          <a:lstStyle/>
          <a:p>
            <a:pPr algn="ctr"/>
          </a:p>
        </p:txBody>
      </p:sp>
      <p:sp>
        <p:nvSpPr>
          <p:cNvPr id="34" name="Rectangle 33"/>
          <p:cNvSpPr/>
          <p:nvPr/>
        </p:nvSpPr>
        <p:spPr>
          <a:xfrm>
            <a:off x="7680960" y="3131820"/>
            <a:ext cx="594360" cy="45720"/>
          </a:xfrm>
          <a:prstGeom prst="rect">
            <a:avLst/>
          </a:prstGeom>
          <a:solidFill>
            <a:srgbClr val="ED7D31"/>
          </a:solidFill>
          <a:ln>
            <a:noFill/>
          </a:ln>
        </p:spPr>
        <p:txBody>
          <a:bodyPr rtlCol="0" anchor="ctr"/>
          <a:lstStyle/>
          <a:p>
            <a:pPr algn="ctr"/>
          </a:p>
        </p:txBody>
      </p:sp>
      <p:sp>
        <p:nvSpPr>
          <p:cNvPr id="35" name="TextBox 34"/>
          <p:cNvSpPr txBox="1"/>
          <p:nvPr/>
        </p:nvSpPr>
        <p:spPr>
          <a:xfrm>
            <a:off x="754380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36" name="Rounded Rectangle 35"/>
          <p:cNvSpPr/>
          <p:nvPr/>
        </p:nvSpPr>
        <p:spPr>
          <a:xfrm>
            <a:off x="8321040" y="2103120"/>
            <a:ext cx="3246120" cy="21488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TextBox 36"/>
          <p:cNvSpPr txBox="1"/>
          <p:nvPr/>
        </p:nvSpPr>
        <p:spPr>
          <a:xfrm>
            <a:off x="8503919"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Base station</a:t>
            </a:r>
          </a:p>
        </p:txBody>
      </p:sp>
      <p:sp>
        <p:nvSpPr>
          <p:cNvPr id="38" name="TextBox 37"/>
          <p:cNvSpPr txBox="1"/>
          <p:nvPr/>
        </p:nvSpPr>
        <p:spPr>
          <a:xfrm>
            <a:off x="8503919"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Same receiver chain</a:t>
            </a:r>
          </a:p>
          <a:p>
            <a:pPr algn="l">
              <a:spcAft>
                <a:spcPts val="600"/>
              </a:spcAft>
            </a:pPr>
            <a:r>
              <a:rPr sz="1500" b="0" i="0">
                <a:solidFill>
                  <a:srgbClr val="1C2430"/>
                </a:solidFill>
                <a:latin typeface="Calibri"/>
              </a:rPr>
              <a:t>•  Third Pi checks CRC</a:t>
            </a:r>
          </a:p>
          <a:p>
            <a:pPr algn="l">
              <a:spcAft>
                <a:spcPts val="600"/>
              </a:spcAft>
            </a:pPr>
            <a:r>
              <a:rPr sz="1500" b="0" i="0">
                <a:solidFill>
                  <a:srgbClr val="1C2430"/>
                </a:solidFill>
                <a:latin typeface="Calibri"/>
              </a:rPr>
              <a:t>•  JPEG on the HDMI screen</a:t>
            </a:r>
          </a:p>
        </p:txBody>
      </p:sp>
      <p:pic>
        <p:nvPicPr>
          <p:cNvPr id="39" name="Picture" descr="Monitoring dashboard"/>
          <p:cNvPicPr>
            <a:picLocks noChangeAspect="1"/>
          </p:cNvPicPr>
          <p:nvPr/>
        </p:nvPicPr>
        <p:blipFill>
          <a:blip r:embed="rId4"/>
          <a:stretch>
            <a:fillRect/>
          </a:stretch>
        </p:blipFill>
        <p:spPr>
          <a:xfrm>
            <a:off x="10835640" y="2194560"/>
            <a:ext cx="566928" cy="456487"/>
          </a:xfrm>
          <a:prstGeom prst="rect">
            <a:avLst/>
          </a:prstGeom>
        </p:spPr>
      </p:pic>
      <p:sp>
        <p:nvSpPr>
          <p:cNvPr id="40" name="TextBox 39"/>
          <p:cNvSpPr txBox="1"/>
          <p:nvPr/>
        </p:nvSpPr>
        <p:spPr>
          <a:xfrm>
            <a:off x="457200" y="443484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Three different jobs</a:t>
            </a:r>
          </a:p>
        </p:txBody>
      </p:sp>
      <p:sp>
        <p:nvSpPr>
          <p:cNvPr id="41" name="Rounded Rectangle 40"/>
          <p:cNvSpPr/>
          <p:nvPr/>
        </p:nvSpPr>
        <p:spPr>
          <a:xfrm>
            <a:off x="45720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42" name="Picture" descr="FSO laser"/>
          <p:cNvPicPr>
            <a:picLocks noChangeAspect="1"/>
          </p:cNvPicPr>
          <p:nvPr/>
        </p:nvPicPr>
        <p:blipFill>
          <a:blip r:embed="rId5"/>
          <a:stretch>
            <a:fillRect/>
          </a:stretch>
        </p:blipFill>
        <p:spPr>
          <a:xfrm>
            <a:off x="640080" y="4956048"/>
            <a:ext cx="713232" cy="491884"/>
          </a:xfrm>
          <a:prstGeom prst="rect">
            <a:avLst/>
          </a:prstGeom>
        </p:spPr>
      </p:pic>
      <p:sp>
        <p:nvSpPr>
          <p:cNvPr id="43" name="TextBox 42"/>
          <p:cNvSpPr txBox="1"/>
          <p:nvPr/>
        </p:nvSpPr>
        <p:spPr>
          <a:xfrm>
            <a:off x="150876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Laser</a:t>
            </a:r>
          </a:p>
        </p:txBody>
      </p:sp>
      <p:sp>
        <p:nvSpPr>
          <p:cNvPr id="44" name="TextBox 43"/>
          <p:cNvSpPr txBox="1"/>
          <p:nvPr/>
        </p:nvSpPr>
        <p:spPr>
          <a:xfrm>
            <a:off x="64008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Carries the JPEG only.</a:t>
            </a:r>
          </a:p>
        </p:txBody>
      </p:sp>
      <p:sp>
        <p:nvSpPr>
          <p:cNvPr id="45" name="Rounded Rectangle 44"/>
          <p:cNvSpPr/>
          <p:nvPr/>
        </p:nvSpPr>
        <p:spPr>
          <a:xfrm>
            <a:off x="425196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46" name="Picture" descr="IMU module"/>
          <p:cNvPicPr>
            <a:picLocks noChangeAspect="1"/>
          </p:cNvPicPr>
          <p:nvPr/>
        </p:nvPicPr>
        <p:blipFill>
          <a:blip r:embed="rId6"/>
          <a:stretch>
            <a:fillRect/>
          </a:stretch>
        </p:blipFill>
        <p:spPr>
          <a:xfrm>
            <a:off x="4480560" y="4937760"/>
            <a:ext cx="594360" cy="435863"/>
          </a:xfrm>
          <a:prstGeom prst="rect">
            <a:avLst/>
          </a:prstGeom>
        </p:spPr>
      </p:pic>
      <p:sp>
        <p:nvSpPr>
          <p:cNvPr id="47" name="TextBox 46"/>
          <p:cNvSpPr txBox="1"/>
          <p:nvPr/>
        </p:nvSpPr>
        <p:spPr>
          <a:xfrm>
            <a:off x="530352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IMU</a:t>
            </a:r>
          </a:p>
        </p:txBody>
      </p:sp>
      <p:sp>
        <p:nvSpPr>
          <p:cNvPr id="48" name="TextBox 47"/>
          <p:cNvSpPr txBox="1"/>
          <p:nvPr/>
        </p:nvSpPr>
        <p:spPr>
          <a:xfrm>
            <a:off x="443484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Holds the camera head at its angle. It does not find the relay.</a:t>
            </a:r>
          </a:p>
        </p:txBody>
      </p:sp>
      <p:sp>
        <p:nvSpPr>
          <p:cNvPr id="49" name="Rounded Rectangle 48"/>
          <p:cNvSpPr/>
          <p:nvPr/>
        </p:nvSpPr>
        <p:spPr>
          <a:xfrm>
            <a:off x="8046720" y="4846320"/>
            <a:ext cx="3703320" cy="141732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50" name="Picture" descr="LoRa module"/>
          <p:cNvPicPr>
            <a:picLocks noChangeAspect="1"/>
          </p:cNvPicPr>
          <p:nvPr/>
        </p:nvPicPr>
        <p:blipFill>
          <a:blip r:embed="rId7"/>
          <a:stretch>
            <a:fillRect/>
          </a:stretch>
        </p:blipFill>
        <p:spPr>
          <a:xfrm>
            <a:off x="8321040" y="4919472"/>
            <a:ext cx="634959" cy="566928"/>
          </a:xfrm>
          <a:prstGeom prst="rect">
            <a:avLst/>
          </a:prstGeom>
        </p:spPr>
      </p:pic>
      <p:sp>
        <p:nvSpPr>
          <p:cNvPr id="51" name="TextBox 50"/>
          <p:cNvSpPr txBox="1"/>
          <p:nvPr/>
        </p:nvSpPr>
        <p:spPr>
          <a:xfrm>
            <a:off x="909828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LoRa</a:t>
            </a:r>
          </a:p>
        </p:txBody>
      </p:sp>
      <p:sp>
        <p:nvSpPr>
          <p:cNvPr id="52" name="TextBox 51"/>
          <p:cNvSpPr txBox="1"/>
          <p:nvPr/>
        </p:nvSpPr>
        <p:spPr>
          <a:xfrm>
            <a:off x="822960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Five-byte messages: lock or lost, alert, image OK, dust mode switch.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Dust-adaptive link switching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Dust switching</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8  /  16</a:t>
            </a:r>
          </a:p>
        </p:txBody>
      </p:sp>
      <p:sp>
        <p:nvSpPr>
          <p:cNvPr id="13" name="TextBox 12"/>
          <p:cNvSpPr txBox="1"/>
          <p:nvPr/>
        </p:nvSpPr>
        <p:spPr>
          <a:xfrm>
            <a:off x="457200" y="960120"/>
            <a:ext cx="11247120" cy="365760"/>
          </a:xfrm>
          <a:prstGeom prst="rect">
            <a:avLst/>
          </a:prstGeom>
          <a:noFill/>
        </p:spPr>
        <p:txBody>
          <a:bodyPr wrap="square" lIns="45720" rIns="45720" tIns="27432" bIns="27432" anchor="t">
            <a:spAutoFit/>
          </a:bodyPr>
          <a:lstStyle/>
          <a:p>
            <a:pPr algn="l"/>
            <a:r>
              <a:rPr sz="1600" b="0" i="0">
                <a:solidFill>
                  <a:srgbClr val="5C6770"/>
                </a:solidFill>
                <a:latin typeface="Calibri"/>
              </a:rPr>
              <a:t>Dust scatters the laser beam. When the dust level is too high, the node moves the video to Zigbee / Wi-Fi and LoRa tells the surface.</a:t>
            </a:r>
          </a:p>
        </p:txBody>
      </p:sp>
      <p:sp>
        <p:nvSpPr>
          <p:cNvPr id="14" name="Rounded Rectangle 13"/>
          <p:cNvSpPr/>
          <p:nvPr/>
        </p:nvSpPr>
        <p:spPr>
          <a:xfrm>
            <a:off x="457200" y="2240280"/>
            <a:ext cx="2514600" cy="18288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15" name="TextBox 14"/>
          <p:cNvSpPr txBox="1"/>
          <p:nvPr/>
        </p:nvSpPr>
        <p:spPr>
          <a:xfrm>
            <a:off x="594360" y="2286000"/>
            <a:ext cx="2240280" cy="365760"/>
          </a:xfrm>
          <a:prstGeom prst="rect">
            <a:avLst/>
          </a:prstGeom>
          <a:noFill/>
        </p:spPr>
        <p:txBody>
          <a:bodyPr wrap="square" lIns="45720" rIns="45720" tIns="27432" bIns="27432" anchor="t">
            <a:spAutoFit/>
          </a:bodyPr>
          <a:lstStyle/>
          <a:p>
            <a:pPr algn="l"/>
            <a:r>
              <a:rPr sz="1900" b="1" i="0">
                <a:solidFill>
                  <a:srgbClr val="1B3A4B"/>
                </a:solidFill>
                <a:latin typeface="Calibri"/>
              </a:rPr>
              <a:t>Dust level</a:t>
            </a:r>
          </a:p>
        </p:txBody>
      </p:sp>
      <p:sp>
        <p:nvSpPr>
          <p:cNvPr id="16" name="Oval 15"/>
          <p:cNvSpPr/>
          <p:nvPr/>
        </p:nvSpPr>
        <p:spPr>
          <a:xfrm>
            <a:off x="2567568" y="2732330"/>
            <a:ext cx="115253" cy="115253"/>
          </a:xfrm>
          <a:prstGeom prst="ellipse">
            <a:avLst/>
          </a:prstGeom>
          <a:solidFill>
            <a:srgbClr val="B08968">
              <a:alpha val="70000"/>
            </a:srgbClr>
          </a:solidFill>
          <a:ln>
            <a:noFill/>
          </a:ln>
        </p:spPr>
        <p:txBody>
          <a:bodyPr rtlCol="0" anchor="ctr"/>
          <a:lstStyle/>
          <a:p>
            <a:pPr algn="ctr"/>
          </a:p>
        </p:txBody>
      </p:sp>
      <p:sp>
        <p:nvSpPr>
          <p:cNvPr id="17" name="Oval 16"/>
          <p:cNvSpPr/>
          <p:nvPr/>
        </p:nvSpPr>
        <p:spPr>
          <a:xfrm>
            <a:off x="2144038" y="3116855"/>
            <a:ext cx="105334" cy="105334"/>
          </a:xfrm>
          <a:prstGeom prst="ellipse">
            <a:avLst/>
          </a:prstGeom>
          <a:solidFill>
            <a:srgbClr val="C4A484">
              <a:alpha val="70000"/>
            </a:srgbClr>
          </a:solidFill>
          <a:ln>
            <a:noFill/>
          </a:ln>
        </p:spPr>
        <p:txBody>
          <a:bodyPr rtlCol="0" anchor="ctr"/>
          <a:lstStyle/>
          <a:p>
            <a:pPr algn="ctr"/>
          </a:p>
        </p:txBody>
      </p:sp>
      <p:sp>
        <p:nvSpPr>
          <p:cNvPr id="18" name="Oval 17"/>
          <p:cNvSpPr/>
          <p:nvPr/>
        </p:nvSpPr>
        <p:spPr>
          <a:xfrm>
            <a:off x="1891546" y="3072401"/>
            <a:ext cx="86442" cy="86442"/>
          </a:xfrm>
          <a:prstGeom prst="ellipse">
            <a:avLst/>
          </a:prstGeom>
          <a:solidFill>
            <a:srgbClr val="9C7A5B">
              <a:alpha val="70000"/>
            </a:srgbClr>
          </a:solidFill>
          <a:ln>
            <a:noFill/>
          </a:ln>
        </p:spPr>
        <p:txBody>
          <a:bodyPr rtlCol="0" anchor="ctr"/>
          <a:lstStyle/>
          <a:p>
            <a:pPr algn="ctr"/>
          </a:p>
        </p:txBody>
      </p:sp>
      <p:sp>
        <p:nvSpPr>
          <p:cNvPr id="19" name="Oval 18"/>
          <p:cNvSpPr/>
          <p:nvPr/>
        </p:nvSpPr>
        <p:spPr>
          <a:xfrm>
            <a:off x="2295414" y="3250101"/>
            <a:ext cx="89119" cy="89119"/>
          </a:xfrm>
          <a:prstGeom prst="ellipse">
            <a:avLst/>
          </a:prstGeom>
          <a:solidFill>
            <a:srgbClr val="C4A484">
              <a:alpha val="85000"/>
            </a:srgbClr>
          </a:solidFill>
          <a:ln>
            <a:noFill/>
          </a:ln>
        </p:spPr>
        <p:txBody>
          <a:bodyPr rtlCol="0" anchor="ctr"/>
          <a:lstStyle/>
          <a:p>
            <a:pPr algn="ctr"/>
          </a:p>
        </p:txBody>
      </p:sp>
      <p:sp>
        <p:nvSpPr>
          <p:cNvPr id="20" name="Oval 19"/>
          <p:cNvSpPr/>
          <p:nvPr/>
        </p:nvSpPr>
        <p:spPr>
          <a:xfrm>
            <a:off x="1661916" y="3254371"/>
            <a:ext cx="113581" cy="113581"/>
          </a:xfrm>
          <a:prstGeom prst="ellipse">
            <a:avLst/>
          </a:prstGeom>
          <a:solidFill>
            <a:srgbClr val="B08968">
              <a:alpha val="70000"/>
            </a:srgbClr>
          </a:solidFill>
          <a:ln>
            <a:noFill/>
          </a:ln>
        </p:spPr>
        <p:txBody>
          <a:bodyPr rtlCol="0" anchor="ctr"/>
          <a:lstStyle/>
          <a:p>
            <a:pPr algn="ctr"/>
          </a:p>
        </p:txBody>
      </p:sp>
      <p:sp>
        <p:nvSpPr>
          <p:cNvPr id="21" name="Oval 20"/>
          <p:cNvSpPr/>
          <p:nvPr/>
        </p:nvSpPr>
        <p:spPr>
          <a:xfrm>
            <a:off x="1300578" y="2947030"/>
            <a:ext cx="74834" cy="74834"/>
          </a:xfrm>
          <a:prstGeom prst="ellipse">
            <a:avLst/>
          </a:prstGeom>
          <a:solidFill>
            <a:srgbClr val="9C7A5B">
              <a:alpha val="85000"/>
            </a:srgbClr>
          </a:solidFill>
          <a:ln>
            <a:noFill/>
          </a:ln>
        </p:spPr>
        <p:txBody>
          <a:bodyPr rtlCol="0" anchor="ctr"/>
          <a:lstStyle/>
          <a:p>
            <a:pPr algn="ctr"/>
          </a:p>
        </p:txBody>
      </p:sp>
      <p:sp>
        <p:nvSpPr>
          <p:cNvPr id="22" name="Oval 21"/>
          <p:cNvSpPr/>
          <p:nvPr/>
        </p:nvSpPr>
        <p:spPr>
          <a:xfrm>
            <a:off x="1123806" y="2817709"/>
            <a:ext cx="51178" cy="51178"/>
          </a:xfrm>
          <a:prstGeom prst="ellipse">
            <a:avLst/>
          </a:prstGeom>
          <a:solidFill>
            <a:srgbClr val="9C7A5B">
              <a:alpha val="55000"/>
            </a:srgbClr>
          </a:solidFill>
          <a:ln>
            <a:noFill/>
          </a:ln>
        </p:spPr>
        <p:txBody>
          <a:bodyPr rtlCol="0" anchor="ctr"/>
          <a:lstStyle/>
          <a:p>
            <a:pPr algn="ctr"/>
          </a:p>
        </p:txBody>
      </p:sp>
      <p:sp>
        <p:nvSpPr>
          <p:cNvPr id="23" name="Oval 22"/>
          <p:cNvSpPr/>
          <p:nvPr/>
        </p:nvSpPr>
        <p:spPr>
          <a:xfrm>
            <a:off x="1384741" y="3032929"/>
            <a:ext cx="78560" cy="78560"/>
          </a:xfrm>
          <a:prstGeom prst="ellipse">
            <a:avLst/>
          </a:prstGeom>
          <a:solidFill>
            <a:srgbClr val="9C7A5B">
              <a:alpha val="70000"/>
            </a:srgbClr>
          </a:solidFill>
          <a:ln>
            <a:noFill/>
          </a:ln>
        </p:spPr>
        <p:txBody>
          <a:bodyPr rtlCol="0" anchor="ctr"/>
          <a:lstStyle/>
          <a:p>
            <a:pPr algn="ctr"/>
          </a:p>
        </p:txBody>
      </p:sp>
      <p:sp>
        <p:nvSpPr>
          <p:cNvPr id="24" name="Oval 23"/>
          <p:cNvSpPr/>
          <p:nvPr/>
        </p:nvSpPr>
        <p:spPr>
          <a:xfrm>
            <a:off x="2143175" y="3268066"/>
            <a:ext cx="102146" cy="102146"/>
          </a:xfrm>
          <a:prstGeom prst="ellipse">
            <a:avLst/>
          </a:prstGeom>
          <a:solidFill>
            <a:srgbClr val="C4A484">
              <a:alpha val="85000"/>
            </a:srgbClr>
          </a:solidFill>
          <a:ln>
            <a:noFill/>
          </a:ln>
        </p:spPr>
        <p:txBody>
          <a:bodyPr rtlCol="0" anchor="ctr"/>
          <a:lstStyle/>
          <a:p>
            <a:pPr algn="ctr"/>
          </a:p>
        </p:txBody>
      </p:sp>
      <p:sp>
        <p:nvSpPr>
          <p:cNvPr id="25" name="Oval 24"/>
          <p:cNvSpPr/>
          <p:nvPr/>
        </p:nvSpPr>
        <p:spPr>
          <a:xfrm>
            <a:off x="2683600" y="3337941"/>
            <a:ext cx="65691" cy="65691"/>
          </a:xfrm>
          <a:prstGeom prst="ellipse">
            <a:avLst/>
          </a:prstGeom>
          <a:solidFill>
            <a:srgbClr val="9C7A5B">
              <a:alpha val="70000"/>
            </a:srgbClr>
          </a:solidFill>
          <a:ln>
            <a:noFill/>
          </a:ln>
        </p:spPr>
        <p:txBody>
          <a:bodyPr rtlCol="0" anchor="ctr"/>
          <a:lstStyle/>
          <a:p>
            <a:pPr algn="ctr"/>
          </a:p>
        </p:txBody>
      </p:sp>
      <p:sp>
        <p:nvSpPr>
          <p:cNvPr id="26" name="Oval 25"/>
          <p:cNvSpPr/>
          <p:nvPr/>
        </p:nvSpPr>
        <p:spPr>
          <a:xfrm>
            <a:off x="1587537" y="3034833"/>
            <a:ext cx="95430" cy="95430"/>
          </a:xfrm>
          <a:prstGeom prst="ellipse">
            <a:avLst/>
          </a:prstGeom>
          <a:solidFill>
            <a:srgbClr val="8B6B4E">
              <a:alpha val="70000"/>
            </a:srgbClr>
          </a:solidFill>
          <a:ln>
            <a:noFill/>
          </a:ln>
        </p:spPr>
        <p:txBody>
          <a:bodyPr rtlCol="0" anchor="ctr"/>
          <a:lstStyle/>
          <a:p>
            <a:pPr algn="ctr"/>
          </a:p>
        </p:txBody>
      </p:sp>
      <p:sp>
        <p:nvSpPr>
          <p:cNvPr id="27" name="Oval 26"/>
          <p:cNvSpPr/>
          <p:nvPr/>
        </p:nvSpPr>
        <p:spPr>
          <a:xfrm>
            <a:off x="1659869" y="3212055"/>
            <a:ext cx="112685" cy="112685"/>
          </a:xfrm>
          <a:prstGeom prst="ellipse">
            <a:avLst/>
          </a:prstGeom>
          <a:solidFill>
            <a:srgbClr val="C4A484">
              <a:alpha val="85000"/>
            </a:srgbClr>
          </a:solidFill>
          <a:ln>
            <a:noFill/>
          </a:ln>
        </p:spPr>
        <p:txBody>
          <a:bodyPr rtlCol="0" anchor="ctr"/>
          <a:lstStyle/>
          <a:p>
            <a:pPr algn="ctr"/>
          </a:p>
        </p:txBody>
      </p:sp>
      <p:sp>
        <p:nvSpPr>
          <p:cNvPr id="28" name="Oval 27"/>
          <p:cNvSpPr/>
          <p:nvPr/>
        </p:nvSpPr>
        <p:spPr>
          <a:xfrm>
            <a:off x="2475117" y="2984362"/>
            <a:ext cx="109231" cy="109231"/>
          </a:xfrm>
          <a:prstGeom prst="ellipse">
            <a:avLst/>
          </a:prstGeom>
          <a:solidFill>
            <a:srgbClr val="8B6B4E">
              <a:alpha val="70000"/>
            </a:srgbClr>
          </a:solidFill>
          <a:ln>
            <a:noFill/>
          </a:ln>
        </p:spPr>
        <p:txBody>
          <a:bodyPr rtlCol="0" anchor="ctr"/>
          <a:lstStyle/>
          <a:p>
            <a:pPr algn="ctr"/>
          </a:p>
        </p:txBody>
      </p:sp>
      <p:sp>
        <p:nvSpPr>
          <p:cNvPr id="29" name="Oval 28"/>
          <p:cNvSpPr/>
          <p:nvPr/>
        </p:nvSpPr>
        <p:spPr>
          <a:xfrm>
            <a:off x="2575865" y="3219464"/>
            <a:ext cx="90799" cy="90799"/>
          </a:xfrm>
          <a:prstGeom prst="ellipse">
            <a:avLst/>
          </a:prstGeom>
          <a:solidFill>
            <a:srgbClr val="9C7A5B">
              <a:alpha val="85000"/>
            </a:srgbClr>
          </a:solidFill>
          <a:ln>
            <a:noFill/>
          </a:ln>
        </p:spPr>
        <p:txBody>
          <a:bodyPr rtlCol="0" anchor="ctr"/>
          <a:lstStyle/>
          <a:p>
            <a:pPr algn="ctr"/>
          </a:p>
        </p:txBody>
      </p:sp>
      <p:sp>
        <p:nvSpPr>
          <p:cNvPr id="30" name="Oval 29"/>
          <p:cNvSpPr/>
          <p:nvPr/>
        </p:nvSpPr>
        <p:spPr>
          <a:xfrm>
            <a:off x="2545039" y="2905778"/>
            <a:ext cx="58642" cy="58642"/>
          </a:xfrm>
          <a:prstGeom prst="ellipse">
            <a:avLst/>
          </a:prstGeom>
          <a:solidFill>
            <a:srgbClr val="8B6B4E">
              <a:alpha val="70000"/>
            </a:srgbClr>
          </a:solidFill>
          <a:ln>
            <a:noFill/>
          </a:ln>
        </p:spPr>
        <p:txBody>
          <a:bodyPr rtlCol="0" anchor="ctr"/>
          <a:lstStyle/>
          <a:p>
            <a:pPr algn="ctr"/>
          </a:p>
        </p:txBody>
      </p:sp>
      <p:sp>
        <p:nvSpPr>
          <p:cNvPr id="31" name="Oval 30"/>
          <p:cNvSpPr/>
          <p:nvPr/>
        </p:nvSpPr>
        <p:spPr>
          <a:xfrm>
            <a:off x="1643370" y="2930193"/>
            <a:ext cx="96728" cy="96728"/>
          </a:xfrm>
          <a:prstGeom prst="ellipse">
            <a:avLst/>
          </a:prstGeom>
          <a:solidFill>
            <a:srgbClr val="B08968">
              <a:alpha val="70000"/>
            </a:srgbClr>
          </a:solidFill>
          <a:ln>
            <a:noFill/>
          </a:ln>
        </p:spPr>
        <p:txBody>
          <a:bodyPr rtlCol="0" anchor="ctr"/>
          <a:lstStyle/>
          <a:p>
            <a:pPr algn="ctr"/>
          </a:p>
        </p:txBody>
      </p:sp>
      <p:sp>
        <p:nvSpPr>
          <p:cNvPr id="32" name="Oval 31"/>
          <p:cNvSpPr/>
          <p:nvPr/>
        </p:nvSpPr>
        <p:spPr>
          <a:xfrm>
            <a:off x="2503058" y="2819059"/>
            <a:ext cx="96318" cy="96318"/>
          </a:xfrm>
          <a:prstGeom prst="ellipse">
            <a:avLst/>
          </a:prstGeom>
          <a:solidFill>
            <a:srgbClr val="B08968">
              <a:alpha val="55000"/>
            </a:srgbClr>
          </a:solidFill>
          <a:ln>
            <a:noFill/>
          </a:ln>
        </p:spPr>
        <p:txBody>
          <a:bodyPr rtlCol="0" anchor="ctr"/>
          <a:lstStyle/>
          <a:p>
            <a:pPr algn="ctr"/>
          </a:p>
        </p:txBody>
      </p:sp>
      <p:sp>
        <p:nvSpPr>
          <p:cNvPr id="33" name="Oval 32"/>
          <p:cNvSpPr/>
          <p:nvPr/>
        </p:nvSpPr>
        <p:spPr>
          <a:xfrm>
            <a:off x="741079" y="3080707"/>
            <a:ext cx="83848" cy="83848"/>
          </a:xfrm>
          <a:prstGeom prst="ellipse">
            <a:avLst/>
          </a:prstGeom>
          <a:solidFill>
            <a:srgbClr val="B08968">
              <a:alpha val="85000"/>
            </a:srgbClr>
          </a:solidFill>
          <a:ln>
            <a:noFill/>
          </a:ln>
        </p:spPr>
        <p:txBody>
          <a:bodyPr rtlCol="0" anchor="ctr"/>
          <a:lstStyle/>
          <a:p>
            <a:pPr algn="ctr"/>
          </a:p>
        </p:txBody>
      </p:sp>
      <p:sp>
        <p:nvSpPr>
          <p:cNvPr id="34" name="Oval 33"/>
          <p:cNvSpPr/>
          <p:nvPr/>
        </p:nvSpPr>
        <p:spPr>
          <a:xfrm>
            <a:off x="1198620" y="3261368"/>
            <a:ext cx="47809" cy="47809"/>
          </a:xfrm>
          <a:prstGeom prst="ellipse">
            <a:avLst/>
          </a:prstGeom>
          <a:solidFill>
            <a:srgbClr val="B08968">
              <a:alpha val="70000"/>
            </a:srgbClr>
          </a:solidFill>
          <a:ln>
            <a:noFill/>
          </a:ln>
        </p:spPr>
        <p:txBody>
          <a:bodyPr rtlCol="0" anchor="ctr"/>
          <a:lstStyle/>
          <a:p>
            <a:pPr algn="ctr"/>
          </a:p>
        </p:txBody>
      </p:sp>
      <p:sp>
        <p:nvSpPr>
          <p:cNvPr id="35" name="Oval 34"/>
          <p:cNvSpPr/>
          <p:nvPr/>
        </p:nvSpPr>
        <p:spPr>
          <a:xfrm>
            <a:off x="2188032" y="2732753"/>
            <a:ext cx="110475" cy="110475"/>
          </a:xfrm>
          <a:prstGeom prst="ellipse">
            <a:avLst/>
          </a:prstGeom>
          <a:solidFill>
            <a:srgbClr val="C4A484">
              <a:alpha val="55000"/>
            </a:srgbClr>
          </a:solidFill>
          <a:ln>
            <a:noFill/>
          </a:ln>
        </p:spPr>
        <p:txBody>
          <a:bodyPr rtlCol="0" anchor="ctr"/>
          <a:lstStyle/>
          <a:p>
            <a:pPr algn="ctr"/>
          </a:p>
        </p:txBody>
      </p:sp>
      <p:sp>
        <p:nvSpPr>
          <p:cNvPr id="36" name="Oval 35"/>
          <p:cNvSpPr/>
          <p:nvPr/>
        </p:nvSpPr>
        <p:spPr>
          <a:xfrm>
            <a:off x="689115" y="2775187"/>
            <a:ext cx="57108" cy="57108"/>
          </a:xfrm>
          <a:prstGeom prst="ellipse">
            <a:avLst/>
          </a:prstGeom>
          <a:solidFill>
            <a:srgbClr val="B08968">
              <a:alpha val="55000"/>
            </a:srgbClr>
          </a:solidFill>
          <a:ln>
            <a:noFill/>
          </a:ln>
        </p:spPr>
        <p:txBody>
          <a:bodyPr rtlCol="0" anchor="ctr"/>
          <a:lstStyle/>
          <a:p>
            <a:pPr algn="ctr"/>
          </a:p>
        </p:txBody>
      </p:sp>
      <p:sp>
        <p:nvSpPr>
          <p:cNvPr id="37" name="Oval 36"/>
          <p:cNvSpPr/>
          <p:nvPr/>
        </p:nvSpPr>
        <p:spPr>
          <a:xfrm>
            <a:off x="2577379" y="2955506"/>
            <a:ext cx="39939" cy="39939"/>
          </a:xfrm>
          <a:prstGeom prst="ellipse">
            <a:avLst/>
          </a:prstGeom>
          <a:solidFill>
            <a:srgbClr val="9C7A5B">
              <a:alpha val="55000"/>
            </a:srgbClr>
          </a:solidFill>
          <a:ln>
            <a:noFill/>
          </a:ln>
        </p:spPr>
        <p:txBody>
          <a:bodyPr rtlCol="0" anchor="ctr"/>
          <a:lstStyle/>
          <a:p>
            <a:pPr algn="ctr"/>
          </a:p>
        </p:txBody>
      </p:sp>
      <p:sp>
        <p:nvSpPr>
          <p:cNvPr id="38" name="Oval 37"/>
          <p:cNvSpPr/>
          <p:nvPr/>
        </p:nvSpPr>
        <p:spPr>
          <a:xfrm>
            <a:off x="1713355" y="2698708"/>
            <a:ext cx="97046" cy="97046"/>
          </a:xfrm>
          <a:prstGeom prst="ellipse">
            <a:avLst/>
          </a:prstGeom>
          <a:solidFill>
            <a:srgbClr val="B08968">
              <a:alpha val="55000"/>
            </a:srgbClr>
          </a:solidFill>
          <a:ln>
            <a:noFill/>
          </a:ln>
        </p:spPr>
        <p:txBody>
          <a:bodyPr rtlCol="0" anchor="ctr"/>
          <a:lstStyle/>
          <a:p>
            <a:pPr algn="ctr"/>
          </a:p>
        </p:txBody>
      </p:sp>
      <p:sp>
        <p:nvSpPr>
          <p:cNvPr id="39" name="Oval 38"/>
          <p:cNvSpPr/>
          <p:nvPr/>
        </p:nvSpPr>
        <p:spPr>
          <a:xfrm>
            <a:off x="716237" y="2932391"/>
            <a:ext cx="49037" cy="49037"/>
          </a:xfrm>
          <a:prstGeom prst="ellipse">
            <a:avLst/>
          </a:prstGeom>
          <a:solidFill>
            <a:srgbClr val="B08968">
              <a:alpha val="70000"/>
            </a:srgbClr>
          </a:solidFill>
          <a:ln>
            <a:noFill/>
          </a:ln>
        </p:spPr>
        <p:txBody>
          <a:bodyPr rtlCol="0" anchor="ctr"/>
          <a:lstStyle/>
          <a:p>
            <a:pPr algn="ctr"/>
          </a:p>
        </p:txBody>
      </p:sp>
      <p:sp>
        <p:nvSpPr>
          <p:cNvPr id="40" name="Oval 39"/>
          <p:cNvSpPr/>
          <p:nvPr/>
        </p:nvSpPr>
        <p:spPr>
          <a:xfrm>
            <a:off x="704305" y="2996818"/>
            <a:ext cx="64327" cy="64327"/>
          </a:xfrm>
          <a:prstGeom prst="ellipse">
            <a:avLst/>
          </a:prstGeom>
          <a:solidFill>
            <a:srgbClr val="B08968">
              <a:alpha val="70000"/>
            </a:srgbClr>
          </a:solidFill>
          <a:ln>
            <a:noFill/>
          </a:ln>
        </p:spPr>
        <p:txBody>
          <a:bodyPr rtlCol="0" anchor="ctr"/>
          <a:lstStyle/>
          <a:p>
            <a:pPr algn="ctr"/>
          </a:p>
        </p:txBody>
      </p:sp>
      <p:sp>
        <p:nvSpPr>
          <p:cNvPr id="41" name="Oval 40"/>
          <p:cNvSpPr/>
          <p:nvPr/>
        </p:nvSpPr>
        <p:spPr>
          <a:xfrm>
            <a:off x="2408159" y="3143791"/>
            <a:ext cx="98763" cy="98763"/>
          </a:xfrm>
          <a:prstGeom prst="ellipse">
            <a:avLst/>
          </a:prstGeom>
          <a:solidFill>
            <a:srgbClr val="8B6B4E">
              <a:alpha val="55000"/>
            </a:srgbClr>
          </a:solidFill>
          <a:ln>
            <a:noFill/>
          </a:ln>
        </p:spPr>
        <p:txBody>
          <a:bodyPr rtlCol="0" anchor="ctr"/>
          <a:lstStyle/>
          <a:p>
            <a:pPr algn="ctr"/>
          </a:p>
        </p:txBody>
      </p:sp>
      <p:sp>
        <p:nvSpPr>
          <p:cNvPr id="42" name="TextBox 41"/>
          <p:cNvSpPr txBox="1"/>
          <p:nvPr/>
        </p:nvSpPr>
        <p:spPr>
          <a:xfrm>
            <a:off x="594360" y="3474720"/>
            <a:ext cx="2240280" cy="548640"/>
          </a:xfrm>
          <a:prstGeom prst="rect">
            <a:avLst/>
          </a:prstGeom>
          <a:noFill/>
        </p:spPr>
        <p:txBody>
          <a:bodyPr wrap="square" lIns="45720" rIns="45720" tIns="27432" bIns="27432" anchor="t">
            <a:spAutoFit/>
          </a:bodyPr>
          <a:lstStyle/>
          <a:p>
            <a:pPr algn="l"/>
            <a:r>
              <a:rPr sz="1400" b="0" i="0">
                <a:solidFill>
                  <a:srgbClr val="1C2430"/>
                </a:solidFill>
                <a:latin typeface="Calibri"/>
              </a:rPr>
              <a:t>Checked at each node</a:t>
            </a:r>
          </a:p>
        </p:txBody>
      </p:sp>
      <p:sp>
        <p:nvSpPr>
          <p:cNvPr id="43" name="Decision 42"/>
          <p:cNvSpPr/>
          <p:nvPr/>
        </p:nvSpPr>
        <p:spPr>
          <a:xfrm>
            <a:off x="3520440" y="2377440"/>
            <a:ext cx="2286000" cy="1554480"/>
          </a:xfrm>
          <a:prstGeom prst="flowChartDecision">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Dust above</a:t>
            </a:r>
          </a:p>
          <a:p>
            <a:pPr algn="ctr"/>
            <a:r>
              <a:rPr sz="1500" b="1">
                <a:solidFill>
                  <a:srgbClr val="FFFFFF"/>
                </a:solidFill>
                <a:latin typeface="Calibri"/>
              </a:rPr>
              <a:t>threshold?</a:t>
            </a:r>
          </a:p>
        </p:txBody>
      </p:sp>
      <p:cxnSp>
        <p:nvCxnSpPr>
          <p:cNvPr id="44" name="Connector 43"/>
          <p:cNvCxnSpPr/>
          <p:nvPr/>
        </p:nvCxnSpPr>
        <p:spPr>
          <a:xfrm>
            <a:off x="2990088" y="3154680"/>
            <a:ext cx="512064" cy="0"/>
          </a:xfrm>
          <a:prstGeom prst="line">
            <a:avLst/>
          </a:prstGeom>
          <a:ln w="25400">
            <a:solidFill>
              <a:srgbClr val="1B3A4B"/>
            </a:solidFill>
            <a:tailEnd type="triangle"/>
          </a:ln>
        </p:spPr>
      </p:cxnSp>
      <p:sp>
        <p:nvSpPr>
          <p:cNvPr id="45" name="Rounded Rectangle 44"/>
          <p:cNvSpPr/>
          <p:nvPr/>
        </p:nvSpPr>
        <p:spPr>
          <a:xfrm>
            <a:off x="6355080" y="1463040"/>
            <a:ext cx="5394960" cy="15087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6492240" y="1554480"/>
            <a:ext cx="2468880" cy="365760"/>
          </a:xfrm>
          <a:prstGeom prst="rect">
            <a:avLst/>
          </a:prstGeom>
          <a:noFill/>
        </p:spPr>
        <p:txBody>
          <a:bodyPr wrap="square" lIns="45720" rIns="45720" tIns="27432" bIns="27432" anchor="t">
            <a:spAutoFit/>
          </a:bodyPr>
          <a:lstStyle/>
          <a:p>
            <a:pPr algn="l"/>
            <a:r>
              <a:rPr sz="1800" b="1" i="0">
                <a:solidFill>
                  <a:srgbClr val="C55A11"/>
                </a:solidFill>
                <a:latin typeface="Calibri"/>
              </a:rPr>
              <a:t>Clear air: FSO</a:t>
            </a:r>
          </a:p>
        </p:txBody>
      </p:sp>
      <p:sp>
        <p:nvSpPr>
          <p:cNvPr id="47" name="TextBox 46"/>
          <p:cNvSpPr txBox="1"/>
          <p:nvPr/>
        </p:nvSpPr>
        <p:spPr>
          <a:xfrm>
            <a:off x="6492240" y="1965960"/>
            <a:ext cx="2331720" cy="960120"/>
          </a:xfrm>
          <a:prstGeom prst="rect">
            <a:avLst/>
          </a:prstGeom>
          <a:noFill/>
        </p:spPr>
        <p:txBody>
          <a:bodyPr wrap="square" lIns="45720" rIns="45720" tIns="27432" bIns="27432" anchor="t">
            <a:spAutoFit/>
          </a:bodyPr>
          <a:lstStyle/>
          <a:p>
            <a:pPr algn="l"/>
            <a:r>
              <a:rPr sz="1400" b="0" i="0">
                <a:solidFill>
                  <a:srgbClr val="1C2430"/>
                </a:solidFill>
                <a:latin typeface="Calibri"/>
              </a:rPr>
              <a:t>Video on the laser beam, hop by hop.</a:t>
            </a:r>
          </a:p>
        </p:txBody>
      </p:sp>
      <p:pic>
        <p:nvPicPr>
          <p:cNvPr id="48" name="Picture" descr="Camera head on a tripod, laser facing right"/>
          <p:cNvPicPr>
            <a:picLocks noChangeAspect="1"/>
          </p:cNvPicPr>
          <p:nvPr/>
        </p:nvPicPr>
        <p:blipFill>
          <a:blip r:embed="rId2"/>
          <a:stretch>
            <a:fillRect/>
          </a:stretch>
        </p:blipFill>
        <p:spPr>
          <a:xfrm>
            <a:off x="9015984" y="1783080"/>
            <a:ext cx="621792" cy="1051560"/>
          </a:xfrm>
          <a:prstGeom prst="rect">
            <a:avLst/>
          </a:prstGeom>
        </p:spPr>
      </p:pic>
      <p:pic>
        <p:nvPicPr>
          <p:cNvPr id="49" name="Picture" descr="Camera head on a tripod, laser facing left"/>
          <p:cNvPicPr>
            <a:picLocks noChangeAspect="1"/>
          </p:cNvPicPr>
          <p:nvPr/>
        </p:nvPicPr>
        <p:blipFill>
          <a:blip r:embed="rId3"/>
          <a:stretch>
            <a:fillRect/>
          </a:stretch>
        </p:blipFill>
        <p:spPr>
          <a:xfrm>
            <a:off x="10863072" y="1783080"/>
            <a:ext cx="768095" cy="1051560"/>
          </a:xfrm>
          <a:prstGeom prst="rect">
            <a:avLst/>
          </a:prstGeom>
        </p:spPr>
      </p:pic>
      <p:sp>
        <p:nvSpPr>
          <p:cNvPr id="50" name="Rectangle 49"/>
          <p:cNvSpPr/>
          <p:nvPr/>
        </p:nvSpPr>
        <p:spPr>
          <a:xfrm>
            <a:off x="9637776" y="1819290"/>
            <a:ext cx="1225296" cy="146304"/>
          </a:xfrm>
          <a:prstGeom prst="rect">
            <a:avLst/>
          </a:prstGeom>
          <a:solidFill>
            <a:srgbClr val="ED7D31">
              <a:alpha val="28000"/>
            </a:srgbClr>
          </a:solidFill>
          <a:ln>
            <a:noFill/>
          </a:ln>
        </p:spPr>
        <p:txBody>
          <a:bodyPr rtlCol="0" anchor="ctr"/>
          <a:lstStyle/>
          <a:p>
            <a:pPr algn="ctr"/>
          </a:p>
        </p:txBody>
      </p:sp>
      <p:sp>
        <p:nvSpPr>
          <p:cNvPr id="51" name="Rectangle 50"/>
          <p:cNvSpPr/>
          <p:nvPr/>
        </p:nvSpPr>
        <p:spPr>
          <a:xfrm>
            <a:off x="9637776" y="1869582"/>
            <a:ext cx="1225296" cy="45720"/>
          </a:xfrm>
          <a:prstGeom prst="rect">
            <a:avLst/>
          </a:prstGeom>
          <a:solidFill>
            <a:srgbClr val="ED7D31"/>
          </a:solidFill>
          <a:ln>
            <a:noFill/>
          </a:ln>
        </p:spPr>
        <p:txBody>
          <a:bodyPr rtlCol="0" anchor="ctr"/>
          <a:lstStyle/>
          <a:p>
            <a:pPr algn="ctr"/>
          </a:p>
        </p:txBody>
      </p:sp>
      <p:sp>
        <p:nvSpPr>
          <p:cNvPr id="52" name="Rounded Rectangle 51"/>
          <p:cNvSpPr/>
          <p:nvPr/>
        </p:nvSpPr>
        <p:spPr>
          <a:xfrm>
            <a:off x="6355080" y="3566160"/>
            <a:ext cx="5394960" cy="15087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53" name="TextBox 52"/>
          <p:cNvSpPr txBox="1"/>
          <p:nvPr/>
        </p:nvSpPr>
        <p:spPr>
          <a:xfrm>
            <a:off x="6492240" y="3657600"/>
            <a:ext cx="2468880" cy="365760"/>
          </a:xfrm>
          <a:prstGeom prst="rect">
            <a:avLst/>
          </a:prstGeom>
          <a:noFill/>
        </p:spPr>
        <p:txBody>
          <a:bodyPr wrap="square" lIns="45720" rIns="45720" tIns="27432" bIns="27432" anchor="t">
            <a:spAutoFit/>
          </a:bodyPr>
          <a:lstStyle/>
          <a:p>
            <a:pPr algn="l"/>
            <a:r>
              <a:rPr sz="1800" b="1" i="0">
                <a:solidFill>
                  <a:srgbClr val="00548F"/>
                </a:solidFill>
                <a:latin typeface="Calibri"/>
              </a:rPr>
              <a:t>Heavy dust: backup</a:t>
            </a:r>
          </a:p>
        </p:txBody>
      </p:sp>
      <p:sp>
        <p:nvSpPr>
          <p:cNvPr id="54" name="TextBox 53"/>
          <p:cNvSpPr txBox="1"/>
          <p:nvPr/>
        </p:nvSpPr>
        <p:spPr>
          <a:xfrm>
            <a:off x="6492240" y="4069080"/>
            <a:ext cx="2331720" cy="960120"/>
          </a:xfrm>
          <a:prstGeom prst="rect">
            <a:avLst/>
          </a:prstGeom>
          <a:noFill/>
        </p:spPr>
        <p:txBody>
          <a:bodyPr wrap="square" lIns="45720" rIns="45720" tIns="27432" bIns="27432" anchor="t">
            <a:spAutoFit/>
          </a:bodyPr>
          <a:lstStyle/>
          <a:p>
            <a:pPr algn="l"/>
            <a:r>
              <a:rPr sz="1400" b="0" i="0">
                <a:solidFill>
                  <a:srgbClr val="1C2430"/>
                </a:solidFill>
                <a:latin typeface="Calibri"/>
              </a:rPr>
              <a:t>Video on Zigbee / Wi-Fi at a lower data rate.</a:t>
            </a:r>
          </a:p>
        </p:txBody>
      </p:sp>
      <p:pic>
        <p:nvPicPr>
          <p:cNvPr id="55" name="Picture" descr="Camera head on a tripod, laser facing right"/>
          <p:cNvPicPr>
            <a:picLocks noChangeAspect="1"/>
          </p:cNvPicPr>
          <p:nvPr/>
        </p:nvPicPr>
        <p:blipFill>
          <a:blip r:embed="rId2"/>
          <a:stretch>
            <a:fillRect/>
          </a:stretch>
        </p:blipFill>
        <p:spPr>
          <a:xfrm>
            <a:off x="9015984" y="3886200"/>
            <a:ext cx="621792" cy="1051560"/>
          </a:xfrm>
          <a:prstGeom prst="rect">
            <a:avLst/>
          </a:prstGeom>
        </p:spPr>
      </p:pic>
      <p:pic>
        <p:nvPicPr>
          <p:cNvPr id="56" name="Picture" descr="Camera head on a tripod, laser facing left"/>
          <p:cNvPicPr>
            <a:picLocks noChangeAspect="1"/>
          </p:cNvPicPr>
          <p:nvPr/>
        </p:nvPicPr>
        <p:blipFill>
          <a:blip r:embed="rId3"/>
          <a:stretch>
            <a:fillRect/>
          </a:stretch>
        </p:blipFill>
        <p:spPr>
          <a:xfrm>
            <a:off x="10863072" y="3886200"/>
            <a:ext cx="768095" cy="1051560"/>
          </a:xfrm>
          <a:prstGeom prst="rect">
            <a:avLst/>
          </a:prstGeom>
        </p:spPr>
      </p:pic>
      <p:sp>
        <p:nvSpPr>
          <p:cNvPr id="57" name="Freeform 56"/>
          <p:cNvSpPr/>
          <p:nvPr/>
        </p:nvSpPr>
        <p:spPr>
          <a:xfrm>
            <a:off x="9665207" y="3913942"/>
            <a:ext cx="1170433" cy="161764"/>
          </a:xfrm>
          <a:custGeom>
            <a:avLst/>
            <a:gdLst/>
            <a:ahLst/>
            <a:cxnLst/>
            <a:rect l="l" t="t" r="r" b="b"/>
            <a:pathLst>
              <a:path w="1170433" h="161764">
                <a:moveTo>
                  <a:pt x="0" y="81620"/>
                </a:moveTo>
                <a:lnTo>
                  <a:pt x="29261" y="146084"/>
                </a:lnTo>
                <a:lnTo>
                  <a:pt x="58522" y="161764"/>
                </a:lnTo>
                <a:lnTo>
                  <a:pt x="87783" y="116791"/>
                </a:lnTo>
                <a:lnTo>
                  <a:pt x="117044" y="45202"/>
                </a:lnTo>
                <a:lnTo>
                  <a:pt x="146304" y="1173"/>
                </a:lnTo>
                <a:lnTo>
                  <a:pt x="175565" y="18024"/>
                </a:lnTo>
                <a:lnTo>
                  <a:pt x="204826" y="83003"/>
                </a:lnTo>
                <a:lnTo>
                  <a:pt x="234087" y="146935"/>
                </a:lnTo>
                <a:lnTo>
                  <a:pt x="263348" y="161438"/>
                </a:lnTo>
                <a:lnTo>
                  <a:pt x="292608" y="115535"/>
                </a:lnTo>
                <a:lnTo>
                  <a:pt x="321869" y="43966"/>
                </a:lnTo>
                <a:lnTo>
                  <a:pt x="351130" y="893"/>
                </a:lnTo>
                <a:lnTo>
                  <a:pt x="380391" y="18912"/>
                </a:lnTo>
                <a:lnTo>
                  <a:pt x="409652" y="84387"/>
                </a:lnTo>
                <a:lnTo>
                  <a:pt x="438912" y="147768"/>
                </a:lnTo>
                <a:lnTo>
                  <a:pt x="468173" y="161090"/>
                </a:lnTo>
                <a:lnTo>
                  <a:pt x="497434" y="114270"/>
                </a:lnTo>
                <a:lnTo>
                  <a:pt x="526695" y="42741"/>
                </a:lnTo>
                <a:lnTo>
                  <a:pt x="555956" y="635"/>
                </a:lnTo>
                <a:lnTo>
                  <a:pt x="585217" y="19816"/>
                </a:lnTo>
                <a:lnTo>
                  <a:pt x="614477" y="85769"/>
                </a:lnTo>
                <a:lnTo>
                  <a:pt x="643738" y="148582"/>
                </a:lnTo>
                <a:lnTo>
                  <a:pt x="672999" y="160719"/>
                </a:lnTo>
                <a:lnTo>
                  <a:pt x="702260" y="112995"/>
                </a:lnTo>
                <a:lnTo>
                  <a:pt x="731521" y="41527"/>
                </a:lnTo>
                <a:lnTo>
                  <a:pt x="760781" y="401"/>
                </a:lnTo>
                <a:lnTo>
                  <a:pt x="790042" y="20739"/>
                </a:lnTo>
                <a:lnTo>
                  <a:pt x="819303" y="87151"/>
                </a:lnTo>
                <a:lnTo>
                  <a:pt x="848564" y="149377"/>
                </a:lnTo>
                <a:lnTo>
                  <a:pt x="877825" y="160326"/>
                </a:lnTo>
                <a:lnTo>
                  <a:pt x="907085" y="111711"/>
                </a:lnTo>
                <a:lnTo>
                  <a:pt x="936346" y="40324"/>
                </a:lnTo>
                <a:lnTo>
                  <a:pt x="965607" y="189"/>
                </a:lnTo>
                <a:lnTo>
                  <a:pt x="994868" y="21679"/>
                </a:lnTo>
                <a:lnTo>
                  <a:pt x="1024129" y="88531"/>
                </a:lnTo>
                <a:lnTo>
                  <a:pt x="1053389" y="150153"/>
                </a:lnTo>
                <a:lnTo>
                  <a:pt x="1082650" y="159910"/>
                </a:lnTo>
                <a:lnTo>
                  <a:pt x="1111911" y="110419"/>
                </a:lnTo>
                <a:lnTo>
                  <a:pt x="1141172" y="39133"/>
                </a:lnTo>
                <a:lnTo>
                  <a:pt x="1170433" y="0"/>
                </a:lnTo>
              </a:path>
            </a:pathLst>
          </a:custGeom>
          <a:noFill/>
          <a:ln w="31750">
            <a:solidFill>
              <a:srgbClr val="0071C1"/>
            </a:solidFill>
          </a:ln>
        </p:spPr>
        <p:txBody>
          <a:bodyPr rtlCol="0" anchor="ctr"/>
          <a:lstStyle/>
          <a:p>
            <a:pPr algn="ctr"/>
          </a:p>
        </p:txBody>
      </p:sp>
      <p:cxnSp>
        <p:nvCxnSpPr>
          <p:cNvPr id="58" name="Connector 57"/>
          <p:cNvCxnSpPr/>
          <p:nvPr/>
        </p:nvCxnSpPr>
        <p:spPr>
          <a:xfrm>
            <a:off x="5806440" y="2880360"/>
            <a:ext cx="228600" cy="0"/>
          </a:xfrm>
          <a:prstGeom prst="line">
            <a:avLst/>
          </a:prstGeom>
          <a:ln w="25400">
            <a:solidFill>
              <a:srgbClr val="1B3A4B"/>
            </a:solidFill>
            <a:tailEnd type="triangle"/>
          </a:ln>
        </p:spPr>
      </p:cxnSp>
      <p:cxnSp>
        <p:nvCxnSpPr>
          <p:cNvPr id="59" name="Connector 58"/>
          <p:cNvCxnSpPr/>
          <p:nvPr/>
        </p:nvCxnSpPr>
        <p:spPr>
          <a:xfrm flipV="1">
            <a:off x="6035040" y="2212848"/>
            <a:ext cx="0" cy="667512"/>
          </a:xfrm>
          <a:prstGeom prst="line">
            <a:avLst/>
          </a:prstGeom>
          <a:ln w="25400">
            <a:solidFill>
              <a:srgbClr val="1B3A4B"/>
            </a:solidFill>
          </a:ln>
        </p:spPr>
      </p:cxnSp>
      <p:cxnSp>
        <p:nvCxnSpPr>
          <p:cNvPr id="60" name="Connector 59"/>
          <p:cNvCxnSpPr/>
          <p:nvPr/>
        </p:nvCxnSpPr>
        <p:spPr>
          <a:xfrm>
            <a:off x="6035040" y="2212848"/>
            <a:ext cx="301752" cy="0"/>
          </a:xfrm>
          <a:prstGeom prst="line">
            <a:avLst/>
          </a:prstGeom>
          <a:ln w="25400">
            <a:solidFill>
              <a:srgbClr val="1B3A4B"/>
            </a:solidFill>
            <a:tailEnd type="triangle"/>
          </a:ln>
        </p:spPr>
      </p:cxnSp>
      <p:cxnSp>
        <p:nvCxnSpPr>
          <p:cNvPr id="61" name="Connector 60"/>
          <p:cNvCxnSpPr/>
          <p:nvPr/>
        </p:nvCxnSpPr>
        <p:spPr>
          <a:xfrm>
            <a:off x="5806440" y="3429000"/>
            <a:ext cx="228600" cy="0"/>
          </a:xfrm>
          <a:prstGeom prst="line">
            <a:avLst/>
          </a:prstGeom>
          <a:ln w="25400">
            <a:solidFill>
              <a:srgbClr val="1B3A4B"/>
            </a:solidFill>
          </a:ln>
        </p:spPr>
      </p:cxnSp>
      <p:cxnSp>
        <p:nvCxnSpPr>
          <p:cNvPr id="62" name="Connector 61"/>
          <p:cNvCxnSpPr/>
          <p:nvPr/>
        </p:nvCxnSpPr>
        <p:spPr>
          <a:xfrm>
            <a:off x="6035040" y="3429000"/>
            <a:ext cx="0" cy="886968"/>
          </a:xfrm>
          <a:prstGeom prst="line">
            <a:avLst/>
          </a:prstGeom>
          <a:ln w="25400">
            <a:solidFill>
              <a:srgbClr val="1B3A4B"/>
            </a:solidFill>
          </a:ln>
        </p:spPr>
      </p:cxnSp>
      <p:cxnSp>
        <p:nvCxnSpPr>
          <p:cNvPr id="63" name="Connector 62"/>
          <p:cNvCxnSpPr/>
          <p:nvPr/>
        </p:nvCxnSpPr>
        <p:spPr>
          <a:xfrm>
            <a:off x="6035040" y="4315968"/>
            <a:ext cx="301752" cy="0"/>
          </a:xfrm>
          <a:prstGeom prst="line">
            <a:avLst/>
          </a:prstGeom>
          <a:ln w="25400">
            <a:solidFill>
              <a:srgbClr val="1B3A4B"/>
            </a:solidFill>
            <a:tailEnd type="triangle"/>
          </a:ln>
        </p:spPr>
      </p:cxnSp>
      <p:sp>
        <p:nvSpPr>
          <p:cNvPr id="64" name="TextBox 63"/>
          <p:cNvSpPr txBox="1"/>
          <p:nvPr/>
        </p:nvSpPr>
        <p:spPr>
          <a:xfrm>
            <a:off x="5760720" y="1965960"/>
            <a:ext cx="640080" cy="274320"/>
          </a:xfrm>
          <a:prstGeom prst="rect">
            <a:avLst/>
          </a:prstGeom>
          <a:noFill/>
        </p:spPr>
        <p:txBody>
          <a:bodyPr wrap="square" lIns="45720" rIns="45720" tIns="27432" bIns="27432" anchor="t">
            <a:spAutoFit/>
          </a:bodyPr>
          <a:lstStyle/>
          <a:p>
            <a:pPr algn="l"/>
            <a:r>
              <a:rPr sz="1300" b="1" i="0">
                <a:solidFill>
                  <a:srgbClr val="1B3A4B"/>
                </a:solidFill>
                <a:latin typeface="Calibri"/>
              </a:rPr>
              <a:t>No</a:t>
            </a:r>
          </a:p>
        </p:txBody>
      </p:sp>
      <p:sp>
        <p:nvSpPr>
          <p:cNvPr id="65" name="TextBox 64"/>
          <p:cNvSpPr txBox="1"/>
          <p:nvPr/>
        </p:nvSpPr>
        <p:spPr>
          <a:xfrm>
            <a:off x="5760720" y="4343400"/>
            <a:ext cx="640080" cy="274320"/>
          </a:xfrm>
          <a:prstGeom prst="rect">
            <a:avLst/>
          </a:prstGeom>
          <a:noFill/>
        </p:spPr>
        <p:txBody>
          <a:bodyPr wrap="square" lIns="45720" rIns="45720" tIns="27432" bIns="27432" anchor="t">
            <a:spAutoFit/>
          </a:bodyPr>
          <a:lstStyle/>
          <a:p>
            <a:pPr algn="l"/>
            <a:r>
              <a:rPr sz="1300" b="1" i="0">
                <a:solidFill>
                  <a:srgbClr val="1B3A4B"/>
                </a:solidFill>
                <a:latin typeface="Calibri"/>
              </a:rPr>
              <a:t>Yes</a:t>
            </a:r>
          </a:p>
        </p:txBody>
      </p:sp>
      <p:cxnSp>
        <p:nvCxnSpPr>
          <p:cNvPr id="66" name="Connector 65"/>
          <p:cNvCxnSpPr/>
          <p:nvPr/>
        </p:nvCxnSpPr>
        <p:spPr>
          <a:xfrm>
            <a:off x="4663440" y="3950208"/>
            <a:ext cx="0" cy="1335024"/>
          </a:xfrm>
          <a:prstGeom prst="line">
            <a:avLst/>
          </a:prstGeom>
          <a:ln w="22225">
            <a:solidFill>
              <a:srgbClr val="404040"/>
            </a:solidFill>
            <a:prstDash val="sysDot"/>
          </a:ln>
        </p:spPr>
      </p:cxnSp>
      <p:sp>
        <p:nvSpPr>
          <p:cNvPr id="67" name="TextBox 66"/>
          <p:cNvSpPr txBox="1"/>
          <p:nvPr/>
        </p:nvSpPr>
        <p:spPr>
          <a:xfrm>
            <a:off x="4736592" y="4480560"/>
            <a:ext cx="822960" cy="274320"/>
          </a:xfrm>
          <a:prstGeom prst="rect">
            <a:avLst/>
          </a:prstGeom>
          <a:noFill/>
        </p:spPr>
        <p:txBody>
          <a:bodyPr wrap="square" lIns="45720" rIns="45720" tIns="27432" bIns="27432" anchor="t">
            <a:spAutoFit/>
          </a:bodyPr>
          <a:lstStyle/>
          <a:p>
            <a:pPr algn="l"/>
            <a:r>
              <a:rPr sz="1300" b="1" i="0">
                <a:solidFill>
                  <a:srgbClr val="1B3A4B"/>
                </a:solidFill>
                <a:latin typeface="Calibri"/>
              </a:rPr>
              <a:t>LoRa</a:t>
            </a:r>
          </a:p>
        </p:txBody>
      </p:sp>
      <p:sp>
        <p:nvSpPr>
          <p:cNvPr id="68" name="Rounded Rectangle 67"/>
          <p:cNvSpPr/>
          <p:nvPr/>
        </p:nvSpPr>
        <p:spPr>
          <a:xfrm>
            <a:off x="457200" y="5285232"/>
            <a:ext cx="5577840" cy="1097280"/>
          </a:xfrm>
          <a:prstGeom prst="roundRect">
            <a:avLst>
              <a:gd name="adj" fmla="val 8000"/>
            </a:avLst>
          </a:prstGeom>
          <a:solidFill>
            <a:srgbClr val="FFFFFF"/>
          </a:solidFill>
          <a:ln w="9525">
            <a:solidFill>
              <a:srgbClr val="A9BFD0"/>
            </a:solidFill>
          </a:ln>
        </p:spPr>
        <p:txBody>
          <a:bodyPr rtlCol="0" anchor="ctr"/>
          <a:lstStyle/>
          <a:p>
            <a:pPr algn="ctr"/>
          </a:p>
        </p:txBody>
      </p:sp>
      <p:pic>
        <p:nvPicPr>
          <p:cNvPr id="69" name="Picture" descr="Alert message"/>
          <p:cNvPicPr>
            <a:picLocks noChangeAspect="1"/>
          </p:cNvPicPr>
          <p:nvPr/>
        </p:nvPicPr>
        <p:blipFill>
          <a:blip r:embed="rId4"/>
          <a:stretch>
            <a:fillRect/>
          </a:stretch>
        </p:blipFill>
        <p:spPr>
          <a:xfrm>
            <a:off x="640080" y="5440680"/>
            <a:ext cx="777240" cy="441271"/>
          </a:xfrm>
          <a:prstGeom prst="rect">
            <a:avLst/>
          </a:prstGeom>
        </p:spPr>
      </p:pic>
      <p:sp>
        <p:nvSpPr>
          <p:cNvPr id="70" name="TextBox 69"/>
          <p:cNvSpPr txBox="1"/>
          <p:nvPr/>
        </p:nvSpPr>
        <p:spPr>
          <a:xfrm>
            <a:off x="1600200" y="5349240"/>
            <a:ext cx="4343400" cy="365760"/>
          </a:xfrm>
          <a:prstGeom prst="rect">
            <a:avLst/>
          </a:prstGeom>
          <a:noFill/>
        </p:spPr>
        <p:txBody>
          <a:bodyPr wrap="square" lIns="45720" rIns="45720" tIns="27432" bIns="27432" anchor="t">
            <a:spAutoFit/>
          </a:bodyPr>
          <a:lstStyle/>
          <a:p>
            <a:pPr algn="l"/>
            <a:r>
              <a:rPr sz="1800" b="1" i="0">
                <a:solidFill>
                  <a:srgbClr val="1B3A4B"/>
                </a:solidFill>
                <a:latin typeface="Calibri"/>
              </a:rPr>
              <a:t>LoRa alerts the surface</a:t>
            </a:r>
          </a:p>
        </p:txBody>
      </p:sp>
      <p:sp>
        <p:nvSpPr>
          <p:cNvPr id="71" name="TextBox 70"/>
          <p:cNvSpPr txBox="1"/>
          <p:nvPr/>
        </p:nvSpPr>
        <p:spPr>
          <a:xfrm>
            <a:off x="1600200" y="5733288"/>
            <a:ext cx="4343400" cy="640080"/>
          </a:xfrm>
          <a:prstGeom prst="rect">
            <a:avLst/>
          </a:prstGeom>
          <a:noFill/>
        </p:spPr>
        <p:txBody>
          <a:bodyPr wrap="square" lIns="45720" rIns="45720" tIns="27432" bIns="27432" anchor="t">
            <a:spAutoFit/>
          </a:bodyPr>
          <a:lstStyle/>
          <a:p>
            <a:pPr algn="l"/>
            <a:r>
              <a:rPr sz="1400" b="0" i="0">
                <a:solidFill>
                  <a:srgbClr val="1C2430"/>
                </a:solidFill>
                <a:latin typeface="Calibri"/>
              </a:rPr>
              <a:t>Sent when the link switches mode, so the control room knows the path has changed.</a:t>
            </a:r>
          </a:p>
        </p:txBody>
      </p:sp>
      <p:sp>
        <p:nvSpPr>
          <p:cNvPr id="72" name="Rounded Rectangle 71"/>
          <p:cNvSpPr/>
          <p:nvPr/>
        </p:nvSpPr>
        <p:spPr>
          <a:xfrm>
            <a:off x="6172200" y="5285232"/>
            <a:ext cx="5577840" cy="10972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73" name="TextBox 72"/>
          <p:cNvSpPr txBox="1"/>
          <p:nvPr/>
        </p:nvSpPr>
        <p:spPr>
          <a:xfrm>
            <a:off x="6355080" y="5349240"/>
            <a:ext cx="5303520" cy="365760"/>
          </a:xfrm>
          <a:prstGeom prst="rect">
            <a:avLst/>
          </a:prstGeom>
          <a:noFill/>
        </p:spPr>
        <p:txBody>
          <a:bodyPr wrap="square" lIns="45720" rIns="45720" tIns="27432" bIns="27432" anchor="t">
            <a:spAutoFit/>
          </a:bodyPr>
          <a:lstStyle/>
          <a:p>
            <a:pPr algn="l"/>
            <a:r>
              <a:rPr sz="1800" b="1" i="0">
                <a:solidFill>
                  <a:srgbClr val="1B3A4B"/>
                </a:solidFill>
                <a:latin typeface="Calibri"/>
              </a:rPr>
              <a:t>Back to FSO, and the threshold</a:t>
            </a:r>
          </a:p>
        </p:txBody>
      </p:sp>
      <p:sp>
        <p:nvSpPr>
          <p:cNvPr id="74" name="TextBox 73"/>
          <p:cNvSpPr txBox="1"/>
          <p:nvPr/>
        </p:nvSpPr>
        <p:spPr>
          <a:xfrm>
            <a:off x="6355080" y="5733288"/>
            <a:ext cx="5303520" cy="640080"/>
          </a:xfrm>
          <a:prstGeom prst="rect">
            <a:avLst/>
          </a:prstGeom>
          <a:noFill/>
        </p:spPr>
        <p:txBody>
          <a:bodyPr wrap="square" lIns="45720" rIns="45720" tIns="27432" bIns="27432" anchor="t">
            <a:spAutoFit/>
          </a:bodyPr>
          <a:lstStyle/>
          <a:p>
            <a:pPr algn="l"/>
            <a:r>
              <a:rPr sz="1400" b="0" i="0">
                <a:solidFill>
                  <a:srgbClr val="1C2430"/>
                </a:solidFill>
                <a:latin typeface="Calibri"/>
              </a:rPr>
              <a:t>The link can return to FSO once the dust level falls below the threshold. Threshold and dust measurement are fixed in system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600" b="1" i="0">
                <a:solidFill>
                  <a:srgbClr val="1B3A4B"/>
                </a:solidFill>
                <a:latin typeface="Calibri"/>
              </a:rPr>
              <a:t>Starting point: auto-tracking FSO already working</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Feasibility</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9  /  16</a:t>
            </a:r>
          </a:p>
        </p:txBody>
      </p:sp>
      <p:pic>
        <p:nvPicPr>
          <p:cNvPr id="13" name="Picture" descr="Auto-tracking FSO prototype in the department laboratory"/>
          <p:cNvPicPr>
            <a:picLocks noChangeAspect="1"/>
          </p:cNvPicPr>
          <p:nvPr/>
        </p:nvPicPr>
        <p:blipFill>
          <a:blip r:embed="rId2"/>
          <a:stretch>
            <a:fillRect/>
          </a:stretch>
        </p:blipFill>
        <p:spPr>
          <a:xfrm>
            <a:off x="457200" y="1097280"/>
            <a:ext cx="3108960" cy="2587752"/>
          </a:xfrm>
          <a:prstGeom prst="rect">
            <a:avLst/>
          </a:prstGeom>
        </p:spPr>
      </p:pic>
      <p:sp>
        <p:nvSpPr>
          <p:cNvPr id="14" name="TextBox 13"/>
          <p:cNvSpPr txBox="1"/>
          <p:nvPr/>
        </p:nvSpPr>
        <p:spPr>
          <a:xfrm>
            <a:off x="457200" y="3703320"/>
            <a:ext cx="3108960" cy="502920"/>
          </a:xfrm>
          <a:prstGeom prst="rect">
            <a:avLst/>
          </a:prstGeom>
          <a:noFill/>
        </p:spPr>
        <p:txBody>
          <a:bodyPr wrap="square" lIns="45720" rIns="45720" tIns="27432" bIns="27432" anchor="t">
            <a:spAutoFit/>
          </a:bodyPr>
          <a:lstStyle/>
          <a:p>
            <a:pPr algn="l"/>
            <a:r>
              <a:rPr sz="1250" b="0" i="0">
                <a:solidFill>
                  <a:srgbClr val="5C6770"/>
                </a:solidFill>
                <a:latin typeface="Calibri"/>
              </a:rPr>
              <a:t>Auto-tracking FSO prototype in the department lab. This unit will be reused.</a:t>
            </a:r>
          </a:p>
        </p:txBody>
      </p:sp>
      <p:sp>
        <p:nvSpPr>
          <p:cNvPr id="15" name="TextBox 14"/>
          <p:cNvSpPr txBox="1"/>
          <p:nvPr/>
        </p:nvSpPr>
        <p:spPr>
          <a:xfrm>
            <a:off x="3840480"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What this grant adds</a:t>
            </a:r>
          </a:p>
        </p:txBody>
      </p:sp>
      <p:sp>
        <p:nvSpPr>
          <p:cNvPr id="16" name="Rounded Rectangle 15"/>
          <p:cNvSpPr/>
          <p:nvPr/>
        </p:nvSpPr>
        <p:spPr>
          <a:xfrm>
            <a:off x="3840480" y="1508760"/>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7" name="Oval 16"/>
          <p:cNvSpPr/>
          <p:nvPr/>
        </p:nvSpPr>
        <p:spPr>
          <a:xfrm>
            <a:off x="3913632" y="1563624"/>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18" name="TextBox 17"/>
          <p:cNvSpPr txBox="1"/>
          <p:nvPr/>
        </p:nvSpPr>
        <p:spPr>
          <a:xfrm>
            <a:off x="4389120" y="1545336"/>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Video on the optical hop</a:t>
            </a:r>
          </a:p>
        </p:txBody>
      </p:sp>
      <p:sp>
        <p:nvSpPr>
          <p:cNvPr id="19" name="Rounded Rectangle 18"/>
          <p:cNvSpPr/>
          <p:nvPr/>
        </p:nvSpPr>
        <p:spPr>
          <a:xfrm>
            <a:off x="3840480" y="2075688"/>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0" name="Oval 19"/>
          <p:cNvSpPr/>
          <p:nvPr/>
        </p:nvSpPr>
        <p:spPr>
          <a:xfrm>
            <a:off x="3913632" y="2130552"/>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1" name="TextBox 20"/>
          <p:cNvSpPr txBox="1"/>
          <p:nvPr/>
        </p:nvSpPr>
        <p:spPr>
          <a:xfrm>
            <a:off x="4389120" y="2112264"/>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LoRa for alerts and fallback</a:t>
            </a:r>
          </a:p>
        </p:txBody>
      </p:sp>
      <p:sp>
        <p:nvSpPr>
          <p:cNvPr id="22" name="Rounded Rectangle 21"/>
          <p:cNvSpPr/>
          <p:nvPr/>
        </p:nvSpPr>
        <p:spPr>
          <a:xfrm>
            <a:off x="3840480" y="2642615"/>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3" name="Oval 22"/>
          <p:cNvSpPr/>
          <p:nvPr/>
        </p:nvSpPr>
        <p:spPr>
          <a:xfrm>
            <a:off x="3913632" y="2697479"/>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4" name="TextBox 23"/>
          <p:cNvSpPr txBox="1"/>
          <p:nvPr/>
        </p:nvSpPr>
        <p:spPr>
          <a:xfrm>
            <a:off x="4389120" y="2679191"/>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Relay nodes along a heading</a:t>
            </a:r>
          </a:p>
        </p:txBody>
      </p:sp>
      <p:sp>
        <p:nvSpPr>
          <p:cNvPr id="25" name="Rounded Rectangle 24"/>
          <p:cNvSpPr/>
          <p:nvPr/>
        </p:nvSpPr>
        <p:spPr>
          <a:xfrm>
            <a:off x="3840480" y="3209544"/>
            <a:ext cx="4023360" cy="475488"/>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Oval 25"/>
          <p:cNvSpPr/>
          <p:nvPr/>
        </p:nvSpPr>
        <p:spPr>
          <a:xfrm>
            <a:off x="3913632" y="3264408"/>
            <a:ext cx="365760" cy="365760"/>
          </a:xfrm>
          <a:prstGeom prst="ellipse">
            <a:avLst/>
          </a:prstGeom>
          <a:solidFill>
            <a:srgbClr val="FFF0C2"/>
          </a:solidFill>
          <a:ln w="22225">
            <a:solidFill>
              <a:srgbClr val="F2B632"/>
            </a:solidFill>
          </a:ln>
        </p:spPr>
        <p:txBody>
          <a:bodyPr rtlCol="0" anchor="ctr" lIns="36576" rIns="36576" tIns="0" bIns="0" wrap="square"/>
          <a:lstStyle/>
          <a:p>
            <a:pPr algn="ctr"/>
            <a:r>
              <a:rPr sz="1800" b="1">
                <a:solidFill>
                  <a:srgbClr val="1B3A4B"/>
                </a:solidFill>
                <a:latin typeface="Calibri"/>
              </a:rPr>
              <a:t>+</a:t>
            </a:r>
          </a:p>
        </p:txBody>
      </p:sp>
      <p:sp>
        <p:nvSpPr>
          <p:cNvPr id="27" name="TextBox 26"/>
          <p:cNvSpPr txBox="1"/>
          <p:nvPr/>
        </p:nvSpPr>
        <p:spPr>
          <a:xfrm>
            <a:off x="4389120" y="3246120"/>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Surface station, underground enclosure</a:t>
            </a:r>
          </a:p>
        </p:txBody>
      </p:sp>
      <p:sp>
        <p:nvSpPr>
          <p:cNvPr id="28" name="TextBox 27"/>
          <p:cNvSpPr txBox="1"/>
          <p:nvPr/>
        </p:nvSpPr>
        <p:spPr>
          <a:xfrm>
            <a:off x="8183879"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Why it can be built here</a:t>
            </a:r>
          </a:p>
        </p:txBody>
      </p:sp>
      <p:sp>
        <p:nvSpPr>
          <p:cNvPr id="29" name="Rounded Rectangle 28"/>
          <p:cNvSpPr/>
          <p:nvPr/>
        </p:nvSpPr>
        <p:spPr>
          <a:xfrm>
            <a:off x="8183879" y="1508760"/>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0" name="TextBox 29"/>
          <p:cNvSpPr txBox="1"/>
          <p:nvPr/>
        </p:nvSpPr>
        <p:spPr>
          <a:xfrm>
            <a:off x="8275320" y="1527048"/>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50–100 m</a:t>
            </a:r>
          </a:p>
        </p:txBody>
      </p:sp>
      <p:sp>
        <p:nvSpPr>
          <p:cNvPr id="31" name="TextBox 30"/>
          <p:cNvSpPr txBox="1"/>
          <p:nvPr/>
        </p:nvSpPr>
        <p:spPr>
          <a:xfrm>
            <a:off x="9646920" y="1527048"/>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hop within ordinary laser and photodiode modules</a:t>
            </a:r>
          </a:p>
        </p:txBody>
      </p:sp>
      <p:sp>
        <p:nvSpPr>
          <p:cNvPr id="32" name="Rounded Rectangle 31"/>
          <p:cNvSpPr/>
          <p:nvPr/>
        </p:nvSpPr>
        <p:spPr>
          <a:xfrm>
            <a:off x="8183879" y="2276856"/>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3" name="TextBox 32"/>
          <p:cNvSpPr txBox="1"/>
          <p:nvPr/>
        </p:nvSpPr>
        <p:spPr>
          <a:xfrm>
            <a:off x="8275320" y="2295144"/>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In the lab</a:t>
            </a:r>
          </a:p>
        </p:txBody>
      </p:sp>
      <p:sp>
        <p:nvSpPr>
          <p:cNvPr id="34" name="TextBox 33"/>
          <p:cNvSpPr txBox="1"/>
          <p:nvPr/>
        </p:nvSpPr>
        <p:spPr>
          <a:xfrm>
            <a:off x="9646920" y="2295144"/>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FSO transceivers, embedded benches, computing</a:t>
            </a:r>
          </a:p>
        </p:txBody>
      </p:sp>
      <p:sp>
        <p:nvSpPr>
          <p:cNvPr id="35" name="Rounded Rectangle 34"/>
          <p:cNvSpPr/>
          <p:nvPr/>
        </p:nvSpPr>
        <p:spPr>
          <a:xfrm>
            <a:off x="8183879" y="3044952"/>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6" name="TextBox 35"/>
          <p:cNvSpPr txBox="1"/>
          <p:nvPr/>
        </p:nvSpPr>
        <p:spPr>
          <a:xfrm>
            <a:off x="8275320" y="3063240"/>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Designed loss</a:t>
            </a:r>
          </a:p>
        </p:txBody>
      </p:sp>
      <p:sp>
        <p:nvSpPr>
          <p:cNvPr id="37" name="TextBox 36"/>
          <p:cNvSpPr txBox="1"/>
          <p:nvPr/>
        </p:nvSpPr>
        <p:spPr>
          <a:xfrm>
            <a:off x="9646920" y="3063240"/>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beam or dust loss: Zigbee / Wi-Fi takes over, LoRa alerts</a:t>
            </a:r>
          </a:p>
        </p:txBody>
      </p:sp>
      <p:sp>
        <p:nvSpPr>
          <p:cNvPr id="38" name="Rounded Rectangle 37"/>
          <p:cNvSpPr/>
          <p:nvPr/>
        </p:nvSpPr>
        <p:spPr>
          <a:xfrm>
            <a:off x="457200" y="4343400"/>
            <a:ext cx="11292840" cy="2011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9" name="Rounded Rectangle 38"/>
          <p:cNvSpPr/>
          <p:nvPr/>
        </p:nvSpPr>
        <p:spPr>
          <a:xfrm>
            <a:off x="640080" y="4251960"/>
            <a:ext cx="4206240" cy="384048"/>
          </a:xfrm>
          <a:prstGeom prst="roundRect">
            <a:avLst>
              <a:gd name="adj" fmla="val 30000"/>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First milestone: laboratory bench, one relay</a:t>
            </a:r>
          </a:p>
        </p:txBody>
      </p:sp>
      <p:sp>
        <p:nvSpPr>
          <p:cNvPr id="40" name="TextBox 39"/>
          <p:cNvSpPr txBox="1"/>
          <p:nvPr/>
        </p:nvSpPr>
        <p:spPr>
          <a:xfrm>
            <a:off x="5669280" y="4370832"/>
            <a:ext cx="5943600" cy="365760"/>
          </a:xfrm>
          <a:prstGeom prst="rect">
            <a:avLst/>
          </a:prstGeom>
          <a:noFill/>
        </p:spPr>
        <p:txBody>
          <a:bodyPr wrap="square" lIns="45720" rIns="45720" tIns="27432" bIns="27432" anchor="t">
            <a:spAutoFit/>
          </a:bodyPr>
          <a:lstStyle/>
          <a:p>
            <a:pPr algn="r"/>
            <a:r>
              <a:rPr sz="1350" b="0" i="0">
                <a:solidFill>
                  <a:srgbClr val="5C6770"/>
                </a:solidFill>
                <a:latin typeface="Calibri"/>
              </a:rPr>
              <a:t>Relay laser hand-aimed. IMU loop off for the first JPEG.</a:t>
            </a:r>
          </a:p>
        </p:txBody>
      </p:sp>
      <p:sp>
        <p:nvSpPr>
          <p:cNvPr id="41" name="Rounded Rectangle 40"/>
          <p:cNvSpPr/>
          <p:nvPr/>
        </p:nvSpPr>
        <p:spPr>
          <a:xfrm>
            <a:off x="73152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2" name="TextBox 41"/>
          <p:cNvSpPr txBox="1"/>
          <p:nvPr/>
        </p:nvSpPr>
        <p:spPr>
          <a:xfrm>
            <a:off x="86868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Camera node</a:t>
            </a:r>
          </a:p>
        </p:txBody>
      </p:sp>
      <p:sp>
        <p:nvSpPr>
          <p:cNvPr id="43" name="TextBox 42"/>
          <p:cNvSpPr txBox="1"/>
          <p:nvPr/>
        </p:nvSpPr>
        <p:spPr>
          <a:xfrm>
            <a:off x="86868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existing gimbal, camera, Pi, laser</a:t>
            </a:r>
          </a:p>
        </p:txBody>
      </p:sp>
      <p:pic>
        <p:nvPicPr>
          <p:cNvPr id="44" name="Picture" descr="Camera head on a tripod, laser facing right"/>
          <p:cNvPicPr>
            <a:picLocks noChangeAspect="1"/>
          </p:cNvPicPr>
          <p:nvPr/>
        </p:nvPicPr>
        <p:blipFill>
          <a:blip r:embed="rId3"/>
          <a:stretch>
            <a:fillRect/>
          </a:stretch>
        </p:blipFill>
        <p:spPr>
          <a:xfrm>
            <a:off x="2921706" y="5074920"/>
            <a:ext cx="648826" cy="1097280"/>
          </a:xfrm>
          <a:prstGeom prst="rect">
            <a:avLst/>
          </a:prstGeom>
        </p:spPr>
      </p:pic>
      <p:sp>
        <p:nvSpPr>
          <p:cNvPr id="45" name="Rounded Rectangle 44"/>
          <p:cNvSpPr/>
          <p:nvPr/>
        </p:nvSpPr>
        <p:spPr>
          <a:xfrm>
            <a:off x="457200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6" name="TextBox 45"/>
          <p:cNvSpPr txBox="1"/>
          <p:nvPr/>
        </p:nvSpPr>
        <p:spPr>
          <a:xfrm>
            <a:off x="4709160" y="4937760"/>
            <a:ext cx="1828800" cy="365760"/>
          </a:xfrm>
          <a:prstGeom prst="rect">
            <a:avLst/>
          </a:prstGeom>
          <a:noFill/>
        </p:spPr>
        <p:txBody>
          <a:bodyPr wrap="square" lIns="45720" rIns="45720" tIns="27432" bIns="27432" anchor="t">
            <a:spAutoFit/>
          </a:bodyPr>
          <a:lstStyle/>
          <a:p>
            <a:pPr algn="l"/>
            <a:r>
              <a:rPr sz="1800" b="1" i="0">
                <a:solidFill>
                  <a:srgbClr val="C55A11"/>
                </a:solidFill>
                <a:latin typeface="Calibri"/>
              </a:rPr>
              <a:t>Relay</a:t>
            </a:r>
          </a:p>
        </p:txBody>
      </p:sp>
      <p:sp>
        <p:nvSpPr>
          <p:cNvPr id="47" name="TextBox 46"/>
          <p:cNvSpPr txBox="1"/>
          <p:nvPr/>
        </p:nvSpPr>
        <p:spPr>
          <a:xfrm>
            <a:off x="470916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the one new node</a:t>
            </a:r>
          </a:p>
        </p:txBody>
      </p:sp>
      <p:pic>
        <p:nvPicPr>
          <p:cNvPr id="48" name="Picture" descr="Camera head on a tripod, laser facing left"/>
          <p:cNvPicPr>
            <a:picLocks noChangeAspect="1"/>
          </p:cNvPicPr>
          <p:nvPr/>
        </p:nvPicPr>
        <p:blipFill>
          <a:blip r:embed="rId4"/>
          <a:stretch>
            <a:fillRect/>
          </a:stretch>
        </p:blipFill>
        <p:spPr>
          <a:xfrm>
            <a:off x="6018541" y="5074920"/>
            <a:ext cx="801491" cy="1097280"/>
          </a:xfrm>
          <a:prstGeom prst="rect">
            <a:avLst/>
          </a:prstGeom>
        </p:spPr>
      </p:pic>
      <p:pic>
        <p:nvPicPr>
          <p:cNvPr id="49" name="Picture" descr="Camera head on a tripod, laser facing right"/>
          <p:cNvPicPr>
            <a:picLocks noChangeAspect="1"/>
          </p:cNvPicPr>
          <p:nvPr/>
        </p:nvPicPr>
        <p:blipFill>
          <a:blip r:embed="rId3"/>
          <a:stretch>
            <a:fillRect/>
          </a:stretch>
        </p:blipFill>
        <p:spPr>
          <a:xfrm>
            <a:off x="6865752" y="5074920"/>
            <a:ext cx="648826" cy="1097280"/>
          </a:xfrm>
          <a:prstGeom prst="rect">
            <a:avLst/>
          </a:prstGeom>
        </p:spPr>
      </p:pic>
      <p:sp>
        <p:nvSpPr>
          <p:cNvPr id="50" name="Rounded Rectangle 49"/>
          <p:cNvSpPr/>
          <p:nvPr/>
        </p:nvSpPr>
        <p:spPr>
          <a:xfrm>
            <a:off x="8412480" y="4892040"/>
            <a:ext cx="3108960" cy="13716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51" name="TextBox 50"/>
          <p:cNvSpPr txBox="1"/>
          <p:nvPr/>
        </p:nvSpPr>
        <p:spPr>
          <a:xfrm>
            <a:off x="854964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Base</a:t>
            </a:r>
          </a:p>
        </p:txBody>
      </p:sp>
      <p:sp>
        <p:nvSpPr>
          <p:cNvPr id="52" name="TextBox 51"/>
          <p:cNvSpPr txBox="1"/>
          <p:nvPr/>
        </p:nvSpPr>
        <p:spPr>
          <a:xfrm>
            <a:off x="854964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receiver, Pi, HDMI screen</a:t>
            </a:r>
          </a:p>
        </p:txBody>
      </p:sp>
      <p:pic>
        <p:nvPicPr>
          <p:cNvPr id="53" name="Picture" descr="Monitoring dashboard"/>
          <p:cNvPicPr>
            <a:picLocks noChangeAspect="1"/>
          </p:cNvPicPr>
          <p:nvPr/>
        </p:nvPicPr>
        <p:blipFill>
          <a:blip r:embed="rId5"/>
          <a:stretch>
            <a:fillRect/>
          </a:stretch>
        </p:blipFill>
        <p:spPr>
          <a:xfrm>
            <a:off x="10561319" y="5212080"/>
            <a:ext cx="868680" cy="699456"/>
          </a:xfrm>
          <a:prstGeom prst="rect">
            <a:avLst/>
          </a:prstGeom>
        </p:spPr>
      </p:pic>
      <p:sp>
        <p:nvSpPr>
          <p:cNvPr id="54" name="Rectangle 53"/>
          <p:cNvSpPr/>
          <p:nvPr/>
        </p:nvSpPr>
        <p:spPr>
          <a:xfrm>
            <a:off x="3858768" y="5504688"/>
            <a:ext cx="694944" cy="146304"/>
          </a:xfrm>
          <a:prstGeom prst="rect">
            <a:avLst/>
          </a:prstGeom>
          <a:solidFill>
            <a:srgbClr val="ED7D31">
              <a:alpha val="28000"/>
            </a:srgbClr>
          </a:solidFill>
          <a:ln>
            <a:noFill/>
          </a:ln>
        </p:spPr>
        <p:txBody>
          <a:bodyPr rtlCol="0" anchor="ctr"/>
          <a:lstStyle/>
          <a:p>
            <a:pPr algn="ctr"/>
          </a:p>
        </p:txBody>
      </p:sp>
      <p:sp>
        <p:nvSpPr>
          <p:cNvPr id="55" name="Rectangle 54"/>
          <p:cNvSpPr/>
          <p:nvPr/>
        </p:nvSpPr>
        <p:spPr>
          <a:xfrm>
            <a:off x="3858768" y="5554979"/>
            <a:ext cx="694944" cy="45720"/>
          </a:xfrm>
          <a:prstGeom prst="rect">
            <a:avLst/>
          </a:prstGeom>
          <a:solidFill>
            <a:srgbClr val="ED7D31"/>
          </a:solidFill>
          <a:ln>
            <a:noFill/>
          </a:ln>
        </p:spPr>
        <p:txBody>
          <a:bodyPr rtlCol="0" anchor="ctr"/>
          <a:lstStyle/>
          <a:p>
            <a:pPr algn="ctr"/>
          </a:p>
        </p:txBody>
      </p:sp>
      <p:sp>
        <p:nvSpPr>
          <p:cNvPr id="56" name="TextBox 55"/>
          <p:cNvSpPr txBox="1"/>
          <p:nvPr/>
        </p:nvSpPr>
        <p:spPr>
          <a:xfrm>
            <a:off x="374904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
        <p:nvSpPr>
          <p:cNvPr id="57" name="Rectangle 56"/>
          <p:cNvSpPr/>
          <p:nvPr/>
        </p:nvSpPr>
        <p:spPr>
          <a:xfrm>
            <a:off x="7699248" y="5504688"/>
            <a:ext cx="694943" cy="146304"/>
          </a:xfrm>
          <a:prstGeom prst="rect">
            <a:avLst/>
          </a:prstGeom>
          <a:solidFill>
            <a:srgbClr val="ED7D31">
              <a:alpha val="28000"/>
            </a:srgbClr>
          </a:solidFill>
          <a:ln>
            <a:noFill/>
          </a:ln>
        </p:spPr>
        <p:txBody>
          <a:bodyPr rtlCol="0" anchor="ctr"/>
          <a:lstStyle/>
          <a:p>
            <a:pPr algn="ctr"/>
          </a:p>
        </p:txBody>
      </p:sp>
      <p:sp>
        <p:nvSpPr>
          <p:cNvPr id="58" name="Rectangle 57"/>
          <p:cNvSpPr/>
          <p:nvPr/>
        </p:nvSpPr>
        <p:spPr>
          <a:xfrm>
            <a:off x="7699248" y="5554979"/>
            <a:ext cx="694943" cy="45720"/>
          </a:xfrm>
          <a:prstGeom prst="rect">
            <a:avLst/>
          </a:prstGeom>
          <a:solidFill>
            <a:srgbClr val="ED7D31"/>
          </a:solidFill>
          <a:ln>
            <a:noFill/>
          </a:ln>
        </p:spPr>
        <p:txBody>
          <a:bodyPr rtlCol="0" anchor="ctr"/>
          <a:lstStyle/>
          <a:p>
            <a:pPr algn="ctr"/>
          </a:p>
        </p:txBody>
      </p:sp>
      <p:sp>
        <p:nvSpPr>
          <p:cNvPr id="59" name="TextBox 58"/>
          <p:cNvSpPr txBox="1"/>
          <p:nvPr/>
        </p:nvSpPr>
        <p:spPr>
          <a:xfrm>
            <a:off x="758952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04</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TECHNICAL FEASIBILITY AND METHODOLOGY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Work plan: 24 months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Work plan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10  /  16</a:t>
            </a:r>
          </a:p>
        </p:txBody>
      </p:sp>
      <p:sp>
        <p:nvSpPr>
          <p:cNvPr id="13" name="Rectangle 12"/>
          <p:cNvSpPr/>
          <p:nvPr/>
        </p:nvSpPr>
        <p:spPr>
          <a:xfrm>
            <a:off x="4389120" y="1051560"/>
            <a:ext cx="3653028" cy="274320"/>
          </a:xfrm>
          <a:prstGeom prst="rect">
            <a:avLst/>
          </a:prstGeom>
          <a:solidFill>
            <a:srgbClr val="0071C1"/>
          </a:solidFill>
          <a:ln>
            <a:noFill/>
          </a:ln>
        </p:spPr>
        <p:txBody>
          <a:bodyPr rtlCol="0" anchor="ctr"/>
          <a:lstStyle/>
          <a:p>
            <a:pPr algn="ctr"/>
          </a:p>
        </p:txBody>
      </p:sp>
      <p:sp>
        <p:nvSpPr>
          <p:cNvPr id="14" name="Rectangle 13"/>
          <p:cNvSpPr/>
          <p:nvPr/>
        </p:nvSpPr>
        <p:spPr>
          <a:xfrm>
            <a:off x="8069579" y="1051560"/>
            <a:ext cx="3680460" cy="274320"/>
          </a:xfrm>
          <a:prstGeom prst="rect">
            <a:avLst/>
          </a:prstGeom>
          <a:solidFill>
            <a:srgbClr val="ED7D31"/>
          </a:solidFill>
          <a:ln>
            <a:noFill/>
          </a:ln>
        </p:spPr>
        <p:txBody>
          <a:bodyPr rtlCol="0" anchor="ctr"/>
          <a:lstStyle/>
          <a:p>
            <a:pPr algn="ctr"/>
          </a:p>
        </p:txBody>
      </p:sp>
      <p:sp>
        <p:nvSpPr>
          <p:cNvPr id="15" name="TextBox 14"/>
          <p:cNvSpPr txBox="1"/>
          <p:nvPr/>
        </p:nvSpPr>
        <p:spPr>
          <a:xfrm>
            <a:off x="4389120"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1</a:t>
            </a:r>
          </a:p>
        </p:txBody>
      </p:sp>
      <p:sp>
        <p:nvSpPr>
          <p:cNvPr id="16" name="TextBox 15"/>
          <p:cNvSpPr txBox="1"/>
          <p:nvPr/>
        </p:nvSpPr>
        <p:spPr>
          <a:xfrm>
            <a:off x="8069579"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2</a:t>
            </a:r>
          </a:p>
        </p:txBody>
      </p:sp>
      <p:sp>
        <p:nvSpPr>
          <p:cNvPr id="17" name="TextBox 16"/>
          <p:cNvSpPr txBox="1"/>
          <p:nvPr/>
        </p:nvSpPr>
        <p:spPr>
          <a:xfrm>
            <a:off x="43708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a:t>
            </a:r>
          </a:p>
        </p:txBody>
      </p:sp>
      <p:sp>
        <p:nvSpPr>
          <p:cNvPr id="18" name="TextBox 17"/>
          <p:cNvSpPr txBox="1"/>
          <p:nvPr/>
        </p:nvSpPr>
        <p:spPr>
          <a:xfrm>
            <a:off x="46775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a:t>
            </a:r>
          </a:p>
        </p:txBody>
      </p:sp>
      <p:sp>
        <p:nvSpPr>
          <p:cNvPr id="19" name="TextBox 18"/>
          <p:cNvSpPr txBox="1"/>
          <p:nvPr/>
        </p:nvSpPr>
        <p:spPr>
          <a:xfrm>
            <a:off x="49842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3</a:t>
            </a:r>
          </a:p>
        </p:txBody>
      </p:sp>
      <p:sp>
        <p:nvSpPr>
          <p:cNvPr id="20" name="TextBox 19"/>
          <p:cNvSpPr txBox="1"/>
          <p:nvPr/>
        </p:nvSpPr>
        <p:spPr>
          <a:xfrm>
            <a:off x="52909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4</a:t>
            </a:r>
          </a:p>
        </p:txBody>
      </p:sp>
      <p:sp>
        <p:nvSpPr>
          <p:cNvPr id="21" name="TextBox 20"/>
          <p:cNvSpPr txBox="1"/>
          <p:nvPr/>
        </p:nvSpPr>
        <p:spPr>
          <a:xfrm>
            <a:off x="559765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5</a:t>
            </a:r>
          </a:p>
        </p:txBody>
      </p:sp>
      <p:sp>
        <p:nvSpPr>
          <p:cNvPr id="22" name="TextBox 21"/>
          <p:cNvSpPr txBox="1"/>
          <p:nvPr/>
        </p:nvSpPr>
        <p:spPr>
          <a:xfrm>
            <a:off x="590435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6</a:t>
            </a:r>
          </a:p>
        </p:txBody>
      </p:sp>
      <p:sp>
        <p:nvSpPr>
          <p:cNvPr id="23" name="TextBox 22"/>
          <p:cNvSpPr txBox="1"/>
          <p:nvPr/>
        </p:nvSpPr>
        <p:spPr>
          <a:xfrm>
            <a:off x="621106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7</a:t>
            </a:r>
          </a:p>
        </p:txBody>
      </p:sp>
      <p:sp>
        <p:nvSpPr>
          <p:cNvPr id="24" name="TextBox 23"/>
          <p:cNvSpPr txBox="1"/>
          <p:nvPr/>
        </p:nvSpPr>
        <p:spPr>
          <a:xfrm>
            <a:off x="651776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8</a:t>
            </a:r>
          </a:p>
        </p:txBody>
      </p:sp>
      <p:sp>
        <p:nvSpPr>
          <p:cNvPr id="25" name="TextBox 24"/>
          <p:cNvSpPr txBox="1"/>
          <p:nvPr/>
        </p:nvSpPr>
        <p:spPr>
          <a:xfrm>
            <a:off x="682447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9</a:t>
            </a:r>
          </a:p>
        </p:txBody>
      </p:sp>
      <p:sp>
        <p:nvSpPr>
          <p:cNvPr id="26" name="TextBox 25"/>
          <p:cNvSpPr txBox="1"/>
          <p:nvPr/>
        </p:nvSpPr>
        <p:spPr>
          <a:xfrm>
            <a:off x="713117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10</a:t>
            </a:r>
          </a:p>
        </p:txBody>
      </p:sp>
      <p:sp>
        <p:nvSpPr>
          <p:cNvPr id="27" name="TextBox 26"/>
          <p:cNvSpPr txBox="1"/>
          <p:nvPr/>
        </p:nvSpPr>
        <p:spPr>
          <a:xfrm>
            <a:off x="743788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11</a:t>
            </a:r>
          </a:p>
        </p:txBody>
      </p:sp>
      <p:sp>
        <p:nvSpPr>
          <p:cNvPr id="28" name="TextBox 27"/>
          <p:cNvSpPr txBox="1"/>
          <p:nvPr/>
        </p:nvSpPr>
        <p:spPr>
          <a:xfrm>
            <a:off x="774458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12</a:t>
            </a:r>
          </a:p>
        </p:txBody>
      </p:sp>
      <p:sp>
        <p:nvSpPr>
          <p:cNvPr id="29" name="TextBox 28"/>
          <p:cNvSpPr txBox="1"/>
          <p:nvPr/>
        </p:nvSpPr>
        <p:spPr>
          <a:xfrm>
            <a:off x="805129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13</a:t>
            </a:r>
          </a:p>
        </p:txBody>
      </p:sp>
      <p:sp>
        <p:nvSpPr>
          <p:cNvPr id="30" name="TextBox 29"/>
          <p:cNvSpPr txBox="1"/>
          <p:nvPr/>
        </p:nvSpPr>
        <p:spPr>
          <a:xfrm>
            <a:off x="835799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14</a:t>
            </a:r>
          </a:p>
        </p:txBody>
      </p:sp>
      <p:sp>
        <p:nvSpPr>
          <p:cNvPr id="31" name="TextBox 30"/>
          <p:cNvSpPr txBox="1"/>
          <p:nvPr/>
        </p:nvSpPr>
        <p:spPr>
          <a:xfrm>
            <a:off x="866470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15</a:t>
            </a:r>
          </a:p>
        </p:txBody>
      </p:sp>
      <p:sp>
        <p:nvSpPr>
          <p:cNvPr id="32" name="TextBox 31"/>
          <p:cNvSpPr txBox="1"/>
          <p:nvPr/>
        </p:nvSpPr>
        <p:spPr>
          <a:xfrm>
            <a:off x="897140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16</a:t>
            </a:r>
          </a:p>
        </p:txBody>
      </p:sp>
      <p:sp>
        <p:nvSpPr>
          <p:cNvPr id="33" name="TextBox 32"/>
          <p:cNvSpPr txBox="1"/>
          <p:nvPr/>
        </p:nvSpPr>
        <p:spPr>
          <a:xfrm>
            <a:off x="927811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17</a:t>
            </a:r>
          </a:p>
        </p:txBody>
      </p:sp>
      <p:sp>
        <p:nvSpPr>
          <p:cNvPr id="34" name="TextBox 33"/>
          <p:cNvSpPr txBox="1"/>
          <p:nvPr/>
        </p:nvSpPr>
        <p:spPr>
          <a:xfrm>
            <a:off x="958481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18</a:t>
            </a:r>
          </a:p>
        </p:txBody>
      </p:sp>
      <p:sp>
        <p:nvSpPr>
          <p:cNvPr id="35" name="TextBox 34"/>
          <p:cNvSpPr txBox="1"/>
          <p:nvPr/>
        </p:nvSpPr>
        <p:spPr>
          <a:xfrm>
            <a:off x="989152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19</a:t>
            </a:r>
          </a:p>
        </p:txBody>
      </p:sp>
      <p:sp>
        <p:nvSpPr>
          <p:cNvPr id="36" name="TextBox 35"/>
          <p:cNvSpPr txBox="1"/>
          <p:nvPr/>
        </p:nvSpPr>
        <p:spPr>
          <a:xfrm>
            <a:off x="1019822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20</a:t>
            </a:r>
          </a:p>
        </p:txBody>
      </p:sp>
      <p:sp>
        <p:nvSpPr>
          <p:cNvPr id="37" name="TextBox 36"/>
          <p:cNvSpPr txBox="1"/>
          <p:nvPr/>
        </p:nvSpPr>
        <p:spPr>
          <a:xfrm>
            <a:off x="105049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21</a:t>
            </a:r>
          </a:p>
        </p:txBody>
      </p:sp>
      <p:sp>
        <p:nvSpPr>
          <p:cNvPr id="38" name="TextBox 37"/>
          <p:cNvSpPr txBox="1"/>
          <p:nvPr/>
        </p:nvSpPr>
        <p:spPr>
          <a:xfrm>
            <a:off x="108116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22</a:t>
            </a:r>
          </a:p>
        </p:txBody>
      </p:sp>
      <p:sp>
        <p:nvSpPr>
          <p:cNvPr id="39" name="TextBox 38"/>
          <p:cNvSpPr txBox="1"/>
          <p:nvPr/>
        </p:nvSpPr>
        <p:spPr>
          <a:xfrm>
            <a:off x="111183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23</a:t>
            </a:r>
          </a:p>
        </p:txBody>
      </p:sp>
      <p:sp>
        <p:nvSpPr>
          <p:cNvPr id="40" name="TextBox 39"/>
          <p:cNvSpPr txBox="1"/>
          <p:nvPr/>
        </p:nvSpPr>
        <p:spPr>
          <a:xfrm>
            <a:off x="114250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24</a:t>
            </a:r>
          </a:p>
        </p:txBody>
      </p:sp>
      <p:sp>
        <p:nvSpPr>
          <p:cNvPr id="41" name="Rectangle 40"/>
          <p:cNvSpPr/>
          <p:nvPr/>
        </p:nvSpPr>
        <p:spPr>
          <a:xfrm>
            <a:off x="457200" y="1673352"/>
            <a:ext cx="11292840" cy="420624"/>
          </a:xfrm>
          <a:prstGeom prst="rect">
            <a:avLst/>
          </a:prstGeom>
          <a:solidFill>
            <a:srgbClr val="FFFFFF"/>
          </a:solidFill>
          <a:ln>
            <a:noFill/>
          </a:ln>
        </p:spPr>
        <p:txBody>
          <a:bodyPr rtlCol="0" anchor="ctr"/>
          <a:lstStyle/>
          <a:p>
            <a:pPr algn="ctr"/>
          </a:p>
        </p:txBody>
      </p:sp>
      <p:sp>
        <p:nvSpPr>
          <p:cNvPr id="42" name="Oval 41"/>
          <p:cNvSpPr/>
          <p:nvPr/>
        </p:nvSpPr>
        <p:spPr>
          <a:xfrm>
            <a:off x="530352" y="1719072"/>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1</a:t>
            </a:r>
          </a:p>
        </p:txBody>
      </p:sp>
      <p:sp>
        <p:nvSpPr>
          <p:cNvPr id="43" name="TextBox 42"/>
          <p:cNvSpPr txBox="1"/>
          <p:nvPr/>
        </p:nvSpPr>
        <p:spPr>
          <a:xfrm>
            <a:off x="987552" y="167335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Procure FSO, IMU, LoRa, cameras, mounts</a:t>
            </a:r>
          </a:p>
        </p:txBody>
      </p:sp>
      <p:sp>
        <p:nvSpPr>
          <p:cNvPr id="44" name="Rounded Rectangle 43"/>
          <p:cNvSpPr/>
          <p:nvPr/>
        </p:nvSpPr>
        <p:spPr>
          <a:xfrm>
            <a:off x="4407407" y="1764792"/>
            <a:ext cx="883539" cy="237744"/>
          </a:xfrm>
          <a:prstGeom prst="roundRect">
            <a:avLst>
              <a:gd name="adj" fmla="val 40000"/>
            </a:avLst>
          </a:prstGeom>
          <a:solidFill>
            <a:srgbClr val="0071C1"/>
          </a:solidFill>
          <a:ln>
            <a:noFill/>
          </a:ln>
        </p:spPr>
        <p:txBody>
          <a:bodyPr rtlCol="0" anchor="ctr"/>
          <a:lstStyle/>
          <a:p>
            <a:pPr algn="ctr"/>
          </a:p>
        </p:txBody>
      </p:sp>
      <p:sp>
        <p:nvSpPr>
          <p:cNvPr id="45" name="Diamond 44"/>
          <p:cNvSpPr/>
          <p:nvPr/>
        </p:nvSpPr>
        <p:spPr>
          <a:xfrm>
            <a:off x="5034915" y="1755648"/>
            <a:ext cx="256032" cy="256032"/>
          </a:xfrm>
          <a:prstGeom prst="diamond">
            <a:avLst/>
          </a:prstGeom>
          <a:solidFill>
            <a:srgbClr val="FFFFFF"/>
          </a:solidFill>
          <a:ln w="25400">
            <a:solidFill>
              <a:srgbClr val="ED7D31"/>
            </a:solidFill>
          </a:ln>
        </p:spPr>
        <p:txBody>
          <a:bodyPr rtlCol="0" anchor="ctr"/>
          <a:lstStyle/>
          <a:p>
            <a:pPr algn="ctr"/>
          </a:p>
        </p:txBody>
      </p:sp>
      <p:sp>
        <p:nvSpPr>
          <p:cNvPr id="46" name="Oval 45"/>
          <p:cNvSpPr/>
          <p:nvPr/>
        </p:nvSpPr>
        <p:spPr>
          <a:xfrm>
            <a:off x="530352" y="2139696"/>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2</a:t>
            </a:r>
          </a:p>
        </p:txBody>
      </p:sp>
      <p:sp>
        <p:nvSpPr>
          <p:cNvPr id="47" name="TextBox 46"/>
          <p:cNvSpPr txBox="1"/>
          <p:nvPr/>
        </p:nvSpPr>
        <p:spPr>
          <a:xfrm>
            <a:off x="987552" y="209397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Architecture, communication, dust switch</a:t>
            </a:r>
          </a:p>
        </p:txBody>
      </p:sp>
      <p:sp>
        <p:nvSpPr>
          <p:cNvPr id="48" name="Rounded Rectangle 47"/>
          <p:cNvSpPr/>
          <p:nvPr/>
        </p:nvSpPr>
        <p:spPr>
          <a:xfrm>
            <a:off x="5327523" y="2185416"/>
            <a:ext cx="1496949" cy="237744"/>
          </a:xfrm>
          <a:prstGeom prst="roundRect">
            <a:avLst>
              <a:gd name="adj" fmla="val 40000"/>
            </a:avLst>
          </a:prstGeom>
          <a:solidFill>
            <a:srgbClr val="0071C1"/>
          </a:solidFill>
          <a:ln>
            <a:noFill/>
          </a:ln>
        </p:spPr>
        <p:txBody>
          <a:bodyPr rtlCol="0" anchor="ctr"/>
          <a:lstStyle/>
          <a:p>
            <a:pPr algn="ctr"/>
          </a:p>
        </p:txBody>
      </p:sp>
      <p:sp>
        <p:nvSpPr>
          <p:cNvPr id="49" name="Diamond 48"/>
          <p:cNvSpPr/>
          <p:nvPr/>
        </p:nvSpPr>
        <p:spPr>
          <a:xfrm>
            <a:off x="6568440" y="2176272"/>
            <a:ext cx="256032" cy="256032"/>
          </a:xfrm>
          <a:prstGeom prst="diamond">
            <a:avLst/>
          </a:prstGeom>
          <a:solidFill>
            <a:srgbClr val="FFFFFF"/>
          </a:solidFill>
          <a:ln w="25400">
            <a:solidFill>
              <a:srgbClr val="ED7D31"/>
            </a:solidFill>
          </a:ln>
        </p:spPr>
        <p:txBody>
          <a:bodyPr rtlCol="0" anchor="ctr"/>
          <a:lstStyle/>
          <a:p>
            <a:pPr algn="ctr"/>
          </a:p>
        </p:txBody>
      </p:sp>
      <p:sp>
        <p:nvSpPr>
          <p:cNvPr id="50" name="Rectangle 49"/>
          <p:cNvSpPr/>
          <p:nvPr/>
        </p:nvSpPr>
        <p:spPr>
          <a:xfrm>
            <a:off x="457200" y="2514600"/>
            <a:ext cx="11292840" cy="420624"/>
          </a:xfrm>
          <a:prstGeom prst="rect">
            <a:avLst/>
          </a:prstGeom>
          <a:solidFill>
            <a:srgbClr val="FFFFFF"/>
          </a:solidFill>
          <a:ln>
            <a:noFill/>
          </a:ln>
        </p:spPr>
        <p:txBody>
          <a:bodyPr rtlCol="0" anchor="ctr"/>
          <a:lstStyle/>
          <a:p>
            <a:pPr algn="ctr"/>
          </a:p>
        </p:txBody>
      </p:sp>
      <p:sp>
        <p:nvSpPr>
          <p:cNvPr id="51" name="Oval 50"/>
          <p:cNvSpPr/>
          <p:nvPr/>
        </p:nvSpPr>
        <p:spPr>
          <a:xfrm>
            <a:off x="530352" y="2560320"/>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3</a:t>
            </a:r>
          </a:p>
        </p:txBody>
      </p:sp>
      <p:sp>
        <p:nvSpPr>
          <p:cNvPr id="52" name="TextBox 51"/>
          <p:cNvSpPr txBox="1"/>
          <p:nvPr/>
        </p:nvSpPr>
        <p:spPr>
          <a:xfrm>
            <a:off x="987552" y="2514600"/>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Auto-tracking on the mine node</a:t>
            </a:r>
          </a:p>
        </p:txBody>
      </p:sp>
      <p:sp>
        <p:nvSpPr>
          <p:cNvPr id="53" name="Rounded Rectangle 52"/>
          <p:cNvSpPr/>
          <p:nvPr/>
        </p:nvSpPr>
        <p:spPr>
          <a:xfrm>
            <a:off x="6554343" y="2606040"/>
            <a:ext cx="1190244" cy="237744"/>
          </a:xfrm>
          <a:prstGeom prst="roundRect">
            <a:avLst>
              <a:gd name="adj" fmla="val 40000"/>
            </a:avLst>
          </a:prstGeom>
          <a:solidFill>
            <a:srgbClr val="0071C1"/>
          </a:solidFill>
          <a:ln>
            <a:noFill/>
          </a:ln>
        </p:spPr>
        <p:txBody>
          <a:bodyPr rtlCol="0" anchor="ctr"/>
          <a:lstStyle/>
          <a:p>
            <a:pPr algn="ctr"/>
          </a:p>
        </p:txBody>
      </p:sp>
      <p:sp>
        <p:nvSpPr>
          <p:cNvPr id="54" name="Diamond 53"/>
          <p:cNvSpPr/>
          <p:nvPr/>
        </p:nvSpPr>
        <p:spPr>
          <a:xfrm>
            <a:off x="7488555" y="2596896"/>
            <a:ext cx="256032" cy="256032"/>
          </a:xfrm>
          <a:prstGeom prst="diamond">
            <a:avLst/>
          </a:prstGeom>
          <a:solidFill>
            <a:srgbClr val="FFFFFF"/>
          </a:solidFill>
          <a:ln w="25400">
            <a:solidFill>
              <a:srgbClr val="ED7D31"/>
            </a:solidFill>
          </a:ln>
        </p:spPr>
        <p:txBody>
          <a:bodyPr rtlCol="0" anchor="ctr"/>
          <a:lstStyle/>
          <a:p>
            <a:pPr algn="ctr"/>
          </a:p>
        </p:txBody>
      </p:sp>
      <p:sp>
        <p:nvSpPr>
          <p:cNvPr id="55" name="Oval 54"/>
          <p:cNvSpPr/>
          <p:nvPr/>
        </p:nvSpPr>
        <p:spPr>
          <a:xfrm>
            <a:off x="530352" y="2980944"/>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4</a:t>
            </a:r>
          </a:p>
        </p:txBody>
      </p:sp>
      <p:sp>
        <p:nvSpPr>
          <p:cNvPr id="56" name="TextBox 55"/>
          <p:cNvSpPr txBox="1"/>
          <p:nvPr/>
        </p:nvSpPr>
        <p:spPr>
          <a:xfrm>
            <a:off x="987552" y="2935224"/>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Integrate transmitter, relays, base</a:t>
            </a:r>
          </a:p>
        </p:txBody>
      </p:sp>
      <p:sp>
        <p:nvSpPr>
          <p:cNvPr id="57" name="Rounded Rectangle 56"/>
          <p:cNvSpPr/>
          <p:nvPr/>
        </p:nvSpPr>
        <p:spPr>
          <a:xfrm>
            <a:off x="7781163" y="3026664"/>
            <a:ext cx="1496949" cy="237744"/>
          </a:xfrm>
          <a:prstGeom prst="roundRect">
            <a:avLst>
              <a:gd name="adj" fmla="val 40000"/>
            </a:avLst>
          </a:prstGeom>
          <a:solidFill>
            <a:srgbClr val="0071C1"/>
          </a:solidFill>
          <a:ln>
            <a:noFill/>
          </a:ln>
        </p:spPr>
        <p:txBody>
          <a:bodyPr rtlCol="0" anchor="ctr"/>
          <a:lstStyle/>
          <a:p>
            <a:pPr algn="ctr"/>
          </a:p>
        </p:txBody>
      </p:sp>
      <p:sp>
        <p:nvSpPr>
          <p:cNvPr id="58" name="Diamond 57"/>
          <p:cNvSpPr/>
          <p:nvPr/>
        </p:nvSpPr>
        <p:spPr>
          <a:xfrm>
            <a:off x="9022080" y="3017520"/>
            <a:ext cx="256032" cy="256032"/>
          </a:xfrm>
          <a:prstGeom prst="diamond">
            <a:avLst/>
          </a:prstGeom>
          <a:solidFill>
            <a:srgbClr val="FFFFFF"/>
          </a:solidFill>
          <a:ln w="25400">
            <a:solidFill>
              <a:srgbClr val="ED7D31"/>
            </a:solidFill>
          </a:ln>
        </p:spPr>
        <p:txBody>
          <a:bodyPr rtlCol="0" anchor="ctr"/>
          <a:lstStyle/>
          <a:p>
            <a:pPr algn="ctr"/>
          </a:p>
        </p:txBody>
      </p:sp>
      <p:sp>
        <p:nvSpPr>
          <p:cNvPr id="59" name="Rectangle 58"/>
          <p:cNvSpPr/>
          <p:nvPr/>
        </p:nvSpPr>
        <p:spPr>
          <a:xfrm>
            <a:off x="457200" y="3355848"/>
            <a:ext cx="11292840" cy="420624"/>
          </a:xfrm>
          <a:prstGeom prst="rect">
            <a:avLst/>
          </a:prstGeom>
          <a:solidFill>
            <a:srgbClr val="FFFFFF"/>
          </a:solidFill>
          <a:ln>
            <a:noFill/>
          </a:ln>
        </p:spPr>
        <p:txBody>
          <a:bodyPr rtlCol="0" anchor="ctr"/>
          <a:lstStyle/>
          <a:p>
            <a:pPr algn="ctr"/>
          </a:p>
        </p:txBody>
      </p:sp>
      <p:sp>
        <p:nvSpPr>
          <p:cNvPr id="60" name="Oval 59"/>
          <p:cNvSpPr/>
          <p:nvPr/>
        </p:nvSpPr>
        <p:spPr>
          <a:xfrm>
            <a:off x="530352" y="3401568"/>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5</a:t>
            </a:r>
          </a:p>
        </p:txBody>
      </p:sp>
      <p:sp>
        <p:nvSpPr>
          <p:cNvPr id="61" name="TextBox 60"/>
          <p:cNvSpPr txBox="1"/>
          <p:nvPr/>
        </p:nvSpPr>
        <p:spPr>
          <a:xfrm>
            <a:off x="987552" y="3355848"/>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Laboratory tests</a:t>
            </a:r>
          </a:p>
        </p:txBody>
      </p:sp>
      <p:sp>
        <p:nvSpPr>
          <p:cNvPr id="62" name="Rounded Rectangle 61"/>
          <p:cNvSpPr/>
          <p:nvPr/>
        </p:nvSpPr>
        <p:spPr>
          <a:xfrm>
            <a:off x="9314688" y="3447288"/>
            <a:ext cx="883539" cy="237744"/>
          </a:xfrm>
          <a:prstGeom prst="roundRect">
            <a:avLst>
              <a:gd name="adj" fmla="val 40000"/>
            </a:avLst>
          </a:prstGeom>
          <a:solidFill>
            <a:srgbClr val="0071C1"/>
          </a:solidFill>
          <a:ln>
            <a:noFill/>
          </a:ln>
        </p:spPr>
        <p:txBody>
          <a:bodyPr rtlCol="0" anchor="ctr"/>
          <a:lstStyle/>
          <a:p>
            <a:pPr algn="ctr"/>
          </a:p>
        </p:txBody>
      </p:sp>
      <p:sp>
        <p:nvSpPr>
          <p:cNvPr id="63" name="Diamond 62"/>
          <p:cNvSpPr/>
          <p:nvPr/>
        </p:nvSpPr>
        <p:spPr>
          <a:xfrm>
            <a:off x="9942195" y="3438144"/>
            <a:ext cx="256032" cy="256032"/>
          </a:xfrm>
          <a:prstGeom prst="diamond">
            <a:avLst/>
          </a:prstGeom>
          <a:solidFill>
            <a:srgbClr val="FFFFFF"/>
          </a:solidFill>
          <a:ln w="25400">
            <a:solidFill>
              <a:srgbClr val="ED7D31"/>
            </a:solidFill>
          </a:ln>
        </p:spPr>
        <p:txBody>
          <a:bodyPr rtlCol="0" anchor="ctr"/>
          <a:lstStyle/>
          <a:p>
            <a:pPr algn="ctr"/>
          </a:p>
        </p:txBody>
      </p:sp>
      <p:sp>
        <p:nvSpPr>
          <p:cNvPr id="64" name="Oval 63"/>
          <p:cNvSpPr/>
          <p:nvPr/>
        </p:nvSpPr>
        <p:spPr>
          <a:xfrm>
            <a:off x="530352" y="3822192"/>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6</a:t>
            </a:r>
          </a:p>
        </p:txBody>
      </p:sp>
      <p:sp>
        <p:nvSpPr>
          <p:cNvPr id="65" name="TextBox 64"/>
          <p:cNvSpPr txBox="1"/>
          <p:nvPr/>
        </p:nvSpPr>
        <p:spPr>
          <a:xfrm>
            <a:off x="987552" y="377647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Tunnel-like / underground test</a:t>
            </a:r>
          </a:p>
        </p:txBody>
      </p:sp>
      <p:sp>
        <p:nvSpPr>
          <p:cNvPr id="66" name="Rounded Rectangle 65"/>
          <p:cNvSpPr/>
          <p:nvPr/>
        </p:nvSpPr>
        <p:spPr>
          <a:xfrm>
            <a:off x="10234802" y="3867912"/>
            <a:ext cx="883539" cy="237744"/>
          </a:xfrm>
          <a:prstGeom prst="roundRect">
            <a:avLst>
              <a:gd name="adj" fmla="val 40000"/>
            </a:avLst>
          </a:prstGeom>
          <a:solidFill>
            <a:srgbClr val="ED7D31"/>
          </a:solidFill>
          <a:ln>
            <a:noFill/>
          </a:ln>
        </p:spPr>
        <p:txBody>
          <a:bodyPr rtlCol="0" anchor="ctr"/>
          <a:lstStyle/>
          <a:p>
            <a:pPr algn="ctr"/>
          </a:p>
        </p:txBody>
      </p:sp>
      <p:sp>
        <p:nvSpPr>
          <p:cNvPr id="67" name="Diamond 66"/>
          <p:cNvSpPr/>
          <p:nvPr/>
        </p:nvSpPr>
        <p:spPr>
          <a:xfrm>
            <a:off x="10862309" y="3858768"/>
            <a:ext cx="256032" cy="256032"/>
          </a:xfrm>
          <a:prstGeom prst="diamond">
            <a:avLst/>
          </a:prstGeom>
          <a:solidFill>
            <a:srgbClr val="FFFFFF"/>
          </a:solidFill>
          <a:ln w="25400">
            <a:solidFill>
              <a:srgbClr val="ED7D31"/>
            </a:solidFill>
          </a:ln>
        </p:spPr>
        <p:txBody>
          <a:bodyPr rtlCol="0" anchor="ctr"/>
          <a:lstStyle/>
          <a:p>
            <a:pPr algn="ctr"/>
          </a:p>
        </p:txBody>
      </p:sp>
      <p:sp>
        <p:nvSpPr>
          <p:cNvPr id="68" name="Rectangle 67"/>
          <p:cNvSpPr/>
          <p:nvPr/>
        </p:nvSpPr>
        <p:spPr>
          <a:xfrm>
            <a:off x="457200" y="4197096"/>
            <a:ext cx="11292840" cy="420624"/>
          </a:xfrm>
          <a:prstGeom prst="rect">
            <a:avLst/>
          </a:prstGeom>
          <a:solidFill>
            <a:srgbClr val="FFFFFF"/>
          </a:solidFill>
          <a:ln>
            <a:noFill/>
          </a:ln>
        </p:spPr>
        <p:txBody>
          <a:bodyPr rtlCol="0" anchor="ctr"/>
          <a:lstStyle/>
          <a:p>
            <a:pPr algn="ctr"/>
          </a:p>
        </p:txBody>
      </p:sp>
      <p:sp>
        <p:nvSpPr>
          <p:cNvPr id="69" name="Oval 68"/>
          <p:cNvSpPr/>
          <p:nvPr/>
        </p:nvSpPr>
        <p:spPr>
          <a:xfrm>
            <a:off x="530352" y="4242816"/>
            <a:ext cx="329184" cy="329184"/>
          </a:xfrm>
          <a:prstGeom prst="ellipse">
            <a:avLst/>
          </a:prstGeom>
          <a:solidFill>
            <a:srgbClr val="FFF0C2"/>
          </a:solidFill>
          <a:ln w="22225">
            <a:solidFill>
              <a:srgbClr val="F2B632"/>
            </a:solidFill>
          </a:ln>
        </p:spPr>
        <p:txBody>
          <a:bodyPr rtlCol="0" anchor="ctr" lIns="36576" rIns="36576" tIns="0" bIns="0" wrap="square"/>
          <a:lstStyle/>
          <a:p>
            <a:pPr algn="ctr"/>
            <a:r>
              <a:rPr sz="1300" b="1">
                <a:solidFill>
                  <a:srgbClr val="1B3A4B"/>
                </a:solidFill>
                <a:latin typeface="Calibri"/>
              </a:rPr>
              <a:t>7</a:t>
            </a:r>
          </a:p>
        </p:txBody>
      </p:sp>
      <p:sp>
        <p:nvSpPr>
          <p:cNvPr id="70" name="TextBox 69"/>
          <p:cNvSpPr txBox="1"/>
          <p:nvPr/>
        </p:nvSpPr>
        <p:spPr>
          <a:xfrm>
            <a:off x="987552" y="419709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Documentation, patent, commercial plan</a:t>
            </a:r>
          </a:p>
        </p:txBody>
      </p:sp>
      <p:sp>
        <p:nvSpPr>
          <p:cNvPr id="71" name="Rounded Rectangle 70"/>
          <p:cNvSpPr/>
          <p:nvPr/>
        </p:nvSpPr>
        <p:spPr>
          <a:xfrm>
            <a:off x="11154918" y="4288536"/>
            <a:ext cx="576834" cy="237744"/>
          </a:xfrm>
          <a:prstGeom prst="roundRect">
            <a:avLst>
              <a:gd name="adj" fmla="val 40000"/>
            </a:avLst>
          </a:prstGeom>
          <a:solidFill>
            <a:srgbClr val="0071C1"/>
          </a:solidFill>
          <a:ln>
            <a:noFill/>
          </a:ln>
        </p:spPr>
        <p:txBody>
          <a:bodyPr rtlCol="0" anchor="ctr"/>
          <a:lstStyle/>
          <a:p>
            <a:pPr algn="ctr"/>
          </a:p>
        </p:txBody>
      </p:sp>
      <p:sp>
        <p:nvSpPr>
          <p:cNvPr id="72" name="Diamond 71"/>
          <p:cNvSpPr/>
          <p:nvPr/>
        </p:nvSpPr>
        <p:spPr>
          <a:xfrm>
            <a:off x="11475720" y="4279392"/>
            <a:ext cx="256032" cy="256032"/>
          </a:xfrm>
          <a:prstGeom prst="diamond">
            <a:avLst/>
          </a:prstGeom>
          <a:solidFill>
            <a:srgbClr val="FFFFFF"/>
          </a:solidFill>
          <a:ln w="25400">
            <a:solidFill>
              <a:srgbClr val="ED7D31"/>
            </a:solidFill>
          </a:ln>
        </p:spPr>
        <p:txBody>
          <a:bodyPr rtlCol="0" anchor="ctr"/>
          <a:lstStyle/>
          <a:p>
            <a:pPr algn="ctr"/>
          </a:p>
        </p:txBody>
      </p:sp>
      <p:cxnSp>
        <p:nvCxnSpPr>
          <p:cNvPr id="73" name="Connector 72"/>
          <p:cNvCxnSpPr/>
          <p:nvPr/>
        </p:nvCxnSpPr>
        <p:spPr>
          <a:xfrm>
            <a:off x="4389120" y="1673352"/>
            <a:ext cx="0" cy="2944368"/>
          </a:xfrm>
          <a:prstGeom prst="line">
            <a:avLst/>
          </a:prstGeom>
          <a:ln w="6350">
            <a:solidFill>
              <a:srgbClr val="C9DCEA"/>
            </a:solidFill>
          </a:ln>
        </p:spPr>
      </p:cxnSp>
      <p:cxnSp>
        <p:nvCxnSpPr>
          <p:cNvPr id="74" name="Connector 73"/>
          <p:cNvCxnSpPr/>
          <p:nvPr/>
        </p:nvCxnSpPr>
        <p:spPr>
          <a:xfrm>
            <a:off x="4695824" y="1673352"/>
            <a:ext cx="0" cy="2944368"/>
          </a:xfrm>
          <a:prstGeom prst="line">
            <a:avLst/>
          </a:prstGeom>
          <a:ln w="6350">
            <a:solidFill>
              <a:srgbClr val="C9DCEA"/>
            </a:solidFill>
          </a:ln>
        </p:spPr>
      </p:cxnSp>
      <p:cxnSp>
        <p:nvCxnSpPr>
          <p:cNvPr id="75" name="Connector 74"/>
          <p:cNvCxnSpPr/>
          <p:nvPr/>
        </p:nvCxnSpPr>
        <p:spPr>
          <a:xfrm>
            <a:off x="5002530" y="1673352"/>
            <a:ext cx="0" cy="2944368"/>
          </a:xfrm>
          <a:prstGeom prst="line">
            <a:avLst/>
          </a:prstGeom>
          <a:ln w="6350">
            <a:solidFill>
              <a:srgbClr val="C9DCEA"/>
            </a:solidFill>
          </a:ln>
        </p:spPr>
      </p:cxnSp>
      <p:cxnSp>
        <p:nvCxnSpPr>
          <p:cNvPr id="76" name="Connector 75"/>
          <p:cNvCxnSpPr/>
          <p:nvPr/>
        </p:nvCxnSpPr>
        <p:spPr>
          <a:xfrm>
            <a:off x="5309235" y="1673352"/>
            <a:ext cx="0" cy="2944368"/>
          </a:xfrm>
          <a:prstGeom prst="line">
            <a:avLst/>
          </a:prstGeom>
          <a:ln w="6350">
            <a:solidFill>
              <a:srgbClr val="C9DCEA"/>
            </a:solidFill>
          </a:ln>
        </p:spPr>
      </p:cxnSp>
      <p:cxnSp>
        <p:nvCxnSpPr>
          <p:cNvPr id="77" name="Connector 76"/>
          <p:cNvCxnSpPr/>
          <p:nvPr/>
        </p:nvCxnSpPr>
        <p:spPr>
          <a:xfrm>
            <a:off x="5615940" y="1673352"/>
            <a:ext cx="0" cy="2944368"/>
          </a:xfrm>
          <a:prstGeom prst="line">
            <a:avLst/>
          </a:prstGeom>
          <a:ln w="6350">
            <a:solidFill>
              <a:srgbClr val="C9DCEA"/>
            </a:solidFill>
          </a:ln>
        </p:spPr>
      </p:cxnSp>
      <p:cxnSp>
        <p:nvCxnSpPr>
          <p:cNvPr id="78" name="Connector 77"/>
          <p:cNvCxnSpPr/>
          <p:nvPr/>
        </p:nvCxnSpPr>
        <p:spPr>
          <a:xfrm>
            <a:off x="5922645" y="1673352"/>
            <a:ext cx="0" cy="2944368"/>
          </a:xfrm>
          <a:prstGeom prst="line">
            <a:avLst/>
          </a:prstGeom>
          <a:ln w="6350">
            <a:solidFill>
              <a:srgbClr val="C9DCEA"/>
            </a:solidFill>
          </a:ln>
        </p:spPr>
      </p:cxnSp>
      <p:cxnSp>
        <p:nvCxnSpPr>
          <p:cNvPr id="79" name="Connector 78"/>
          <p:cNvCxnSpPr/>
          <p:nvPr/>
        </p:nvCxnSpPr>
        <p:spPr>
          <a:xfrm>
            <a:off x="6229350" y="1673352"/>
            <a:ext cx="0" cy="2944368"/>
          </a:xfrm>
          <a:prstGeom prst="line">
            <a:avLst/>
          </a:prstGeom>
          <a:ln w="6350">
            <a:solidFill>
              <a:srgbClr val="C9DCEA"/>
            </a:solidFill>
          </a:ln>
        </p:spPr>
      </p:cxnSp>
      <p:cxnSp>
        <p:nvCxnSpPr>
          <p:cNvPr id="80" name="Connector 79"/>
          <p:cNvCxnSpPr/>
          <p:nvPr/>
        </p:nvCxnSpPr>
        <p:spPr>
          <a:xfrm>
            <a:off x="6536055" y="1673352"/>
            <a:ext cx="0" cy="2944368"/>
          </a:xfrm>
          <a:prstGeom prst="line">
            <a:avLst/>
          </a:prstGeom>
          <a:ln w="6350">
            <a:solidFill>
              <a:srgbClr val="C9DCEA"/>
            </a:solidFill>
          </a:ln>
        </p:spPr>
      </p:cxnSp>
      <p:cxnSp>
        <p:nvCxnSpPr>
          <p:cNvPr id="81" name="Connector 80"/>
          <p:cNvCxnSpPr/>
          <p:nvPr/>
        </p:nvCxnSpPr>
        <p:spPr>
          <a:xfrm>
            <a:off x="6842760" y="1673352"/>
            <a:ext cx="0" cy="2944368"/>
          </a:xfrm>
          <a:prstGeom prst="line">
            <a:avLst/>
          </a:prstGeom>
          <a:ln w="6350">
            <a:solidFill>
              <a:srgbClr val="C9DCEA"/>
            </a:solidFill>
          </a:ln>
        </p:spPr>
      </p:cxnSp>
      <p:cxnSp>
        <p:nvCxnSpPr>
          <p:cNvPr id="82" name="Connector 81"/>
          <p:cNvCxnSpPr/>
          <p:nvPr/>
        </p:nvCxnSpPr>
        <p:spPr>
          <a:xfrm>
            <a:off x="7149465" y="1673352"/>
            <a:ext cx="0" cy="2944368"/>
          </a:xfrm>
          <a:prstGeom prst="line">
            <a:avLst/>
          </a:prstGeom>
          <a:ln w="6350">
            <a:solidFill>
              <a:srgbClr val="C9DCEA"/>
            </a:solidFill>
          </a:ln>
        </p:spPr>
      </p:cxnSp>
      <p:cxnSp>
        <p:nvCxnSpPr>
          <p:cNvPr id="83" name="Connector 82"/>
          <p:cNvCxnSpPr/>
          <p:nvPr/>
        </p:nvCxnSpPr>
        <p:spPr>
          <a:xfrm>
            <a:off x="7456170" y="1673352"/>
            <a:ext cx="0" cy="2944368"/>
          </a:xfrm>
          <a:prstGeom prst="line">
            <a:avLst/>
          </a:prstGeom>
          <a:ln w="6350">
            <a:solidFill>
              <a:srgbClr val="C9DCEA"/>
            </a:solidFill>
          </a:ln>
        </p:spPr>
      </p:cxnSp>
      <p:cxnSp>
        <p:nvCxnSpPr>
          <p:cNvPr id="84" name="Connector 83"/>
          <p:cNvCxnSpPr/>
          <p:nvPr/>
        </p:nvCxnSpPr>
        <p:spPr>
          <a:xfrm>
            <a:off x="7762875" y="1673352"/>
            <a:ext cx="0" cy="2944368"/>
          </a:xfrm>
          <a:prstGeom prst="line">
            <a:avLst/>
          </a:prstGeom>
          <a:ln w="6350">
            <a:solidFill>
              <a:srgbClr val="C9DCEA"/>
            </a:solidFill>
          </a:ln>
        </p:spPr>
      </p:cxnSp>
      <p:cxnSp>
        <p:nvCxnSpPr>
          <p:cNvPr id="85" name="Connector 84"/>
          <p:cNvCxnSpPr/>
          <p:nvPr/>
        </p:nvCxnSpPr>
        <p:spPr>
          <a:xfrm>
            <a:off x="8069579" y="1673352"/>
            <a:ext cx="0" cy="2944368"/>
          </a:xfrm>
          <a:prstGeom prst="line">
            <a:avLst/>
          </a:prstGeom>
          <a:ln w="6350">
            <a:solidFill>
              <a:srgbClr val="C9DCEA"/>
            </a:solidFill>
          </a:ln>
        </p:spPr>
      </p:cxnSp>
      <p:cxnSp>
        <p:nvCxnSpPr>
          <p:cNvPr id="86" name="Connector 85"/>
          <p:cNvCxnSpPr/>
          <p:nvPr/>
        </p:nvCxnSpPr>
        <p:spPr>
          <a:xfrm>
            <a:off x="8376285" y="1673352"/>
            <a:ext cx="0" cy="2944368"/>
          </a:xfrm>
          <a:prstGeom prst="line">
            <a:avLst/>
          </a:prstGeom>
          <a:ln w="6350">
            <a:solidFill>
              <a:srgbClr val="C9DCEA"/>
            </a:solidFill>
          </a:ln>
        </p:spPr>
      </p:cxnSp>
      <p:cxnSp>
        <p:nvCxnSpPr>
          <p:cNvPr id="87" name="Connector 86"/>
          <p:cNvCxnSpPr/>
          <p:nvPr/>
        </p:nvCxnSpPr>
        <p:spPr>
          <a:xfrm>
            <a:off x="8682990" y="1673352"/>
            <a:ext cx="0" cy="2944368"/>
          </a:xfrm>
          <a:prstGeom prst="line">
            <a:avLst/>
          </a:prstGeom>
          <a:ln w="6350">
            <a:solidFill>
              <a:srgbClr val="C9DCEA"/>
            </a:solidFill>
          </a:ln>
        </p:spPr>
      </p:cxnSp>
      <p:cxnSp>
        <p:nvCxnSpPr>
          <p:cNvPr id="88" name="Connector 87"/>
          <p:cNvCxnSpPr/>
          <p:nvPr/>
        </p:nvCxnSpPr>
        <p:spPr>
          <a:xfrm>
            <a:off x="8989695" y="1673352"/>
            <a:ext cx="0" cy="2944368"/>
          </a:xfrm>
          <a:prstGeom prst="line">
            <a:avLst/>
          </a:prstGeom>
          <a:ln w="6350">
            <a:solidFill>
              <a:srgbClr val="C9DCEA"/>
            </a:solidFill>
          </a:ln>
        </p:spPr>
      </p:cxnSp>
      <p:cxnSp>
        <p:nvCxnSpPr>
          <p:cNvPr id="89" name="Connector 88"/>
          <p:cNvCxnSpPr/>
          <p:nvPr/>
        </p:nvCxnSpPr>
        <p:spPr>
          <a:xfrm>
            <a:off x="9296400" y="1673352"/>
            <a:ext cx="0" cy="2944368"/>
          </a:xfrm>
          <a:prstGeom prst="line">
            <a:avLst/>
          </a:prstGeom>
          <a:ln w="6350">
            <a:solidFill>
              <a:srgbClr val="C9DCEA"/>
            </a:solidFill>
          </a:ln>
        </p:spPr>
      </p:cxnSp>
      <p:cxnSp>
        <p:nvCxnSpPr>
          <p:cNvPr id="90" name="Connector 89"/>
          <p:cNvCxnSpPr/>
          <p:nvPr/>
        </p:nvCxnSpPr>
        <p:spPr>
          <a:xfrm>
            <a:off x="9603105" y="1673352"/>
            <a:ext cx="0" cy="2944368"/>
          </a:xfrm>
          <a:prstGeom prst="line">
            <a:avLst/>
          </a:prstGeom>
          <a:ln w="6350">
            <a:solidFill>
              <a:srgbClr val="C9DCEA"/>
            </a:solidFill>
          </a:ln>
        </p:spPr>
      </p:cxnSp>
      <p:cxnSp>
        <p:nvCxnSpPr>
          <p:cNvPr id="91" name="Connector 90"/>
          <p:cNvCxnSpPr/>
          <p:nvPr/>
        </p:nvCxnSpPr>
        <p:spPr>
          <a:xfrm>
            <a:off x="9909810" y="1673352"/>
            <a:ext cx="0" cy="2944368"/>
          </a:xfrm>
          <a:prstGeom prst="line">
            <a:avLst/>
          </a:prstGeom>
          <a:ln w="6350">
            <a:solidFill>
              <a:srgbClr val="C9DCEA"/>
            </a:solidFill>
          </a:ln>
        </p:spPr>
      </p:cxnSp>
      <p:cxnSp>
        <p:nvCxnSpPr>
          <p:cNvPr id="92" name="Connector 91"/>
          <p:cNvCxnSpPr/>
          <p:nvPr/>
        </p:nvCxnSpPr>
        <p:spPr>
          <a:xfrm>
            <a:off x="10216515" y="1673352"/>
            <a:ext cx="0" cy="2944368"/>
          </a:xfrm>
          <a:prstGeom prst="line">
            <a:avLst/>
          </a:prstGeom>
          <a:ln w="6350">
            <a:solidFill>
              <a:srgbClr val="C9DCEA"/>
            </a:solidFill>
          </a:ln>
        </p:spPr>
      </p:cxnSp>
      <p:cxnSp>
        <p:nvCxnSpPr>
          <p:cNvPr id="93" name="Connector 92"/>
          <p:cNvCxnSpPr/>
          <p:nvPr/>
        </p:nvCxnSpPr>
        <p:spPr>
          <a:xfrm>
            <a:off x="10523220" y="1673352"/>
            <a:ext cx="0" cy="2944368"/>
          </a:xfrm>
          <a:prstGeom prst="line">
            <a:avLst/>
          </a:prstGeom>
          <a:ln w="6350">
            <a:solidFill>
              <a:srgbClr val="C9DCEA"/>
            </a:solidFill>
          </a:ln>
        </p:spPr>
      </p:cxnSp>
      <p:cxnSp>
        <p:nvCxnSpPr>
          <p:cNvPr id="94" name="Connector 93"/>
          <p:cNvCxnSpPr/>
          <p:nvPr/>
        </p:nvCxnSpPr>
        <p:spPr>
          <a:xfrm>
            <a:off x="10829925" y="1673352"/>
            <a:ext cx="0" cy="2944368"/>
          </a:xfrm>
          <a:prstGeom prst="line">
            <a:avLst/>
          </a:prstGeom>
          <a:ln w="6350">
            <a:solidFill>
              <a:srgbClr val="C9DCEA"/>
            </a:solidFill>
          </a:ln>
        </p:spPr>
      </p:cxnSp>
      <p:cxnSp>
        <p:nvCxnSpPr>
          <p:cNvPr id="95" name="Connector 94"/>
          <p:cNvCxnSpPr/>
          <p:nvPr/>
        </p:nvCxnSpPr>
        <p:spPr>
          <a:xfrm>
            <a:off x="11136630" y="1673352"/>
            <a:ext cx="0" cy="2944368"/>
          </a:xfrm>
          <a:prstGeom prst="line">
            <a:avLst/>
          </a:prstGeom>
          <a:ln w="6350">
            <a:solidFill>
              <a:srgbClr val="C9DCEA"/>
            </a:solidFill>
          </a:ln>
        </p:spPr>
      </p:cxnSp>
      <p:cxnSp>
        <p:nvCxnSpPr>
          <p:cNvPr id="96" name="Connector 95"/>
          <p:cNvCxnSpPr/>
          <p:nvPr/>
        </p:nvCxnSpPr>
        <p:spPr>
          <a:xfrm>
            <a:off x="11443335" y="1673352"/>
            <a:ext cx="0" cy="2944368"/>
          </a:xfrm>
          <a:prstGeom prst="line">
            <a:avLst/>
          </a:prstGeom>
          <a:ln w="6350">
            <a:solidFill>
              <a:srgbClr val="C9DCEA"/>
            </a:solidFill>
          </a:ln>
        </p:spPr>
      </p:cxnSp>
      <p:cxnSp>
        <p:nvCxnSpPr>
          <p:cNvPr id="97" name="Connector 96"/>
          <p:cNvCxnSpPr/>
          <p:nvPr/>
        </p:nvCxnSpPr>
        <p:spPr>
          <a:xfrm>
            <a:off x="11750040" y="1673352"/>
            <a:ext cx="0" cy="2944368"/>
          </a:xfrm>
          <a:prstGeom prst="line">
            <a:avLst/>
          </a:prstGeom>
          <a:ln w="6350">
            <a:solidFill>
              <a:srgbClr val="C9DCEA"/>
            </a:solidFill>
          </a:ln>
        </p:spPr>
      </p:cxnSp>
      <p:sp>
        <p:nvSpPr>
          <p:cNvPr id="98" name="Diamond 97"/>
          <p:cNvSpPr/>
          <p:nvPr/>
        </p:nvSpPr>
        <p:spPr>
          <a:xfrm>
            <a:off x="457200" y="4754880"/>
            <a:ext cx="201168" cy="201168"/>
          </a:xfrm>
          <a:prstGeom prst="diamond">
            <a:avLst/>
          </a:prstGeom>
          <a:solidFill>
            <a:srgbClr val="FFFFFF"/>
          </a:solidFill>
          <a:ln w="25400">
            <a:solidFill>
              <a:srgbClr val="ED7D31"/>
            </a:solidFill>
          </a:ln>
        </p:spPr>
        <p:txBody>
          <a:bodyPr rtlCol="0" anchor="ctr"/>
          <a:lstStyle/>
          <a:p>
            <a:pPr algn="ctr"/>
          </a:p>
        </p:txBody>
      </p:sp>
      <p:sp>
        <p:nvSpPr>
          <p:cNvPr id="99" name="TextBox 98"/>
          <p:cNvSpPr txBox="1"/>
          <p:nvPr/>
        </p:nvSpPr>
        <p:spPr>
          <a:xfrm>
            <a:off x="731520" y="4709160"/>
            <a:ext cx="10972800" cy="310896"/>
          </a:xfrm>
          <a:prstGeom prst="rect">
            <a:avLst/>
          </a:prstGeom>
          <a:noFill/>
        </p:spPr>
        <p:txBody>
          <a:bodyPr wrap="square" lIns="45720" rIns="45720" tIns="27432" bIns="27432" anchor="t">
            <a:spAutoFit/>
          </a:bodyPr>
          <a:lstStyle/>
          <a:p>
            <a:pPr algn="l"/>
            <a:r>
              <a:rPr sz="1300" b="0" i="0">
                <a:solidFill>
                  <a:srgbClr val="5C6770"/>
                </a:solidFill>
                <a:latin typeface="Calibri"/>
              </a:rPr>
              <a:t>Milestones:  M3 hardware  ·  M7 architecture  ·  M11 tracking  ·  M16 integrated  ·  M19 lab  ·  M22 field  ·  M24 report</a:t>
            </a:r>
          </a:p>
        </p:txBody>
      </p:sp>
      <p:sp>
        <p:nvSpPr>
          <p:cNvPr id="100" name="TextBox 99"/>
          <p:cNvSpPr txBox="1"/>
          <p:nvPr/>
        </p:nvSpPr>
        <p:spPr>
          <a:xfrm>
            <a:off x="457200" y="5111496"/>
            <a:ext cx="3657600" cy="347472"/>
          </a:xfrm>
          <a:prstGeom prst="rect">
            <a:avLst/>
          </a:prstGeom>
          <a:noFill/>
        </p:spPr>
        <p:txBody>
          <a:bodyPr wrap="square" lIns="45720" rIns="45720" tIns="27432" bIns="27432" anchor="t">
            <a:spAutoFit/>
          </a:bodyPr>
          <a:lstStyle/>
          <a:p>
            <a:pPr algn="l"/>
            <a:r>
              <a:rPr sz="1700" b="1" i="0">
                <a:solidFill>
                  <a:srgbClr val="1B3A4B"/>
                </a:solidFill>
                <a:latin typeface="Calibri"/>
              </a:rPr>
              <a:t>Risk management</a:t>
            </a:r>
          </a:p>
        </p:txBody>
      </p:sp>
      <p:sp>
        <p:nvSpPr>
          <p:cNvPr id="101" name="Rounded Rectangle 100"/>
          <p:cNvSpPr/>
          <p:nvPr/>
        </p:nvSpPr>
        <p:spPr>
          <a:xfrm>
            <a:off x="45720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2" name="TextBox 101"/>
          <p:cNvSpPr txBox="1"/>
          <p:nvPr/>
        </p:nvSpPr>
        <p:spPr>
          <a:xfrm>
            <a:off x="56692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Technical</a:t>
            </a:r>
          </a:p>
        </p:txBody>
      </p:sp>
      <p:sp>
        <p:nvSpPr>
          <p:cNvPr id="103" name="TextBox 102"/>
          <p:cNvSpPr txBox="1"/>
          <p:nvPr/>
        </p:nvSpPr>
        <p:spPr>
          <a:xfrm>
            <a:off x="178308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LoRa alerts, Zigbee / Wi-Fi fallback, modular hardware</a:t>
            </a:r>
          </a:p>
        </p:txBody>
      </p:sp>
      <p:sp>
        <p:nvSpPr>
          <p:cNvPr id="104" name="Rounded Rectangle 103"/>
          <p:cNvSpPr/>
          <p:nvPr/>
        </p:nvSpPr>
        <p:spPr>
          <a:xfrm>
            <a:off x="425196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5" name="TextBox 104"/>
          <p:cNvSpPr txBox="1"/>
          <p:nvPr/>
        </p:nvSpPr>
        <p:spPr>
          <a:xfrm>
            <a:off x="436168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Operational</a:t>
            </a:r>
          </a:p>
        </p:txBody>
      </p:sp>
      <p:sp>
        <p:nvSpPr>
          <p:cNvPr id="106" name="TextBox 105"/>
          <p:cNvSpPr txBox="1"/>
          <p:nvPr/>
        </p:nvSpPr>
        <p:spPr>
          <a:xfrm>
            <a:off x="557784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Phased build with test checkpoints</a:t>
            </a:r>
          </a:p>
        </p:txBody>
      </p:sp>
      <p:sp>
        <p:nvSpPr>
          <p:cNvPr id="107" name="Rounded Rectangle 106"/>
          <p:cNvSpPr/>
          <p:nvPr/>
        </p:nvSpPr>
        <p:spPr>
          <a:xfrm>
            <a:off x="8046720" y="5504688"/>
            <a:ext cx="3703320" cy="658368"/>
          </a:xfrm>
          <a:prstGeom prst="roundRect">
            <a:avLst>
              <a:gd name="adj" fmla="val 8000"/>
            </a:avLst>
          </a:prstGeom>
          <a:solidFill>
            <a:srgbClr val="FFFFFF"/>
          </a:solidFill>
          <a:ln w="9525">
            <a:solidFill>
              <a:srgbClr val="A9BFD0"/>
            </a:solidFill>
          </a:ln>
        </p:spPr>
        <p:txBody>
          <a:bodyPr rtlCol="0" anchor="ctr"/>
          <a:lstStyle/>
          <a:p>
            <a:pPr algn="ctr"/>
          </a:p>
        </p:txBody>
      </p:sp>
      <p:sp>
        <p:nvSpPr>
          <p:cNvPr id="108" name="TextBox 107"/>
          <p:cNvSpPr txBox="1"/>
          <p:nvPr/>
        </p:nvSpPr>
        <p:spPr>
          <a:xfrm>
            <a:off x="815644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Financial</a:t>
            </a:r>
          </a:p>
        </p:txBody>
      </p:sp>
      <p:sp>
        <p:nvSpPr>
          <p:cNvPr id="109" name="TextBox 108"/>
          <p:cNvSpPr txBox="1"/>
          <p:nvPr/>
        </p:nvSpPr>
        <p:spPr>
          <a:xfrm>
            <a:off x="937260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Conservative budget margins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05</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EXPECTED OUTCOMES AND TECHNOLOGY READINESS LEVEL</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Outcomes and readiness</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Outcomes and TRL</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11  /  16</a:t>
            </a:r>
          </a:p>
        </p:txBody>
      </p:sp>
      <p:sp>
        <p:nvSpPr>
          <p:cNvPr id="13" name="TextBox 12"/>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4" name="Rectangle 13"/>
          <p:cNvSpPr/>
          <p:nvPr/>
        </p:nvSpPr>
        <p:spPr>
          <a:xfrm>
            <a:off x="457200"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1</a:t>
            </a:r>
          </a:p>
        </p:txBody>
      </p:sp>
      <p:sp>
        <p:nvSpPr>
          <p:cNvPr id="15" name="Rectangle 14"/>
          <p:cNvSpPr/>
          <p:nvPr/>
        </p:nvSpPr>
        <p:spPr>
          <a:xfrm>
            <a:off x="1700784" y="1481328"/>
            <a:ext cx="1188720" cy="548640"/>
          </a:xfrm>
          <a:prstGeom prst="rect">
            <a:avLst/>
          </a:prstGeom>
          <a:solidFill>
            <a:srgbClr val="ED7D31"/>
          </a:solidFill>
          <a:ln>
            <a:noFill/>
          </a:ln>
        </p:spPr>
        <p:txBody>
          <a:bodyPr rtlCol="0" anchor="ctr" lIns="36576" rIns="36576" tIns="0" bIns="0" wrap="square"/>
          <a:lstStyle/>
          <a:p>
            <a:pPr algn="ctr"/>
            <a:r>
              <a:rPr sz="1500" b="1">
                <a:solidFill>
                  <a:srgbClr val="FFFFFF"/>
                </a:solidFill>
                <a:latin typeface="Calibri"/>
              </a:rPr>
              <a:t>TRL 2</a:t>
            </a:r>
          </a:p>
        </p:txBody>
      </p:sp>
      <p:sp>
        <p:nvSpPr>
          <p:cNvPr id="16" name="Rectangle 15"/>
          <p:cNvSpPr/>
          <p:nvPr/>
        </p:nvSpPr>
        <p:spPr>
          <a:xfrm>
            <a:off x="2944368"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3</a:t>
            </a:r>
          </a:p>
        </p:txBody>
      </p:sp>
      <p:sp>
        <p:nvSpPr>
          <p:cNvPr id="17" name="Rectangle 16"/>
          <p:cNvSpPr/>
          <p:nvPr/>
        </p:nvSpPr>
        <p:spPr>
          <a:xfrm>
            <a:off x="4187952"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4</a:t>
            </a:r>
          </a:p>
        </p:txBody>
      </p:sp>
      <p:sp>
        <p:nvSpPr>
          <p:cNvPr id="18" name="Rectangle 17"/>
          <p:cNvSpPr/>
          <p:nvPr/>
        </p:nvSpPr>
        <p:spPr>
          <a:xfrm>
            <a:off x="5431536" y="1481328"/>
            <a:ext cx="1188720" cy="548640"/>
          </a:xfrm>
          <a:prstGeom prst="rect">
            <a:avLst/>
          </a:prstGeom>
          <a:solidFill>
            <a:srgbClr val="0071C1"/>
          </a:solidFill>
          <a:ln>
            <a:noFill/>
          </a:ln>
        </p:spPr>
        <p:txBody>
          <a:bodyPr rtlCol="0" anchor="ctr" lIns="36576" rIns="36576" tIns="0" bIns="0" wrap="square"/>
          <a:lstStyle/>
          <a:p>
            <a:pPr algn="ctr"/>
            <a:r>
              <a:rPr sz="1500" b="1">
                <a:solidFill>
                  <a:srgbClr val="FFFFFF"/>
                </a:solidFill>
                <a:latin typeface="Calibri"/>
              </a:rPr>
              <a:t>TRL 5</a:t>
            </a:r>
          </a:p>
        </p:txBody>
      </p:sp>
      <p:sp>
        <p:nvSpPr>
          <p:cNvPr id="19" name="Rectangle 18"/>
          <p:cNvSpPr/>
          <p:nvPr/>
        </p:nvSpPr>
        <p:spPr>
          <a:xfrm>
            <a:off x="6675120"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6</a:t>
            </a:r>
          </a:p>
        </p:txBody>
      </p:sp>
      <p:sp>
        <p:nvSpPr>
          <p:cNvPr id="20" name="Rectangle 19"/>
          <p:cNvSpPr/>
          <p:nvPr/>
        </p:nvSpPr>
        <p:spPr>
          <a:xfrm>
            <a:off x="7918704"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7</a:t>
            </a:r>
          </a:p>
        </p:txBody>
      </p:sp>
      <p:sp>
        <p:nvSpPr>
          <p:cNvPr id="21" name="Rectangle 20"/>
          <p:cNvSpPr/>
          <p:nvPr/>
        </p:nvSpPr>
        <p:spPr>
          <a:xfrm>
            <a:off x="9162288"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8</a:t>
            </a:r>
          </a:p>
        </p:txBody>
      </p:sp>
      <p:sp>
        <p:nvSpPr>
          <p:cNvPr id="22" name="Rectangle 21"/>
          <p:cNvSpPr/>
          <p:nvPr/>
        </p:nvSpPr>
        <p:spPr>
          <a:xfrm>
            <a:off x="10405872" y="1481328"/>
            <a:ext cx="1188720" cy="548640"/>
          </a:xfrm>
          <a:prstGeom prst="rect">
            <a:avLst/>
          </a:prstGeom>
          <a:solidFill>
            <a:srgbClr val="FFFFFF"/>
          </a:solidFill>
          <a:ln>
            <a:noFill/>
          </a:ln>
        </p:spPr>
        <p:txBody>
          <a:bodyPr rtlCol="0" anchor="ctr" lIns="36576" rIns="36576" tIns="0" bIns="0" wrap="square"/>
          <a:lstStyle/>
          <a:p>
            <a:pPr algn="ctr"/>
            <a:r>
              <a:rPr sz="1500" b="1">
                <a:solidFill>
                  <a:srgbClr val="5C6770"/>
                </a:solidFill>
                <a:latin typeface="Calibri"/>
              </a:rPr>
              <a:t>TRL 9</a:t>
            </a:r>
          </a:p>
        </p:txBody>
      </p:sp>
      <p:sp>
        <p:nvSpPr>
          <p:cNvPr id="23" name="TextBox 22"/>
          <p:cNvSpPr txBox="1"/>
          <p:nvPr/>
        </p:nvSpPr>
        <p:spPr>
          <a:xfrm>
            <a:off x="1289304" y="2075688"/>
            <a:ext cx="2011680" cy="594360"/>
          </a:xfrm>
          <a:prstGeom prst="rect">
            <a:avLst/>
          </a:prstGeom>
          <a:noFill/>
        </p:spPr>
        <p:txBody>
          <a:bodyPr wrap="square" lIns="45720" rIns="45720" tIns="27432" bIns="27432" anchor="t">
            <a:spAutoFit/>
          </a:bodyPr>
          <a:lstStyle/>
          <a:p>
            <a:pPr algn="ctr"/>
            <a:r>
              <a:rPr sz="1600" b="1" i="0">
                <a:solidFill>
                  <a:srgbClr val="ED7D31"/>
                </a:solidFill>
                <a:latin typeface="Calibri"/>
              </a:rPr>
              <a:t>Today</a:t>
            </a:r>
          </a:p>
          <a:p>
            <a:pPr algn="ctr"/>
            <a:r>
              <a:rPr sz="1300" b="0" i="0">
                <a:solidFill>
                  <a:srgbClr val="5C6770"/>
                </a:solidFill>
                <a:latin typeface="Calibri"/>
              </a:rPr>
              <a:t>integrated system</a:t>
            </a:r>
          </a:p>
        </p:txBody>
      </p:sp>
      <p:sp>
        <p:nvSpPr>
          <p:cNvPr id="24" name="TextBox 23"/>
          <p:cNvSpPr txBox="1"/>
          <p:nvPr/>
        </p:nvSpPr>
        <p:spPr>
          <a:xfrm>
            <a:off x="5020056" y="2075688"/>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5" name="TextBox 24"/>
          <p:cNvSpPr txBox="1"/>
          <p:nvPr/>
        </p:nvSpPr>
        <p:spPr>
          <a:xfrm>
            <a:off x="7324344" y="2075688"/>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6" name="TextBox 25"/>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7" name="Rounded Rectangle 26"/>
          <p:cNvSpPr/>
          <p:nvPr/>
        </p:nvSpPr>
        <p:spPr>
          <a:xfrm>
            <a:off x="457200" y="3566160"/>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8" name="Oval 27"/>
          <p:cNvSpPr/>
          <p:nvPr/>
        </p:nvSpPr>
        <p:spPr>
          <a:xfrm>
            <a:off x="594360" y="375818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29" name="TextBox 28"/>
          <p:cNvSpPr txBox="1"/>
          <p:nvPr/>
        </p:nvSpPr>
        <p:spPr>
          <a:xfrm>
            <a:off x="1097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Hybrid FSO–LoRa prototype: transmitter, relays, surface base station</a:t>
            </a:r>
          </a:p>
        </p:txBody>
      </p:sp>
      <p:sp>
        <p:nvSpPr>
          <p:cNvPr id="30" name="Rounded Rectangle 29"/>
          <p:cNvSpPr/>
          <p:nvPr/>
        </p:nvSpPr>
        <p:spPr>
          <a:xfrm>
            <a:off x="6172200" y="3566160"/>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1" name="Oval 30"/>
          <p:cNvSpPr/>
          <p:nvPr/>
        </p:nvSpPr>
        <p:spPr>
          <a:xfrm>
            <a:off x="6309360" y="375818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32" name="TextBox 31"/>
          <p:cNvSpPr txBox="1"/>
          <p:nvPr/>
        </p:nvSpPr>
        <p:spPr>
          <a:xfrm>
            <a:off x="6812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Real-time video over more than one optical hop</a:t>
            </a:r>
          </a:p>
        </p:txBody>
      </p:sp>
      <p:sp>
        <p:nvSpPr>
          <p:cNvPr id="33" name="Rounded Rectangle 32"/>
          <p:cNvSpPr/>
          <p:nvPr/>
        </p:nvSpPr>
        <p:spPr>
          <a:xfrm>
            <a:off x="457200" y="4462272"/>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4" name="Oval 33"/>
          <p:cNvSpPr/>
          <p:nvPr/>
        </p:nvSpPr>
        <p:spPr>
          <a:xfrm>
            <a:off x="594360" y="465429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35" name="TextBox 34"/>
          <p:cNvSpPr txBox="1"/>
          <p:nvPr/>
        </p:nvSpPr>
        <p:spPr>
          <a:xfrm>
            <a:off x="1097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Auto-tracking recovering from deliberate misalignment</a:t>
            </a:r>
          </a:p>
        </p:txBody>
      </p:sp>
      <p:sp>
        <p:nvSpPr>
          <p:cNvPr id="36" name="Rounded Rectangle 35"/>
          <p:cNvSpPr/>
          <p:nvPr/>
        </p:nvSpPr>
        <p:spPr>
          <a:xfrm>
            <a:off x="6172200" y="4462272"/>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Oval 36"/>
          <p:cNvSpPr/>
          <p:nvPr/>
        </p:nvSpPr>
        <p:spPr>
          <a:xfrm>
            <a:off x="6309360" y="465429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4</a:t>
            </a:r>
          </a:p>
        </p:txBody>
      </p:sp>
      <p:sp>
        <p:nvSpPr>
          <p:cNvPr id="38" name="TextBox 37"/>
          <p:cNvSpPr txBox="1"/>
          <p:nvPr/>
        </p:nvSpPr>
        <p:spPr>
          <a:xfrm>
            <a:off x="6812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LoRa alert delivered when a hop is interrupted</a:t>
            </a:r>
          </a:p>
        </p:txBody>
      </p:sp>
      <p:sp>
        <p:nvSpPr>
          <p:cNvPr id="39" name="Rounded Rectangle 38"/>
          <p:cNvSpPr/>
          <p:nvPr/>
        </p:nvSpPr>
        <p:spPr>
          <a:xfrm>
            <a:off x="457200" y="5358383"/>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0" name="Oval 39"/>
          <p:cNvSpPr/>
          <p:nvPr/>
        </p:nvSpPr>
        <p:spPr>
          <a:xfrm>
            <a:off x="594360" y="5550407"/>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5</a:t>
            </a:r>
          </a:p>
        </p:txBody>
      </p:sp>
      <p:sp>
        <p:nvSpPr>
          <p:cNvPr id="41" name="TextBox 40"/>
          <p:cNvSpPr txBox="1"/>
          <p:nvPr/>
        </p:nvSpPr>
        <p:spPr>
          <a:xfrm>
            <a:off x="1097280" y="5394959"/>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Automatic switch to Zigbee / Wi-Fi when dust is above the threshold</a:t>
            </a:r>
          </a:p>
        </p:txBody>
      </p:sp>
      <p:sp>
        <p:nvSpPr>
          <p:cNvPr id="42" name="Rounded Rectangle 41"/>
          <p:cNvSpPr/>
          <p:nvPr/>
        </p:nvSpPr>
        <p:spPr>
          <a:xfrm>
            <a:off x="6172200" y="5358383"/>
            <a:ext cx="557784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43" name="Oval 42"/>
          <p:cNvSpPr/>
          <p:nvPr/>
        </p:nvSpPr>
        <p:spPr>
          <a:xfrm>
            <a:off x="6309360" y="5550407"/>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6</a:t>
            </a:r>
          </a:p>
        </p:txBody>
      </p:sp>
      <p:sp>
        <p:nvSpPr>
          <p:cNvPr id="44" name="TextBox 43"/>
          <p:cNvSpPr txBox="1"/>
          <p:nvPr/>
        </p:nvSpPr>
        <p:spPr>
          <a:xfrm>
            <a:off x="6812280" y="5394959"/>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Validation report, deployment guidelines, commercialization plan, patent filing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06</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INDUSTRY READINESS AND COLLABORATION</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Industry engagement</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Industry</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12  /  16</a:t>
            </a:r>
          </a:p>
        </p:txBody>
      </p:sp>
      <p:sp>
        <p:nvSpPr>
          <p:cNvPr id="13" name="Rounded Rectangle 12"/>
          <p:cNvSpPr/>
          <p:nvPr/>
        </p:nvSpPr>
        <p:spPr>
          <a:xfrm>
            <a:off x="1234440" y="1051560"/>
            <a:ext cx="10515600" cy="6400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1417320" y="1069848"/>
            <a:ext cx="10149840" cy="603504"/>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yet. We plan to get one after a supervised trial with an operator or manufacturer.</a:t>
            </a:r>
          </a:p>
        </p:txBody>
      </p:sp>
      <p:sp>
        <p:nvSpPr>
          <p:cNvPr id="15" name="Freeform 14"/>
          <p:cNvSpPr/>
          <p:nvPr/>
        </p:nvSpPr>
        <p:spPr>
          <a:xfrm>
            <a:off x="502920" y="2744205"/>
            <a:ext cx="10698480" cy="1369589"/>
          </a:xfrm>
          <a:custGeom>
            <a:avLst/>
            <a:gdLst/>
            <a:ahLst/>
            <a:cxnLst/>
            <a:rect l="l" t="t" r="r" b="b"/>
            <a:pathLst>
              <a:path w="10698480" h="1369589">
                <a:moveTo>
                  <a:pt x="0" y="758943"/>
                </a:moveTo>
                <a:lnTo>
                  <a:pt x="91440" y="832221"/>
                </a:lnTo>
                <a:lnTo>
                  <a:pt x="182880" y="903771"/>
                </a:lnTo>
                <a:lnTo>
                  <a:pt x="274320" y="972754"/>
                </a:lnTo>
                <a:lnTo>
                  <a:pt x="365760" y="1038361"/>
                </a:lnTo>
                <a:lnTo>
                  <a:pt x="457200" y="1099823"/>
                </a:lnTo>
                <a:lnTo>
                  <a:pt x="548640" y="1156419"/>
                </a:lnTo>
                <a:lnTo>
                  <a:pt x="640080" y="1207485"/>
                </a:lnTo>
                <a:lnTo>
                  <a:pt x="731520" y="1252424"/>
                </a:lnTo>
                <a:lnTo>
                  <a:pt x="822960" y="1290707"/>
                </a:lnTo>
                <a:lnTo>
                  <a:pt x="914400" y="1321887"/>
                </a:lnTo>
                <a:lnTo>
                  <a:pt x="1005840" y="1345597"/>
                </a:lnTo>
                <a:lnTo>
                  <a:pt x="1097280" y="1361560"/>
                </a:lnTo>
                <a:lnTo>
                  <a:pt x="1188720" y="1369589"/>
                </a:lnTo>
                <a:lnTo>
                  <a:pt x="1280160" y="1369589"/>
                </a:lnTo>
                <a:lnTo>
                  <a:pt x="1371599" y="1361560"/>
                </a:lnTo>
                <a:lnTo>
                  <a:pt x="1463040" y="1345597"/>
                </a:lnTo>
                <a:lnTo>
                  <a:pt x="1554480" y="1321887"/>
                </a:lnTo>
                <a:lnTo>
                  <a:pt x="1645920" y="1290707"/>
                </a:lnTo>
                <a:lnTo>
                  <a:pt x="1737360" y="1252424"/>
                </a:lnTo>
                <a:lnTo>
                  <a:pt x="1828800" y="1207485"/>
                </a:lnTo>
                <a:lnTo>
                  <a:pt x="1920240" y="1156419"/>
                </a:lnTo>
                <a:lnTo>
                  <a:pt x="2011680" y="1099823"/>
                </a:lnTo>
                <a:lnTo>
                  <a:pt x="2103120" y="1038361"/>
                </a:lnTo>
                <a:lnTo>
                  <a:pt x="2194560" y="972754"/>
                </a:lnTo>
                <a:lnTo>
                  <a:pt x="2286000" y="903771"/>
                </a:lnTo>
                <a:lnTo>
                  <a:pt x="2377440" y="832221"/>
                </a:lnTo>
                <a:lnTo>
                  <a:pt x="2468880" y="758943"/>
                </a:lnTo>
                <a:lnTo>
                  <a:pt x="2560320" y="684794"/>
                </a:lnTo>
                <a:lnTo>
                  <a:pt x="2651760" y="610646"/>
                </a:lnTo>
                <a:lnTo>
                  <a:pt x="2743200" y="537368"/>
                </a:lnTo>
                <a:lnTo>
                  <a:pt x="2834640" y="465818"/>
                </a:lnTo>
                <a:lnTo>
                  <a:pt x="2926080" y="396835"/>
                </a:lnTo>
                <a:lnTo>
                  <a:pt x="3017520" y="331228"/>
                </a:lnTo>
                <a:lnTo>
                  <a:pt x="3108960" y="269766"/>
                </a:lnTo>
                <a:lnTo>
                  <a:pt x="3200400" y="213170"/>
                </a:lnTo>
                <a:lnTo>
                  <a:pt x="3291840" y="162104"/>
                </a:lnTo>
                <a:lnTo>
                  <a:pt x="3383280" y="117165"/>
                </a:lnTo>
                <a:lnTo>
                  <a:pt x="3474720" y="78882"/>
                </a:lnTo>
                <a:lnTo>
                  <a:pt x="3566160" y="47702"/>
                </a:lnTo>
                <a:lnTo>
                  <a:pt x="3657600" y="23992"/>
                </a:lnTo>
                <a:lnTo>
                  <a:pt x="3749040" y="8029"/>
                </a:lnTo>
                <a:lnTo>
                  <a:pt x="3840480" y="0"/>
                </a:lnTo>
                <a:lnTo>
                  <a:pt x="3931920" y="0"/>
                </a:lnTo>
                <a:lnTo>
                  <a:pt x="4023360" y="8029"/>
                </a:lnTo>
                <a:lnTo>
                  <a:pt x="4114800" y="23992"/>
                </a:lnTo>
                <a:lnTo>
                  <a:pt x="4206240" y="47702"/>
                </a:lnTo>
                <a:lnTo>
                  <a:pt x="4297680" y="78882"/>
                </a:lnTo>
                <a:lnTo>
                  <a:pt x="4389120" y="117165"/>
                </a:lnTo>
                <a:lnTo>
                  <a:pt x="4480560" y="162104"/>
                </a:lnTo>
                <a:lnTo>
                  <a:pt x="4572000" y="213170"/>
                </a:lnTo>
                <a:lnTo>
                  <a:pt x="4663440" y="269766"/>
                </a:lnTo>
                <a:lnTo>
                  <a:pt x="4754880" y="331228"/>
                </a:lnTo>
                <a:lnTo>
                  <a:pt x="4846320" y="396835"/>
                </a:lnTo>
                <a:lnTo>
                  <a:pt x="4937760" y="465818"/>
                </a:lnTo>
                <a:lnTo>
                  <a:pt x="5029200" y="537368"/>
                </a:lnTo>
                <a:lnTo>
                  <a:pt x="5120640" y="610646"/>
                </a:lnTo>
                <a:lnTo>
                  <a:pt x="5212080" y="684795"/>
                </a:lnTo>
                <a:lnTo>
                  <a:pt x="5303520" y="758943"/>
                </a:lnTo>
                <a:lnTo>
                  <a:pt x="5394960" y="832221"/>
                </a:lnTo>
                <a:lnTo>
                  <a:pt x="5486400" y="903771"/>
                </a:lnTo>
                <a:lnTo>
                  <a:pt x="5577840" y="972754"/>
                </a:lnTo>
                <a:lnTo>
                  <a:pt x="5669280" y="1038361"/>
                </a:lnTo>
                <a:lnTo>
                  <a:pt x="5760720" y="1099823"/>
                </a:lnTo>
                <a:lnTo>
                  <a:pt x="5852160" y="1156419"/>
                </a:lnTo>
                <a:lnTo>
                  <a:pt x="5943600" y="1207485"/>
                </a:lnTo>
                <a:lnTo>
                  <a:pt x="6035040" y="1252424"/>
                </a:lnTo>
                <a:lnTo>
                  <a:pt x="6126480" y="1290707"/>
                </a:lnTo>
                <a:lnTo>
                  <a:pt x="6217920" y="1321887"/>
                </a:lnTo>
                <a:lnTo>
                  <a:pt x="6309360" y="1345597"/>
                </a:lnTo>
                <a:lnTo>
                  <a:pt x="6400800" y="1361560"/>
                </a:lnTo>
                <a:lnTo>
                  <a:pt x="6492240" y="1369589"/>
                </a:lnTo>
                <a:lnTo>
                  <a:pt x="6583680" y="1369589"/>
                </a:lnTo>
                <a:lnTo>
                  <a:pt x="6675120" y="1361560"/>
                </a:lnTo>
                <a:lnTo>
                  <a:pt x="6766560" y="1345597"/>
                </a:lnTo>
                <a:lnTo>
                  <a:pt x="6858000" y="1321887"/>
                </a:lnTo>
                <a:lnTo>
                  <a:pt x="6949440" y="1290707"/>
                </a:lnTo>
                <a:lnTo>
                  <a:pt x="7040880" y="1252424"/>
                </a:lnTo>
                <a:lnTo>
                  <a:pt x="7132320" y="1207485"/>
                </a:lnTo>
                <a:lnTo>
                  <a:pt x="7223760" y="1156419"/>
                </a:lnTo>
                <a:lnTo>
                  <a:pt x="7315200" y="1099823"/>
                </a:lnTo>
                <a:lnTo>
                  <a:pt x="7406640" y="1038361"/>
                </a:lnTo>
                <a:lnTo>
                  <a:pt x="7498080" y="972754"/>
                </a:lnTo>
                <a:lnTo>
                  <a:pt x="7589520" y="903771"/>
                </a:lnTo>
                <a:lnTo>
                  <a:pt x="7680960" y="832221"/>
                </a:lnTo>
                <a:lnTo>
                  <a:pt x="7772400" y="758943"/>
                </a:lnTo>
                <a:lnTo>
                  <a:pt x="7863840" y="684794"/>
                </a:lnTo>
                <a:lnTo>
                  <a:pt x="7955280" y="610646"/>
                </a:lnTo>
                <a:lnTo>
                  <a:pt x="8046720" y="537368"/>
                </a:lnTo>
                <a:lnTo>
                  <a:pt x="8138160" y="465818"/>
                </a:lnTo>
                <a:lnTo>
                  <a:pt x="8229600" y="396835"/>
                </a:lnTo>
                <a:lnTo>
                  <a:pt x="8321040" y="331228"/>
                </a:lnTo>
                <a:lnTo>
                  <a:pt x="8412480" y="269766"/>
                </a:lnTo>
                <a:lnTo>
                  <a:pt x="8503920" y="213170"/>
                </a:lnTo>
                <a:lnTo>
                  <a:pt x="8595360" y="162104"/>
                </a:lnTo>
                <a:lnTo>
                  <a:pt x="8686800" y="117165"/>
                </a:lnTo>
                <a:lnTo>
                  <a:pt x="8778240" y="78882"/>
                </a:lnTo>
                <a:lnTo>
                  <a:pt x="8869680" y="47702"/>
                </a:lnTo>
                <a:lnTo>
                  <a:pt x="8961120" y="23992"/>
                </a:lnTo>
                <a:lnTo>
                  <a:pt x="9052560" y="8029"/>
                </a:lnTo>
                <a:lnTo>
                  <a:pt x="9144000" y="0"/>
                </a:lnTo>
                <a:lnTo>
                  <a:pt x="9235440" y="0"/>
                </a:lnTo>
                <a:lnTo>
                  <a:pt x="9326880" y="8029"/>
                </a:lnTo>
                <a:lnTo>
                  <a:pt x="9418320" y="23992"/>
                </a:lnTo>
                <a:lnTo>
                  <a:pt x="9509760" y="47702"/>
                </a:lnTo>
                <a:lnTo>
                  <a:pt x="9601200" y="78882"/>
                </a:lnTo>
                <a:lnTo>
                  <a:pt x="9692640" y="117165"/>
                </a:lnTo>
                <a:lnTo>
                  <a:pt x="9784080" y="162104"/>
                </a:lnTo>
                <a:lnTo>
                  <a:pt x="9875520" y="213170"/>
                </a:lnTo>
                <a:lnTo>
                  <a:pt x="9966960" y="269766"/>
                </a:lnTo>
                <a:lnTo>
                  <a:pt x="10058400" y="331228"/>
                </a:lnTo>
                <a:lnTo>
                  <a:pt x="10149840" y="396835"/>
                </a:lnTo>
                <a:lnTo>
                  <a:pt x="10241280" y="465818"/>
                </a:lnTo>
                <a:lnTo>
                  <a:pt x="10332720" y="537368"/>
                </a:lnTo>
                <a:lnTo>
                  <a:pt x="10424160" y="610646"/>
                </a:lnTo>
                <a:lnTo>
                  <a:pt x="10515600" y="684795"/>
                </a:lnTo>
                <a:lnTo>
                  <a:pt x="10607040" y="758943"/>
                </a:lnTo>
                <a:lnTo>
                  <a:pt x="10698480" y="832221"/>
                </a:lnTo>
              </a:path>
            </a:pathLst>
          </a:custGeom>
          <a:noFill/>
          <a:ln w="330200">
            <a:solidFill>
              <a:srgbClr val="3C4A57"/>
            </a:solidFill>
          </a:ln>
        </p:spPr>
        <p:txBody>
          <a:bodyPr rtlCol="0" anchor="ctr"/>
          <a:lstStyle/>
          <a:p>
            <a:pPr algn="ctr"/>
          </a:p>
        </p:txBody>
      </p:sp>
      <p:sp>
        <p:nvSpPr>
          <p:cNvPr id="16" name="Freeform 15"/>
          <p:cNvSpPr/>
          <p:nvPr/>
        </p:nvSpPr>
        <p:spPr>
          <a:xfrm>
            <a:off x="502920" y="2744205"/>
            <a:ext cx="10698480" cy="1369589"/>
          </a:xfrm>
          <a:custGeom>
            <a:avLst/>
            <a:gdLst/>
            <a:ahLst/>
            <a:cxnLst/>
            <a:rect l="l" t="t" r="r" b="b"/>
            <a:pathLst>
              <a:path w="10698480" h="1369589">
                <a:moveTo>
                  <a:pt x="0" y="758943"/>
                </a:moveTo>
                <a:lnTo>
                  <a:pt x="91440" y="832221"/>
                </a:lnTo>
                <a:lnTo>
                  <a:pt x="182880" y="903771"/>
                </a:lnTo>
                <a:lnTo>
                  <a:pt x="274320" y="972754"/>
                </a:lnTo>
                <a:lnTo>
                  <a:pt x="365760" y="1038361"/>
                </a:lnTo>
                <a:lnTo>
                  <a:pt x="457200" y="1099823"/>
                </a:lnTo>
                <a:lnTo>
                  <a:pt x="548640" y="1156419"/>
                </a:lnTo>
                <a:lnTo>
                  <a:pt x="640080" y="1207485"/>
                </a:lnTo>
                <a:lnTo>
                  <a:pt x="731520" y="1252424"/>
                </a:lnTo>
                <a:lnTo>
                  <a:pt x="822960" y="1290707"/>
                </a:lnTo>
                <a:lnTo>
                  <a:pt x="914400" y="1321887"/>
                </a:lnTo>
                <a:lnTo>
                  <a:pt x="1005840" y="1345597"/>
                </a:lnTo>
                <a:lnTo>
                  <a:pt x="1097280" y="1361560"/>
                </a:lnTo>
                <a:lnTo>
                  <a:pt x="1188720" y="1369589"/>
                </a:lnTo>
                <a:lnTo>
                  <a:pt x="1280160" y="1369589"/>
                </a:lnTo>
                <a:lnTo>
                  <a:pt x="1371599" y="1361560"/>
                </a:lnTo>
                <a:lnTo>
                  <a:pt x="1463040" y="1345597"/>
                </a:lnTo>
                <a:lnTo>
                  <a:pt x="1554480" y="1321887"/>
                </a:lnTo>
                <a:lnTo>
                  <a:pt x="1645920" y="1290707"/>
                </a:lnTo>
                <a:lnTo>
                  <a:pt x="1737360" y="1252424"/>
                </a:lnTo>
                <a:lnTo>
                  <a:pt x="1828800" y="1207485"/>
                </a:lnTo>
                <a:lnTo>
                  <a:pt x="1920240" y="1156419"/>
                </a:lnTo>
                <a:lnTo>
                  <a:pt x="2011680" y="1099823"/>
                </a:lnTo>
                <a:lnTo>
                  <a:pt x="2103120" y="1038361"/>
                </a:lnTo>
                <a:lnTo>
                  <a:pt x="2194560" y="972754"/>
                </a:lnTo>
                <a:lnTo>
                  <a:pt x="2286000" y="903771"/>
                </a:lnTo>
                <a:lnTo>
                  <a:pt x="2377440" y="832221"/>
                </a:lnTo>
                <a:lnTo>
                  <a:pt x="2468880" y="758943"/>
                </a:lnTo>
                <a:lnTo>
                  <a:pt x="2560320" y="684794"/>
                </a:lnTo>
                <a:lnTo>
                  <a:pt x="2651760" y="610646"/>
                </a:lnTo>
                <a:lnTo>
                  <a:pt x="2743200" y="537368"/>
                </a:lnTo>
                <a:lnTo>
                  <a:pt x="2834640" y="465818"/>
                </a:lnTo>
                <a:lnTo>
                  <a:pt x="2926080" y="396835"/>
                </a:lnTo>
                <a:lnTo>
                  <a:pt x="3017520" y="331228"/>
                </a:lnTo>
                <a:lnTo>
                  <a:pt x="3108960" y="269766"/>
                </a:lnTo>
                <a:lnTo>
                  <a:pt x="3200400" y="213170"/>
                </a:lnTo>
                <a:lnTo>
                  <a:pt x="3291840" y="162104"/>
                </a:lnTo>
                <a:lnTo>
                  <a:pt x="3383280" y="117165"/>
                </a:lnTo>
                <a:lnTo>
                  <a:pt x="3474720" y="78882"/>
                </a:lnTo>
                <a:lnTo>
                  <a:pt x="3566160" y="47702"/>
                </a:lnTo>
                <a:lnTo>
                  <a:pt x="3657600" y="23992"/>
                </a:lnTo>
                <a:lnTo>
                  <a:pt x="3749040" y="8029"/>
                </a:lnTo>
                <a:lnTo>
                  <a:pt x="3840480" y="0"/>
                </a:lnTo>
                <a:lnTo>
                  <a:pt x="3931920" y="0"/>
                </a:lnTo>
                <a:lnTo>
                  <a:pt x="4023360" y="8029"/>
                </a:lnTo>
                <a:lnTo>
                  <a:pt x="4114800" y="23992"/>
                </a:lnTo>
                <a:lnTo>
                  <a:pt x="4206240" y="47702"/>
                </a:lnTo>
                <a:lnTo>
                  <a:pt x="4297680" y="78882"/>
                </a:lnTo>
                <a:lnTo>
                  <a:pt x="4389120" y="117165"/>
                </a:lnTo>
                <a:lnTo>
                  <a:pt x="4480560" y="162104"/>
                </a:lnTo>
                <a:lnTo>
                  <a:pt x="4572000" y="213170"/>
                </a:lnTo>
                <a:lnTo>
                  <a:pt x="4663440" y="269766"/>
                </a:lnTo>
                <a:lnTo>
                  <a:pt x="4754880" y="331228"/>
                </a:lnTo>
                <a:lnTo>
                  <a:pt x="4846320" y="396835"/>
                </a:lnTo>
                <a:lnTo>
                  <a:pt x="4937760" y="465818"/>
                </a:lnTo>
                <a:lnTo>
                  <a:pt x="5029200" y="537368"/>
                </a:lnTo>
                <a:lnTo>
                  <a:pt x="5120640" y="610646"/>
                </a:lnTo>
                <a:lnTo>
                  <a:pt x="5212080" y="684795"/>
                </a:lnTo>
                <a:lnTo>
                  <a:pt x="5303520" y="758943"/>
                </a:lnTo>
                <a:lnTo>
                  <a:pt x="5394960" y="832221"/>
                </a:lnTo>
                <a:lnTo>
                  <a:pt x="5486400" y="903771"/>
                </a:lnTo>
                <a:lnTo>
                  <a:pt x="5577840" y="972754"/>
                </a:lnTo>
                <a:lnTo>
                  <a:pt x="5669280" y="1038361"/>
                </a:lnTo>
                <a:lnTo>
                  <a:pt x="5760720" y="1099823"/>
                </a:lnTo>
                <a:lnTo>
                  <a:pt x="5852160" y="1156419"/>
                </a:lnTo>
                <a:lnTo>
                  <a:pt x="5943600" y="1207485"/>
                </a:lnTo>
                <a:lnTo>
                  <a:pt x="6035040" y="1252424"/>
                </a:lnTo>
                <a:lnTo>
                  <a:pt x="6126480" y="1290707"/>
                </a:lnTo>
                <a:lnTo>
                  <a:pt x="6217920" y="1321887"/>
                </a:lnTo>
                <a:lnTo>
                  <a:pt x="6309360" y="1345597"/>
                </a:lnTo>
                <a:lnTo>
                  <a:pt x="6400800" y="1361560"/>
                </a:lnTo>
                <a:lnTo>
                  <a:pt x="6492240" y="1369589"/>
                </a:lnTo>
                <a:lnTo>
                  <a:pt x="6583680" y="1369589"/>
                </a:lnTo>
                <a:lnTo>
                  <a:pt x="6675120" y="1361560"/>
                </a:lnTo>
                <a:lnTo>
                  <a:pt x="6766560" y="1345597"/>
                </a:lnTo>
                <a:lnTo>
                  <a:pt x="6858000" y="1321887"/>
                </a:lnTo>
                <a:lnTo>
                  <a:pt x="6949440" y="1290707"/>
                </a:lnTo>
                <a:lnTo>
                  <a:pt x="7040880" y="1252424"/>
                </a:lnTo>
                <a:lnTo>
                  <a:pt x="7132320" y="1207485"/>
                </a:lnTo>
                <a:lnTo>
                  <a:pt x="7223760" y="1156419"/>
                </a:lnTo>
                <a:lnTo>
                  <a:pt x="7315200" y="1099823"/>
                </a:lnTo>
                <a:lnTo>
                  <a:pt x="7406640" y="1038361"/>
                </a:lnTo>
                <a:lnTo>
                  <a:pt x="7498080" y="972754"/>
                </a:lnTo>
                <a:lnTo>
                  <a:pt x="7589520" y="903771"/>
                </a:lnTo>
                <a:lnTo>
                  <a:pt x="7680960" y="832221"/>
                </a:lnTo>
                <a:lnTo>
                  <a:pt x="7772400" y="758943"/>
                </a:lnTo>
                <a:lnTo>
                  <a:pt x="7863840" y="684794"/>
                </a:lnTo>
                <a:lnTo>
                  <a:pt x="7955280" y="610646"/>
                </a:lnTo>
                <a:lnTo>
                  <a:pt x="8046720" y="537368"/>
                </a:lnTo>
                <a:lnTo>
                  <a:pt x="8138160" y="465818"/>
                </a:lnTo>
                <a:lnTo>
                  <a:pt x="8229600" y="396835"/>
                </a:lnTo>
                <a:lnTo>
                  <a:pt x="8321040" y="331228"/>
                </a:lnTo>
                <a:lnTo>
                  <a:pt x="8412480" y="269766"/>
                </a:lnTo>
                <a:lnTo>
                  <a:pt x="8503920" y="213170"/>
                </a:lnTo>
                <a:lnTo>
                  <a:pt x="8595360" y="162104"/>
                </a:lnTo>
                <a:lnTo>
                  <a:pt x="8686800" y="117165"/>
                </a:lnTo>
                <a:lnTo>
                  <a:pt x="8778240" y="78882"/>
                </a:lnTo>
                <a:lnTo>
                  <a:pt x="8869680" y="47702"/>
                </a:lnTo>
                <a:lnTo>
                  <a:pt x="8961120" y="23992"/>
                </a:lnTo>
                <a:lnTo>
                  <a:pt x="9052560" y="8029"/>
                </a:lnTo>
                <a:lnTo>
                  <a:pt x="9144000" y="0"/>
                </a:lnTo>
                <a:lnTo>
                  <a:pt x="9235440" y="0"/>
                </a:lnTo>
                <a:lnTo>
                  <a:pt x="9326880" y="8029"/>
                </a:lnTo>
                <a:lnTo>
                  <a:pt x="9418320" y="23992"/>
                </a:lnTo>
                <a:lnTo>
                  <a:pt x="9509760" y="47702"/>
                </a:lnTo>
                <a:lnTo>
                  <a:pt x="9601200" y="78882"/>
                </a:lnTo>
                <a:lnTo>
                  <a:pt x="9692640" y="117165"/>
                </a:lnTo>
                <a:lnTo>
                  <a:pt x="9784080" y="162104"/>
                </a:lnTo>
                <a:lnTo>
                  <a:pt x="9875520" y="213170"/>
                </a:lnTo>
                <a:lnTo>
                  <a:pt x="9966960" y="269766"/>
                </a:lnTo>
                <a:lnTo>
                  <a:pt x="10058400" y="331228"/>
                </a:lnTo>
                <a:lnTo>
                  <a:pt x="10149840" y="396835"/>
                </a:lnTo>
                <a:lnTo>
                  <a:pt x="10241280" y="465818"/>
                </a:lnTo>
                <a:lnTo>
                  <a:pt x="10332720" y="537368"/>
                </a:lnTo>
                <a:lnTo>
                  <a:pt x="10424160" y="610646"/>
                </a:lnTo>
                <a:lnTo>
                  <a:pt x="10515600" y="684795"/>
                </a:lnTo>
                <a:lnTo>
                  <a:pt x="10607040" y="758943"/>
                </a:lnTo>
                <a:lnTo>
                  <a:pt x="10698480" y="832221"/>
                </a:lnTo>
              </a:path>
            </a:pathLst>
          </a:custGeom>
          <a:noFill/>
          <a:ln w="22225">
            <a:solidFill>
              <a:srgbClr val="BFD3E3"/>
            </a:solidFill>
            <a:prstDash val="dash"/>
          </a:ln>
        </p:spPr>
        <p:txBody>
          <a:bodyPr rtlCol="0" anchor="ctr"/>
          <a:lstStyle/>
          <a:p>
            <a:pPr algn="ctr"/>
          </a:p>
        </p:txBody>
      </p:sp>
      <p:sp>
        <p:nvSpPr>
          <p:cNvPr id="17" name="Freeform 16"/>
          <p:cNvSpPr/>
          <p:nvPr/>
        </p:nvSpPr>
        <p:spPr>
          <a:xfrm>
            <a:off x="11155680" y="3109550"/>
            <a:ext cx="484631" cy="347472"/>
          </a:xfrm>
          <a:custGeom>
            <a:avLst/>
            <a:gdLst/>
            <a:ahLst/>
            <a:cxnLst/>
            <a:rect l="l" t="t" r="r" b="b"/>
            <a:pathLst>
              <a:path w="484631" h="347472">
                <a:moveTo>
                  <a:pt x="0" y="274320"/>
                </a:moveTo>
                <a:lnTo>
                  <a:pt x="484631" y="0"/>
                </a:lnTo>
                <a:lnTo>
                  <a:pt x="210312" y="347472"/>
                </a:lnTo>
                <a:close/>
              </a:path>
            </a:pathLst>
          </a:custGeom>
          <a:solidFill>
            <a:srgbClr val="FFFFFF"/>
          </a:solidFill>
          <a:ln w="19050">
            <a:solidFill>
              <a:srgbClr val="1B3A4B"/>
            </a:solidFill>
          </a:ln>
        </p:spPr>
        <p:txBody>
          <a:bodyPr rtlCol="0" anchor="ctr"/>
          <a:lstStyle/>
          <a:p>
            <a:pPr algn="ctr"/>
          </a:p>
        </p:txBody>
      </p:sp>
      <p:sp>
        <p:nvSpPr>
          <p:cNvPr id="18" name="Oval 17"/>
          <p:cNvSpPr/>
          <p:nvPr/>
        </p:nvSpPr>
        <p:spPr>
          <a:xfrm>
            <a:off x="1435607" y="38130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1</a:t>
            </a:r>
          </a:p>
        </p:txBody>
      </p:sp>
      <p:sp>
        <p:nvSpPr>
          <p:cNvPr id="19" name="TextBox 18"/>
          <p:cNvSpPr txBox="1"/>
          <p:nvPr/>
        </p:nvSpPr>
        <p:spPr>
          <a:xfrm>
            <a:off x="640080" y="1764792"/>
            <a:ext cx="2194560" cy="1508760"/>
          </a:xfrm>
          <a:prstGeom prst="rect">
            <a:avLst/>
          </a:prstGeom>
          <a:noFill/>
        </p:spPr>
        <p:txBody>
          <a:bodyPr wrap="square" lIns="45720" rIns="45720" tIns="27432" bIns="27432" anchor="b">
            <a:spAutoFit/>
          </a:bodyPr>
          <a:lstStyle/>
          <a:p>
            <a:pPr algn="l"/>
            <a:r>
              <a:rPr sz="1400" b="1" i="0">
                <a:solidFill>
                  <a:srgbClr val="C55A11"/>
                </a:solidFill>
                <a:latin typeface="Calibri"/>
              </a:rPr>
              <a:t>Months 1–6</a:t>
            </a:r>
          </a:p>
          <a:p>
            <a:pPr algn="l"/>
            <a:r>
              <a:rPr sz="1900" b="1" i="0">
                <a:solidFill>
                  <a:srgbClr val="1B3A4B"/>
                </a:solidFill>
                <a:latin typeface="Calibri"/>
              </a:rPr>
              <a:t>Find partners</a:t>
            </a:r>
          </a:p>
          <a:p>
            <a:pPr algn="l"/>
            <a:r>
              <a:rPr sz="1350" b="0" i="0">
                <a:solidFill>
                  <a:srgbClr val="1C2430"/>
                </a:solidFill>
                <a:latin typeface="Calibri"/>
              </a:rPr>
              <a:t>Find an underground operator and a mine-communications maker. Ask for a letter of interest.</a:t>
            </a:r>
          </a:p>
        </p:txBody>
      </p:sp>
      <p:sp>
        <p:nvSpPr>
          <p:cNvPr id="20" name="Oval 19"/>
          <p:cNvSpPr/>
          <p:nvPr/>
        </p:nvSpPr>
        <p:spPr>
          <a:xfrm>
            <a:off x="4087368" y="24414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2</a:t>
            </a:r>
          </a:p>
        </p:txBody>
      </p:sp>
      <p:sp>
        <p:nvSpPr>
          <p:cNvPr id="21" name="TextBox 20"/>
          <p:cNvSpPr txBox="1"/>
          <p:nvPr/>
        </p:nvSpPr>
        <p:spPr>
          <a:xfrm>
            <a:off x="3291839" y="3611880"/>
            <a:ext cx="2194560" cy="1371600"/>
          </a:xfrm>
          <a:prstGeom prst="rect">
            <a:avLst/>
          </a:prstGeom>
          <a:noFill/>
        </p:spPr>
        <p:txBody>
          <a:bodyPr wrap="square" lIns="45720" rIns="45720" tIns="27432" bIns="27432" anchor="t">
            <a:spAutoFit/>
          </a:bodyPr>
          <a:lstStyle/>
          <a:p>
            <a:pPr algn="l"/>
            <a:r>
              <a:rPr sz="1400" b="1" i="0">
                <a:solidFill>
                  <a:srgbClr val="C55A11"/>
                </a:solidFill>
                <a:latin typeface="Calibri"/>
              </a:rPr>
              <a:t>Months 6–12</a:t>
            </a:r>
          </a:p>
          <a:p>
            <a:pPr algn="l"/>
            <a:r>
              <a:rPr sz="1900" b="1" i="0">
                <a:solidFill>
                  <a:srgbClr val="1B3A4B"/>
                </a:solidFill>
                <a:latin typeface="Calibri"/>
              </a:rPr>
              <a:t>Workshop</a:t>
            </a:r>
          </a:p>
          <a:p>
            <a:pPr algn="l"/>
            <a:r>
              <a:rPr sz="1350" b="0" i="0">
                <a:solidFill>
                  <a:srgbClr val="1C2430"/>
                </a:solidFill>
                <a:latin typeface="Calibri"/>
              </a:rPr>
              <a:t>Their engineer reviews mounting, power, dust and gas zones before the enclosure is frozen.</a:t>
            </a:r>
          </a:p>
        </p:txBody>
      </p:sp>
      <p:sp>
        <p:nvSpPr>
          <p:cNvPr id="22" name="Oval 21"/>
          <p:cNvSpPr/>
          <p:nvPr/>
        </p:nvSpPr>
        <p:spPr>
          <a:xfrm>
            <a:off x="6739128" y="38130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3</a:t>
            </a:r>
          </a:p>
        </p:txBody>
      </p:sp>
      <p:sp>
        <p:nvSpPr>
          <p:cNvPr id="23" name="TextBox 22"/>
          <p:cNvSpPr txBox="1"/>
          <p:nvPr/>
        </p:nvSpPr>
        <p:spPr>
          <a:xfrm>
            <a:off x="5943600" y="1764792"/>
            <a:ext cx="2194560" cy="1508760"/>
          </a:xfrm>
          <a:prstGeom prst="rect">
            <a:avLst/>
          </a:prstGeom>
          <a:noFill/>
        </p:spPr>
        <p:txBody>
          <a:bodyPr wrap="square" lIns="45720" rIns="45720" tIns="27432" bIns="27432" anchor="b">
            <a:spAutoFit/>
          </a:bodyPr>
          <a:lstStyle/>
          <a:p>
            <a:pPr algn="l"/>
            <a:r>
              <a:rPr sz="1400" b="1" i="0">
                <a:solidFill>
                  <a:srgbClr val="C55A11"/>
                </a:solidFill>
                <a:latin typeface="Calibri"/>
              </a:rPr>
              <a:t>Months 18–22</a:t>
            </a:r>
          </a:p>
          <a:p>
            <a:pPr algn="l"/>
            <a:r>
              <a:rPr sz="1900" b="1" i="0">
                <a:solidFill>
                  <a:srgbClr val="1B3A4B"/>
                </a:solidFill>
                <a:latin typeface="Calibri"/>
              </a:rPr>
              <a:t>Trial</a:t>
            </a:r>
          </a:p>
          <a:p>
            <a:pPr algn="l"/>
            <a:r>
              <a:rPr sz="1350" b="0" i="0">
                <a:solidFill>
                  <a:srgbClr val="1C2430"/>
                </a:solidFill>
                <a:latin typeface="Calibri"/>
              </a:rPr>
              <a:t>Test at a TEXMiN mine or partner drift with their engineer present.</a:t>
            </a:r>
          </a:p>
        </p:txBody>
      </p:sp>
      <p:sp>
        <p:nvSpPr>
          <p:cNvPr id="24" name="Oval 23"/>
          <p:cNvSpPr/>
          <p:nvPr/>
        </p:nvSpPr>
        <p:spPr>
          <a:xfrm>
            <a:off x="9390888" y="2441448"/>
            <a:ext cx="603504" cy="603504"/>
          </a:xfrm>
          <a:prstGeom prst="ellipse">
            <a:avLst/>
          </a:prstGeom>
          <a:solidFill>
            <a:srgbClr val="FFF0C2"/>
          </a:solidFill>
          <a:ln w="31750">
            <a:solidFill>
              <a:srgbClr val="F2B632"/>
            </a:solidFill>
          </a:ln>
        </p:spPr>
        <p:txBody>
          <a:bodyPr rtlCol="0" anchor="ctr" lIns="36576" rIns="36576" tIns="0" bIns="0" wrap="square"/>
          <a:lstStyle/>
          <a:p>
            <a:pPr algn="ctr"/>
            <a:r>
              <a:rPr sz="2200" b="1">
                <a:solidFill>
                  <a:srgbClr val="1B3A4B"/>
                </a:solidFill>
                <a:latin typeface="Calibri"/>
              </a:rPr>
              <a:t>4</a:t>
            </a:r>
          </a:p>
        </p:txBody>
      </p:sp>
      <p:sp>
        <p:nvSpPr>
          <p:cNvPr id="25" name="TextBox 24"/>
          <p:cNvSpPr txBox="1"/>
          <p:nvPr/>
        </p:nvSpPr>
        <p:spPr>
          <a:xfrm>
            <a:off x="8595360" y="3611880"/>
            <a:ext cx="2194560" cy="1371600"/>
          </a:xfrm>
          <a:prstGeom prst="rect">
            <a:avLst/>
          </a:prstGeom>
          <a:noFill/>
        </p:spPr>
        <p:txBody>
          <a:bodyPr wrap="square" lIns="45720" rIns="45720" tIns="27432" bIns="27432" anchor="t">
            <a:spAutoFit/>
          </a:bodyPr>
          <a:lstStyle/>
          <a:p>
            <a:pPr algn="l"/>
            <a:r>
              <a:rPr sz="1400" b="1" i="0">
                <a:solidFill>
                  <a:srgbClr val="C55A11"/>
                </a:solidFill>
                <a:latin typeface="Calibri"/>
              </a:rPr>
              <a:t>Months 22–24</a:t>
            </a:r>
          </a:p>
          <a:p>
            <a:pPr algn="l"/>
            <a:r>
              <a:rPr sz="1900" b="1" i="0">
                <a:solidFill>
                  <a:srgbClr val="1B3A4B"/>
                </a:solidFill>
                <a:latin typeface="Calibri"/>
              </a:rPr>
              <a:t>Next step</a:t>
            </a:r>
          </a:p>
          <a:p>
            <a:pPr algn="l"/>
            <a:r>
              <a:rPr sz="1350" b="0" i="0">
                <a:solidFill>
                  <a:srgbClr val="1C2430"/>
                </a:solidFill>
                <a:latin typeface="Calibri"/>
              </a:rPr>
              <a:t>Licence or pilot talk. FTBI incubation if it becomes a venture.</a:t>
            </a:r>
          </a:p>
        </p:txBody>
      </p:sp>
      <p:sp>
        <p:nvSpPr>
          <p:cNvPr id="26" name="Rounded Rectangle 25"/>
          <p:cNvSpPr/>
          <p:nvPr/>
        </p:nvSpPr>
        <p:spPr>
          <a:xfrm>
            <a:off x="457200" y="5212080"/>
            <a:ext cx="5577840" cy="11430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7" name="TextBox 26"/>
          <p:cNvSpPr txBox="1"/>
          <p:nvPr/>
        </p:nvSpPr>
        <p:spPr>
          <a:xfrm>
            <a:off x="640080" y="5230368"/>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28" name="TextBox 27"/>
          <p:cNvSpPr txBox="1"/>
          <p:nvPr/>
        </p:nvSpPr>
        <p:spPr>
          <a:xfrm>
            <a:off x="640080" y="5577840"/>
            <a:ext cx="5212080" cy="731520"/>
          </a:xfrm>
          <a:prstGeom prst="rect">
            <a:avLst/>
          </a:prstGeom>
          <a:noFill/>
        </p:spPr>
        <p:txBody>
          <a:bodyPr wrap="square" lIns="45720" rIns="45720" tIns="27432" bIns="27432" anchor="t">
            <a:spAutoFit/>
          </a:bodyPr>
          <a:lstStyle/>
          <a:p>
            <a:pPr algn="l"/>
            <a:r>
              <a:rPr sz="1450" b="0" i="0">
                <a:solidFill>
                  <a:srgbClr val="1C2430"/>
                </a:solidFill>
                <a:latin typeface="Calibri"/>
              </a:rPr>
              <a:t>Underground coal and metal mines (managers, safety officers, rescue rooms) and mine-communication equipment makers.</a:t>
            </a:r>
          </a:p>
        </p:txBody>
      </p:sp>
      <p:sp>
        <p:nvSpPr>
          <p:cNvPr id="29" name="Rounded Rectangle 28"/>
          <p:cNvSpPr/>
          <p:nvPr/>
        </p:nvSpPr>
        <p:spPr>
          <a:xfrm>
            <a:off x="6172200" y="5212080"/>
            <a:ext cx="5577840" cy="11430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0" name="TextBox 29"/>
          <p:cNvSpPr txBox="1"/>
          <p:nvPr/>
        </p:nvSpPr>
        <p:spPr>
          <a:xfrm>
            <a:off x="6355080" y="5230368"/>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1" name="TextBox 30"/>
          <p:cNvSpPr txBox="1"/>
          <p:nvPr/>
        </p:nvSpPr>
        <p:spPr>
          <a:xfrm>
            <a:off x="6355080" y="5577840"/>
            <a:ext cx="5212080" cy="731520"/>
          </a:xfrm>
          <a:prstGeom prst="rect">
            <a:avLst/>
          </a:prstGeom>
          <a:noFill/>
        </p:spPr>
        <p:txBody>
          <a:bodyPr wrap="square" lIns="45720" rIns="45720" tIns="27432" bIns="27432" anchor="t">
            <a:spAutoFit/>
          </a:bodyPr>
          <a:lstStyle/>
          <a:p>
            <a:pPr algn="l"/>
            <a:r>
              <a:rPr sz="145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07</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IMPACT AND COMMERCIALIZATION PLAN</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Impact, and how it would be deployed</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Impact and commercialization</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13  /  16</a:t>
            </a:r>
          </a:p>
        </p:txBody>
      </p:sp>
      <p:sp>
        <p:nvSpPr>
          <p:cNvPr id="13" name="TextBox 12"/>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4" name="Rounded Rectangle 13"/>
          <p:cNvSpPr/>
          <p:nvPr/>
        </p:nvSpPr>
        <p:spPr>
          <a:xfrm>
            <a:off x="45720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5" name="TextBox 14"/>
          <p:cNvSpPr txBox="1"/>
          <p:nvPr/>
        </p:nvSpPr>
        <p:spPr>
          <a:xfrm>
            <a:off x="59436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Video continuity</a:t>
            </a:r>
          </a:p>
        </p:txBody>
      </p:sp>
      <p:sp>
        <p:nvSpPr>
          <p:cNvPr id="16" name="TextBox 15"/>
          <p:cNvSpPr txBox="1"/>
          <p:nvPr/>
        </p:nvSpPr>
        <p:spPr>
          <a:xfrm>
            <a:off x="59436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pic>
        <p:nvPicPr>
          <p:cNvPr id="17" name="Picture" descr="Monitoring dashboard"/>
          <p:cNvPicPr>
            <a:picLocks noChangeAspect="1"/>
          </p:cNvPicPr>
          <p:nvPr/>
        </p:nvPicPr>
        <p:blipFill>
          <a:blip r:embed="rId2"/>
          <a:stretch>
            <a:fillRect/>
          </a:stretch>
        </p:blipFill>
        <p:spPr>
          <a:xfrm>
            <a:off x="2468880" y="1591056"/>
            <a:ext cx="530352" cy="427036"/>
          </a:xfrm>
          <a:prstGeom prst="rect">
            <a:avLst/>
          </a:prstGeom>
        </p:spPr>
      </p:pic>
      <p:sp>
        <p:nvSpPr>
          <p:cNvPr id="18" name="Rounded Rectangle 17"/>
          <p:cNvSpPr/>
          <p:nvPr/>
        </p:nvSpPr>
        <p:spPr>
          <a:xfrm>
            <a:off x="329184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9" name="TextBox 18"/>
          <p:cNvSpPr txBox="1"/>
          <p:nvPr/>
        </p:nvSpPr>
        <p:spPr>
          <a:xfrm>
            <a:off x="342900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Alert delivery</a:t>
            </a:r>
          </a:p>
        </p:txBody>
      </p:sp>
      <p:sp>
        <p:nvSpPr>
          <p:cNvPr id="20" name="TextBox 19"/>
          <p:cNvSpPr txBox="1"/>
          <p:nvPr/>
        </p:nvSpPr>
        <p:spPr>
          <a:xfrm>
            <a:off x="342900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a hop is cut or dust forces a switch</a:t>
            </a:r>
          </a:p>
        </p:txBody>
      </p:sp>
      <p:pic>
        <p:nvPicPr>
          <p:cNvPr id="21" name="Picture" descr="Alert message"/>
          <p:cNvPicPr>
            <a:picLocks noChangeAspect="1"/>
          </p:cNvPicPr>
          <p:nvPr/>
        </p:nvPicPr>
        <p:blipFill>
          <a:blip r:embed="rId3"/>
          <a:stretch>
            <a:fillRect/>
          </a:stretch>
        </p:blipFill>
        <p:spPr>
          <a:xfrm>
            <a:off x="5257800" y="1591056"/>
            <a:ext cx="621792" cy="353017"/>
          </a:xfrm>
          <a:prstGeom prst="rect">
            <a:avLst/>
          </a:prstGeom>
        </p:spPr>
      </p:pic>
      <p:sp>
        <p:nvSpPr>
          <p:cNvPr id="22" name="Rounded Rectangle 21"/>
          <p:cNvSpPr/>
          <p:nvPr/>
        </p:nvSpPr>
        <p:spPr>
          <a:xfrm>
            <a:off x="45720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3" name="TextBox 22"/>
          <p:cNvSpPr txBox="1"/>
          <p:nvPr/>
        </p:nvSpPr>
        <p:spPr>
          <a:xfrm>
            <a:off x="59436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Realignment time</a:t>
            </a:r>
          </a:p>
        </p:txBody>
      </p:sp>
      <p:sp>
        <p:nvSpPr>
          <p:cNvPr id="24" name="TextBox 23"/>
          <p:cNvSpPr txBox="1"/>
          <p:nvPr/>
        </p:nvSpPr>
        <p:spPr>
          <a:xfrm>
            <a:off x="59436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pic>
        <p:nvPicPr>
          <p:cNvPr id="25" name="Picture" descr="IMU module"/>
          <p:cNvPicPr>
            <a:picLocks noChangeAspect="1"/>
          </p:cNvPicPr>
          <p:nvPr/>
        </p:nvPicPr>
        <p:blipFill>
          <a:blip r:embed="rId4"/>
          <a:stretch>
            <a:fillRect/>
          </a:stretch>
        </p:blipFill>
        <p:spPr>
          <a:xfrm>
            <a:off x="2542032" y="2990088"/>
            <a:ext cx="457200" cy="335280"/>
          </a:xfrm>
          <a:prstGeom prst="rect">
            <a:avLst/>
          </a:prstGeom>
        </p:spPr>
      </p:pic>
      <p:sp>
        <p:nvSpPr>
          <p:cNvPr id="26" name="Rounded Rectangle 25"/>
          <p:cNvSpPr/>
          <p:nvPr/>
        </p:nvSpPr>
        <p:spPr>
          <a:xfrm>
            <a:off x="329184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7" name="TextBox 26"/>
          <p:cNvSpPr txBox="1"/>
          <p:nvPr/>
        </p:nvSpPr>
        <p:spPr>
          <a:xfrm>
            <a:off x="342900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Energy per node</a:t>
            </a:r>
          </a:p>
        </p:txBody>
      </p:sp>
      <p:sp>
        <p:nvSpPr>
          <p:cNvPr id="28" name="TextBox 27"/>
          <p:cNvSpPr txBox="1"/>
          <p:nvPr/>
        </p:nvSpPr>
        <p:spPr>
          <a:xfrm>
            <a:off x="342900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pic>
        <p:nvPicPr>
          <p:cNvPr id="29" name="Picture" descr="Motorized alignment system"/>
          <p:cNvPicPr>
            <a:picLocks noChangeAspect="1"/>
          </p:cNvPicPr>
          <p:nvPr/>
        </p:nvPicPr>
        <p:blipFill>
          <a:blip r:embed="rId5"/>
          <a:stretch>
            <a:fillRect/>
          </a:stretch>
        </p:blipFill>
        <p:spPr>
          <a:xfrm>
            <a:off x="5349240" y="3008376"/>
            <a:ext cx="502920" cy="419100"/>
          </a:xfrm>
          <a:prstGeom prst="rect">
            <a:avLst/>
          </a:prstGeom>
        </p:spPr>
      </p:pic>
      <p:sp>
        <p:nvSpPr>
          <p:cNvPr id="30" name="TextBox 29"/>
          <p:cNvSpPr txBox="1"/>
          <p:nvPr/>
        </p:nvSpPr>
        <p:spPr>
          <a:xfrm>
            <a:off x="635508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31" name="Rounded Rectangle 30"/>
          <p:cNvSpPr/>
          <p:nvPr/>
        </p:nvSpPr>
        <p:spPr>
          <a:xfrm>
            <a:off x="6355080" y="1463040"/>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2" name="Oval 31"/>
          <p:cNvSpPr/>
          <p:nvPr/>
        </p:nvSpPr>
        <p:spPr>
          <a:xfrm>
            <a:off x="6492240" y="1655064"/>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1</a:t>
            </a:r>
          </a:p>
        </p:txBody>
      </p:sp>
      <p:sp>
        <p:nvSpPr>
          <p:cNvPr id="33" name="TextBox 32"/>
          <p:cNvSpPr txBox="1"/>
          <p:nvPr/>
        </p:nvSpPr>
        <p:spPr>
          <a:xfrm>
            <a:off x="7040880" y="1508760"/>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Re-entry decisions taken with a current picture of the face</a:t>
            </a:r>
          </a:p>
        </p:txBody>
      </p:sp>
      <p:sp>
        <p:nvSpPr>
          <p:cNvPr id="34" name="Rounded Rectangle 33"/>
          <p:cNvSpPr/>
          <p:nvPr/>
        </p:nvSpPr>
        <p:spPr>
          <a:xfrm>
            <a:off x="6355080" y="2359152"/>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5" name="Oval 34"/>
          <p:cNvSpPr/>
          <p:nvPr/>
        </p:nvSpPr>
        <p:spPr>
          <a:xfrm>
            <a:off x="6492240" y="2551176"/>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2</a:t>
            </a:r>
          </a:p>
        </p:txBody>
      </p:sp>
      <p:sp>
        <p:nvSpPr>
          <p:cNvPr id="36" name="TextBox 35"/>
          <p:cNvSpPr txBox="1"/>
          <p:nvPr/>
        </p:nvSpPr>
        <p:spPr>
          <a:xfrm>
            <a:off x="7040880" y="2404872"/>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The alert does not depend on a single cable</a:t>
            </a:r>
          </a:p>
        </p:txBody>
      </p:sp>
      <p:sp>
        <p:nvSpPr>
          <p:cNvPr id="37" name="Rounded Rectangle 36"/>
          <p:cNvSpPr/>
          <p:nvPr/>
        </p:nvSpPr>
        <p:spPr>
          <a:xfrm>
            <a:off x="6355080" y="3255264"/>
            <a:ext cx="5394960" cy="77724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8" name="Oval 37"/>
          <p:cNvSpPr/>
          <p:nvPr/>
        </p:nvSpPr>
        <p:spPr>
          <a:xfrm>
            <a:off x="6492240" y="3447288"/>
            <a:ext cx="384048" cy="384048"/>
          </a:xfrm>
          <a:prstGeom prst="ellipse">
            <a:avLst/>
          </a:prstGeom>
          <a:solidFill>
            <a:srgbClr val="FFF0C2"/>
          </a:solidFill>
          <a:ln w="22225">
            <a:solidFill>
              <a:srgbClr val="F2B632"/>
            </a:solidFill>
          </a:ln>
        </p:spPr>
        <p:txBody>
          <a:bodyPr rtlCol="0" anchor="ctr" lIns="36576" rIns="36576" tIns="0" bIns="0" wrap="square"/>
          <a:lstStyle/>
          <a:p>
            <a:pPr algn="ctr"/>
            <a:r>
              <a:rPr sz="1600" b="1">
                <a:solidFill>
                  <a:srgbClr val="1B3A4B"/>
                </a:solidFill>
                <a:latin typeface="Calibri"/>
              </a:rPr>
              <a:t>3</a:t>
            </a:r>
          </a:p>
        </p:txBody>
      </p:sp>
      <p:sp>
        <p:nvSpPr>
          <p:cNvPr id="39" name="TextBox 38"/>
          <p:cNvSpPr txBox="1"/>
          <p:nvPr/>
        </p:nvSpPr>
        <p:spPr>
          <a:xfrm>
            <a:off x="7040880" y="3300984"/>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An indigenous node, where this class is largely imported</a:t>
            </a:r>
          </a:p>
        </p:txBody>
      </p:sp>
      <p:sp>
        <p:nvSpPr>
          <p:cNvPr id="40" name="TextBox 39"/>
          <p:cNvSpPr txBox="1"/>
          <p:nvPr/>
        </p:nvSpPr>
        <p:spPr>
          <a:xfrm>
            <a:off x="457200" y="434340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41" name="Pentagon 40"/>
          <p:cNvSpPr/>
          <p:nvPr/>
        </p:nvSpPr>
        <p:spPr>
          <a:xfrm>
            <a:off x="457200" y="4754880"/>
            <a:ext cx="2788920" cy="1097280"/>
          </a:xfrm>
          <a:prstGeom prst="homePlate">
            <a:avLst/>
          </a:prstGeom>
          <a:solidFill>
            <a:srgbClr val="0071C1"/>
          </a:solidFill>
          <a:ln w="9525">
            <a:solidFill>
              <a:srgbClr val="00548F"/>
            </a:solidFill>
          </a:ln>
        </p:spPr>
        <p:txBody>
          <a:bodyPr rtlCol="0" anchor="ctr"/>
          <a:lstStyle/>
          <a:p>
            <a:pPr algn="ctr"/>
          </a:p>
        </p:txBody>
      </p:sp>
      <p:sp>
        <p:nvSpPr>
          <p:cNvPr id="42" name="TextBox 41"/>
          <p:cNvSpPr txBox="1"/>
          <p:nvPr/>
        </p:nvSpPr>
        <p:spPr>
          <a:xfrm>
            <a:off x="640080" y="4800600"/>
            <a:ext cx="2194560" cy="365760"/>
          </a:xfrm>
          <a:prstGeom prst="rect">
            <a:avLst/>
          </a:prstGeom>
          <a:noFill/>
        </p:spPr>
        <p:txBody>
          <a:bodyPr wrap="square" lIns="45720" rIns="45720" tIns="27432" bIns="27432" anchor="t">
            <a:spAutoFit/>
          </a:bodyPr>
          <a:lstStyle/>
          <a:p>
            <a:pPr algn="l"/>
            <a:r>
              <a:rPr sz="1800" b="1" i="0">
                <a:solidFill>
                  <a:srgbClr val="FFD966"/>
                </a:solidFill>
                <a:latin typeface="Calibri"/>
              </a:rPr>
              <a:t>This grant</a:t>
            </a:r>
          </a:p>
        </p:txBody>
      </p:sp>
      <p:sp>
        <p:nvSpPr>
          <p:cNvPr id="43" name="TextBox 42"/>
          <p:cNvSpPr txBox="1"/>
          <p:nvPr/>
        </p:nvSpPr>
        <p:spPr>
          <a:xfrm>
            <a:off x="640080" y="5166360"/>
            <a:ext cx="2103120" cy="68580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44" name="Pentagon 43"/>
          <p:cNvSpPr/>
          <p:nvPr/>
        </p:nvSpPr>
        <p:spPr>
          <a:xfrm>
            <a:off x="3310128"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45" name="TextBox 44"/>
          <p:cNvSpPr txBox="1"/>
          <p:nvPr/>
        </p:nvSpPr>
        <p:spPr>
          <a:xfrm>
            <a:off x="3493008"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46" name="TextBox 45"/>
          <p:cNvSpPr txBox="1"/>
          <p:nvPr/>
        </p:nvSpPr>
        <p:spPr>
          <a:xfrm>
            <a:off x="3493008"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47" name="Pentagon 46"/>
          <p:cNvSpPr/>
          <p:nvPr/>
        </p:nvSpPr>
        <p:spPr>
          <a:xfrm>
            <a:off x="6163056"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48" name="TextBox 47"/>
          <p:cNvSpPr txBox="1"/>
          <p:nvPr/>
        </p:nvSpPr>
        <p:spPr>
          <a:xfrm>
            <a:off x="6345936"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9" name="TextBox 48"/>
          <p:cNvSpPr txBox="1"/>
          <p:nvPr/>
        </p:nvSpPr>
        <p:spPr>
          <a:xfrm>
            <a:off x="6345936"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50" name="Pentagon 49"/>
          <p:cNvSpPr/>
          <p:nvPr/>
        </p:nvSpPr>
        <p:spPr>
          <a:xfrm>
            <a:off x="9015984" y="4754880"/>
            <a:ext cx="2788920" cy="1097280"/>
          </a:xfrm>
          <a:prstGeom prst="homePlate">
            <a:avLst/>
          </a:prstGeom>
          <a:solidFill>
            <a:srgbClr val="FFFFFF"/>
          </a:solidFill>
          <a:ln w="9525">
            <a:solidFill>
              <a:srgbClr val="A9BFD0"/>
            </a:solidFill>
          </a:ln>
        </p:spPr>
        <p:txBody>
          <a:bodyPr rtlCol="0" anchor="ctr"/>
          <a:lstStyle/>
          <a:p>
            <a:pPr algn="ctr"/>
          </a:p>
        </p:txBody>
      </p:sp>
      <p:sp>
        <p:nvSpPr>
          <p:cNvPr id="51" name="TextBox 50"/>
          <p:cNvSpPr txBox="1"/>
          <p:nvPr/>
        </p:nvSpPr>
        <p:spPr>
          <a:xfrm>
            <a:off x="9198863"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52" name="TextBox 51"/>
          <p:cNvSpPr txBox="1"/>
          <p:nvPr/>
        </p:nvSpPr>
        <p:spPr>
          <a:xfrm>
            <a:off x="9198863"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
        <p:nvSpPr>
          <p:cNvPr id="53" name="TextBox 52"/>
          <p:cNvSpPr txBox="1"/>
          <p:nvPr/>
        </p:nvSpPr>
        <p:spPr>
          <a:xfrm>
            <a:off x="457200" y="5989320"/>
            <a:ext cx="1554480" cy="365760"/>
          </a:xfrm>
          <a:prstGeom prst="rect">
            <a:avLst/>
          </a:prstGeom>
          <a:noFill/>
        </p:spPr>
        <p:txBody>
          <a:bodyPr wrap="square" lIns="45720" rIns="45720" tIns="27432" bIns="27432" anchor="ctr">
            <a:spAutoFit/>
          </a:bodyPr>
          <a:lstStyle/>
          <a:p>
            <a:pPr algn="l"/>
            <a:r>
              <a:rPr sz="1400" b="1" i="0">
                <a:solidFill>
                  <a:srgbClr val="5C6770"/>
                </a:solidFill>
                <a:latin typeface="Calibri"/>
              </a:rPr>
              <a:t>Also fits</a:t>
            </a:r>
          </a:p>
        </p:txBody>
      </p:sp>
      <p:sp>
        <p:nvSpPr>
          <p:cNvPr id="54" name="Rounded Rectangle 53"/>
          <p:cNvSpPr/>
          <p:nvPr/>
        </p:nvSpPr>
        <p:spPr>
          <a:xfrm>
            <a:off x="146304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Tunnel monitoring</a:t>
            </a:r>
          </a:p>
        </p:txBody>
      </p:sp>
      <p:sp>
        <p:nvSpPr>
          <p:cNvPr id="55" name="Rounded Rectangle 54"/>
          <p:cNvSpPr/>
          <p:nvPr/>
        </p:nvSpPr>
        <p:spPr>
          <a:xfrm>
            <a:off x="361188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Underground transport</a:t>
            </a:r>
          </a:p>
        </p:txBody>
      </p:sp>
      <p:sp>
        <p:nvSpPr>
          <p:cNvPr id="56" name="Rounded Rectangle 55"/>
          <p:cNvSpPr/>
          <p:nvPr/>
        </p:nvSpPr>
        <p:spPr>
          <a:xfrm>
            <a:off x="5760720" y="6016752"/>
            <a:ext cx="2057400" cy="329184"/>
          </a:xfrm>
          <a:prstGeom prst="roundRect">
            <a:avLst>
              <a:gd name="adj" fmla="val 40000"/>
            </a:avLst>
          </a:prstGeom>
          <a:solidFill>
            <a:srgbClr val="FFFFFF"/>
          </a:solidFill>
          <a:ln>
            <a:noFill/>
          </a:ln>
        </p:spPr>
        <p:txBody>
          <a:bodyPr rtlCol="0" anchor="ctr" lIns="36576" rIns="36576" tIns="0" bIns="0" wrap="square"/>
          <a:lstStyle/>
          <a:p>
            <a:pPr algn="ctr"/>
            <a:r>
              <a:rPr sz="1300" b="0">
                <a:solidFill>
                  <a:srgbClr val="1C2430"/>
                </a:solidFill>
                <a:latin typeface="Calibri"/>
              </a:rPr>
              <a:t>Oil and gas sites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08</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TEAM DETAILS AND BUDGET SUMMARY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Team</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Team</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14  /  16</a:t>
            </a:r>
          </a:p>
        </p:txBody>
      </p:sp>
      <p:sp>
        <p:nvSpPr>
          <p:cNvPr id="13" name="Rounded Rectangle 12"/>
          <p:cNvSpPr/>
          <p:nvPr/>
        </p:nvSpPr>
        <p:spPr>
          <a:xfrm>
            <a:off x="457200" y="1097280"/>
            <a:ext cx="4206240" cy="51663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4" name="TextBox 13"/>
          <p:cNvSpPr txBox="1"/>
          <p:nvPr/>
        </p:nvSpPr>
        <p:spPr>
          <a:xfrm>
            <a:off x="685800" y="1280160"/>
            <a:ext cx="3749039" cy="365760"/>
          </a:xfrm>
          <a:prstGeom prst="rect">
            <a:avLst/>
          </a:prstGeom>
          <a:noFill/>
        </p:spPr>
        <p:txBody>
          <a:bodyPr wrap="square" lIns="45720" rIns="45720" tIns="27432" bIns="27432" anchor="t">
            <a:spAutoFit/>
          </a:bodyPr>
          <a:lstStyle/>
          <a:p>
            <a:pPr algn="l"/>
            <a:r>
              <a:rPr sz="1400" b="1" i="0">
                <a:solidFill>
                  <a:srgbClr val="FFD966"/>
                </a:solidFill>
                <a:latin typeface="Calibri"/>
              </a:rPr>
              <a:t>Principal Investigator</a:t>
            </a:r>
          </a:p>
        </p:txBody>
      </p:sp>
      <p:sp>
        <p:nvSpPr>
          <p:cNvPr id="15" name="TextBox 14"/>
          <p:cNvSpPr txBox="1"/>
          <p:nvPr/>
        </p:nvSpPr>
        <p:spPr>
          <a:xfrm>
            <a:off x="685800" y="1691640"/>
            <a:ext cx="3108960" cy="914400"/>
          </a:xfrm>
          <a:prstGeom prst="rect">
            <a:avLst/>
          </a:prstGeom>
          <a:noFill/>
        </p:spPr>
        <p:txBody>
          <a:bodyPr wrap="square" lIns="45720" rIns="45720" tIns="27432" bIns="27432" anchor="t">
            <a:spAutoFit/>
          </a:bodyPr>
          <a:lstStyle/>
          <a:p>
            <a:pPr algn="l"/>
            <a:r>
              <a:rPr sz="2200" b="1" i="0">
                <a:solidFill>
                  <a:srgbClr val="FFFFFF"/>
                </a:solidFill>
                <a:latin typeface="Calibri"/>
              </a:rPr>
              <a:t>Prof. Sadananda Behera</a:t>
            </a:r>
          </a:p>
        </p:txBody>
      </p:sp>
      <p:sp>
        <p:nvSpPr>
          <p:cNvPr id="16" name="Oval 15"/>
          <p:cNvSpPr/>
          <p:nvPr/>
        </p:nvSpPr>
        <p:spPr>
          <a:xfrm>
            <a:off x="3749039" y="1280160"/>
            <a:ext cx="777240" cy="777240"/>
          </a:xfrm>
          <a:prstGeom prst="ellipse">
            <a:avLst/>
          </a:prstGeom>
          <a:solidFill>
            <a:srgbClr val="FFFFFF"/>
          </a:solidFill>
          <a:ln>
            <a:noFill/>
          </a:ln>
        </p:spPr>
        <p:txBody>
          <a:bodyPr rtlCol="0" anchor="ctr" lIns="36576" rIns="36576" tIns="0" bIns="0" wrap="square"/>
          <a:lstStyle/>
          <a:p>
            <a:pPr algn="ctr"/>
            <a:r>
              <a:rPr sz="2400" b="1">
                <a:solidFill>
                  <a:srgbClr val="0071C1"/>
                </a:solidFill>
                <a:latin typeface="Calibri"/>
              </a:rPr>
              <a:t>SB</a:t>
            </a:r>
          </a:p>
        </p:txBody>
      </p:sp>
      <p:sp>
        <p:nvSpPr>
          <p:cNvPr id="17" name="TextBox 16"/>
          <p:cNvSpPr txBox="1"/>
          <p:nvPr/>
        </p:nvSpPr>
        <p:spPr>
          <a:xfrm>
            <a:off x="685800" y="2514600"/>
            <a:ext cx="3749039" cy="640080"/>
          </a:xfrm>
          <a:prstGeom prst="rect">
            <a:avLst/>
          </a:prstGeom>
          <a:noFill/>
        </p:spPr>
        <p:txBody>
          <a:bodyPr wrap="square" lIns="45720" rIns="45720" tIns="27432" bIns="27432" anchor="t">
            <a:spAutoFit/>
          </a:bodyPr>
          <a:lstStyle/>
          <a:p>
            <a:pPr algn="l"/>
            <a:r>
              <a:rPr sz="1700" b="0" i="0">
                <a:solidFill>
                  <a:srgbClr val="FFFFFF"/>
                </a:solidFill>
                <a:latin typeface="Calibri"/>
              </a:rPr>
              <a:t>Assistant Professor</a:t>
            </a:r>
          </a:p>
          <a:p>
            <a:pPr algn="l"/>
            <a:r>
              <a:rPr sz="1700" b="0" i="0">
                <a:solidFill>
                  <a:srgbClr val="FFFFFF"/>
                </a:solidFill>
                <a:latin typeface="Calibri"/>
              </a:rPr>
              <a:t>NIT Rourkela</a:t>
            </a:r>
          </a:p>
        </p:txBody>
      </p:sp>
      <p:sp>
        <p:nvSpPr>
          <p:cNvPr id="18" name="TextBox 17"/>
          <p:cNvSpPr txBox="1"/>
          <p:nvPr/>
        </p:nvSpPr>
        <p:spPr>
          <a:xfrm>
            <a:off x="685800" y="3246120"/>
            <a:ext cx="3749039" cy="365760"/>
          </a:xfrm>
          <a:prstGeom prst="rect">
            <a:avLst/>
          </a:prstGeom>
          <a:noFill/>
        </p:spPr>
        <p:txBody>
          <a:bodyPr wrap="square" lIns="45720" rIns="45720" tIns="27432" bIns="27432" anchor="t">
            <a:spAutoFit/>
          </a:bodyPr>
          <a:lstStyle/>
          <a:p>
            <a:pPr algn="l"/>
            <a:r>
              <a:rPr sz="1700" b="0" i="0">
                <a:solidFill>
                  <a:srgbClr val="FFFFFF"/>
                </a:solidFill>
                <a:latin typeface="Calibri"/>
              </a:rPr>
              <a:t>98610 77539</a:t>
            </a:r>
          </a:p>
        </p:txBody>
      </p:sp>
      <p:sp>
        <p:nvSpPr>
          <p:cNvPr id="19" name="Rectangle 18"/>
          <p:cNvSpPr/>
          <p:nvPr/>
        </p:nvSpPr>
        <p:spPr>
          <a:xfrm>
            <a:off x="685800" y="3840480"/>
            <a:ext cx="3291840" cy="9144"/>
          </a:xfrm>
          <a:prstGeom prst="rect">
            <a:avLst/>
          </a:prstGeom>
          <a:solidFill>
            <a:srgbClr val="7FB4DD"/>
          </a:solidFill>
          <a:ln>
            <a:noFill/>
          </a:ln>
        </p:spPr>
        <p:txBody>
          <a:bodyPr rtlCol="0" anchor="ctr"/>
          <a:lstStyle/>
          <a:p>
            <a:pPr algn="ctr"/>
          </a:p>
        </p:txBody>
      </p:sp>
      <p:sp>
        <p:nvSpPr>
          <p:cNvPr id="20" name="TextBox 19"/>
          <p:cNvSpPr txBox="1"/>
          <p:nvPr/>
        </p:nvSpPr>
        <p:spPr>
          <a:xfrm>
            <a:off x="685800" y="3977639"/>
            <a:ext cx="3749039" cy="2103120"/>
          </a:xfrm>
          <a:prstGeom prst="rect">
            <a:avLst/>
          </a:prstGeom>
          <a:noFill/>
        </p:spPr>
        <p:txBody>
          <a:bodyPr wrap="square" lIns="45720" rIns="45720" tIns="27432" bIns="27432" anchor="t">
            <a:spAutoFit/>
          </a:bodyPr>
          <a:lstStyle/>
          <a:p>
            <a:pPr algn="l"/>
            <a:r>
              <a:rPr sz="1550" b="1" i="0">
                <a:solidFill>
                  <a:srgbClr val="FFD966"/>
                </a:solidFill>
                <a:latin typeface="Calibri"/>
              </a:rPr>
              <a:t>No co-PI. </a:t>
            </a:r>
            <a:r>
              <a:rPr sz="1550" b="0" i="0">
                <a:solidFill>
                  <a:srgbClr val="FFFFFF"/>
                </a:solidFill>
                <a:latin typeface="Calibri"/>
              </a:rPr>
              <a:t>Two project assistants for 24 months. The PI leads every work package.</a:t>
            </a:r>
          </a:p>
          <a:p>
            <a:pPr algn="l"/>
            <a:r>
              <a:rPr sz="1550" b="0" i="0">
                <a:solidFill>
                  <a:srgbClr val="FFFFFF"/>
                </a:solidFill>
                <a:latin typeface="Calibri"/>
              </a:rPr>
              <a:t/>
            </a:r>
          </a:p>
          <a:p>
            <a:pPr algn="l"/>
            <a:r>
              <a:rPr sz="1550" b="0" i="0">
                <a:solidFill>
                  <a:srgbClr val="FFFFFF"/>
                </a:solidFill>
                <a:latin typeface="Calibri"/>
              </a:rPr>
              <a:t>Mining practice comes from TEXMiN mentors and the industry engineer, before the enclosure is frozen.</a:t>
            </a:r>
          </a:p>
        </p:txBody>
      </p:sp>
      <p:sp>
        <p:nvSpPr>
          <p:cNvPr id="21" name="TextBox 20"/>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22" name="Rounded Rectangle 21"/>
          <p:cNvSpPr/>
          <p:nvPr/>
        </p:nvSpPr>
        <p:spPr>
          <a:xfrm>
            <a:off x="4937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3" name="TextBox 22"/>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JLT, JOCN</a:t>
            </a:r>
          </a:p>
        </p:txBody>
      </p:sp>
      <p:sp>
        <p:nvSpPr>
          <p:cNvPr id="24" name="TextBox 23"/>
          <p:cNvSpPr txBox="1"/>
          <p:nvPr/>
        </p:nvSpPr>
        <p:spPr>
          <a:xfrm>
            <a:off x="5047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Optical links under impairment: soft-failure detection and localization</a:t>
            </a:r>
          </a:p>
        </p:txBody>
      </p:sp>
      <p:sp>
        <p:nvSpPr>
          <p:cNvPr id="25" name="Rounded Rectangle 24"/>
          <p:cNvSpPr/>
          <p:nvPr/>
        </p:nvSpPr>
        <p:spPr>
          <a:xfrm>
            <a:off x="7223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6" name="TextBox 25"/>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Indian patent</a:t>
            </a:r>
          </a:p>
        </p:txBody>
      </p:sp>
      <p:sp>
        <p:nvSpPr>
          <p:cNvPr id="27" name="TextBox 26"/>
          <p:cNvSpPr txBox="1"/>
          <p:nvPr/>
        </p:nvSpPr>
        <p:spPr>
          <a:xfrm>
            <a:off x="7333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Published application for a deployable hardware testbed</a:t>
            </a:r>
          </a:p>
        </p:txBody>
      </p:sp>
      <p:sp>
        <p:nvSpPr>
          <p:cNvPr id="28" name="Rounded Rectangle 27"/>
          <p:cNvSpPr/>
          <p:nvPr/>
        </p:nvSpPr>
        <p:spPr>
          <a:xfrm>
            <a:off x="9509760" y="1554480"/>
            <a:ext cx="2194560" cy="196596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9" name="TextBox 28"/>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2 DoT / TCoE projects</a:t>
            </a:r>
          </a:p>
        </p:txBody>
      </p:sp>
      <p:sp>
        <p:nvSpPr>
          <p:cNvPr id="30" name="TextBox 29"/>
          <p:cNvSpPr txBox="1"/>
          <p:nvPr/>
        </p:nvSpPr>
        <p:spPr>
          <a:xfrm>
            <a:off x="9619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Co-PI on 6G projects, about ₹80 lakh and ₹82.4 lakh. One is a hybrid transceiver</a:t>
            </a:r>
          </a:p>
        </p:txBody>
      </p:sp>
      <p:sp>
        <p:nvSpPr>
          <p:cNvPr id="31" name="TextBox 30"/>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32" name="Rounded Rectangle 31"/>
          <p:cNvSpPr/>
          <p:nvPr/>
        </p:nvSpPr>
        <p:spPr>
          <a:xfrm>
            <a:off x="4937760" y="4206240"/>
            <a:ext cx="3291840" cy="2057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3" name="TextBox 32"/>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34" name="TextBox 33"/>
          <p:cNvSpPr txBox="1"/>
          <p:nvPr/>
        </p:nvSpPr>
        <p:spPr>
          <a:xfrm>
            <a:off x="5074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Hardware: FSO, IMU, pan-tilt, LoRa, PCB, enclosure</a:t>
            </a:r>
          </a:p>
        </p:txBody>
      </p:sp>
      <p:sp>
        <p:nvSpPr>
          <p:cNvPr id="35" name="TextBox 34"/>
          <p:cNvSpPr txBox="1"/>
          <p:nvPr/>
        </p:nvSpPr>
        <p:spPr>
          <a:xfrm>
            <a:off x="5074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
        <p:nvSpPr>
          <p:cNvPr id="36" name="Rounded Rectangle 35"/>
          <p:cNvSpPr/>
          <p:nvPr/>
        </p:nvSpPr>
        <p:spPr>
          <a:xfrm>
            <a:off x="8366760" y="4206240"/>
            <a:ext cx="3291840" cy="2057400"/>
          </a:xfrm>
          <a:prstGeom prst="roundRect">
            <a:avLst>
              <a:gd name="adj" fmla="val 8000"/>
            </a:avLst>
          </a:prstGeom>
          <a:solidFill>
            <a:srgbClr val="FFFFFF"/>
          </a:solidFill>
          <a:ln w="9525">
            <a:solidFill>
              <a:srgbClr val="A9BFD0"/>
            </a:solidFill>
          </a:ln>
        </p:spPr>
        <p:txBody>
          <a:bodyPr rtlCol="0" anchor="ctr"/>
          <a:lstStyle/>
          <a:p>
            <a:pPr algn="ctr"/>
          </a:p>
        </p:txBody>
      </p:sp>
      <p:sp>
        <p:nvSpPr>
          <p:cNvPr id="37" name="TextBox 36"/>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8" name="TextBox 37"/>
          <p:cNvSpPr txBox="1"/>
          <p:nvPr/>
        </p:nvSpPr>
        <p:spPr>
          <a:xfrm>
            <a:off x="8503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Software: multi-hop forwarding, video, tracking loop, surface display</a:t>
            </a:r>
          </a:p>
        </p:txBody>
      </p:sp>
      <p:sp>
        <p:nvSpPr>
          <p:cNvPr id="39" name="TextBox 38"/>
          <p:cNvSpPr txBox="1"/>
          <p:nvPr/>
        </p:nvSpPr>
        <p:spPr>
          <a:xfrm>
            <a:off x="8503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E6F1F9"/>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CFE3F2"/>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DCEBF6"/>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DCEBF6"/>
          </a:solidFill>
          <a:ln>
            <a:noFill/>
          </a:ln>
        </p:spPr>
        <p:txBody>
          <a:bodyPr rtlCol="0" anchor="ctr"/>
          <a:lstStyle/>
          <a:p>
            <a:pPr algn="ctr"/>
          </a:p>
        </p:txBody>
      </p:sp>
      <p:sp>
        <p:nvSpPr>
          <p:cNvPr id="6"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7" name="Section number"/>
          <p:cNvSpPr/>
          <p:nvPr/>
        </p:nvSpPr>
        <p:spPr>
          <a:xfrm>
            <a:off x="457200" y="182880"/>
            <a:ext cx="658368" cy="658368"/>
          </a:xfrm>
          <a:prstGeom prst="ellipse">
            <a:avLst/>
          </a:prstGeom>
          <a:solidFill>
            <a:srgbClr val="FFFFFF"/>
          </a:solidFill>
          <a:ln w="28575">
            <a:solidFill>
              <a:srgbClr val="0071C1"/>
            </a:solidFill>
          </a:ln>
        </p:spPr>
        <p:txBody>
          <a:bodyPr rtlCol="0" anchor="ctr" lIns="36576" rIns="36576" tIns="0" bIns="0" wrap="square"/>
          <a:lstStyle/>
          <a:p>
            <a:pPr algn="ctr"/>
            <a:r>
              <a:rPr sz="2000" b="1">
                <a:solidFill>
                  <a:srgbClr val="1B3A4B"/>
                </a:solidFill>
                <a:latin typeface="Calibri"/>
              </a:rPr>
              <a:t>08</a:t>
            </a:r>
          </a:p>
        </p:txBody>
      </p:sp>
      <p:sp>
        <p:nvSpPr>
          <p:cNvPr id="8" name="Section"/>
          <p:cNvSpPr txBox="1"/>
          <p:nvPr/>
        </p:nvSpPr>
        <p:spPr>
          <a:xfrm>
            <a:off x="1234440" y="182880"/>
            <a:ext cx="10241280" cy="256032"/>
          </a:xfrm>
          <a:prstGeom prst="rect">
            <a:avLst/>
          </a:prstGeom>
          <a:noFill/>
        </p:spPr>
        <p:txBody>
          <a:bodyPr wrap="square" lIns="45720" rIns="45720" tIns="27432" bIns="27432" anchor="t">
            <a:spAutoFit/>
          </a:bodyPr>
          <a:lstStyle/>
          <a:p>
            <a:pPr algn="l"/>
            <a:r>
              <a:rPr sz="1300" b="1" i="0">
                <a:solidFill>
                  <a:srgbClr val="B5740A"/>
                </a:solidFill>
                <a:latin typeface="Calibri"/>
              </a:rPr>
              <a:t>TEAM DETAILS AND BUDGET SUMMARY</a:t>
            </a:r>
          </a:p>
        </p:txBody>
      </p:sp>
      <p:sp>
        <p:nvSpPr>
          <p:cNvPr id="9" name="Title"/>
          <p:cNvSpPr txBox="1"/>
          <p:nvPr/>
        </p:nvSpPr>
        <p:spPr>
          <a:xfrm>
            <a:off x="1216152" y="420624"/>
            <a:ext cx="10241280" cy="502920"/>
          </a:xfrm>
          <a:prstGeom prst="rect">
            <a:avLst/>
          </a:prstGeom>
          <a:noFill/>
        </p:spPr>
        <p:txBody>
          <a:bodyPr wrap="square" lIns="45720" rIns="45720" tIns="27432" bIns="27432" anchor="t">
            <a:spAutoFit/>
          </a:bodyPr>
          <a:lstStyle/>
          <a:p>
            <a:pPr algn="l"/>
            <a:r>
              <a:rPr sz="2800" b="1" i="0">
                <a:solidFill>
                  <a:srgbClr val="1B3A4B"/>
                </a:solidFill>
                <a:latin typeface="Calibri"/>
              </a:rPr>
              <a:t>Budget: ₹15.00 lakh</a:t>
            </a:r>
          </a:p>
        </p:txBody>
      </p:sp>
      <p:sp>
        <p:nvSpPr>
          <p:cNvPr id="10"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1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Budget</a:t>
            </a:r>
          </a:p>
        </p:txBody>
      </p:sp>
      <p:sp>
        <p:nvSpPr>
          <p:cNvPr id="1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15  /  16</a:t>
            </a:r>
          </a:p>
        </p:txBody>
      </p:sp>
      <p:sp>
        <p:nvSpPr>
          <p:cNvPr id="13" name="TextBox 12"/>
          <p:cNvSpPr txBox="1"/>
          <p:nvPr/>
        </p:nvSpPr>
        <p:spPr>
          <a:xfrm>
            <a:off x="457200" y="960120"/>
            <a:ext cx="11247120" cy="365760"/>
          </a:xfrm>
          <a:prstGeom prst="rect">
            <a:avLst/>
          </a:prstGeom>
          <a:noFill/>
        </p:spPr>
        <p:txBody>
          <a:bodyPr wrap="square" lIns="45720" rIns="45720" tIns="27432" bIns="27432" anchor="t">
            <a:spAutoFit/>
          </a:bodyPr>
          <a:lstStyle/>
          <a:p>
            <a:pPr algn="l"/>
            <a:r>
              <a:rPr sz="1500" b="0" i="0">
                <a:solidFill>
                  <a:srgbClr val="5C6770"/>
                </a:solidFill>
                <a:latin typeface="Calibri"/>
              </a:rPr>
              <a:t>In ₹ lakh. Institute overhead is zero. Year 1 is ₹7.60 lakh and Year 2 is ₹7.40 lakh.</a:t>
            </a:r>
          </a:p>
        </p:txBody>
      </p:sp>
      <p:graphicFrame>
        <p:nvGraphicFramePr>
          <p:cNvPr id="14" name="Chart 13"/>
          <p:cNvGraphicFramePr>
            <a:graphicFrameLocks noGrp="1"/>
          </p:cNvGraphicFramePr>
          <p:nvPr/>
        </p:nvGraphicFramePr>
        <p:xfrm>
          <a:off x="365760" y="1371600"/>
          <a:ext cx="4297680" cy="4114800"/>
        </p:xfrm>
        <a:graphic>
          <a:graphicData uri="http://schemas.openxmlformats.org/drawingml/2006/chart">
            <c:chart xmlns:c="http://schemas.openxmlformats.org/drawingml/2006/chart" r:id="rId2"/>
          </a:graphicData>
        </a:graphic>
      </p:graphicFrame>
      <p:sp>
        <p:nvSpPr>
          <p:cNvPr id="15" name="TextBox 14"/>
          <p:cNvSpPr txBox="1"/>
          <p:nvPr/>
        </p:nvSpPr>
        <p:spPr>
          <a:xfrm>
            <a:off x="1417320" y="3017520"/>
            <a:ext cx="2194560" cy="502920"/>
          </a:xfrm>
          <a:prstGeom prst="rect">
            <a:avLst/>
          </a:prstGeom>
          <a:noFill/>
        </p:spPr>
        <p:txBody>
          <a:bodyPr wrap="square" lIns="45720" rIns="45720" tIns="27432" bIns="27432" anchor="t">
            <a:spAutoFit/>
          </a:bodyPr>
          <a:lstStyle/>
          <a:p>
            <a:pPr algn="ctr"/>
            <a:r>
              <a:rPr sz="3000" b="1" i="0">
                <a:solidFill>
                  <a:srgbClr val="1B3A4B"/>
                </a:solidFill>
                <a:latin typeface="Calibri"/>
              </a:rPr>
              <a:t>₹15.00</a:t>
            </a:r>
          </a:p>
        </p:txBody>
      </p:sp>
      <p:sp>
        <p:nvSpPr>
          <p:cNvPr id="16" name="TextBox 15"/>
          <p:cNvSpPr txBox="1"/>
          <p:nvPr/>
        </p:nvSpPr>
        <p:spPr>
          <a:xfrm>
            <a:off x="1417320" y="3520440"/>
            <a:ext cx="2194560" cy="365760"/>
          </a:xfrm>
          <a:prstGeom prst="rect">
            <a:avLst/>
          </a:prstGeom>
          <a:noFill/>
        </p:spPr>
        <p:txBody>
          <a:bodyPr wrap="square" lIns="45720" rIns="45720" tIns="27432" bIns="27432" anchor="t">
            <a:spAutoFit/>
          </a:bodyPr>
          <a:lstStyle/>
          <a:p>
            <a:pPr algn="ctr"/>
            <a:r>
              <a:rPr sz="1400" b="0" i="0">
                <a:solidFill>
                  <a:srgbClr val="5C6770"/>
                </a:solidFill>
                <a:latin typeface="Calibri"/>
              </a:rPr>
              <a:t>lakh · 24 months</a:t>
            </a:r>
          </a:p>
        </p:txBody>
      </p:sp>
      <p:graphicFrame>
        <p:nvGraphicFramePr>
          <p:cNvPr id="17" name="Table 16"/>
          <p:cNvGraphicFramePr>
            <a:graphicFrameLocks noGrp="1"/>
          </p:cNvGraphicFramePr>
          <p:nvPr/>
        </p:nvGraphicFramePr>
        <p:xfrm>
          <a:off x="4937760" y="1371600"/>
          <a:ext cx="6492240" cy="3657600"/>
        </p:xfrm>
        <a:graphic>
          <a:graphicData uri="http://schemas.openxmlformats.org/drawingml/2006/table">
            <a:tbl>
              <a:tblPr firstRow="0" bandRow="0">
                <a:tableStyleId>{2D5ABB26-0587-4C30-8999-92F81FD0307C}</a:tableStyleId>
              </a:tblPr>
              <a:tblGrid>
                <a:gridCol w="2468880"/>
                <a:gridCol w="1005840"/>
                <a:gridCol w="1005840"/>
                <a:gridCol w="1005840"/>
                <a:gridCol w="1005840"/>
              </a:tblGrid>
              <a:tr h="457200">
                <a:tc>
                  <a:txBody>
                    <a:bodyPr/>
                    <a:lstStyle/>
                    <a:p>
                      <a:pPr algn="l"/>
                      <a:r>
                        <a:rPr sz="1500" b="1">
                          <a:solidFill>
                            <a:srgbClr val="FFFFFF"/>
                          </a:solidFill>
                          <a:latin typeface="Calibri"/>
                        </a:rPr>
                        <a:t>Head</a:t>
                      </a:r>
                    </a:p>
                  </a:txBody>
                  <a:tcPr marL="365760" marR="91440" anchor="ctr">
                    <a:solidFill>
                      <a:srgbClr val="0071C1"/>
                    </a:solidFill>
                  </a:tcPr>
                </a:tc>
                <a:tc>
                  <a:txBody>
                    <a:bodyPr/>
                    <a:lstStyle/>
                    <a:p>
                      <a:pPr algn="r"/>
                      <a:r>
                        <a:rPr sz="1500" b="1">
                          <a:solidFill>
                            <a:srgbClr val="FFFFFF"/>
                          </a:solidFill>
                          <a:latin typeface="Calibri"/>
                        </a:rPr>
                        <a:t>Year 1</a:t>
                      </a:r>
                    </a:p>
                  </a:txBody>
                  <a:tcPr marL="109728" marR="91440" anchor="ctr">
                    <a:solidFill>
                      <a:srgbClr val="0071C1"/>
                    </a:solidFill>
                  </a:tcPr>
                </a:tc>
                <a:tc>
                  <a:txBody>
                    <a:bodyPr/>
                    <a:lstStyle/>
                    <a:p>
                      <a:pPr algn="r"/>
                      <a:r>
                        <a:rPr sz="1500" b="1">
                          <a:solidFill>
                            <a:srgbClr val="FFFFFF"/>
                          </a:solidFill>
                          <a:latin typeface="Calibri"/>
                        </a:rPr>
                        <a:t>Year 2</a:t>
                      </a:r>
                    </a:p>
                  </a:txBody>
                  <a:tcPr marL="109728" marR="91440" anchor="ctr">
                    <a:solidFill>
                      <a:srgbClr val="0071C1"/>
                    </a:solidFill>
                  </a:tcPr>
                </a:tc>
                <a:tc>
                  <a:txBody>
                    <a:bodyPr/>
                    <a:lstStyle/>
                    <a:p>
                      <a:pPr algn="r"/>
                      <a:r>
                        <a:rPr sz="1500" b="1">
                          <a:solidFill>
                            <a:srgbClr val="FFFFFF"/>
                          </a:solidFill>
                          <a:latin typeface="Calibri"/>
                        </a:rPr>
                        <a:t>Total</a:t>
                      </a:r>
                    </a:p>
                  </a:txBody>
                  <a:tcPr marL="109728" marR="91440" anchor="ctr">
                    <a:solidFill>
                      <a:srgbClr val="0071C1"/>
                    </a:solidFill>
                  </a:tcPr>
                </a:tc>
                <a:tc>
                  <a:txBody>
                    <a:bodyPr/>
                    <a:lstStyle/>
                    <a:p>
                      <a:pPr algn="r"/>
                      <a:r>
                        <a:rPr sz="1500" b="1">
                          <a:solidFill>
                            <a:srgbClr val="FFFFFF"/>
                          </a:solidFill>
                          <a:latin typeface="Calibri"/>
                        </a:rPr>
                        <a:t>Share</a:t>
                      </a:r>
                    </a:p>
                  </a:txBody>
                  <a:tcPr marL="109728" marR="91440" anchor="ctr">
                    <a:solidFill>
                      <a:srgbClr val="0071C1"/>
                    </a:solidFill>
                  </a:tcPr>
                </a:tc>
              </a:tr>
              <a:tr h="457200">
                <a:tc>
                  <a:txBody>
                    <a:bodyPr/>
                    <a:lstStyle/>
                    <a:p>
                      <a:pPr algn="l"/>
                      <a:r>
                        <a:rPr sz="1500" b="0">
                          <a:solidFill>
                            <a:srgbClr val="1C2430"/>
                          </a:solidFill>
                          <a:latin typeface="Calibri"/>
                        </a:rPr>
                        <a:t>Project assistants (2)</a:t>
                      </a:r>
                    </a:p>
                  </a:txBody>
                  <a:tcPr marL="365760" marR="91440" anchor="ctr">
                    <a:solidFill>
                      <a:srgbClr val="EEF5FA"/>
                    </a:solidFill>
                  </a:tcPr>
                </a:tc>
                <a:tc>
                  <a:txBody>
                    <a:bodyPr/>
                    <a:lstStyle/>
                    <a:p>
                      <a:pPr algn="r"/>
                      <a:r>
                        <a:rPr sz="1500" b="0">
                          <a:solidFill>
                            <a:srgbClr val="1C2430"/>
                          </a:solidFill>
                          <a:latin typeface="Calibri"/>
                        </a:rPr>
                        <a:t>3.60</a:t>
                      </a:r>
                    </a:p>
                  </a:txBody>
                  <a:tcPr marL="109728" marR="91440" anchor="ctr">
                    <a:solidFill>
                      <a:srgbClr val="EEF5FA"/>
                    </a:solidFill>
                  </a:tcPr>
                </a:tc>
                <a:tc>
                  <a:txBody>
                    <a:bodyPr/>
                    <a:lstStyle/>
                    <a:p>
                      <a:pPr algn="r"/>
                      <a:r>
                        <a:rPr sz="1500" b="0">
                          <a:solidFill>
                            <a:srgbClr val="1C2430"/>
                          </a:solidFill>
                          <a:latin typeface="Calibri"/>
                        </a:rPr>
                        <a:t>3.60</a:t>
                      </a:r>
                    </a:p>
                  </a:txBody>
                  <a:tcPr marL="109728" marR="91440" anchor="ctr">
                    <a:solidFill>
                      <a:srgbClr val="EEF5FA"/>
                    </a:solidFill>
                  </a:tcPr>
                </a:tc>
                <a:tc>
                  <a:txBody>
                    <a:bodyPr/>
                    <a:lstStyle/>
                    <a:p>
                      <a:pPr algn="r"/>
                      <a:r>
                        <a:rPr sz="1500" b="1">
                          <a:solidFill>
                            <a:srgbClr val="1C2430"/>
                          </a:solidFill>
                          <a:latin typeface="Calibri"/>
                        </a:rPr>
                        <a:t>7.20</a:t>
                      </a:r>
                    </a:p>
                  </a:txBody>
                  <a:tcPr marL="109728" marR="91440" anchor="ctr">
                    <a:solidFill>
                      <a:srgbClr val="EEF5FA"/>
                    </a:solidFill>
                  </a:tcPr>
                </a:tc>
                <a:tc>
                  <a:txBody>
                    <a:bodyPr/>
                    <a:lstStyle/>
                    <a:p>
                      <a:pPr algn="r"/>
                      <a:r>
                        <a:rPr sz="1500" b="0">
                          <a:solidFill>
                            <a:srgbClr val="1C2430"/>
                          </a:solidFill>
                          <a:latin typeface="Calibri"/>
                        </a:rPr>
                        <a:t>48%</a:t>
                      </a:r>
                    </a:p>
                  </a:txBody>
                  <a:tcPr marL="109728" marR="91440" anchor="ctr">
                    <a:solidFill>
                      <a:srgbClr val="EEF5FA"/>
                    </a:solidFill>
                  </a:tcPr>
                </a:tc>
              </a:tr>
              <a:tr h="457200">
                <a:tc>
                  <a:txBody>
                    <a:bodyPr/>
                    <a:lstStyle/>
                    <a:p>
                      <a:pPr algn="l"/>
                      <a:r>
                        <a:rPr sz="1500" b="0">
                          <a:solidFill>
                            <a:srgbClr val="1C2430"/>
                          </a:solidFill>
                          <a:latin typeface="Calibri"/>
                        </a:rPr>
                        <a:t>Equipment</a:t>
                      </a:r>
                    </a:p>
                  </a:txBody>
                  <a:tcPr marL="365760" marR="91440" anchor="ctr">
                    <a:solidFill>
                      <a:srgbClr val="FFFFFF"/>
                    </a:solidFill>
                  </a:tcPr>
                </a:tc>
                <a:tc>
                  <a:txBody>
                    <a:bodyPr/>
                    <a:lstStyle/>
                    <a:p>
                      <a:pPr algn="r"/>
                      <a:r>
                        <a:rPr sz="1500" b="0">
                          <a:solidFill>
                            <a:srgbClr val="1C2430"/>
                          </a:solidFill>
                          <a:latin typeface="Calibri"/>
                        </a:rPr>
                        <a:t>2.00</a:t>
                      </a:r>
                    </a:p>
                  </a:txBody>
                  <a:tcPr marL="109728" marR="91440" anchor="ctr">
                    <a:solidFill>
                      <a:srgbClr val="FFFFFF"/>
                    </a:solidFill>
                  </a:tcPr>
                </a:tc>
                <a:tc>
                  <a:txBody>
                    <a:bodyPr/>
                    <a:lstStyle/>
                    <a:p>
                      <a:pPr algn="r"/>
                      <a:r>
                        <a:rPr sz="1500" b="0">
                          <a:solidFill>
                            <a:srgbClr val="1C2430"/>
                          </a:solidFill>
                          <a:latin typeface="Calibri"/>
                        </a:rPr>
                        <a:t>1.50</a:t>
                      </a:r>
                    </a:p>
                  </a:txBody>
                  <a:tcPr marL="109728" marR="91440" anchor="ctr">
                    <a:solidFill>
                      <a:srgbClr val="FFFFFF"/>
                    </a:solidFill>
                  </a:tcPr>
                </a:tc>
                <a:tc>
                  <a:txBody>
                    <a:bodyPr/>
                    <a:lstStyle/>
                    <a:p>
                      <a:pPr algn="r"/>
                      <a:r>
                        <a:rPr sz="1500" b="1">
                          <a:solidFill>
                            <a:srgbClr val="1C2430"/>
                          </a:solidFill>
                          <a:latin typeface="Calibri"/>
                        </a:rPr>
                        <a:t>3.50</a:t>
                      </a:r>
                    </a:p>
                  </a:txBody>
                  <a:tcPr marL="109728" marR="91440" anchor="ctr">
                    <a:solidFill>
                      <a:srgbClr val="FFFFFF"/>
                    </a:solidFill>
                  </a:tcPr>
                </a:tc>
                <a:tc>
                  <a:txBody>
                    <a:bodyPr/>
                    <a:lstStyle/>
                    <a:p>
                      <a:pPr algn="r"/>
                      <a:r>
                        <a:rPr sz="1500" b="0">
                          <a:solidFill>
                            <a:srgbClr val="1C2430"/>
                          </a:solidFill>
                          <a:latin typeface="Calibri"/>
                        </a:rPr>
                        <a:t>23%</a:t>
                      </a:r>
                    </a:p>
                  </a:txBody>
                  <a:tcPr marL="109728" marR="91440" anchor="ctr">
                    <a:solidFill>
                      <a:srgbClr val="FFFFFF"/>
                    </a:solidFill>
                  </a:tcPr>
                </a:tc>
              </a:tr>
              <a:tr h="457200">
                <a:tc>
                  <a:txBody>
                    <a:bodyPr/>
                    <a:lstStyle/>
                    <a:p>
                      <a:pPr algn="l"/>
                      <a:r>
                        <a:rPr sz="1500" b="0">
                          <a:solidFill>
                            <a:srgbClr val="1C2430"/>
                          </a:solidFill>
                          <a:latin typeface="Calibri"/>
                        </a:rPr>
                        <a:t>Consumables</a:t>
                      </a:r>
                    </a:p>
                  </a:txBody>
                  <a:tcPr marL="365760" marR="91440" anchor="ctr">
                    <a:solidFill>
                      <a:srgbClr val="EEF5FA"/>
                    </a:solidFill>
                  </a:tcPr>
                </a:tc>
                <a:tc>
                  <a:txBody>
                    <a:bodyPr/>
                    <a:lstStyle/>
                    <a:p>
                      <a:pPr algn="r"/>
                      <a:r>
                        <a:rPr sz="1500" b="0">
                          <a:solidFill>
                            <a:srgbClr val="1C2430"/>
                          </a:solidFill>
                          <a:latin typeface="Calibri"/>
                        </a:rPr>
                        <a:t>0.75</a:t>
                      </a:r>
                    </a:p>
                  </a:txBody>
                  <a:tcPr marL="109728" marR="91440" anchor="ctr">
                    <a:solidFill>
                      <a:srgbClr val="EEF5FA"/>
                    </a:solidFill>
                  </a:tcPr>
                </a:tc>
                <a:tc>
                  <a:txBody>
                    <a:bodyPr/>
                    <a:lstStyle/>
                    <a:p>
                      <a:pPr algn="r"/>
                      <a:r>
                        <a:rPr sz="1500" b="0">
                          <a:solidFill>
                            <a:srgbClr val="1C2430"/>
                          </a:solidFill>
                          <a:latin typeface="Calibri"/>
                        </a:rPr>
                        <a:t>0.75</a:t>
                      </a:r>
                    </a:p>
                  </a:txBody>
                  <a:tcPr marL="109728" marR="91440" anchor="ctr">
                    <a:solidFill>
                      <a:srgbClr val="EEF5FA"/>
                    </a:solidFill>
                  </a:tcPr>
                </a:tc>
                <a:tc>
                  <a:txBody>
                    <a:bodyPr/>
                    <a:lstStyle/>
                    <a:p>
                      <a:pPr algn="r"/>
                      <a:r>
                        <a:rPr sz="1500" b="1">
                          <a:solidFill>
                            <a:srgbClr val="1C2430"/>
                          </a:solidFill>
                          <a:latin typeface="Calibri"/>
                        </a:rPr>
                        <a:t>1.50</a:t>
                      </a:r>
                    </a:p>
                  </a:txBody>
                  <a:tcPr marL="109728" marR="91440" anchor="ctr">
                    <a:solidFill>
                      <a:srgbClr val="EEF5FA"/>
                    </a:solidFill>
                  </a:tcPr>
                </a:tc>
                <a:tc>
                  <a:txBody>
                    <a:bodyPr/>
                    <a:lstStyle/>
                    <a:p>
                      <a:pPr algn="r"/>
                      <a:r>
                        <a:rPr sz="1500" b="0">
                          <a:solidFill>
                            <a:srgbClr val="1C2430"/>
                          </a:solidFill>
                          <a:latin typeface="Calibri"/>
                        </a:rPr>
                        <a:t>10%</a:t>
                      </a:r>
                    </a:p>
                  </a:txBody>
                  <a:tcPr marL="109728" marR="91440" anchor="ctr">
                    <a:solidFill>
                      <a:srgbClr val="EEF5FA"/>
                    </a:solidFill>
                  </a:tcPr>
                </a:tc>
              </a:tr>
              <a:tr h="457200">
                <a:tc>
                  <a:txBody>
                    <a:bodyPr/>
                    <a:lstStyle/>
                    <a:p>
                      <a:pPr algn="l"/>
                      <a:r>
                        <a:rPr sz="1500" b="0">
                          <a:solidFill>
                            <a:srgbClr val="1C2430"/>
                          </a:solidFill>
                          <a:latin typeface="Calibri"/>
                        </a:rPr>
                        <a:t>Contingency</a:t>
                      </a:r>
                    </a:p>
                  </a:txBody>
                  <a:tcPr marL="365760"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1">
                          <a:solidFill>
                            <a:srgbClr val="1C2430"/>
                          </a:solidFill>
                          <a:latin typeface="Calibri"/>
                        </a:rPr>
                        <a:t>1.50</a:t>
                      </a:r>
                    </a:p>
                  </a:txBody>
                  <a:tcPr marL="109728" marR="91440" anchor="ctr">
                    <a:solidFill>
                      <a:srgbClr val="FFFFFF"/>
                    </a:solidFill>
                  </a:tcPr>
                </a:tc>
                <a:tc>
                  <a:txBody>
                    <a:bodyPr/>
                    <a:lstStyle/>
                    <a:p>
                      <a:pPr algn="r"/>
                      <a:r>
                        <a:rPr sz="1500" b="0">
                          <a:solidFill>
                            <a:srgbClr val="1C2430"/>
                          </a:solidFill>
                          <a:latin typeface="Calibri"/>
                        </a:rPr>
                        <a:t>10%</a:t>
                      </a:r>
                    </a:p>
                  </a:txBody>
                  <a:tcPr marL="109728" marR="91440" anchor="ctr">
                    <a:solidFill>
                      <a:srgbClr val="FFFFFF"/>
                    </a:solidFill>
                  </a:tcPr>
                </a:tc>
              </a:tr>
              <a:tr h="457200">
                <a:tc>
                  <a:txBody>
                    <a:bodyPr/>
                    <a:lstStyle/>
                    <a:p>
                      <a:pPr algn="l"/>
                      <a:r>
                        <a:rPr sz="1500" b="0">
                          <a:solidFill>
                            <a:srgbClr val="1C2430"/>
                          </a:solidFill>
                          <a:latin typeface="Calibri"/>
                        </a:rPr>
                        <a:t>Travel</a:t>
                      </a:r>
                    </a:p>
                  </a:txBody>
                  <a:tcPr marL="365760" marR="91440" anchor="ctr">
                    <a:solidFill>
                      <a:srgbClr val="EEF5FA"/>
                    </a:solidFill>
                  </a:tcPr>
                </a:tc>
                <a:tc>
                  <a:txBody>
                    <a:bodyPr/>
                    <a:lstStyle/>
                    <a:p>
                      <a:pPr algn="r"/>
                      <a:r>
                        <a:rPr sz="1500" b="0">
                          <a:solidFill>
                            <a:srgbClr val="1C2430"/>
                          </a:solidFill>
                          <a:latin typeface="Calibri"/>
                        </a:rPr>
                        <a:t>0.50</a:t>
                      </a:r>
                    </a:p>
                  </a:txBody>
                  <a:tcPr marL="109728" marR="91440" anchor="ctr">
                    <a:solidFill>
                      <a:srgbClr val="EEF5FA"/>
                    </a:solidFill>
                  </a:tcPr>
                </a:tc>
                <a:tc>
                  <a:txBody>
                    <a:bodyPr/>
                    <a:lstStyle/>
                    <a:p>
                      <a:pPr algn="r"/>
                      <a:r>
                        <a:rPr sz="1500" b="0">
                          <a:solidFill>
                            <a:srgbClr val="1C2430"/>
                          </a:solidFill>
                          <a:latin typeface="Calibri"/>
                        </a:rPr>
                        <a:t>0.80</a:t>
                      </a:r>
                    </a:p>
                  </a:txBody>
                  <a:tcPr marL="109728" marR="91440" anchor="ctr">
                    <a:solidFill>
                      <a:srgbClr val="EEF5FA"/>
                    </a:solidFill>
                  </a:tcPr>
                </a:tc>
                <a:tc>
                  <a:txBody>
                    <a:bodyPr/>
                    <a:lstStyle/>
                    <a:p>
                      <a:pPr algn="r"/>
                      <a:r>
                        <a:rPr sz="1500" b="1">
                          <a:solidFill>
                            <a:srgbClr val="1C2430"/>
                          </a:solidFill>
                          <a:latin typeface="Calibri"/>
                        </a:rPr>
                        <a:t>1.30</a:t>
                      </a:r>
                    </a:p>
                  </a:txBody>
                  <a:tcPr marL="109728" marR="91440" anchor="ctr">
                    <a:solidFill>
                      <a:srgbClr val="EEF5FA"/>
                    </a:solidFill>
                  </a:tcPr>
                </a:tc>
                <a:tc>
                  <a:txBody>
                    <a:bodyPr/>
                    <a:lstStyle/>
                    <a:p>
                      <a:pPr algn="r"/>
                      <a:r>
                        <a:rPr sz="1500" b="0">
                          <a:solidFill>
                            <a:srgbClr val="1C2430"/>
                          </a:solidFill>
                          <a:latin typeface="Calibri"/>
                        </a:rPr>
                        <a:t>9%</a:t>
                      </a:r>
                    </a:p>
                  </a:txBody>
                  <a:tcPr marL="109728" marR="91440" anchor="ctr">
                    <a:solidFill>
                      <a:srgbClr val="EEF5FA"/>
                    </a:solidFill>
                  </a:tcPr>
                </a:tc>
              </a:tr>
              <a:tr h="457200">
                <a:tc>
                  <a:txBody>
                    <a:bodyPr/>
                    <a:lstStyle/>
                    <a:p>
                      <a:pPr algn="l"/>
                      <a:r>
                        <a:rPr sz="1500" b="0">
                          <a:solidFill>
                            <a:srgbClr val="1C2430"/>
                          </a:solidFill>
                          <a:latin typeface="Calibri"/>
                        </a:rPr>
                        <a:t>Overhead</a:t>
                      </a:r>
                    </a:p>
                  </a:txBody>
                  <a:tcPr marL="365760"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1">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r>
              <a:tr h="457200">
                <a:tc>
                  <a:txBody>
                    <a:bodyPr/>
                    <a:lstStyle/>
                    <a:p>
                      <a:pPr algn="l"/>
                      <a:r>
                        <a:rPr sz="1500" b="1">
                          <a:solidFill>
                            <a:srgbClr val="FFFFFF"/>
                          </a:solidFill>
                          <a:latin typeface="Calibri"/>
                        </a:rPr>
                        <a:t>Total</a:t>
                      </a:r>
                    </a:p>
                  </a:txBody>
                  <a:tcPr marL="365760" marR="91440" anchor="ctr">
                    <a:solidFill>
                      <a:srgbClr val="0071C1"/>
                    </a:solidFill>
                  </a:tcPr>
                </a:tc>
                <a:tc>
                  <a:txBody>
                    <a:bodyPr/>
                    <a:lstStyle/>
                    <a:p>
                      <a:pPr algn="r"/>
                      <a:r>
                        <a:rPr sz="1500" b="1">
                          <a:solidFill>
                            <a:srgbClr val="FFFFFF"/>
                          </a:solidFill>
                          <a:latin typeface="Calibri"/>
                        </a:rPr>
                        <a:t>7.60</a:t>
                      </a:r>
                    </a:p>
                  </a:txBody>
                  <a:tcPr marL="109728" marR="91440" anchor="ctr">
                    <a:solidFill>
                      <a:srgbClr val="0071C1"/>
                    </a:solidFill>
                  </a:tcPr>
                </a:tc>
                <a:tc>
                  <a:txBody>
                    <a:bodyPr/>
                    <a:lstStyle/>
                    <a:p>
                      <a:pPr algn="r"/>
                      <a:r>
                        <a:rPr sz="1500" b="1">
                          <a:solidFill>
                            <a:srgbClr val="FFFFFF"/>
                          </a:solidFill>
                          <a:latin typeface="Calibri"/>
                        </a:rPr>
                        <a:t>7.40</a:t>
                      </a:r>
                    </a:p>
                  </a:txBody>
                  <a:tcPr marL="109728" marR="91440" anchor="ctr">
                    <a:solidFill>
                      <a:srgbClr val="0071C1"/>
                    </a:solidFill>
                  </a:tcPr>
                </a:tc>
                <a:tc>
                  <a:txBody>
                    <a:bodyPr/>
                    <a:lstStyle/>
                    <a:p>
                      <a:pPr algn="r"/>
                      <a:r>
                        <a:rPr sz="1500" b="1">
                          <a:solidFill>
                            <a:srgbClr val="FFFFFF"/>
                          </a:solidFill>
                          <a:latin typeface="Calibri"/>
                        </a:rPr>
                        <a:t>15.00</a:t>
                      </a:r>
                    </a:p>
                  </a:txBody>
                  <a:tcPr marL="109728" marR="91440" anchor="ctr">
                    <a:solidFill>
                      <a:srgbClr val="0071C1"/>
                    </a:solidFill>
                  </a:tcPr>
                </a:tc>
                <a:tc>
                  <a:txBody>
                    <a:bodyPr/>
                    <a:lstStyle/>
                    <a:p>
                      <a:pPr algn="r"/>
                      <a:r>
                        <a:rPr sz="1500" b="1">
                          <a:solidFill>
                            <a:srgbClr val="FFFFFF"/>
                          </a:solidFill>
                          <a:latin typeface="Calibri"/>
                        </a:rPr>
                        <a:t>100%</a:t>
                      </a:r>
                    </a:p>
                  </a:txBody>
                  <a:tcPr marL="109728" marR="91440" anchor="ctr">
                    <a:solidFill>
                      <a:srgbClr val="0071C1"/>
                    </a:solidFill>
                  </a:tcPr>
                </a:tc>
              </a:tr>
            </a:tbl>
          </a:graphicData>
        </a:graphic>
      </p:graphicFrame>
      <p:sp>
        <p:nvSpPr>
          <p:cNvPr id="18" name="Oval 17"/>
          <p:cNvSpPr/>
          <p:nvPr/>
        </p:nvSpPr>
        <p:spPr>
          <a:xfrm>
            <a:off x="5056632" y="1984248"/>
            <a:ext cx="146304" cy="146304"/>
          </a:xfrm>
          <a:prstGeom prst="ellipse">
            <a:avLst/>
          </a:prstGeom>
          <a:solidFill>
            <a:srgbClr val="0071C1"/>
          </a:solidFill>
          <a:ln>
            <a:noFill/>
          </a:ln>
        </p:spPr>
        <p:txBody>
          <a:bodyPr rtlCol="0" anchor="ctr"/>
          <a:lstStyle/>
          <a:p>
            <a:pPr algn="ctr"/>
          </a:p>
        </p:txBody>
      </p:sp>
      <p:sp>
        <p:nvSpPr>
          <p:cNvPr id="19" name="Oval 18"/>
          <p:cNvSpPr/>
          <p:nvPr/>
        </p:nvSpPr>
        <p:spPr>
          <a:xfrm>
            <a:off x="5056632" y="2441448"/>
            <a:ext cx="146304" cy="146304"/>
          </a:xfrm>
          <a:prstGeom prst="ellipse">
            <a:avLst/>
          </a:prstGeom>
          <a:solidFill>
            <a:srgbClr val="ED7D31"/>
          </a:solidFill>
          <a:ln>
            <a:noFill/>
          </a:ln>
        </p:spPr>
        <p:txBody>
          <a:bodyPr rtlCol="0" anchor="ctr"/>
          <a:lstStyle/>
          <a:p>
            <a:pPr algn="ctr"/>
          </a:p>
        </p:txBody>
      </p:sp>
      <p:sp>
        <p:nvSpPr>
          <p:cNvPr id="20" name="Oval 19"/>
          <p:cNvSpPr/>
          <p:nvPr/>
        </p:nvSpPr>
        <p:spPr>
          <a:xfrm>
            <a:off x="5056632" y="2898648"/>
            <a:ext cx="146304" cy="146304"/>
          </a:xfrm>
          <a:prstGeom prst="ellipse">
            <a:avLst/>
          </a:prstGeom>
          <a:solidFill>
            <a:srgbClr val="1B3A4B"/>
          </a:solidFill>
          <a:ln>
            <a:noFill/>
          </a:ln>
        </p:spPr>
        <p:txBody>
          <a:bodyPr rtlCol="0" anchor="ctr"/>
          <a:lstStyle/>
          <a:p>
            <a:pPr algn="ctr"/>
          </a:p>
        </p:txBody>
      </p:sp>
      <p:sp>
        <p:nvSpPr>
          <p:cNvPr id="21" name="Oval 20"/>
          <p:cNvSpPr/>
          <p:nvPr/>
        </p:nvSpPr>
        <p:spPr>
          <a:xfrm>
            <a:off x="5056632" y="3355848"/>
            <a:ext cx="146304" cy="146304"/>
          </a:xfrm>
          <a:prstGeom prst="ellipse">
            <a:avLst/>
          </a:prstGeom>
          <a:solidFill>
            <a:srgbClr val="A6A6A6"/>
          </a:solidFill>
          <a:ln>
            <a:noFill/>
          </a:ln>
        </p:spPr>
        <p:txBody>
          <a:bodyPr rtlCol="0" anchor="ctr"/>
          <a:lstStyle/>
          <a:p>
            <a:pPr algn="ctr"/>
          </a:p>
        </p:txBody>
      </p:sp>
      <p:sp>
        <p:nvSpPr>
          <p:cNvPr id="22" name="Oval 21"/>
          <p:cNvSpPr/>
          <p:nvPr/>
        </p:nvSpPr>
        <p:spPr>
          <a:xfrm>
            <a:off x="5056632" y="3813048"/>
            <a:ext cx="146304" cy="146304"/>
          </a:xfrm>
          <a:prstGeom prst="ellipse">
            <a:avLst/>
          </a:prstGeom>
          <a:solidFill>
            <a:srgbClr val="FFC000"/>
          </a:solidFill>
          <a:ln>
            <a:noFill/>
          </a:ln>
        </p:spPr>
        <p:txBody>
          <a:bodyPr rtlCol="0" anchor="ctr"/>
          <a:lstStyle/>
          <a:p>
            <a:pPr algn="ctr"/>
          </a:p>
        </p:txBody>
      </p:sp>
      <p:sp>
        <p:nvSpPr>
          <p:cNvPr id="23" name="Rounded Rectangle 22"/>
          <p:cNvSpPr/>
          <p:nvPr/>
        </p:nvSpPr>
        <p:spPr>
          <a:xfrm>
            <a:off x="457200" y="5532120"/>
            <a:ext cx="11292840" cy="868680"/>
          </a:xfrm>
          <a:prstGeom prst="roundRect">
            <a:avLst>
              <a:gd name="adj" fmla="val 8000"/>
            </a:avLst>
          </a:prstGeom>
          <a:solidFill>
            <a:srgbClr val="FFFFFF"/>
          </a:solidFill>
          <a:ln w="9525">
            <a:solidFill>
              <a:srgbClr val="A9BFD0"/>
            </a:solidFill>
          </a:ln>
        </p:spPr>
        <p:txBody>
          <a:bodyPr rtlCol="0" anchor="ctr"/>
          <a:lstStyle/>
          <a:p>
            <a:pPr algn="ctr"/>
          </a:p>
        </p:txBody>
      </p:sp>
      <p:sp>
        <p:nvSpPr>
          <p:cNvPr id="24" name="TextBox 23"/>
          <p:cNvSpPr txBox="1"/>
          <p:nvPr/>
        </p:nvSpPr>
        <p:spPr>
          <a:xfrm>
            <a:off x="594360" y="5550408"/>
            <a:ext cx="1828800" cy="822960"/>
          </a:xfrm>
          <a:prstGeom prst="rect">
            <a:avLst/>
          </a:prstGeom>
          <a:noFill/>
        </p:spPr>
        <p:txBody>
          <a:bodyPr wrap="square" lIns="45720" rIns="45720" tIns="27432" bIns="27432" anchor="ctr">
            <a:spAutoFit/>
          </a:bodyPr>
          <a:lstStyle/>
          <a:p>
            <a:pPr algn="l"/>
            <a:r>
              <a:rPr sz="1600" b="1" i="0">
                <a:solidFill>
                  <a:srgbClr val="C55A11"/>
                </a:solidFill>
                <a:latin typeface="Calibri"/>
              </a:rPr>
              <a:t>Equipment</a:t>
            </a:r>
          </a:p>
        </p:txBody>
      </p:sp>
      <p:sp>
        <p:nvSpPr>
          <p:cNvPr id="25" name="TextBox 24"/>
          <p:cNvSpPr txBox="1"/>
          <p:nvPr/>
        </p:nvSpPr>
        <p:spPr>
          <a:xfrm>
            <a:off x="2103120" y="5550408"/>
            <a:ext cx="9509760" cy="822960"/>
          </a:xfrm>
          <a:prstGeom prst="rect">
            <a:avLst/>
          </a:prstGeom>
          <a:noFill/>
        </p:spPr>
        <p:txBody>
          <a:bodyPr wrap="square" lIns="45720" rIns="45720" tIns="27432" bIns="27432" anchor="ctr">
            <a:spAutoFit/>
          </a:bodyPr>
          <a:lstStyle/>
          <a:p>
            <a:pPr algn="l"/>
            <a:r>
              <a:rPr sz="1350" b="1" i="0">
                <a:solidFill>
                  <a:srgbClr val="1B3A4B"/>
                </a:solidFill>
                <a:latin typeface="Calibri"/>
              </a:rPr>
              <a:t>Year 1: </a:t>
            </a:r>
            <a:r>
              <a:rPr sz="1350" b="0" i="0">
                <a:solidFill>
                  <a:srgbClr val="1C2430"/>
                </a:solidFill>
                <a:latin typeface="Calibri"/>
              </a:rPr>
              <a:t>FSO modules, pan-tilt, IMUs, controllers, cameras, LoRa and gateway, batteries, enclosures, edge computer, optics.   </a:t>
            </a:r>
            <a:r>
              <a:rPr sz="1350" b="1" i="0">
                <a:solidFill>
                  <a:srgbClr val="1B3A4B"/>
                </a:solidFill>
                <a:latin typeface="Calibri"/>
              </a:rPr>
              <a:t>Year 2: </a:t>
            </a:r>
            <a:r>
              <a:rPr sz="1350" b="0" i="0">
                <a:solidFill>
                  <a:srgbClr val="1C2430"/>
                </a:solidFill>
                <a:latin typeface="Calibri"/>
              </a:rPr>
              <a:t>LoRa antennas, PCB fabrication, 3D printer for mounts.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071C1"/>
          </a:solidFill>
          <a:ln>
            <a:noFill/>
          </a:ln>
        </p:spPr>
        <p:txBody>
          <a:bodyPr rtlCol="0" anchor="ctr"/>
          <a:lstStyle/>
          <a:p>
            <a:pPr algn="ctr"/>
          </a:p>
        </p:txBody>
      </p:sp>
      <p:sp>
        <p:nvSpPr>
          <p:cNvPr id="3" name="Decor"/>
          <p:cNvSpPr/>
          <p:nvPr/>
        </p:nvSpPr>
        <p:spPr>
          <a:xfrm rot="720000">
            <a:off x="10744200" y="-868680"/>
            <a:ext cx="2103120" cy="2103120"/>
          </a:xfrm>
          <a:prstGeom prst="gear6">
            <a:avLst/>
          </a:prstGeom>
          <a:solidFill>
            <a:srgbClr val="1A83CF"/>
          </a:solidFill>
          <a:ln>
            <a:noFill/>
          </a:ln>
        </p:spPr>
        <p:txBody>
          <a:bodyPr rtlCol="0" anchor="ctr"/>
          <a:lstStyle/>
          <a:p>
            <a:pPr algn="ctr"/>
          </a:p>
        </p:txBody>
      </p:sp>
      <p:sp>
        <p:nvSpPr>
          <p:cNvPr id="4" name="Decor"/>
          <p:cNvSpPr/>
          <p:nvPr/>
        </p:nvSpPr>
        <p:spPr>
          <a:xfrm rot="21120000">
            <a:off x="9921240" y="-502920"/>
            <a:ext cx="1051560" cy="1051560"/>
          </a:xfrm>
          <a:prstGeom prst="gear6">
            <a:avLst/>
          </a:prstGeom>
          <a:solidFill>
            <a:srgbClr val="1479C2"/>
          </a:solidFill>
          <a:ln>
            <a:noFill/>
          </a:ln>
        </p:spPr>
        <p:txBody>
          <a:bodyPr rtlCol="0" anchor="ctr"/>
          <a:lstStyle/>
          <a:p>
            <a:pPr algn="ctr"/>
          </a:p>
        </p:txBody>
      </p:sp>
      <p:sp>
        <p:nvSpPr>
          <p:cNvPr id="5" name="Decor"/>
          <p:cNvSpPr/>
          <p:nvPr/>
        </p:nvSpPr>
        <p:spPr>
          <a:xfrm rot="1200000">
            <a:off x="11155680" y="5623560"/>
            <a:ext cx="1737360" cy="1737360"/>
          </a:xfrm>
          <a:prstGeom prst="gear6">
            <a:avLst/>
          </a:prstGeom>
          <a:solidFill>
            <a:srgbClr val="1479C2"/>
          </a:solidFill>
          <a:ln>
            <a:noFill/>
          </a:ln>
        </p:spPr>
        <p:txBody>
          <a:bodyPr rtlCol="0" anchor="ctr"/>
          <a:lstStyle/>
          <a:p>
            <a:pPr algn="ctr"/>
          </a:p>
        </p:txBody>
      </p:sp>
      <p:sp>
        <p:nvSpPr>
          <p:cNvPr id="6" name="TextBox 5"/>
          <p:cNvSpPr txBox="1"/>
          <p:nvPr/>
        </p:nvSpPr>
        <p:spPr>
          <a:xfrm>
            <a:off x="731520" y="914400"/>
            <a:ext cx="7315200" cy="365760"/>
          </a:xfrm>
          <a:prstGeom prst="rect">
            <a:avLst/>
          </a:prstGeom>
          <a:noFill/>
        </p:spPr>
        <p:txBody>
          <a:bodyPr wrap="square" lIns="45720" rIns="45720" tIns="27432" bIns="27432" anchor="t">
            <a:spAutoFit/>
          </a:bodyPr>
          <a:lstStyle/>
          <a:p>
            <a:pPr algn="l"/>
            <a:r>
              <a:rPr sz="1400" b="1" i="0">
                <a:solidFill>
                  <a:srgbClr val="FFD966"/>
                </a:solidFill>
                <a:latin typeface="Calibri"/>
              </a:rPr>
              <a:t>FTBI–TEXMiN MINING CPS CoE</a:t>
            </a:r>
          </a:p>
        </p:txBody>
      </p:sp>
      <p:sp>
        <p:nvSpPr>
          <p:cNvPr id="7" name="TextBox 6"/>
          <p:cNvSpPr txBox="1"/>
          <p:nvPr/>
        </p:nvSpPr>
        <p:spPr>
          <a:xfrm>
            <a:off x="731520" y="1371600"/>
            <a:ext cx="5943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Thank you.</a:t>
            </a:r>
          </a:p>
        </p:txBody>
      </p:sp>
      <p:sp>
        <p:nvSpPr>
          <p:cNvPr id="8" name="TextBox 7"/>
          <p:cNvSpPr txBox="1"/>
          <p:nvPr/>
        </p:nvSpPr>
        <p:spPr>
          <a:xfrm>
            <a:off x="731520" y="2651760"/>
            <a:ext cx="5669280" cy="1554480"/>
          </a:xfrm>
          <a:prstGeom prst="rect">
            <a:avLst/>
          </a:prstGeom>
          <a:noFill/>
        </p:spPr>
        <p:txBody>
          <a:bodyPr wrap="square" lIns="45720" rIns="45720" tIns="27432" bIns="27432" anchor="t">
            <a:spAutoFit/>
          </a:bodyPr>
          <a:lstStyle/>
          <a:p>
            <a:pPr algn="l"/>
            <a:r>
              <a:rPr sz="1900" b="0" i="0">
                <a:solidFill>
                  <a:srgbClr val="FFFFFF"/>
                </a:solidFill>
                <a:latin typeface="Calibri"/>
              </a:rPr>
              <a:t>Request: ₹15 lakh over 24 months, to take the department’s auto-tracking FSO prototype to a hybrid underground link, validated at TRL 5.</a:t>
            </a:r>
          </a:p>
        </p:txBody>
      </p:sp>
      <p:sp>
        <p:nvSpPr>
          <p:cNvPr id="9" name="Rectangle 8"/>
          <p:cNvSpPr/>
          <p:nvPr/>
        </p:nvSpPr>
        <p:spPr>
          <a:xfrm>
            <a:off x="731520" y="4343400"/>
            <a:ext cx="2011680" cy="18288"/>
          </a:xfrm>
          <a:prstGeom prst="rect">
            <a:avLst/>
          </a:prstGeom>
          <a:solidFill>
            <a:srgbClr val="ED7D31"/>
          </a:solidFill>
          <a:ln>
            <a:noFill/>
          </a:ln>
        </p:spPr>
        <p:txBody>
          <a:bodyPr rtlCol="0" anchor="ctr"/>
          <a:lstStyle/>
          <a:p>
            <a:pPr algn="ctr"/>
          </a:p>
        </p:txBody>
      </p:sp>
      <p:sp>
        <p:nvSpPr>
          <p:cNvPr id="10" name="TextBox 9"/>
          <p:cNvSpPr txBox="1"/>
          <p:nvPr/>
        </p:nvSpPr>
        <p:spPr>
          <a:xfrm>
            <a:off x="731520" y="4526280"/>
            <a:ext cx="5943600" cy="1005840"/>
          </a:xfrm>
          <a:prstGeom prst="rect">
            <a:avLst/>
          </a:prstGeom>
          <a:noFill/>
        </p:spPr>
        <p:txBody>
          <a:bodyPr wrap="square" lIns="45720" rIns="45720" tIns="27432" bIns="27432" anchor="t">
            <a:spAutoFit/>
          </a:bodyPr>
          <a:lstStyle/>
          <a:p>
            <a:pPr algn="l"/>
            <a:r>
              <a:rPr sz="2000" b="1" i="0">
                <a:solidFill>
                  <a:srgbClr val="FFFFFF"/>
                </a:solidFill>
                <a:latin typeface="Calibri"/>
              </a:rPr>
              <a:t>Prof. Sadananda Behera</a:t>
            </a:r>
          </a:p>
          <a:p>
            <a:pPr algn="l"/>
            <a:r>
              <a:rPr sz="1500" b="0" i="0">
                <a:solidFill>
                  <a:srgbClr val="FFFFFF"/>
                </a:solidFill>
                <a:latin typeface="Calibri"/>
              </a:rPr>
              <a:t>Assistant Professor, National Institute of Technology Rourkela</a:t>
            </a:r>
          </a:p>
          <a:p>
            <a:pPr algn="l"/>
            <a:r>
              <a:rPr sz="1500" b="0" i="0">
                <a:solidFill>
                  <a:srgbClr val="FFFFFF"/>
                </a:solidFill>
                <a:latin typeface="Calibri"/>
              </a:rPr>
              <a:t>98610 77539</a:t>
            </a:r>
          </a:p>
        </p:txBody>
      </p:sp>
      <p:sp>
        <p:nvSpPr>
          <p:cNvPr id="11" name="Rectangle 10"/>
          <p:cNvSpPr/>
          <p:nvPr/>
        </p:nvSpPr>
        <p:spPr>
          <a:xfrm>
            <a:off x="6949440" y="1188720"/>
            <a:ext cx="4572000" cy="868680"/>
          </a:xfrm>
          <a:prstGeom prst="rect">
            <a:avLst/>
          </a:prstGeom>
          <a:solidFill>
            <a:srgbClr val="F2F7FB"/>
          </a:solidFill>
          <a:ln>
            <a:noFill/>
          </a:ln>
        </p:spPr>
        <p:txBody>
          <a:bodyPr rtlCol="0" anchor="ctr"/>
          <a:lstStyle/>
          <a:p>
            <a:pPr algn="ctr"/>
          </a:p>
        </p:txBody>
      </p:sp>
      <p:sp>
        <p:nvSpPr>
          <p:cNvPr id="12" name="Rectangle 11"/>
          <p:cNvSpPr/>
          <p:nvPr/>
        </p:nvSpPr>
        <p:spPr>
          <a:xfrm>
            <a:off x="6949440" y="2057400"/>
            <a:ext cx="4572000" cy="73152"/>
          </a:xfrm>
          <a:prstGeom prst="rect">
            <a:avLst/>
          </a:prstGeom>
          <a:solidFill>
            <a:srgbClr val="7C9A5B"/>
          </a:solidFill>
          <a:ln>
            <a:noFill/>
          </a:ln>
        </p:spPr>
        <p:txBody>
          <a:bodyPr rtlCol="0" anchor="ctr"/>
          <a:lstStyle/>
          <a:p>
            <a:pPr algn="ctr"/>
          </a:p>
        </p:txBody>
      </p:sp>
      <p:pic>
        <p:nvPicPr>
          <p:cNvPr id="13" name="Picture" descr="Rock texture"/>
          <p:cNvPicPr>
            <a:picLocks noChangeAspect="1"/>
          </p:cNvPicPr>
          <p:nvPr/>
        </p:nvPicPr>
        <p:blipFill>
          <a:blip r:embed="rId2"/>
          <a:srcRect t="1149" b="3679"/>
          <a:stretch>
            <a:fillRect/>
          </a:stretch>
        </p:blipFill>
        <p:spPr>
          <a:xfrm>
            <a:off x="6949440" y="2130552"/>
            <a:ext cx="4572000" cy="731520"/>
          </a:xfrm>
          <a:prstGeom prst="rect">
            <a:avLst/>
          </a:prstGeom>
        </p:spPr>
      </p:pic>
      <p:sp>
        <p:nvSpPr>
          <p:cNvPr id="14" name="Rectangle 13"/>
          <p:cNvSpPr/>
          <p:nvPr/>
        </p:nvSpPr>
        <p:spPr>
          <a:xfrm>
            <a:off x="6949440" y="2862072"/>
            <a:ext cx="4572000" cy="1920240"/>
          </a:xfrm>
          <a:prstGeom prst="rect">
            <a:avLst/>
          </a:prstGeom>
          <a:solidFill>
            <a:srgbClr val="F4F1EC"/>
          </a:solidFill>
          <a:ln>
            <a:noFill/>
          </a:ln>
        </p:spPr>
        <p:txBody>
          <a:bodyPr rtlCol="0" anchor="ctr"/>
          <a:lstStyle/>
          <a:p>
            <a:pPr algn="ctr"/>
          </a:p>
        </p:txBody>
      </p:sp>
      <p:sp>
        <p:nvSpPr>
          <p:cNvPr id="15" name="Rectangle 14"/>
          <p:cNvSpPr/>
          <p:nvPr/>
        </p:nvSpPr>
        <p:spPr>
          <a:xfrm>
            <a:off x="6949440" y="4700016"/>
            <a:ext cx="4572000" cy="82296"/>
          </a:xfrm>
          <a:prstGeom prst="rect">
            <a:avLst/>
          </a:prstGeom>
          <a:solidFill>
            <a:srgbClr val="D8D2C6"/>
          </a:solidFill>
          <a:ln>
            <a:noFill/>
          </a:ln>
        </p:spPr>
        <p:txBody>
          <a:bodyPr rtlCol="0" anchor="ctr"/>
          <a:lstStyle/>
          <a:p>
            <a:pPr algn="ctr"/>
          </a:p>
        </p:txBody>
      </p:sp>
      <p:sp>
        <p:nvSpPr>
          <p:cNvPr id="16" name="Rectangle 15"/>
          <p:cNvSpPr/>
          <p:nvPr/>
        </p:nvSpPr>
        <p:spPr>
          <a:xfrm>
            <a:off x="6949440" y="2862072"/>
            <a:ext cx="4572000" cy="36576"/>
          </a:xfrm>
          <a:prstGeom prst="rect">
            <a:avLst/>
          </a:prstGeom>
          <a:solidFill>
            <a:srgbClr val="7A6350"/>
          </a:solidFill>
          <a:ln>
            <a:noFill/>
          </a:ln>
        </p:spPr>
        <p:txBody>
          <a:bodyPr rtlCol="0" anchor="ctr"/>
          <a:lstStyle/>
          <a:p>
            <a:pPr algn="ctr"/>
          </a:p>
        </p:txBody>
      </p:sp>
      <p:pic>
        <p:nvPicPr>
          <p:cNvPr id="17" name="Picture" descr="Rock texture"/>
          <p:cNvPicPr>
            <a:picLocks noChangeAspect="1"/>
          </p:cNvPicPr>
          <p:nvPr/>
        </p:nvPicPr>
        <p:blipFill>
          <a:blip r:embed="rId2"/>
          <a:srcRect l="3025" r="10318"/>
          <a:stretch>
            <a:fillRect/>
          </a:stretch>
        </p:blipFill>
        <p:spPr>
          <a:xfrm>
            <a:off x="6949440" y="4782312"/>
            <a:ext cx="4572000" cy="886968"/>
          </a:xfrm>
          <a:prstGeom prst="rect">
            <a:avLst/>
          </a:prstGeom>
        </p:spPr>
      </p:pic>
      <p:cxnSp>
        <p:nvCxnSpPr>
          <p:cNvPr id="18" name="Connector 17"/>
          <p:cNvCxnSpPr/>
          <p:nvPr/>
        </p:nvCxnSpPr>
        <p:spPr>
          <a:xfrm flipH="1">
            <a:off x="10665561" y="1325880"/>
            <a:ext cx="124359" cy="731520"/>
          </a:xfrm>
          <a:prstGeom prst="line">
            <a:avLst/>
          </a:prstGeom>
          <a:ln w="31750">
            <a:solidFill>
              <a:srgbClr val="1A1A1A"/>
            </a:solidFill>
          </a:ln>
        </p:spPr>
      </p:cxnSp>
      <p:cxnSp>
        <p:nvCxnSpPr>
          <p:cNvPr id="19" name="Connector 18"/>
          <p:cNvCxnSpPr/>
          <p:nvPr/>
        </p:nvCxnSpPr>
        <p:spPr>
          <a:xfrm>
            <a:off x="10789920" y="1325880"/>
            <a:ext cx="124358" cy="731520"/>
          </a:xfrm>
          <a:prstGeom prst="line">
            <a:avLst/>
          </a:prstGeom>
          <a:ln w="31750">
            <a:solidFill>
              <a:srgbClr val="1A1A1A"/>
            </a:solidFill>
          </a:ln>
        </p:spPr>
      </p:cxnSp>
      <p:cxnSp>
        <p:nvCxnSpPr>
          <p:cNvPr id="20" name="Connector 19"/>
          <p:cNvCxnSpPr/>
          <p:nvPr/>
        </p:nvCxnSpPr>
        <p:spPr>
          <a:xfrm>
            <a:off x="10716768" y="1837943"/>
            <a:ext cx="146304" cy="0"/>
          </a:xfrm>
          <a:prstGeom prst="line">
            <a:avLst/>
          </a:prstGeom>
          <a:ln w="19050">
            <a:solidFill>
              <a:srgbClr val="1A1A1A"/>
            </a:solidFill>
          </a:ln>
        </p:spPr>
      </p:cxnSp>
      <p:cxnSp>
        <p:nvCxnSpPr>
          <p:cNvPr id="21" name="Connector 20"/>
          <p:cNvCxnSpPr/>
          <p:nvPr/>
        </p:nvCxnSpPr>
        <p:spPr>
          <a:xfrm>
            <a:off x="10746028" y="1618488"/>
            <a:ext cx="87783" cy="0"/>
          </a:xfrm>
          <a:prstGeom prst="line">
            <a:avLst/>
          </a:prstGeom>
          <a:ln w="19050">
            <a:solidFill>
              <a:srgbClr val="1A1A1A"/>
            </a:solidFill>
          </a:ln>
        </p:spPr>
      </p:cxnSp>
      <p:sp>
        <p:nvSpPr>
          <p:cNvPr id="22" name="Oval 21"/>
          <p:cNvSpPr/>
          <p:nvPr/>
        </p:nvSpPr>
        <p:spPr>
          <a:xfrm>
            <a:off x="10738713" y="1274673"/>
            <a:ext cx="102412" cy="102412"/>
          </a:xfrm>
          <a:prstGeom prst="ellipse">
            <a:avLst/>
          </a:prstGeom>
          <a:solidFill>
            <a:srgbClr val="E8445A"/>
          </a:solidFill>
          <a:ln>
            <a:noFill/>
          </a:ln>
        </p:spPr>
        <p:txBody>
          <a:bodyPr rtlCol="0" anchor="ctr"/>
          <a:lstStyle/>
          <a:p>
            <a:pPr algn="ctr"/>
          </a:p>
        </p:txBody>
      </p:sp>
      <p:pic>
        <p:nvPicPr>
          <p:cNvPr id="23" name="Picture" descr="Monitoring dashboard"/>
          <p:cNvPicPr>
            <a:picLocks noChangeAspect="1"/>
          </p:cNvPicPr>
          <p:nvPr/>
        </p:nvPicPr>
        <p:blipFill>
          <a:blip r:embed="rId3"/>
          <a:stretch>
            <a:fillRect/>
          </a:stretch>
        </p:blipFill>
        <p:spPr>
          <a:xfrm>
            <a:off x="7772400" y="1463040"/>
            <a:ext cx="704088" cy="566928"/>
          </a:xfrm>
          <a:prstGeom prst="rect">
            <a:avLst/>
          </a:prstGeom>
        </p:spPr>
      </p:pic>
      <p:pic>
        <p:nvPicPr>
          <p:cNvPr id="24" name="Picture" descr="Camera head on a tripod, laser facing right"/>
          <p:cNvPicPr>
            <a:picLocks noChangeAspect="1"/>
          </p:cNvPicPr>
          <p:nvPr/>
        </p:nvPicPr>
        <p:blipFill>
          <a:blip r:embed="rId4"/>
          <a:stretch>
            <a:fillRect/>
          </a:stretch>
        </p:blipFill>
        <p:spPr>
          <a:xfrm>
            <a:off x="7197520" y="3374136"/>
            <a:ext cx="783998" cy="1325880"/>
          </a:xfrm>
          <a:prstGeom prst="rect">
            <a:avLst/>
          </a:prstGeom>
        </p:spPr>
      </p:pic>
      <p:pic>
        <p:nvPicPr>
          <p:cNvPr id="25" name="Picture" descr="Camera head on a tripod, laser facing left"/>
          <p:cNvPicPr>
            <a:picLocks noChangeAspect="1"/>
          </p:cNvPicPr>
          <p:nvPr/>
        </p:nvPicPr>
        <p:blipFill>
          <a:blip r:embed="rId5"/>
          <a:stretch>
            <a:fillRect/>
          </a:stretch>
        </p:blipFill>
        <p:spPr>
          <a:xfrm>
            <a:off x="8382066" y="3374136"/>
            <a:ext cx="968468" cy="1325880"/>
          </a:xfrm>
          <a:prstGeom prst="rect">
            <a:avLst/>
          </a:prstGeom>
        </p:spPr>
      </p:pic>
      <p:pic>
        <p:nvPicPr>
          <p:cNvPr id="26" name="Picture" descr="Camera head on a tripod, laser facing right"/>
          <p:cNvPicPr>
            <a:picLocks noChangeAspect="1"/>
          </p:cNvPicPr>
          <p:nvPr/>
        </p:nvPicPr>
        <p:blipFill>
          <a:blip r:embed="rId4"/>
          <a:stretch>
            <a:fillRect/>
          </a:stretch>
        </p:blipFill>
        <p:spPr>
          <a:xfrm>
            <a:off x="9396255" y="3374136"/>
            <a:ext cx="783998" cy="1325880"/>
          </a:xfrm>
          <a:prstGeom prst="rect">
            <a:avLst/>
          </a:prstGeom>
        </p:spPr>
      </p:pic>
      <p:pic>
        <p:nvPicPr>
          <p:cNvPr id="27" name="Picture" descr="Camera head on a tripod, laser facing left"/>
          <p:cNvPicPr>
            <a:picLocks noChangeAspect="1"/>
          </p:cNvPicPr>
          <p:nvPr/>
        </p:nvPicPr>
        <p:blipFill>
          <a:blip r:embed="rId5"/>
          <a:stretch>
            <a:fillRect/>
          </a:stretch>
        </p:blipFill>
        <p:spPr>
          <a:xfrm>
            <a:off x="10397125" y="3374136"/>
            <a:ext cx="968468" cy="1325880"/>
          </a:xfrm>
          <a:prstGeom prst="rect">
            <a:avLst/>
          </a:prstGeom>
        </p:spPr>
      </p:pic>
      <p:sp>
        <p:nvSpPr>
          <p:cNvPr id="28" name="Rectangle 27"/>
          <p:cNvSpPr/>
          <p:nvPr/>
        </p:nvSpPr>
        <p:spPr>
          <a:xfrm>
            <a:off x="7981519" y="3438875"/>
            <a:ext cx="400546" cy="146304"/>
          </a:xfrm>
          <a:prstGeom prst="rect">
            <a:avLst/>
          </a:prstGeom>
          <a:solidFill>
            <a:srgbClr val="ED7D31">
              <a:alpha val="28000"/>
            </a:srgbClr>
          </a:solidFill>
          <a:ln>
            <a:noFill/>
          </a:ln>
        </p:spPr>
        <p:txBody>
          <a:bodyPr rtlCol="0" anchor="ctr"/>
          <a:lstStyle/>
          <a:p>
            <a:pPr algn="ctr"/>
          </a:p>
        </p:txBody>
      </p:sp>
      <p:sp>
        <p:nvSpPr>
          <p:cNvPr id="29" name="Rectangle 28"/>
          <p:cNvSpPr/>
          <p:nvPr/>
        </p:nvSpPr>
        <p:spPr>
          <a:xfrm>
            <a:off x="7981519" y="3489167"/>
            <a:ext cx="400546" cy="45720"/>
          </a:xfrm>
          <a:prstGeom prst="rect">
            <a:avLst/>
          </a:prstGeom>
          <a:solidFill>
            <a:srgbClr val="ED7D31"/>
          </a:solidFill>
          <a:ln>
            <a:noFill/>
          </a:ln>
        </p:spPr>
        <p:txBody>
          <a:bodyPr rtlCol="0" anchor="ctr"/>
          <a:lstStyle/>
          <a:p>
            <a:pPr algn="ctr"/>
          </a:p>
        </p:txBody>
      </p:sp>
      <p:sp>
        <p:nvSpPr>
          <p:cNvPr id="30" name="Rectangle 29"/>
          <p:cNvSpPr/>
          <p:nvPr/>
        </p:nvSpPr>
        <p:spPr>
          <a:xfrm>
            <a:off x="10180253" y="3438875"/>
            <a:ext cx="216871" cy="146304"/>
          </a:xfrm>
          <a:prstGeom prst="rect">
            <a:avLst/>
          </a:prstGeom>
          <a:solidFill>
            <a:srgbClr val="ED7D31">
              <a:alpha val="28000"/>
            </a:srgbClr>
          </a:solidFill>
          <a:ln>
            <a:noFill/>
          </a:ln>
        </p:spPr>
        <p:txBody>
          <a:bodyPr rtlCol="0" anchor="ctr"/>
          <a:lstStyle/>
          <a:p>
            <a:pPr algn="ctr"/>
          </a:p>
        </p:txBody>
      </p:sp>
      <p:sp>
        <p:nvSpPr>
          <p:cNvPr id="31" name="Rectangle 30"/>
          <p:cNvSpPr/>
          <p:nvPr/>
        </p:nvSpPr>
        <p:spPr>
          <a:xfrm>
            <a:off x="10180253" y="3489167"/>
            <a:ext cx="216871" cy="45720"/>
          </a:xfrm>
          <a:prstGeom prst="rect">
            <a:avLst/>
          </a:prstGeom>
          <a:solidFill>
            <a:srgbClr val="ED7D31"/>
          </a:solidFill>
          <a:ln>
            <a:noFill/>
          </a:ln>
        </p:spPr>
        <p:txBody>
          <a:bodyPr rtlCol="0" anchor="ctr"/>
          <a:lstStyle/>
          <a:p>
            <a:pPr algn="ctr"/>
          </a:p>
        </p:txBody>
      </p:sp>
      <p:cxnSp>
        <p:nvCxnSpPr>
          <p:cNvPr id="32" name="Connector 31"/>
          <p:cNvCxnSpPr/>
          <p:nvPr/>
        </p:nvCxnSpPr>
        <p:spPr>
          <a:xfrm flipV="1">
            <a:off x="9281159" y="1600200"/>
            <a:ext cx="1508761" cy="1773936"/>
          </a:xfrm>
          <a:prstGeom prst="line">
            <a:avLst/>
          </a:prstGeom>
          <a:ln w="15875">
            <a:solidFill>
              <a:srgbClr val="404040"/>
            </a:solidFill>
            <a:prstDash val="sysDot"/>
          </a:ln>
        </p:spPr>
      </p:cxnSp>
      <p:sp>
        <p:nvSpPr>
          <p:cNvPr id="33" name="Rounded Rectangle 32"/>
          <p:cNvSpPr/>
          <p:nvPr/>
        </p:nvSpPr>
        <p:spPr>
          <a:xfrm>
            <a:off x="731520" y="5577840"/>
            <a:ext cx="5029200" cy="777240"/>
          </a:xfrm>
          <a:prstGeom prst="roundRect">
            <a:avLst>
              <a:gd name="adj" fmla="val 20000"/>
            </a:avLst>
          </a:prstGeom>
          <a:solidFill>
            <a:srgbClr val="FFFFFF"/>
          </a:solidFill>
          <a:ln>
            <a:noFill/>
          </a:ln>
        </p:spPr>
        <p:txBody>
          <a:bodyPr rtlCol="0" anchor="ctr"/>
          <a:lstStyle/>
          <a:p>
            <a:pPr algn="ctr"/>
          </a:p>
        </p:txBody>
      </p:sp>
      <p:pic>
        <p:nvPicPr>
          <p:cNvPr id="34" name="Picture" descr="NIT Rourkela logo"/>
          <p:cNvPicPr>
            <a:picLocks noChangeAspect="1"/>
          </p:cNvPicPr>
          <p:nvPr/>
        </p:nvPicPr>
        <p:blipFill>
          <a:blip r:embed="rId6"/>
          <a:stretch>
            <a:fillRect/>
          </a:stretch>
        </p:blipFill>
        <p:spPr>
          <a:xfrm>
            <a:off x="914400" y="5641848"/>
            <a:ext cx="640080" cy="640080"/>
          </a:xfrm>
          <a:prstGeom prst="rect">
            <a:avLst/>
          </a:prstGeom>
        </p:spPr>
      </p:pic>
      <p:pic>
        <p:nvPicPr>
          <p:cNvPr id="35" name="Picture" descr="FTBI logo"/>
          <p:cNvPicPr>
            <a:picLocks noChangeAspect="1"/>
          </p:cNvPicPr>
          <p:nvPr/>
        </p:nvPicPr>
        <p:blipFill>
          <a:blip r:embed="rId7"/>
          <a:stretch>
            <a:fillRect/>
          </a:stretch>
        </p:blipFill>
        <p:spPr>
          <a:xfrm>
            <a:off x="1783080" y="5641848"/>
            <a:ext cx="548640" cy="630936"/>
          </a:xfrm>
          <a:prstGeom prst="rect">
            <a:avLst/>
          </a:prstGeom>
        </p:spPr>
      </p:pic>
      <p:pic>
        <p:nvPicPr>
          <p:cNvPr id="36" name="Picture" descr="TEXMiN logo"/>
          <p:cNvPicPr>
            <a:picLocks noChangeAspect="1"/>
          </p:cNvPicPr>
          <p:nvPr/>
        </p:nvPicPr>
        <p:blipFill>
          <a:blip r:embed="rId8"/>
          <a:stretch>
            <a:fillRect/>
          </a:stretch>
        </p:blipFill>
        <p:spPr>
          <a:xfrm>
            <a:off x="2880360" y="5669280"/>
            <a:ext cx="1920240" cy="612648"/>
          </a:xfrm>
          <a:prstGeom prst="rect">
            <a:avLst/>
          </a:prstGeom>
        </p:spPr>
      </p:pic>
      <p:sp>
        <p:nvSpPr>
          <p:cNvPr id="37" name="Footer rule"/>
          <p:cNvSpPr/>
          <p:nvPr/>
        </p:nvSpPr>
        <p:spPr>
          <a:xfrm>
            <a:off x="457200" y="6565392"/>
            <a:ext cx="11292840" cy="9144"/>
          </a:xfrm>
          <a:prstGeom prst="rect">
            <a:avLst/>
          </a:prstGeom>
          <a:solidFill>
            <a:srgbClr val="C9DCEA"/>
          </a:solidFill>
          <a:ln>
            <a:noFill/>
          </a:ln>
        </p:spPr>
        <p:txBody>
          <a:bodyPr rtlCol="0" anchor="ctr"/>
          <a:lstStyle/>
          <a:p>
            <a:pPr algn="ctr"/>
          </a:p>
        </p:txBody>
      </p:sp>
      <p:sp>
        <p:nvSpPr>
          <p:cNvPr id="3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9FB2BD"/>
                </a:solidFill>
                <a:latin typeface="Calibri"/>
              </a:rPr>
              <a:t>NIT Rourkela   ·   FTBI–TEXMiN   ·   Close</a:t>
            </a:r>
          </a:p>
        </p:txBody>
      </p:sp>
      <p:sp>
        <p:nvSpPr>
          <p:cNvPr id="3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9FB2BD"/>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16</Slides>
  <Notes>16</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
  <cp:lastModifiedBy>Prof. Sadananda Behera, NIT Rourkela</cp:lastModifiedBy>
  <cp:revision>1</cp:revision>
  <dcterms:created xsi:type="dcterms:W3CDTF">2026-10-26T06:02:30Z</dcterms:created>
  <dcterms:modified xsi:type="dcterms:W3CDTF">2026-10-26T06:02:30Z</dcterms:modified>
  <cp:category/>
</cp:coreProperties>
</file>