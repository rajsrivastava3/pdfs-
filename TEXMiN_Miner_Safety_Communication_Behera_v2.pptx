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in one sentence, then the frame.</a:t>
            </a:r>
          </a:p>
          <a:p/>
          <a:p>
            <a:r>
              <a:t>Underground mines lose the link to the surface when it is most needed. This proposal builds a hybrid link: real-time video on a free-space optical hop of 50 to 100 metres, and a LoRa path for control and alerts when that hop is down.</a:t>
            </a:r>
          </a:p>
          <a:p/>
          <a:p>
            <a:r>
              <a:t>State the frame: NIT Rourkela, 4S Mining, 15 lakh, 24 months, TRL 2 to TRL 5. Say that an industry letter is not attached; the plan for it is a later slide. A working auto-tracking FSO prototype already exists in the department and will be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 once. Then the four points, without adding claims.</a:t>
            </a:r>
          </a:p>
          <a:p/>
          <a:p>
            <a:r>
              <a:t>Point 2 is the one to pause on: alignment is not a new start. The department already has a working auto-tracking FSO prototype. This grant puts video on it, adds LoRa, and makes it a mine node.</a:t>
            </a:r>
          </a:p>
          <a:p/>
          <a:p>
            <a:r>
              <a:t>Point 4 is the limit of the grant: laboratory plus a tunnel-like or underground test. A production-mine product trial comes after.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background from the earlier deck, stated plainly.</a:t>
            </a:r>
          </a:p>
          <a:p/>
          <a:p>
            <a:r>
              <a:t>Present practice is leaky feeder and wired phones, plus low-rate radio. It is enough for voice on a drift that is still intact. It is not enough when the cable goes with the fall, and it never shows the face.</a:t>
            </a:r>
          </a:p>
          <a:p/>
          <a:p>
            <a:r>
              <a:t>DGMS: do not promise certification in this grant. Say that dependable communication is part of mine safety practice, and that any statutory clearance will be taken before production deployment, as written in the proposal.</a:t>
            </a:r>
          </a:p>
          <a:p/>
          <a:p>
            <a:r>
              <a:t>If asked what changed since the earlier presentation: the problem is the same. The system in the submitted proposal is the hybrid FSO–LoRa relay, built on the auto-tracking hardware already in the department. A handheld RFID device is not the deliverable of this grant.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on the last column. Cable reaches the surface until it is cut. LoRa can carry the alert and cannot carry the video. FSO can carry the video and loses it when the mount moves. This proposal keeps both, on a hop the length of a straight stretch of tunnel.</a:t>
            </a:r>
          </a:p>
          <a:p/>
          <a:p>
            <a:r>
              <a:t>Do not claim this replaces leaky feeder for voice across a whole mine. It is a heading kit: video on the clear spans, an alert that does not share the fate of the cable.</a:t>
            </a:r>
          </a:p>
          <a:p/>
          <a:p>
            <a:r>
              <a:t>4S is the focus area ticked in the proposal. One clause each is enough.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points 2 and 3. Those answer the objection that FSO cannot work underground.</a:t>
            </a:r>
          </a:p>
          <a:p/>
          <a:p>
            <a:r>
              <a:t>Point 2: the link is along the open tunnel, 50 to 100 metres, then repeated. Point 3: the mount is part of the link, and the first version of it already runs in the department.</a:t>
            </a:r>
          </a:p>
          <a:p/>
          <a:p>
            <a:r>
              <a:t>Point 1 is the architecture in the proposal figure. Point 4 is the mining use of the bandwidth. Point 5 is why the work belongs in a CPS centre.</a:t>
            </a:r>
          </a:p>
          <a:p/>
          <a:p>
            <a:r>
              <a:t>Import, if there is time: mine communication systems of this class are largely bought from Germany, the USA and China. This is an indigenous design for the tunnel in front of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figure up. Walk it left to right.</a:t>
            </a:r>
          </a:p>
          <a:p/>
          <a:p>
            <a:r>
              <a:t>Each underground node has four parts: FSO laser, IMU, motorized alignment, LoRa. The optical beam between two nodes is the video path, 50 to 100 metres, steered by the IMU. The chain continues to transceiver n. The surface station receives the monitoring view and the LoRa alerts.</a:t>
            </a:r>
          </a:p>
          <a:p/>
          <a:p>
            <a:r>
              <a:t>If a span is blocked or the beam walks off, the video on that span stops and the LoRa alert does not. The tracking loop then tries to reacquire.</a:t>
            </a:r>
          </a:p>
          <a:p/>
          <a:p>
            <a:r>
              <a:t>Do not invent a bitrate or a latency. Those targets are fixed in the first three months, after the camera and the laser are selected.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photograph. Say clearly: this is a working auto-tracking FSO system in the department, and the project will use it.</a:t>
            </a:r>
          </a:p>
          <a:p/>
          <a:p>
            <a:r>
              <a:t>Do not quote a range or an accuracy for this unit unless you have the measured number in front of you. The design target for the mine hop, 50 to 100 metres, is the proposal target, not a result already claimed for this bench unit.</a:t>
            </a:r>
          </a:p>
          <a:p/>
          <a:p>
            <a:r>
              <a:t>Then the four additions: video, LoRa, relays, underground enclosure and trial. The feasibility points are physics and facilities, not adjectives.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every row. Give the gates: month 3 hardware, month 7 architecture, month 11 tracker, month 16 integrated prototype, month 19 laboratory, month 22 tunnel-like test, month 24 patent and commercialization plan.</a:t>
            </a:r>
          </a:p>
          <a:p/>
          <a:p>
            <a:r>
              <a:t>Point at months 8 to 11 and say that this block adapts the prototype already running in the department. The dates in the proposal are unchanged.</a:t>
            </a:r>
          </a:p>
          <a:p/>
          <a:p>
            <a:r>
              <a:t>The tunnel trial does not start unless the month 16 and month 19 results justify it. If the optical hop drops during the trial, LoRa is the path under test for the alert.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exact on the numbers. Do not raise the integrated system above TRL 2. The proposal says TRL 2. What is ahead of that is the auto-tracking prototype, which is a subsystem, not the whole mine link.</a:t>
            </a:r>
          </a:p>
          <a:p/>
          <a:p>
            <a:r>
              <a:t>Month 24 commitment is TRL 5: relevant environment, meaning tunnel-like or underground, not only the optical bench. TRL 6 needs a partner or TEXMiN site and is outside this budget.</a:t>
            </a:r>
          </a:p>
          <a:p/>
          <a:p>
            <a:r>
              <a:t>If they ask for numbers we will measure, and not for numbers we already have: hop length against 50–100 m, video continuity, time to realign, whether the alert arrives when the beam is blocked, and energy per node. Latency and bitrate are set in months 1 to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first sentence before anyone asks. A letter is not in the file.</a:t>
            </a:r>
          </a:p>
          <a:p/>
          <a:p>
            <a:r>
              <a:t>Do not name Coal India or any other company as a partner. They are the class of user.</a:t>
            </a:r>
          </a:p>
          <a:p/>
          <a:p>
            <a:r>
              <a:t>The useful introduction from the committee is a safety or communications engineer who will spend time on constraints in months 6 to 12, before the mechanical design is frozen.</a:t>
            </a:r>
          </a:p>
          <a:p/>
          <a:p>
            <a:r>
              <a:t>Regulatory clearance is taken before product deployment, as the proposal states, not before the laboratory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side of the argument is the four measurements. Read one of them: when the beam is blocked, does the alert still arrive?</a:t>
            </a:r>
          </a:p>
          <a:p/>
          <a:p>
            <a:r>
              <a:t>Do not quote lives saved, downtime percentages or rupees. We do not have those figures. The trial is how they would be obtained.</a:t>
            </a:r>
          </a:p>
          <a:p/>
          <a:p>
            <a:r>
              <a:t>Commercial unit is a heading: node, relays, surface station. That is why a 15 lakh prototype is a step toward a product.</a:t>
            </a:r>
          </a:p>
          <a:p/>
          <a:p>
            <a:r>
              <a:t>Later extensions, only if asked: video analytics, gas-trend monitoring, robotic nodes. They are in the proposal as future work. They are not month-24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of credibility: the PI’s work is optical links under impairment, and hardware that leaves the simulator. This project points that at a mine heading.</a:t>
            </a:r>
          </a:p>
          <a:p/>
          <a:p>
            <a:r>
              <a:t>Do not read the publication list. If asked: JLT and JOCN; Indian patent application 202631017889, published 2026; two ongoing DoT projects, of which the hybrid transceiver is the closest.</a:t>
            </a:r>
          </a:p>
          <a:p/>
          <a:p>
            <a:r>
              <a:t>The question to expect: there is no mining co-PI. Answer from the third bullet. Mining constraints enter through TEXMiN and the industry workshop. This group builds the link.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fifteen lakh, no overhead, two people and the hardware for one heading.</a:t>
            </a:r>
          </a:p>
          <a:p/>
          <a:p>
            <a:r>
              <a:t>The columns add up: 7.20 + 3.50 + 1.50 + 1.50 + 1.30 = 15.00. Year split 7.60 and 7.40.</a:t>
            </a:r>
          </a:p>
          <a:p/>
          <a:p>
            <a:r>
              <a:t>Salary is the largest head because the work is a build. Two assistants at 15,000 rupees a month for 24 months is 7.20 lakh. Equipment stays at 3.50 lakh because the unit under test is a heading, not a mine-wide installation. Travel is higher in year 2 because that is the tunnel trial.</a:t>
            </a:r>
          </a:p>
          <a:p/>
          <a:p>
            <a:r>
              <a:t>Gas, temperature and humidity sensors are in the proposal justification and sit inside the hardware and consumables.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request once and stop. Invite questions.</a:t>
            </a:r>
          </a:p>
          <a:p/>
          <a:p>
            <a:r>
              <a:t>Answers to keep short:</a:t>
            </a:r>
          </a:p>
          <a:p/>
          <a:p>
            <a:r>
              <a:t>Letter — not in the file. Months 1–6 find the counterpart, 6–12 learn their heading, 18–22 trial with them present.</a:t>
            </a:r>
          </a:p>
          <a:p/>
          <a:p>
            <a:r>
              <a:t>Why FSO underground — the beam crosses open tunnel, 50–100 m, not rock. Relays follow the heading. The IMU mount exists because a fixed bracket will not hold, and a version of it already runs in the department.</a:t>
            </a:r>
          </a:p>
          <a:p/>
          <a:p>
            <a:r>
              <a:t>Leaky feeder — remains useful for voice on an equipped drift. This work adds a picture and an alert path on one heading.</a:t>
            </a:r>
          </a:p>
          <a:p/>
          <a:p>
            <a:r>
              <a:t>TRL — integrated system is TRL 2. Auto-tracking prototype is already working. Target is TRL 5. TRL 6 needs a partner site.</a:t>
            </a:r>
          </a:p>
          <a:p/>
          <a:p>
            <a:r>
              <a:t>No mining co-PI — TEXMiN mentors and the month-6 workshop. The enclosure is not frozen before that.</a:t>
            </a:r>
          </a:p>
          <a:p/>
          <a:p>
            <a:r>
              <a:t>Audio — the new capacity is live video. LoRa carries alerts and control.</a:t>
            </a:r>
          </a:p>
          <a:p/>
          <a:p>
            <a:r>
              <a:t>Laser safety — power, enclosure and exposure are part of the month-6 constraints. Clearance before any production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pic>
        <p:nvPicPr>
          <p:cNvPr id="4" name="Picture 3" descr="prop_image3.png"/>
          <p:cNvPicPr>
            <a:picLocks noChangeAspect="1"/>
          </p:cNvPicPr>
          <p:nvPr/>
        </p:nvPicPr>
        <p:blipFill>
          <a:blip r:embed="rId2"/>
          <a:stretch>
            <a:fillRect/>
          </a:stretch>
        </p:blipFill>
        <p:spPr>
          <a:xfrm>
            <a:off x="411480" y="256032"/>
            <a:ext cx="741340" cy="713232"/>
          </a:xfrm>
          <a:prstGeom prst="rect">
            <a:avLst/>
          </a:prstGeom>
        </p:spPr>
      </p:pic>
      <p:pic>
        <p:nvPicPr>
          <p:cNvPr id="5" name="Picture 4" descr="prop_image4.png"/>
          <p:cNvPicPr>
            <a:picLocks noChangeAspect="1"/>
          </p:cNvPicPr>
          <p:nvPr/>
        </p:nvPicPr>
        <p:blipFill>
          <a:blip r:embed="rId3"/>
          <a:stretch>
            <a:fillRect/>
          </a:stretch>
        </p:blipFill>
        <p:spPr>
          <a:xfrm>
            <a:off x="1325880" y="292608"/>
            <a:ext cx="570950" cy="658368"/>
          </a:xfrm>
          <a:prstGeom prst="rect">
            <a:avLst/>
          </a:prstGeom>
        </p:spPr>
      </p:pic>
      <p:pic>
        <p:nvPicPr>
          <p:cNvPr id="6" name="Picture 5" descr="prop_image5.png"/>
          <p:cNvPicPr>
            <a:picLocks noChangeAspect="1"/>
          </p:cNvPicPr>
          <p:nvPr/>
        </p:nvPicPr>
        <p:blipFill>
          <a:blip r:embed="rId4"/>
          <a:stretch>
            <a:fillRect/>
          </a:stretch>
        </p:blipFill>
        <p:spPr>
          <a:xfrm>
            <a:off x="9646920" y="292608"/>
            <a:ext cx="2000250" cy="640080"/>
          </a:xfrm>
          <a:prstGeom prst="rect">
            <a:avLst/>
          </a:prstGeom>
        </p:spPr>
      </p:pic>
      <p:sp>
        <p:nvSpPr>
          <p:cNvPr id="7" name="TextBox 6"/>
          <p:cNvSpPr txBox="1"/>
          <p:nvPr/>
        </p:nvSpPr>
        <p:spPr>
          <a:xfrm>
            <a:off x="457200" y="1143000"/>
            <a:ext cx="11247120" cy="274320"/>
          </a:xfrm>
          <a:prstGeom prst="rect">
            <a:avLst/>
          </a:prstGeom>
          <a:noFill/>
        </p:spPr>
        <p:txBody>
          <a:bodyPr wrap="square" lIns="18288" rIns="18288" tIns="0" bIns="0" anchor="t"/>
          <a:lstStyle/>
          <a:p>
            <a:pPr algn="l">
              <a:spcBef>
                <a:spcPts val="0"/>
              </a:spcBef>
              <a:spcAft>
                <a:spcPts val="0"/>
              </a:spcAft>
            </a:pPr>
            <a:r>
              <a:rPr sz="1400" b="1" i="0">
                <a:solidFill>
                  <a:srgbClr val="B5740A"/>
                </a:solidFill>
                <a:latin typeface="Calibri"/>
                <a:ea typeface="Calibri"/>
                <a:cs typeface="Calibri"/>
              </a:rPr>
              <a:t>TECHNOLOGY DEVELOPMENT PROPOSAL    ·    FTBI–TEXMiN MINING CPS CoE</a:t>
            </a:r>
          </a:p>
        </p:txBody>
      </p:sp>
      <p:sp>
        <p:nvSpPr>
          <p:cNvPr id="8" name="TextBox 7"/>
          <p:cNvSpPr txBox="1"/>
          <p:nvPr/>
        </p:nvSpPr>
        <p:spPr>
          <a:xfrm>
            <a:off x="438912" y="1554480"/>
            <a:ext cx="11247120" cy="1828800"/>
          </a:xfrm>
          <a:prstGeom prst="rect">
            <a:avLst/>
          </a:prstGeom>
          <a:noFill/>
        </p:spPr>
        <p:txBody>
          <a:bodyPr wrap="square" lIns="18288" rIns="18288" tIns="0" bIns="0" anchor="t"/>
          <a:lstStyle/>
          <a:p>
            <a:pPr algn="l">
              <a:spcBef>
                <a:spcPts val="0"/>
              </a:spcBef>
              <a:spcAft>
                <a:spcPts val="0"/>
              </a:spcAft>
            </a:pPr>
            <a:r>
              <a:rPr sz="3600" b="1" i="0">
                <a:solidFill>
                  <a:srgbClr val="1B3A4B"/>
                </a:solidFill>
                <a:latin typeface="Calibri"/>
                <a:ea typeface="Calibri"/>
                <a:cs typeface="Calibri"/>
              </a:rPr>
              <a:t>Underground Audio/Video</a:t>
            </a:r>
          </a:p>
          <a:p>
            <a:pPr algn="l">
              <a:spcBef>
                <a:spcPts val="0"/>
              </a:spcBef>
              <a:spcAft>
                <a:spcPts val="0"/>
              </a:spcAft>
            </a:pPr>
            <a:r>
              <a:rPr sz="3600" b="1" i="0">
                <a:solidFill>
                  <a:srgbClr val="1B3A4B"/>
                </a:solidFill>
                <a:latin typeface="Calibri"/>
                <a:ea typeface="Calibri"/>
                <a:cs typeface="Calibri"/>
              </a:rPr>
              <a:t>Communication System</a:t>
            </a:r>
          </a:p>
          <a:p>
            <a:pPr algn="l">
              <a:spcBef>
                <a:spcPts val="0"/>
              </a:spcBef>
              <a:spcAft>
                <a:spcPts val="0"/>
              </a:spcAft>
            </a:pPr>
            <a:r>
              <a:rPr sz="3600" b="1" i="0">
                <a:solidFill>
                  <a:srgbClr val="1B3A4B"/>
                </a:solidFill>
                <a:latin typeface="Calibri"/>
                <a:ea typeface="Calibri"/>
                <a:cs typeface="Calibri"/>
              </a:rPr>
              <a:t>for Miner Safety and Monitoring</a:t>
            </a:r>
          </a:p>
        </p:txBody>
      </p:sp>
      <p:sp>
        <p:nvSpPr>
          <p:cNvPr id="9" name="TextBox 8"/>
          <p:cNvSpPr txBox="1"/>
          <p:nvPr/>
        </p:nvSpPr>
        <p:spPr>
          <a:xfrm>
            <a:off x="457200" y="3657600"/>
            <a:ext cx="11155680" cy="640080"/>
          </a:xfrm>
          <a:prstGeom prst="rect">
            <a:avLst/>
          </a:prstGeom>
          <a:noFill/>
        </p:spPr>
        <p:txBody>
          <a:bodyPr wrap="square" lIns="18288" rIns="18288" tIns="0" bIns="0" anchor="t"/>
          <a:lstStyle/>
          <a:p>
            <a:pPr algn="l">
              <a:spcBef>
                <a:spcPts val="0"/>
              </a:spcBef>
              <a:spcAft>
                <a:spcPts val="0"/>
              </a:spcAft>
            </a:pPr>
            <a:r>
              <a:rPr sz="1800" b="0" i="0">
                <a:solidFill>
                  <a:srgbClr val="1C2430"/>
                </a:solidFill>
                <a:latin typeface="Calibri"/>
                <a:ea typeface="Calibri"/>
                <a:cs typeface="Calibri"/>
              </a:rPr>
              <a:t>Hybrid free-space optical and LoRa communication for real-time video</a:t>
            </a:r>
          </a:p>
          <a:p>
            <a:pPr algn="l">
              <a:spcBef>
                <a:spcPts val="0"/>
              </a:spcBef>
              <a:spcAft>
                <a:spcPts val="0"/>
              </a:spcAft>
            </a:pPr>
            <a:r>
              <a:rPr sz="1800" b="0" i="0">
                <a:solidFill>
                  <a:srgbClr val="1C2430"/>
                </a:solidFill>
                <a:latin typeface="Calibri"/>
                <a:ea typeface="Calibri"/>
                <a:cs typeface="Calibri"/>
              </a:rPr>
              <a:t>and emergency alerts in underground mines.</a:t>
            </a:r>
          </a:p>
        </p:txBody>
      </p:sp>
      <p:sp>
        <p:nvSpPr>
          <p:cNvPr id="10" name="Rectangle 9"/>
          <p:cNvSpPr/>
          <p:nvPr/>
        </p:nvSpPr>
        <p:spPr>
          <a:xfrm>
            <a:off x="457200" y="4434840"/>
            <a:ext cx="2011680" cy="18288"/>
          </a:xfrm>
          <a:prstGeom prst="rect">
            <a:avLst/>
          </a:prstGeom>
          <a:solidFill>
            <a:srgbClr val="B5740A"/>
          </a:solidFill>
          <a:ln>
            <a:noFill/>
          </a:ln>
        </p:spPr>
        <p:txBody>
          <a:bodyPr rtlCol="0" anchor="ctr"/>
          <a:lstStyle/>
          <a:p>
            <a:pPr algn="ctr"/>
          </a:p>
        </p:txBody>
      </p:sp>
      <p:sp>
        <p:nvSpPr>
          <p:cNvPr id="11" name="TextBox 10"/>
          <p:cNvSpPr txBox="1"/>
          <p:nvPr/>
        </p:nvSpPr>
        <p:spPr>
          <a:xfrm>
            <a:off x="457200" y="4663440"/>
            <a:ext cx="2743200" cy="256032"/>
          </a:xfrm>
          <a:prstGeom prst="rect">
            <a:avLst/>
          </a:prstGeom>
          <a:noFill/>
        </p:spPr>
        <p:txBody>
          <a:bodyPr wrap="square" lIns="18288" rIns="18288" tIns="0" bIns="0" anchor="t"/>
          <a:lstStyle/>
          <a:p>
            <a:pPr algn="l">
              <a:spcBef>
                <a:spcPts val="0"/>
              </a:spcBef>
              <a:spcAft>
                <a:spcPts val="0"/>
              </a:spcAft>
            </a:pPr>
            <a:r>
              <a:rPr sz="1200" b="1" i="0">
                <a:solidFill>
                  <a:srgbClr val="B5740A"/>
                </a:solidFill>
                <a:latin typeface="Calibri"/>
                <a:ea typeface="Calibri"/>
                <a:cs typeface="Calibri"/>
              </a:rPr>
              <a:t>Focus</a:t>
            </a:r>
          </a:p>
        </p:txBody>
      </p:sp>
      <p:sp>
        <p:nvSpPr>
          <p:cNvPr id="12" name="TextBox 11"/>
          <p:cNvSpPr txBox="1"/>
          <p:nvPr/>
        </p:nvSpPr>
        <p:spPr>
          <a:xfrm>
            <a:off x="457200" y="4919472"/>
            <a:ext cx="2743200" cy="640080"/>
          </a:xfrm>
          <a:prstGeom prst="rect">
            <a:avLst/>
          </a:prstGeom>
          <a:noFill/>
        </p:spPr>
        <p:txBody>
          <a:bodyPr wrap="square" lIns="18288" rIns="18288" tIns="0" bIns="0" anchor="t"/>
          <a:lstStyle/>
          <a:p>
            <a:pPr algn="l">
              <a:spcBef>
                <a:spcPts val="0"/>
              </a:spcBef>
              <a:spcAft>
                <a:spcPts val="0"/>
              </a:spcAft>
            </a:pPr>
            <a:r>
              <a:rPr sz="1600" b="0" i="0">
                <a:solidFill>
                  <a:srgbClr val="1C2430"/>
                </a:solidFill>
                <a:latin typeface="Calibri"/>
                <a:ea typeface="Calibri"/>
                <a:cs typeface="Calibri"/>
              </a:rPr>
              <a:t>4S Mining</a:t>
            </a:r>
          </a:p>
          <a:p>
            <a:pPr algn="l">
              <a:spcBef>
                <a:spcPts val="0"/>
              </a:spcBef>
              <a:spcAft>
                <a:spcPts val="0"/>
              </a:spcAft>
            </a:pPr>
            <a:r>
              <a:rPr sz="1600" b="0" i="0">
                <a:solidFill>
                  <a:srgbClr val="1C2430"/>
                </a:solidFill>
                <a:latin typeface="Calibri"/>
                <a:ea typeface="Calibri"/>
                <a:cs typeface="Calibri"/>
              </a:rPr>
              <a:t>Safe, Smart, Sustainable, Social</a:t>
            </a:r>
          </a:p>
        </p:txBody>
      </p:sp>
      <p:sp>
        <p:nvSpPr>
          <p:cNvPr id="13" name="TextBox 12"/>
          <p:cNvSpPr txBox="1"/>
          <p:nvPr/>
        </p:nvSpPr>
        <p:spPr>
          <a:xfrm>
            <a:off x="3337560" y="4663440"/>
            <a:ext cx="2743200" cy="256032"/>
          </a:xfrm>
          <a:prstGeom prst="rect">
            <a:avLst/>
          </a:prstGeom>
          <a:noFill/>
        </p:spPr>
        <p:txBody>
          <a:bodyPr wrap="square" lIns="18288" rIns="18288" tIns="0" bIns="0" anchor="t"/>
          <a:lstStyle/>
          <a:p>
            <a:pPr algn="l">
              <a:spcBef>
                <a:spcPts val="0"/>
              </a:spcBef>
              <a:spcAft>
                <a:spcPts val="0"/>
              </a:spcAft>
            </a:pPr>
            <a:r>
              <a:rPr sz="1200" b="1" i="0">
                <a:solidFill>
                  <a:srgbClr val="B5740A"/>
                </a:solidFill>
                <a:latin typeface="Calibri"/>
                <a:ea typeface="Calibri"/>
                <a:cs typeface="Calibri"/>
              </a:rPr>
              <a:t>Funding</a:t>
            </a:r>
          </a:p>
        </p:txBody>
      </p:sp>
      <p:sp>
        <p:nvSpPr>
          <p:cNvPr id="14" name="TextBox 13"/>
          <p:cNvSpPr txBox="1"/>
          <p:nvPr/>
        </p:nvSpPr>
        <p:spPr>
          <a:xfrm>
            <a:off x="3337560" y="4919472"/>
            <a:ext cx="2743200" cy="640080"/>
          </a:xfrm>
          <a:prstGeom prst="rect">
            <a:avLst/>
          </a:prstGeom>
          <a:noFill/>
        </p:spPr>
        <p:txBody>
          <a:bodyPr wrap="square" lIns="18288" rIns="18288" tIns="0" bIns="0" anchor="t"/>
          <a:lstStyle/>
          <a:p>
            <a:pPr algn="l">
              <a:spcBef>
                <a:spcPts val="0"/>
              </a:spcBef>
              <a:spcAft>
                <a:spcPts val="0"/>
              </a:spcAft>
            </a:pPr>
            <a:r>
              <a:rPr sz="1600" b="0" i="0">
                <a:solidFill>
                  <a:srgbClr val="1C2430"/>
                </a:solidFill>
                <a:latin typeface="Calibri"/>
                <a:ea typeface="Calibri"/>
                <a:cs typeface="Calibri"/>
              </a:rPr>
              <a:t>₹15 lakh</a:t>
            </a:r>
          </a:p>
          <a:p>
            <a:pPr algn="l">
              <a:spcBef>
                <a:spcPts val="0"/>
              </a:spcBef>
              <a:spcAft>
                <a:spcPts val="0"/>
              </a:spcAft>
            </a:pPr>
            <a:r>
              <a:rPr sz="1600" b="0" i="0">
                <a:solidFill>
                  <a:srgbClr val="1C2430"/>
                </a:solidFill>
                <a:latin typeface="Calibri"/>
                <a:ea typeface="Calibri"/>
                <a:cs typeface="Calibri"/>
              </a:rPr>
              <a:t>24 months</a:t>
            </a:r>
          </a:p>
        </p:txBody>
      </p:sp>
      <p:sp>
        <p:nvSpPr>
          <p:cNvPr id="15" name="TextBox 14"/>
          <p:cNvSpPr txBox="1"/>
          <p:nvPr/>
        </p:nvSpPr>
        <p:spPr>
          <a:xfrm>
            <a:off x="6217920" y="4663440"/>
            <a:ext cx="2743200" cy="256032"/>
          </a:xfrm>
          <a:prstGeom prst="rect">
            <a:avLst/>
          </a:prstGeom>
          <a:noFill/>
        </p:spPr>
        <p:txBody>
          <a:bodyPr wrap="square" lIns="18288" rIns="18288" tIns="0" bIns="0" anchor="t"/>
          <a:lstStyle/>
          <a:p>
            <a:pPr algn="l">
              <a:spcBef>
                <a:spcPts val="0"/>
              </a:spcBef>
              <a:spcAft>
                <a:spcPts val="0"/>
              </a:spcAft>
            </a:pPr>
            <a:r>
              <a:rPr sz="1200" b="1" i="0">
                <a:solidFill>
                  <a:srgbClr val="B5740A"/>
                </a:solidFill>
                <a:latin typeface="Calibri"/>
                <a:ea typeface="Calibri"/>
                <a:cs typeface="Calibri"/>
              </a:rPr>
              <a:t>Readiness</a:t>
            </a:r>
          </a:p>
        </p:txBody>
      </p:sp>
      <p:sp>
        <p:nvSpPr>
          <p:cNvPr id="16" name="TextBox 15"/>
          <p:cNvSpPr txBox="1"/>
          <p:nvPr/>
        </p:nvSpPr>
        <p:spPr>
          <a:xfrm>
            <a:off x="6217920" y="4919472"/>
            <a:ext cx="2743200" cy="640080"/>
          </a:xfrm>
          <a:prstGeom prst="rect">
            <a:avLst/>
          </a:prstGeom>
          <a:noFill/>
        </p:spPr>
        <p:txBody>
          <a:bodyPr wrap="square" lIns="18288" rIns="18288" tIns="0" bIns="0" anchor="t"/>
          <a:lstStyle/>
          <a:p>
            <a:pPr algn="l">
              <a:spcBef>
                <a:spcPts val="0"/>
              </a:spcBef>
              <a:spcAft>
                <a:spcPts val="0"/>
              </a:spcAft>
            </a:pPr>
            <a:r>
              <a:rPr sz="1600" b="0" i="0">
                <a:solidFill>
                  <a:srgbClr val="1C2430"/>
                </a:solidFill>
                <a:latin typeface="Calibri"/>
                <a:ea typeface="Calibri"/>
                <a:cs typeface="Calibri"/>
              </a:rPr>
              <a:t>TRL 2  →  TRL 5</a:t>
            </a:r>
          </a:p>
          <a:p>
            <a:pPr algn="l">
              <a:spcBef>
                <a:spcPts val="0"/>
              </a:spcBef>
              <a:spcAft>
                <a:spcPts val="0"/>
              </a:spcAft>
            </a:pPr>
            <a:r>
              <a:rPr sz="1600" b="0" i="0">
                <a:solidFill>
                  <a:srgbClr val="1C2430"/>
                </a:solidFill>
                <a:latin typeface="Calibri"/>
                <a:ea typeface="Calibri"/>
                <a:cs typeface="Calibri"/>
              </a:rPr>
              <a:t>Tunnel-level validation</a:t>
            </a:r>
          </a:p>
        </p:txBody>
      </p:sp>
      <p:sp>
        <p:nvSpPr>
          <p:cNvPr id="17" name="TextBox 16"/>
          <p:cNvSpPr txBox="1"/>
          <p:nvPr/>
        </p:nvSpPr>
        <p:spPr>
          <a:xfrm>
            <a:off x="9098280" y="4663440"/>
            <a:ext cx="2743200" cy="256032"/>
          </a:xfrm>
          <a:prstGeom prst="rect">
            <a:avLst/>
          </a:prstGeom>
          <a:noFill/>
        </p:spPr>
        <p:txBody>
          <a:bodyPr wrap="square" lIns="18288" rIns="18288" tIns="0" bIns="0" anchor="t"/>
          <a:lstStyle/>
          <a:p>
            <a:pPr algn="l">
              <a:spcBef>
                <a:spcPts val="0"/>
              </a:spcBef>
              <a:spcAft>
                <a:spcPts val="0"/>
              </a:spcAft>
            </a:pPr>
            <a:r>
              <a:rPr sz="1200" b="1" i="0">
                <a:solidFill>
                  <a:srgbClr val="B5740A"/>
                </a:solidFill>
                <a:latin typeface="Calibri"/>
                <a:ea typeface="Calibri"/>
                <a:cs typeface="Calibri"/>
              </a:rPr>
              <a:t>Institute</a:t>
            </a:r>
          </a:p>
        </p:txBody>
      </p:sp>
      <p:sp>
        <p:nvSpPr>
          <p:cNvPr id="18" name="TextBox 17"/>
          <p:cNvSpPr txBox="1"/>
          <p:nvPr/>
        </p:nvSpPr>
        <p:spPr>
          <a:xfrm>
            <a:off x="9098280" y="4919472"/>
            <a:ext cx="2743200" cy="640080"/>
          </a:xfrm>
          <a:prstGeom prst="rect">
            <a:avLst/>
          </a:prstGeom>
          <a:noFill/>
        </p:spPr>
        <p:txBody>
          <a:bodyPr wrap="square" lIns="18288" rIns="18288" tIns="0" bIns="0" anchor="t"/>
          <a:lstStyle/>
          <a:p>
            <a:pPr algn="l">
              <a:spcBef>
                <a:spcPts val="0"/>
              </a:spcBef>
              <a:spcAft>
                <a:spcPts val="0"/>
              </a:spcAft>
            </a:pPr>
            <a:r>
              <a:rPr sz="1600" b="0" i="0">
                <a:solidFill>
                  <a:srgbClr val="1C2430"/>
                </a:solidFill>
                <a:latin typeface="Calibri"/>
                <a:ea typeface="Calibri"/>
                <a:cs typeface="Calibri"/>
              </a:rPr>
              <a:t>NIT Rourkela</a:t>
            </a:r>
          </a:p>
          <a:p>
            <a:pPr algn="l">
              <a:spcBef>
                <a:spcPts val="0"/>
              </a:spcBef>
              <a:spcAft>
                <a:spcPts val="0"/>
              </a:spcAft>
            </a:pPr>
            <a:r>
              <a:rPr sz="1600" b="0" i="0">
                <a:solidFill>
                  <a:srgbClr val="1C2430"/>
                </a:solidFill>
                <a:latin typeface="Calibri"/>
                <a:ea typeface="Calibri"/>
                <a:cs typeface="Calibri"/>
              </a:rPr>
              <a:t>Prof. Sadananda Behera, PI</a:t>
            </a:r>
          </a:p>
        </p:txBody>
      </p:sp>
      <p:sp>
        <p:nvSpPr>
          <p:cNvPr id="19" name="TextBox 18"/>
          <p:cNvSpPr txBox="1"/>
          <p:nvPr/>
        </p:nvSpPr>
        <p:spPr>
          <a:xfrm>
            <a:off x="457200" y="5806440"/>
            <a:ext cx="11155680" cy="502920"/>
          </a:xfrm>
          <a:prstGeom prst="rect">
            <a:avLst/>
          </a:prstGeom>
          <a:noFill/>
        </p:spPr>
        <p:txBody>
          <a:bodyPr wrap="square" lIns="18288" rIns="18288" tIns="0" bIns="0" anchor="t"/>
          <a:lstStyle/>
          <a:p>
            <a:pPr algn="l">
              <a:spcBef>
                <a:spcPts val="0"/>
              </a:spcBef>
              <a:spcAft>
                <a:spcPts val="0"/>
              </a:spcAft>
            </a:pPr>
            <a:r>
              <a:rPr sz="1500" b="0" i="0">
                <a:solidFill>
                  <a:srgbClr val="5C6770"/>
                </a:solidFill>
                <a:latin typeface="Calibri"/>
                <a:ea typeface="Calibri"/>
                <a:cs typeface="Calibri"/>
              </a:rPr>
              <a:t>Prof. Sadananda Behera, Assistant Professor</a:t>
            </a:r>
          </a:p>
          <a:p>
            <a:pPr algn="l">
              <a:spcBef>
                <a:spcPts val="0"/>
              </a:spcBef>
              <a:spcAft>
                <a:spcPts val="0"/>
              </a:spcAft>
            </a:pPr>
            <a:r>
              <a:rPr sz="1500" b="0" i="0">
                <a:solidFill>
                  <a:srgbClr val="5C6770"/>
                </a:solidFill>
                <a:latin typeface="Calibri"/>
                <a:ea typeface="Calibri"/>
                <a:cs typeface="Calibri"/>
              </a:rPr>
              <a:t>98610 77539     ·     No co-PI     ·     Industry letter: not attached</a:t>
            </a:r>
          </a:p>
        </p:txBody>
      </p:sp>
      <p:sp>
        <p:nvSpPr>
          <p:cNvPr id="20" name="Rectangle 19"/>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21" name="TextBox 20"/>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Title</a:t>
            </a:r>
          </a:p>
        </p:txBody>
      </p:sp>
      <p:sp>
        <p:nvSpPr>
          <p:cNvPr id="22" name="TextBox 21"/>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01     ·     PROJECT TITLE AND OBJECTIVES</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Objective</a:t>
            </a:r>
          </a:p>
        </p:txBody>
      </p:sp>
      <p:sp>
        <p:nvSpPr>
          <p:cNvPr id="9" name="Rectangle 8"/>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10" name="TextBox 9"/>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Objectives</a:t>
            </a:r>
          </a:p>
        </p:txBody>
      </p:sp>
      <p:sp>
        <p:nvSpPr>
          <p:cNvPr id="11" name="TextBox 10"/>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2  /  14</a:t>
            </a:r>
          </a:p>
        </p:txBody>
      </p:sp>
      <p:sp>
        <p:nvSpPr>
          <p:cNvPr id="12" name="Rounded Rectangle 11"/>
          <p:cNvSpPr/>
          <p:nvPr/>
        </p:nvSpPr>
        <p:spPr>
          <a:xfrm>
            <a:off x="457200" y="1097280"/>
            <a:ext cx="11292840" cy="1143000"/>
          </a:xfrm>
          <a:prstGeom prst="roundRect">
            <a:avLst>
              <a:gd name="adj" fmla="val 6000"/>
            </a:avLst>
          </a:prstGeom>
          <a:solidFill>
            <a:srgbClr val="1B3A4B"/>
          </a:solidFill>
          <a:ln>
            <a:noFill/>
          </a:ln>
        </p:spPr>
        <p:txBody>
          <a:bodyPr rtlCol="0" anchor="ctr"/>
          <a:lstStyle/>
          <a:p>
            <a:pPr algn="ctr"/>
          </a:p>
        </p:txBody>
      </p:sp>
      <p:sp>
        <p:nvSpPr>
          <p:cNvPr id="13" name="TextBox 12"/>
          <p:cNvSpPr txBox="1"/>
          <p:nvPr/>
        </p:nvSpPr>
        <p:spPr>
          <a:xfrm>
            <a:off x="731520" y="1188720"/>
            <a:ext cx="10789920" cy="960120"/>
          </a:xfrm>
          <a:prstGeom prst="rect">
            <a:avLst/>
          </a:prstGeom>
          <a:noFill/>
        </p:spPr>
        <p:txBody>
          <a:bodyPr wrap="square" lIns="45720" rIns="45720" tIns="27432" bIns="27432" anchor="ctr">
            <a:spAutoFit/>
          </a:bodyPr>
          <a:lstStyle/>
          <a:p>
            <a:pPr algn="l"/>
            <a:r>
              <a:rPr sz="2000" b="1" i="0">
                <a:solidFill>
                  <a:srgbClr val="FFFFFF"/>
                </a:solidFill>
                <a:latin typeface="Calibri"/>
              </a:rPr>
              <a:t>Real-time video from a mine heading to the surface, on aligned free-space optical hops, with LoRa keeping the alert path alive.</a:t>
            </a:r>
          </a:p>
        </p:txBody>
      </p:sp>
      <p:sp>
        <p:nvSpPr>
          <p:cNvPr id="14" name="TextBox 13"/>
          <p:cNvSpPr txBox="1"/>
          <p:nvPr/>
        </p:nvSpPr>
        <p:spPr>
          <a:xfrm>
            <a:off x="457200" y="2468880"/>
            <a:ext cx="5486400" cy="365760"/>
          </a:xfrm>
          <a:prstGeom prst="rect">
            <a:avLst/>
          </a:prstGeom>
          <a:noFill/>
        </p:spPr>
        <p:txBody>
          <a:bodyPr wrap="square" lIns="45720" rIns="45720" tIns="27432" bIns="27432" anchor="t">
            <a:spAutoFit/>
          </a:bodyPr>
          <a:lstStyle/>
          <a:p>
            <a:pPr algn="l"/>
            <a:r>
              <a:rPr sz="1800" b="1" i="0">
                <a:solidFill>
                  <a:srgbClr val="1B3A4B"/>
                </a:solidFill>
                <a:latin typeface="Calibri"/>
              </a:rPr>
              <a:t>Specific objectives</a:t>
            </a:r>
          </a:p>
        </p:txBody>
      </p:sp>
      <p:sp>
        <p:nvSpPr>
          <p:cNvPr id="15" name="Rounded Rectangle 14"/>
          <p:cNvSpPr/>
          <p:nvPr/>
        </p:nvSpPr>
        <p:spPr>
          <a:xfrm>
            <a:off x="457200" y="2926080"/>
            <a:ext cx="2697480" cy="3017520"/>
          </a:xfrm>
          <a:prstGeom prst="roundRect">
            <a:avLst>
              <a:gd name="adj" fmla="val 6000"/>
            </a:avLst>
          </a:prstGeom>
          <a:solidFill>
            <a:srgbClr val="F7F5F2"/>
          </a:solidFill>
          <a:ln>
            <a:noFill/>
          </a:ln>
        </p:spPr>
        <p:txBody>
          <a:bodyPr rtlCol="0" anchor="ctr"/>
          <a:lstStyle/>
          <a:p>
            <a:pPr algn="ctr"/>
          </a:p>
        </p:txBody>
      </p:sp>
      <p:sp>
        <p:nvSpPr>
          <p:cNvPr id="16" name="Oval 15"/>
          <p:cNvSpPr/>
          <p:nvPr/>
        </p:nvSpPr>
        <p:spPr>
          <a:xfrm>
            <a:off x="640080" y="310896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1</a:t>
            </a:r>
          </a:p>
        </p:txBody>
      </p:sp>
      <p:sp>
        <p:nvSpPr>
          <p:cNvPr id="17" name="TextBox 16"/>
          <p:cNvSpPr txBox="1"/>
          <p:nvPr/>
        </p:nvSpPr>
        <p:spPr>
          <a:xfrm>
            <a:off x="594360" y="3657600"/>
            <a:ext cx="2423160" cy="548640"/>
          </a:xfrm>
          <a:prstGeom prst="rect">
            <a:avLst/>
          </a:prstGeom>
          <a:noFill/>
        </p:spPr>
        <p:txBody>
          <a:bodyPr wrap="square" lIns="45720" rIns="45720" tIns="27432" bIns="27432" anchor="t">
            <a:spAutoFit/>
          </a:bodyPr>
          <a:lstStyle/>
          <a:p>
            <a:pPr algn="l"/>
            <a:r>
              <a:rPr sz="2600" b="1" i="0">
                <a:solidFill>
                  <a:srgbClr val="1B3A4B"/>
                </a:solidFill>
                <a:latin typeface="Calibri"/>
              </a:rPr>
              <a:t>50–100 m</a:t>
            </a:r>
          </a:p>
        </p:txBody>
      </p:sp>
      <p:sp>
        <p:nvSpPr>
          <p:cNvPr id="18" name="TextBox 17"/>
          <p:cNvSpPr txBox="1"/>
          <p:nvPr/>
        </p:nvSpPr>
        <p:spPr>
          <a:xfrm>
            <a:off x="594360" y="4297680"/>
            <a:ext cx="2423160" cy="1645920"/>
          </a:xfrm>
          <a:prstGeom prst="rect">
            <a:avLst/>
          </a:prstGeom>
          <a:noFill/>
        </p:spPr>
        <p:txBody>
          <a:bodyPr wrap="square" lIns="45720" rIns="45720" tIns="27432" bIns="27432" anchor="t">
            <a:spAutoFit/>
          </a:bodyPr>
          <a:lstStyle/>
          <a:p>
            <a:pPr algn="l"/>
            <a:r>
              <a:rPr sz="1800" b="0" i="0">
                <a:solidFill>
                  <a:srgbClr val="1C2430"/>
                </a:solidFill>
                <a:latin typeface="Calibri"/>
              </a:rPr>
              <a:t>Video on FSO hops between successive tunnel nodes</a:t>
            </a:r>
          </a:p>
        </p:txBody>
      </p:sp>
      <p:sp>
        <p:nvSpPr>
          <p:cNvPr id="19" name="Rounded Rectangle 18"/>
          <p:cNvSpPr/>
          <p:nvPr/>
        </p:nvSpPr>
        <p:spPr>
          <a:xfrm>
            <a:off x="3310128" y="2926080"/>
            <a:ext cx="2697480" cy="3017520"/>
          </a:xfrm>
          <a:prstGeom prst="roundRect">
            <a:avLst>
              <a:gd name="adj" fmla="val 6000"/>
            </a:avLst>
          </a:prstGeom>
          <a:solidFill>
            <a:srgbClr val="F7F5F2"/>
          </a:solidFill>
          <a:ln>
            <a:noFill/>
          </a:ln>
        </p:spPr>
        <p:txBody>
          <a:bodyPr rtlCol="0" anchor="ctr"/>
          <a:lstStyle/>
          <a:p>
            <a:pPr algn="ctr"/>
          </a:p>
        </p:txBody>
      </p:sp>
      <p:sp>
        <p:nvSpPr>
          <p:cNvPr id="20" name="Oval 19"/>
          <p:cNvSpPr/>
          <p:nvPr/>
        </p:nvSpPr>
        <p:spPr>
          <a:xfrm>
            <a:off x="3493008" y="310896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2</a:t>
            </a:r>
          </a:p>
        </p:txBody>
      </p:sp>
      <p:sp>
        <p:nvSpPr>
          <p:cNvPr id="21" name="TextBox 20"/>
          <p:cNvSpPr txBox="1"/>
          <p:nvPr/>
        </p:nvSpPr>
        <p:spPr>
          <a:xfrm>
            <a:off x="3447288" y="3657600"/>
            <a:ext cx="2423160" cy="548640"/>
          </a:xfrm>
          <a:prstGeom prst="rect">
            <a:avLst/>
          </a:prstGeom>
          <a:noFill/>
        </p:spPr>
        <p:txBody>
          <a:bodyPr wrap="square" lIns="45720" rIns="45720" tIns="27432" bIns="27432" anchor="t">
            <a:spAutoFit/>
          </a:bodyPr>
          <a:lstStyle/>
          <a:p>
            <a:pPr algn="l"/>
            <a:r>
              <a:rPr sz="2600" b="1" i="0">
                <a:solidFill>
                  <a:srgbClr val="1B3A4B"/>
                </a:solidFill>
                <a:latin typeface="Calibri"/>
              </a:rPr>
              <a:t>IMU</a:t>
            </a:r>
          </a:p>
        </p:txBody>
      </p:sp>
      <p:sp>
        <p:nvSpPr>
          <p:cNvPr id="22" name="TextBox 21"/>
          <p:cNvSpPr txBox="1"/>
          <p:nvPr/>
        </p:nvSpPr>
        <p:spPr>
          <a:xfrm>
            <a:off x="3447288" y="4297680"/>
            <a:ext cx="2423160" cy="1645920"/>
          </a:xfrm>
          <a:prstGeom prst="rect">
            <a:avLst/>
          </a:prstGeom>
          <a:noFill/>
        </p:spPr>
        <p:txBody>
          <a:bodyPr wrap="square" lIns="45720" rIns="45720" tIns="27432" bIns="27432" anchor="t">
            <a:spAutoFit/>
          </a:bodyPr>
          <a:lstStyle/>
          <a:p>
            <a:pPr algn="l"/>
            <a:r>
              <a:rPr sz="1800" b="0" i="0">
                <a:solidFill>
                  <a:srgbClr val="1C2430"/>
                </a:solidFill>
                <a:latin typeface="Calibri"/>
              </a:rPr>
              <a:t>Auto-tracking loop with motorized steering. Department prototype already working</a:t>
            </a:r>
          </a:p>
        </p:txBody>
      </p:sp>
      <p:sp>
        <p:nvSpPr>
          <p:cNvPr id="23" name="Rounded Rectangle 22"/>
          <p:cNvSpPr/>
          <p:nvPr/>
        </p:nvSpPr>
        <p:spPr>
          <a:xfrm>
            <a:off x="6163056" y="2926080"/>
            <a:ext cx="2697480" cy="3017520"/>
          </a:xfrm>
          <a:prstGeom prst="roundRect">
            <a:avLst>
              <a:gd name="adj" fmla="val 6000"/>
            </a:avLst>
          </a:prstGeom>
          <a:solidFill>
            <a:srgbClr val="F7F5F2"/>
          </a:solidFill>
          <a:ln>
            <a:noFill/>
          </a:ln>
        </p:spPr>
        <p:txBody>
          <a:bodyPr rtlCol="0" anchor="ctr"/>
          <a:lstStyle/>
          <a:p>
            <a:pPr algn="ctr"/>
          </a:p>
        </p:txBody>
      </p:sp>
      <p:sp>
        <p:nvSpPr>
          <p:cNvPr id="24" name="Oval 23"/>
          <p:cNvSpPr/>
          <p:nvPr/>
        </p:nvSpPr>
        <p:spPr>
          <a:xfrm>
            <a:off x="6345936" y="310896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3</a:t>
            </a:r>
          </a:p>
        </p:txBody>
      </p:sp>
      <p:sp>
        <p:nvSpPr>
          <p:cNvPr id="25" name="TextBox 24"/>
          <p:cNvSpPr txBox="1"/>
          <p:nvPr/>
        </p:nvSpPr>
        <p:spPr>
          <a:xfrm>
            <a:off x="6300216" y="3657600"/>
            <a:ext cx="2423160" cy="548640"/>
          </a:xfrm>
          <a:prstGeom prst="rect">
            <a:avLst/>
          </a:prstGeom>
          <a:noFill/>
        </p:spPr>
        <p:txBody>
          <a:bodyPr wrap="square" lIns="45720" rIns="45720" tIns="27432" bIns="27432" anchor="t">
            <a:spAutoFit/>
          </a:bodyPr>
          <a:lstStyle/>
          <a:p>
            <a:pPr algn="l"/>
            <a:r>
              <a:rPr sz="2600" b="1" i="0">
                <a:solidFill>
                  <a:srgbClr val="1B3A4B"/>
                </a:solidFill>
                <a:latin typeface="Calibri"/>
              </a:rPr>
              <a:t>LoRa</a:t>
            </a:r>
          </a:p>
        </p:txBody>
      </p:sp>
      <p:sp>
        <p:nvSpPr>
          <p:cNvPr id="26" name="TextBox 25"/>
          <p:cNvSpPr txBox="1"/>
          <p:nvPr/>
        </p:nvSpPr>
        <p:spPr>
          <a:xfrm>
            <a:off x="6300216" y="4297680"/>
            <a:ext cx="2423160" cy="1645920"/>
          </a:xfrm>
          <a:prstGeom prst="rect">
            <a:avLst/>
          </a:prstGeom>
          <a:noFill/>
        </p:spPr>
        <p:txBody>
          <a:bodyPr wrap="square" lIns="45720" rIns="45720" tIns="27432" bIns="27432" anchor="t">
            <a:spAutoFit/>
          </a:bodyPr>
          <a:lstStyle/>
          <a:p>
            <a:pPr algn="l"/>
            <a:r>
              <a:rPr sz="1800" b="0" i="0">
                <a:solidFill>
                  <a:srgbClr val="1C2430"/>
                </a:solidFill>
                <a:latin typeface="Calibri"/>
              </a:rPr>
              <a:t>Control, alerts and fallback when a hop is interrupted</a:t>
            </a:r>
          </a:p>
        </p:txBody>
      </p:sp>
      <p:sp>
        <p:nvSpPr>
          <p:cNvPr id="27" name="Rounded Rectangle 26"/>
          <p:cNvSpPr/>
          <p:nvPr/>
        </p:nvSpPr>
        <p:spPr>
          <a:xfrm>
            <a:off x="9015984" y="2926080"/>
            <a:ext cx="2697480" cy="3017520"/>
          </a:xfrm>
          <a:prstGeom prst="roundRect">
            <a:avLst>
              <a:gd name="adj" fmla="val 6000"/>
            </a:avLst>
          </a:prstGeom>
          <a:solidFill>
            <a:srgbClr val="F7F5F2"/>
          </a:solidFill>
          <a:ln>
            <a:noFill/>
          </a:ln>
        </p:spPr>
        <p:txBody>
          <a:bodyPr rtlCol="0" anchor="ctr"/>
          <a:lstStyle/>
          <a:p>
            <a:pPr algn="ctr"/>
          </a:p>
        </p:txBody>
      </p:sp>
      <p:sp>
        <p:nvSpPr>
          <p:cNvPr id="28" name="Oval 27"/>
          <p:cNvSpPr/>
          <p:nvPr/>
        </p:nvSpPr>
        <p:spPr>
          <a:xfrm>
            <a:off x="9198863" y="310896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4</a:t>
            </a:r>
          </a:p>
        </p:txBody>
      </p:sp>
      <p:sp>
        <p:nvSpPr>
          <p:cNvPr id="29" name="TextBox 28"/>
          <p:cNvSpPr txBox="1"/>
          <p:nvPr/>
        </p:nvSpPr>
        <p:spPr>
          <a:xfrm>
            <a:off x="9153144" y="3657600"/>
            <a:ext cx="2423160" cy="548640"/>
          </a:xfrm>
          <a:prstGeom prst="rect">
            <a:avLst/>
          </a:prstGeom>
          <a:noFill/>
        </p:spPr>
        <p:txBody>
          <a:bodyPr wrap="square" lIns="45720" rIns="45720" tIns="27432" bIns="27432" anchor="t">
            <a:spAutoFit/>
          </a:bodyPr>
          <a:lstStyle/>
          <a:p>
            <a:pPr algn="l"/>
            <a:r>
              <a:rPr sz="2600" b="1" i="0">
                <a:solidFill>
                  <a:srgbClr val="1B3A4B"/>
                </a:solidFill>
                <a:latin typeface="Calibri"/>
              </a:rPr>
              <a:t>Multi-hop</a:t>
            </a:r>
          </a:p>
        </p:txBody>
      </p:sp>
      <p:sp>
        <p:nvSpPr>
          <p:cNvPr id="30" name="TextBox 29"/>
          <p:cNvSpPr txBox="1"/>
          <p:nvPr/>
        </p:nvSpPr>
        <p:spPr>
          <a:xfrm>
            <a:off x="9153144" y="4297680"/>
            <a:ext cx="2423160" cy="1645920"/>
          </a:xfrm>
          <a:prstGeom prst="rect">
            <a:avLst/>
          </a:prstGeom>
          <a:noFill/>
        </p:spPr>
        <p:txBody>
          <a:bodyPr wrap="square" lIns="45720" rIns="45720" tIns="27432" bIns="27432" anchor="t">
            <a:spAutoFit/>
          </a:bodyPr>
          <a:lstStyle/>
          <a:p>
            <a:pPr algn="l"/>
            <a:r>
              <a:rPr sz="1800" b="0" i="0">
                <a:solidFill>
                  <a:srgbClr val="1C2430"/>
                </a:solidFill>
                <a:latin typeface="Calibri"/>
              </a:rPr>
              <a:t>Transmitter, relays and surface base station, tested in lab and tunnel-like setting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02     ·     PROBLEM STATEMENT AND RELEVANCE TO THE MINING SECTOR</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Background: communication underground today</a:t>
            </a:r>
          </a:p>
        </p:txBody>
      </p:sp>
      <p:sp>
        <p:nvSpPr>
          <p:cNvPr id="14" name="Rectangle 13"/>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15" name="TextBox 14"/>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Background and problem</a:t>
            </a:r>
          </a:p>
        </p:txBody>
      </p:sp>
      <p:sp>
        <p:nvSpPr>
          <p:cNvPr id="16" name="TextBox 15"/>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3  /  14</a:t>
            </a:r>
          </a:p>
        </p:txBody>
      </p:sp>
      <p:sp>
        <p:nvSpPr>
          <p:cNvPr id="17" name="TextBox 16"/>
          <p:cNvSpPr txBox="1"/>
          <p:nvPr/>
        </p:nvSpPr>
        <p:spPr>
          <a:xfrm>
            <a:off x="457200" y="1051560"/>
            <a:ext cx="11247120" cy="457200"/>
          </a:xfrm>
          <a:prstGeom prst="rect">
            <a:avLst/>
          </a:prstGeom>
          <a:noFill/>
        </p:spPr>
        <p:txBody>
          <a:bodyPr wrap="square" lIns="45720" rIns="45720" tIns="27432" bIns="27432" anchor="t">
            <a:spAutoFit/>
          </a:bodyPr>
          <a:lstStyle/>
          <a:p>
            <a:pPr algn="l"/>
            <a:r>
              <a:rPr sz="1800" b="0" i="0">
                <a:solidFill>
                  <a:srgbClr val="1C2430"/>
                </a:solidFill>
                <a:latin typeface="Calibri"/>
              </a:rPr>
              <a:t>Miners at the face depend on a link that rock, water and ground movement regularly remove.</a:t>
            </a:r>
          </a:p>
        </p:txBody>
      </p:sp>
      <p:sp>
        <p:nvSpPr>
          <p:cNvPr id="18" name="Rounded Rectangle 17"/>
          <p:cNvSpPr/>
          <p:nvPr/>
        </p:nvSpPr>
        <p:spPr>
          <a:xfrm>
            <a:off x="457200" y="1737360"/>
            <a:ext cx="3337560" cy="4160520"/>
          </a:xfrm>
          <a:prstGeom prst="roundRect">
            <a:avLst>
              <a:gd name="adj" fmla="val 6000"/>
            </a:avLst>
          </a:prstGeom>
          <a:solidFill>
            <a:srgbClr val="F7F5F2"/>
          </a:solidFill>
          <a:ln>
            <a:noFill/>
          </a:ln>
        </p:spPr>
        <p:txBody>
          <a:bodyPr rtlCol="0" anchor="ctr"/>
          <a:lstStyle/>
          <a:p>
            <a:pPr algn="ctr"/>
          </a:p>
        </p:txBody>
      </p:sp>
      <p:sp>
        <p:nvSpPr>
          <p:cNvPr id="19" name="TextBox 18"/>
          <p:cNvSpPr txBox="1"/>
          <p:nvPr/>
        </p:nvSpPr>
        <p:spPr>
          <a:xfrm>
            <a:off x="640080" y="1874519"/>
            <a:ext cx="2971800" cy="411480"/>
          </a:xfrm>
          <a:prstGeom prst="rect">
            <a:avLst/>
          </a:prstGeom>
          <a:noFill/>
        </p:spPr>
        <p:txBody>
          <a:bodyPr wrap="square" lIns="45720" rIns="45720" tIns="27432" bIns="27432" anchor="t">
            <a:spAutoFit/>
          </a:bodyPr>
          <a:lstStyle/>
          <a:p>
            <a:pPr algn="l"/>
            <a:r>
              <a:rPr sz="2000" b="1" i="0">
                <a:solidFill>
                  <a:srgbClr val="1B3A4B"/>
                </a:solidFill>
                <a:latin typeface="Calibri"/>
              </a:rPr>
              <a:t>What mines use now</a:t>
            </a:r>
          </a:p>
        </p:txBody>
      </p:sp>
      <p:sp>
        <p:nvSpPr>
          <p:cNvPr id="20" name="TextBox 19"/>
          <p:cNvSpPr txBox="1"/>
          <p:nvPr/>
        </p:nvSpPr>
        <p:spPr>
          <a:xfrm>
            <a:off x="640080" y="2468880"/>
            <a:ext cx="2971800" cy="3383280"/>
          </a:xfrm>
          <a:prstGeom prst="rect">
            <a:avLst/>
          </a:prstGeom>
          <a:noFill/>
        </p:spPr>
        <p:txBody>
          <a:bodyPr wrap="square" lIns="45720" rIns="45720" tIns="27432" bIns="27432" anchor="t">
            <a:spAutoFit/>
          </a:bodyPr>
          <a:lstStyle/>
          <a:p>
            <a:pPr algn="l">
              <a:spcAft>
                <a:spcPts val="1000"/>
              </a:spcAft>
            </a:pPr>
            <a:r>
              <a:rPr sz="1800" b="0" i="0">
                <a:solidFill>
                  <a:srgbClr val="1B3A4B"/>
                </a:solidFill>
                <a:latin typeface="Calibri"/>
              </a:rPr>
              <a:t>•  Wired phones and leaky-feeder cable</a:t>
            </a:r>
          </a:p>
          <a:p>
            <a:pPr algn="l">
              <a:spcAft>
                <a:spcPts val="1000"/>
              </a:spcAft>
            </a:pPr>
            <a:r>
              <a:rPr sz="1800" b="0" i="0">
                <a:solidFill>
                  <a:srgbClr val="1B3A4B"/>
                </a:solidFill>
                <a:latin typeface="Calibri"/>
              </a:rPr>
              <a:t>•  Low-rate radio for voice and short messages</a:t>
            </a:r>
          </a:p>
          <a:p>
            <a:pPr algn="l">
              <a:spcAft>
                <a:spcPts val="1000"/>
              </a:spcAft>
            </a:pPr>
            <a:r>
              <a:rPr sz="1800" b="0" i="0">
                <a:solidFill>
                  <a:srgbClr val="1B3A4B"/>
                </a:solidFill>
                <a:latin typeface="Calibri"/>
              </a:rPr>
              <a:t>•  Surface control room for routine work and rescue</a:t>
            </a:r>
          </a:p>
        </p:txBody>
      </p:sp>
      <p:sp>
        <p:nvSpPr>
          <p:cNvPr id="21" name="Rounded Rectangle 20"/>
          <p:cNvSpPr/>
          <p:nvPr/>
        </p:nvSpPr>
        <p:spPr>
          <a:xfrm>
            <a:off x="4434840" y="1737360"/>
            <a:ext cx="3337560" cy="4160520"/>
          </a:xfrm>
          <a:prstGeom prst="roundRect">
            <a:avLst>
              <a:gd name="adj" fmla="val 6000"/>
            </a:avLst>
          </a:prstGeom>
          <a:solidFill>
            <a:srgbClr val="F7F5F2"/>
          </a:solidFill>
          <a:ln>
            <a:noFill/>
          </a:ln>
        </p:spPr>
        <p:txBody>
          <a:bodyPr rtlCol="0" anchor="ctr"/>
          <a:lstStyle/>
          <a:p>
            <a:pPr algn="ctr"/>
          </a:p>
        </p:txBody>
      </p:sp>
      <p:sp>
        <p:nvSpPr>
          <p:cNvPr id="22" name="TextBox 21"/>
          <p:cNvSpPr txBox="1"/>
          <p:nvPr/>
        </p:nvSpPr>
        <p:spPr>
          <a:xfrm>
            <a:off x="4617720" y="1874519"/>
            <a:ext cx="2971800" cy="411480"/>
          </a:xfrm>
          <a:prstGeom prst="rect">
            <a:avLst/>
          </a:prstGeom>
          <a:noFill/>
        </p:spPr>
        <p:txBody>
          <a:bodyPr wrap="square" lIns="45720" rIns="45720" tIns="27432" bIns="27432" anchor="t">
            <a:spAutoFit/>
          </a:bodyPr>
          <a:lstStyle/>
          <a:p>
            <a:pPr algn="l"/>
            <a:r>
              <a:rPr sz="2000" b="1" i="0">
                <a:solidFill>
                  <a:srgbClr val="1B3A4B"/>
                </a:solidFill>
                <a:latin typeface="Calibri"/>
              </a:rPr>
              <a:t>Where it fails</a:t>
            </a:r>
          </a:p>
        </p:txBody>
      </p:sp>
      <p:sp>
        <p:nvSpPr>
          <p:cNvPr id="23" name="TextBox 22"/>
          <p:cNvSpPr txBox="1"/>
          <p:nvPr/>
        </p:nvSpPr>
        <p:spPr>
          <a:xfrm>
            <a:off x="4617720" y="2468880"/>
            <a:ext cx="2971800" cy="3383280"/>
          </a:xfrm>
          <a:prstGeom prst="rect">
            <a:avLst/>
          </a:prstGeom>
          <a:noFill/>
        </p:spPr>
        <p:txBody>
          <a:bodyPr wrap="square" lIns="45720" rIns="45720" tIns="27432" bIns="27432" anchor="t">
            <a:spAutoFit/>
          </a:bodyPr>
          <a:lstStyle/>
          <a:p>
            <a:pPr algn="l">
              <a:spcAft>
                <a:spcPts val="1000"/>
              </a:spcAft>
            </a:pPr>
            <a:r>
              <a:rPr sz="1800" b="0" i="0">
                <a:solidFill>
                  <a:srgbClr val="1B3A4B"/>
                </a:solidFill>
                <a:latin typeface="Calibri"/>
              </a:rPr>
              <a:t>•  Wi-Fi, LTE: no signal through rock</a:t>
            </a:r>
          </a:p>
          <a:p>
            <a:pPr algn="l">
              <a:spcAft>
                <a:spcPts val="1000"/>
              </a:spcAft>
            </a:pPr>
            <a:r>
              <a:rPr sz="1800" b="0" i="0">
                <a:solidFill>
                  <a:srgbClr val="1B3A4B"/>
                </a:solidFill>
                <a:latin typeface="Calibri"/>
              </a:rPr>
              <a:t>•  Cable cut by falls, water, machines</a:t>
            </a:r>
          </a:p>
          <a:p>
            <a:pPr algn="l">
              <a:spcAft>
                <a:spcPts val="1000"/>
              </a:spcAft>
            </a:pPr>
            <a:r>
              <a:rPr sz="1800" b="0" i="0">
                <a:solidFill>
                  <a:srgbClr val="1B3A4B"/>
                </a:solidFill>
                <a:latin typeface="Calibri"/>
              </a:rPr>
              <a:t>•  Voice and text do not show the face</a:t>
            </a:r>
          </a:p>
          <a:p>
            <a:pPr algn="l">
              <a:spcAft>
                <a:spcPts val="1000"/>
              </a:spcAft>
            </a:pPr>
            <a:r>
              <a:rPr sz="1800" b="0" i="0">
                <a:solidFill>
                  <a:srgbClr val="1B3A4B"/>
                </a:solidFill>
                <a:latin typeface="Calibri"/>
              </a:rPr>
              <a:t>•  GPS does not locate a person in the heading</a:t>
            </a:r>
          </a:p>
        </p:txBody>
      </p:sp>
      <p:sp>
        <p:nvSpPr>
          <p:cNvPr id="24" name="Rounded Rectangle 23"/>
          <p:cNvSpPr/>
          <p:nvPr/>
        </p:nvSpPr>
        <p:spPr>
          <a:xfrm>
            <a:off x="8412480" y="1737360"/>
            <a:ext cx="3337560" cy="4160520"/>
          </a:xfrm>
          <a:prstGeom prst="roundRect">
            <a:avLst>
              <a:gd name="adj" fmla="val 6000"/>
            </a:avLst>
          </a:prstGeom>
          <a:solidFill>
            <a:srgbClr val="1B3A4B"/>
          </a:solidFill>
          <a:ln>
            <a:noFill/>
          </a:ln>
        </p:spPr>
        <p:txBody>
          <a:bodyPr rtlCol="0" anchor="ctr"/>
          <a:lstStyle/>
          <a:p>
            <a:pPr algn="ctr"/>
          </a:p>
        </p:txBody>
      </p:sp>
      <p:sp>
        <p:nvSpPr>
          <p:cNvPr id="25" name="TextBox 24"/>
          <p:cNvSpPr txBox="1"/>
          <p:nvPr/>
        </p:nvSpPr>
        <p:spPr>
          <a:xfrm>
            <a:off x="8595359" y="1874519"/>
            <a:ext cx="2971800" cy="411480"/>
          </a:xfrm>
          <a:prstGeom prst="rect">
            <a:avLst/>
          </a:prstGeom>
          <a:noFill/>
        </p:spPr>
        <p:txBody>
          <a:bodyPr wrap="square" lIns="45720" rIns="45720" tIns="27432" bIns="27432" anchor="t">
            <a:spAutoFit/>
          </a:bodyPr>
          <a:lstStyle/>
          <a:p>
            <a:pPr algn="l"/>
            <a:r>
              <a:rPr sz="2000" b="1" i="0">
                <a:solidFill>
                  <a:srgbClr val="B5740A"/>
                </a:solidFill>
                <a:latin typeface="Calibri"/>
              </a:rPr>
              <a:t>What is needed</a:t>
            </a:r>
          </a:p>
        </p:txBody>
      </p:sp>
      <p:sp>
        <p:nvSpPr>
          <p:cNvPr id="26" name="TextBox 25"/>
          <p:cNvSpPr txBox="1"/>
          <p:nvPr/>
        </p:nvSpPr>
        <p:spPr>
          <a:xfrm>
            <a:off x="8595359" y="2468880"/>
            <a:ext cx="2971800" cy="3383280"/>
          </a:xfrm>
          <a:prstGeom prst="rect">
            <a:avLst/>
          </a:prstGeom>
          <a:noFill/>
        </p:spPr>
        <p:txBody>
          <a:bodyPr wrap="square" lIns="45720" rIns="45720" tIns="27432" bIns="27432" anchor="t">
            <a:spAutoFit/>
          </a:bodyPr>
          <a:lstStyle/>
          <a:p>
            <a:pPr algn="l">
              <a:spcAft>
                <a:spcPts val="1000"/>
              </a:spcAft>
            </a:pPr>
            <a:r>
              <a:rPr sz="1800" b="0" i="0">
                <a:solidFill>
                  <a:srgbClr val="FFFFFF"/>
                </a:solidFill>
                <a:latin typeface="Calibri"/>
              </a:rPr>
              <a:t>•  Video along the heading where there is line of sight</a:t>
            </a:r>
          </a:p>
          <a:p>
            <a:pPr algn="l">
              <a:spcAft>
                <a:spcPts val="1000"/>
              </a:spcAft>
            </a:pPr>
            <a:r>
              <a:rPr sz="1800" b="0" i="0">
                <a:solidFill>
                  <a:srgbClr val="FFFFFF"/>
                </a:solidFill>
                <a:latin typeface="Calibri"/>
              </a:rPr>
              <a:t>•  An alert that survives a cut cable or a lost beam</a:t>
            </a:r>
          </a:p>
          <a:p>
            <a:pPr algn="l">
              <a:spcAft>
                <a:spcPts val="1000"/>
              </a:spcAft>
            </a:pPr>
            <a:r>
              <a:rPr sz="1800" b="0" i="0">
                <a:solidFill>
                  <a:srgbClr val="FFFFFF"/>
                </a:solidFill>
                <a:latin typeface="Calibri"/>
              </a:rPr>
              <a:t>•  Dependable communication, as DGMS practice expects</a:t>
            </a:r>
          </a:p>
        </p:txBody>
      </p:sp>
      <p:sp>
        <p:nvSpPr>
          <p:cNvPr id="27" name="Right Arrow 26"/>
          <p:cNvSpPr/>
          <p:nvPr/>
        </p:nvSpPr>
        <p:spPr>
          <a:xfrm>
            <a:off x="3840480" y="3657600"/>
            <a:ext cx="502920" cy="365760"/>
          </a:xfrm>
          <a:prstGeom prst="rightArrow">
            <a:avLst/>
          </a:prstGeom>
          <a:solidFill>
            <a:srgbClr val="B5740A"/>
          </a:solidFill>
          <a:ln>
            <a:noFill/>
          </a:ln>
        </p:spPr>
        <p:txBody>
          <a:bodyPr rtlCol="0" anchor="ctr"/>
          <a:lstStyle/>
          <a:p>
            <a:pPr algn="ctr"/>
          </a:p>
        </p:txBody>
      </p:sp>
      <p:sp>
        <p:nvSpPr>
          <p:cNvPr id="28" name="Right Arrow 27"/>
          <p:cNvSpPr/>
          <p:nvPr/>
        </p:nvSpPr>
        <p:spPr>
          <a:xfrm>
            <a:off x="7818120" y="3657600"/>
            <a:ext cx="502920" cy="365760"/>
          </a:xfrm>
          <a:prstGeom prst="rightArrow">
            <a:avLst/>
          </a:prstGeom>
          <a:solidFill>
            <a:srgbClr val="B5740A"/>
          </a:solidFill>
          <a:ln>
            <a:noFill/>
          </a:ln>
        </p:spPr>
        <p:txBody>
          <a:bodyPr rtlCol="0" anchor="ctr"/>
          <a:lstStyle/>
          <a:p>
            <a:pPr algn="ctr"/>
          </a:p>
        </p:txBody>
      </p:sp>
      <p:sp>
        <p:nvSpPr>
          <p:cNvPr id="29" name="TextBox 28"/>
          <p:cNvSpPr txBox="1"/>
          <p:nvPr/>
        </p:nvSpPr>
        <p:spPr>
          <a:xfrm>
            <a:off x="457200" y="6035040"/>
            <a:ext cx="11247120" cy="365760"/>
          </a:xfrm>
          <a:prstGeom prst="rect">
            <a:avLst/>
          </a:prstGeom>
          <a:noFill/>
        </p:spPr>
        <p:txBody>
          <a:bodyPr wrap="square" lIns="45720" rIns="45720" tIns="27432" bIns="27432" anchor="t">
            <a:spAutoFit/>
          </a:bodyPr>
          <a:lstStyle/>
          <a:p>
            <a:pPr algn="l"/>
            <a:r>
              <a:rPr sz="1400" b="0" i="1">
                <a:solidFill>
                  <a:srgbClr val="5C6770"/>
                </a:solidFill>
                <a:latin typeface="Calibri"/>
              </a:rPr>
              <a:t>Same problem as in last year’s presentation on underground mine communication.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02     ·     PROBLEM STATEMENT AND RELEVANCE TO THE MINING SECTOR</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Relevance to underground mining</a:t>
            </a:r>
          </a:p>
        </p:txBody>
      </p:sp>
      <p:sp>
        <p:nvSpPr>
          <p:cNvPr id="6" name="TextBox 5"/>
          <p:cNvSpPr txBox="1"/>
          <p:nvPr/>
        </p:nvSpPr>
        <p:spPr>
          <a:xfrm>
            <a:off x="457200" y="1024128"/>
            <a:ext cx="11247120" cy="365760"/>
          </a:xfrm>
          <a:prstGeom prst="rect">
            <a:avLst/>
          </a:prstGeom>
          <a:noFill/>
        </p:spPr>
        <p:txBody>
          <a:bodyPr wrap="square" lIns="18288" rIns="18288" tIns="0" bIns="0" anchor="t"/>
          <a:lstStyle/>
          <a:p>
            <a:pPr algn="l">
              <a:spcBef>
                <a:spcPts val="0"/>
              </a:spcBef>
              <a:spcAft>
                <a:spcPts val="0"/>
              </a:spcAft>
            </a:pPr>
            <a:r>
              <a:rPr sz="1600" b="0" i="0">
                <a:solidFill>
                  <a:srgbClr val="5C6770"/>
                </a:solidFill>
                <a:latin typeface="Calibri"/>
                <a:ea typeface="Calibri"/>
                <a:cs typeface="Calibri"/>
              </a:rPr>
              <a:t>What an underground heading needs, set against the systems available today.</a:t>
            </a:r>
          </a:p>
        </p:txBody>
      </p:sp>
      <p:sp>
        <p:nvSpPr>
          <p:cNvPr id="7" name="Rectangle 6"/>
          <p:cNvSpPr/>
          <p:nvPr/>
        </p:nvSpPr>
        <p:spPr>
          <a:xfrm>
            <a:off x="411480" y="1463040"/>
            <a:ext cx="2011680" cy="43891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FFFFFF"/>
                </a:solidFill>
                <a:latin typeface="Calibri"/>
                <a:ea typeface="Calibri"/>
                <a:cs typeface="Calibri"/>
              </a:rPr>
              <a:t>Need in the mine</a:t>
            </a:r>
          </a:p>
        </p:txBody>
      </p:sp>
      <p:sp>
        <p:nvSpPr>
          <p:cNvPr id="8" name="Rectangle 7"/>
          <p:cNvSpPr/>
          <p:nvPr/>
        </p:nvSpPr>
        <p:spPr>
          <a:xfrm>
            <a:off x="2423160" y="1463040"/>
            <a:ext cx="1847088" cy="43891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FFFFFF"/>
                </a:solidFill>
                <a:latin typeface="Calibri"/>
                <a:ea typeface="Calibri"/>
                <a:cs typeface="Calibri"/>
              </a:rPr>
              <a:t>Cable / leaky feeder</a:t>
            </a:r>
          </a:p>
        </p:txBody>
      </p:sp>
      <p:sp>
        <p:nvSpPr>
          <p:cNvPr id="9" name="Rectangle 8"/>
          <p:cNvSpPr/>
          <p:nvPr/>
        </p:nvSpPr>
        <p:spPr>
          <a:xfrm>
            <a:off x="4270248" y="1463040"/>
            <a:ext cx="1737360" cy="43891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FFFFFF"/>
                </a:solidFill>
                <a:latin typeface="Calibri"/>
                <a:ea typeface="Calibri"/>
                <a:cs typeface="Calibri"/>
              </a:rPr>
              <a:t>Wi-Fi / LTE</a:t>
            </a:r>
          </a:p>
        </p:txBody>
      </p:sp>
      <p:sp>
        <p:nvSpPr>
          <p:cNvPr id="10" name="Rectangle 9"/>
          <p:cNvSpPr/>
          <p:nvPr/>
        </p:nvSpPr>
        <p:spPr>
          <a:xfrm>
            <a:off x="6007608" y="1463040"/>
            <a:ext cx="1828800" cy="43891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FFFFFF"/>
                </a:solidFill>
                <a:latin typeface="Calibri"/>
                <a:ea typeface="Calibri"/>
                <a:cs typeface="Calibri"/>
              </a:rPr>
              <a:t>LoRa only</a:t>
            </a:r>
          </a:p>
        </p:txBody>
      </p:sp>
      <p:sp>
        <p:nvSpPr>
          <p:cNvPr id="11" name="Rectangle 10"/>
          <p:cNvSpPr/>
          <p:nvPr/>
        </p:nvSpPr>
        <p:spPr>
          <a:xfrm>
            <a:off x="7836408" y="1463040"/>
            <a:ext cx="1874519" cy="43891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FFFFFF"/>
                </a:solidFill>
                <a:latin typeface="Calibri"/>
                <a:ea typeface="Calibri"/>
                <a:cs typeface="Calibri"/>
              </a:rPr>
              <a:t>FSO only</a:t>
            </a:r>
          </a:p>
        </p:txBody>
      </p:sp>
      <p:sp>
        <p:nvSpPr>
          <p:cNvPr id="12" name="Rectangle 11"/>
          <p:cNvSpPr/>
          <p:nvPr/>
        </p:nvSpPr>
        <p:spPr>
          <a:xfrm>
            <a:off x="9710928" y="1463040"/>
            <a:ext cx="1965960" cy="438912"/>
          </a:xfrm>
          <a:prstGeom prst="rect">
            <a:avLst/>
          </a:prstGeom>
          <a:solidFill>
            <a:srgbClr val="FBF3E4"/>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1B3A4B"/>
                </a:solidFill>
                <a:latin typeface="Calibri"/>
                <a:ea typeface="Calibri"/>
                <a:cs typeface="Calibri"/>
              </a:rPr>
              <a:t>This proposal</a:t>
            </a:r>
          </a:p>
        </p:txBody>
      </p:sp>
      <p:sp>
        <p:nvSpPr>
          <p:cNvPr id="13" name="Rectangle 12"/>
          <p:cNvSpPr/>
          <p:nvPr/>
        </p:nvSpPr>
        <p:spPr>
          <a:xfrm>
            <a:off x="411480" y="1901952"/>
            <a:ext cx="2011680" cy="71323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1B3A4B"/>
                </a:solidFill>
                <a:latin typeface="Calibri"/>
                <a:ea typeface="Calibri"/>
                <a:cs typeface="Calibri"/>
              </a:rPr>
              <a:t>Reach the surface</a:t>
            </a:r>
          </a:p>
          <a:p>
            <a:pPr algn="l">
              <a:spcBef>
                <a:spcPts val="0"/>
              </a:spcBef>
              <a:spcAft>
                <a:spcPts val="0"/>
              </a:spcAft>
            </a:pPr>
            <a:r>
              <a:rPr sz="1200" b="1">
                <a:solidFill>
                  <a:srgbClr val="1B3A4B"/>
                </a:solidFill>
                <a:latin typeface="Calibri"/>
                <a:ea typeface="Calibri"/>
                <a:cs typeface="Calibri"/>
              </a:rPr>
              <a:t>in an emergency</a:t>
            </a:r>
          </a:p>
        </p:txBody>
      </p:sp>
      <p:sp>
        <p:nvSpPr>
          <p:cNvPr id="14" name="Rectangle 13"/>
          <p:cNvSpPr/>
          <p:nvPr/>
        </p:nvSpPr>
        <p:spPr>
          <a:xfrm>
            <a:off x="2423160" y="1901952"/>
            <a:ext cx="1847088"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Until the cable</a:t>
            </a:r>
          </a:p>
          <a:p>
            <a:pPr algn="l">
              <a:spcBef>
                <a:spcPts val="0"/>
              </a:spcBef>
              <a:spcAft>
                <a:spcPts val="0"/>
              </a:spcAft>
            </a:pPr>
            <a:r>
              <a:rPr sz="1200" b="0">
                <a:solidFill>
                  <a:srgbClr val="1C2430"/>
                </a:solidFill>
                <a:latin typeface="Calibri"/>
                <a:ea typeface="Calibri"/>
                <a:cs typeface="Calibri"/>
              </a:rPr>
              <a:t>is cut</a:t>
            </a:r>
          </a:p>
        </p:txBody>
      </p:sp>
      <p:sp>
        <p:nvSpPr>
          <p:cNvPr id="15" name="Rectangle 14"/>
          <p:cNvSpPr/>
          <p:nvPr/>
        </p:nvSpPr>
        <p:spPr>
          <a:xfrm>
            <a:off x="4270248" y="1901952"/>
            <a:ext cx="1737360"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No signal</a:t>
            </a:r>
          </a:p>
          <a:p>
            <a:pPr algn="l">
              <a:spcBef>
                <a:spcPts val="0"/>
              </a:spcBef>
              <a:spcAft>
                <a:spcPts val="0"/>
              </a:spcAft>
            </a:pPr>
            <a:r>
              <a:rPr sz="1200" b="0">
                <a:solidFill>
                  <a:srgbClr val="1C2430"/>
                </a:solidFill>
                <a:latin typeface="Calibri"/>
                <a:ea typeface="Calibri"/>
                <a:cs typeface="Calibri"/>
              </a:rPr>
              <a:t>in rock</a:t>
            </a:r>
          </a:p>
        </p:txBody>
      </p:sp>
      <p:sp>
        <p:nvSpPr>
          <p:cNvPr id="16" name="Rectangle 15"/>
          <p:cNvSpPr/>
          <p:nvPr/>
        </p:nvSpPr>
        <p:spPr>
          <a:xfrm>
            <a:off x="6007608" y="1901952"/>
            <a:ext cx="1828800"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Yes, at low</a:t>
            </a:r>
          </a:p>
          <a:p>
            <a:pPr algn="l">
              <a:spcBef>
                <a:spcPts val="0"/>
              </a:spcBef>
              <a:spcAft>
                <a:spcPts val="0"/>
              </a:spcAft>
            </a:pPr>
            <a:r>
              <a:rPr sz="1200" b="0">
                <a:solidFill>
                  <a:srgbClr val="1C2430"/>
                </a:solidFill>
                <a:latin typeface="Calibri"/>
                <a:ea typeface="Calibri"/>
                <a:cs typeface="Calibri"/>
              </a:rPr>
              <a:t>data rate</a:t>
            </a:r>
          </a:p>
        </p:txBody>
      </p:sp>
      <p:sp>
        <p:nvSpPr>
          <p:cNvPr id="17" name="Rectangle 16"/>
          <p:cNvSpPr/>
          <p:nvPr/>
        </p:nvSpPr>
        <p:spPr>
          <a:xfrm>
            <a:off x="7836408" y="1901952"/>
            <a:ext cx="1874519"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Only with a clear</a:t>
            </a:r>
          </a:p>
          <a:p>
            <a:pPr algn="l">
              <a:spcBef>
                <a:spcPts val="0"/>
              </a:spcBef>
              <a:spcAft>
                <a:spcPts val="0"/>
              </a:spcAft>
            </a:pPr>
            <a:r>
              <a:rPr sz="1200" b="0">
                <a:solidFill>
                  <a:srgbClr val="1C2430"/>
                </a:solidFill>
                <a:latin typeface="Calibri"/>
                <a:ea typeface="Calibri"/>
                <a:cs typeface="Calibri"/>
              </a:rPr>
              <a:t>sightline</a:t>
            </a:r>
          </a:p>
        </p:txBody>
      </p:sp>
      <p:sp>
        <p:nvSpPr>
          <p:cNvPr id="18" name="Rectangle 17"/>
          <p:cNvSpPr/>
          <p:nvPr/>
        </p:nvSpPr>
        <p:spPr>
          <a:xfrm>
            <a:off x="9710928" y="1901952"/>
            <a:ext cx="1965960" cy="713232"/>
          </a:xfrm>
          <a:prstGeom prst="rect">
            <a:avLst/>
          </a:prstGeom>
          <a:solidFill>
            <a:srgbClr val="FBF3E4"/>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1B3A4B"/>
                </a:solidFill>
                <a:latin typeface="Calibri"/>
                <a:ea typeface="Calibri"/>
                <a:cs typeface="Calibri"/>
              </a:rPr>
              <a:t>LoRa stays up</a:t>
            </a:r>
          </a:p>
          <a:p>
            <a:pPr algn="l">
              <a:spcBef>
                <a:spcPts val="0"/>
              </a:spcBef>
              <a:spcAft>
                <a:spcPts val="0"/>
              </a:spcAft>
            </a:pPr>
            <a:r>
              <a:rPr sz="1200" b="1">
                <a:solidFill>
                  <a:srgbClr val="1B3A4B"/>
                </a:solidFill>
                <a:latin typeface="Calibri"/>
                <a:ea typeface="Calibri"/>
                <a:cs typeface="Calibri"/>
              </a:rPr>
              <a:t>if the beam drops</a:t>
            </a:r>
          </a:p>
        </p:txBody>
      </p:sp>
      <p:sp>
        <p:nvSpPr>
          <p:cNvPr id="19" name="Rectangle 18"/>
          <p:cNvSpPr/>
          <p:nvPr/>
        </p:nvSpPr>
        <p:spPr>
          <a:xfrm>
            <a:off x="411480" y="2615184"/>
            <a:ext cx="2011680" cy="71323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1B3A4B"/>
                </a:solidFill>
                <a:latin typeface="Calibri"/>
                <a:ea typeface="Calibri"/>
                <a:cs typeface="Calibri"/>
              </a:rPr>
              <a:t>Live picture</a:t>
            </a:r>
          </a:p>
          <a:p>
            <a:pPr algn="l">
              <a:spcBef>
                <a:spcPts val="0"/>
              </a:spcBef>
              <a:spcAft>
                <a:spcPts val="0"/>
              </a:spcAft>
            </a:pPr>
            <a:r>
              <a:rPr sz="1200" b="1">
                <a:solidFill>
                  <a:srgbClr val="1B3A4B"/>
                </a:solidFill>
                <a:latin typeface="Calibri"/>
                <a:ea typeface="Calibri"/>
                <a:cs typeface="Calibri"/>
              </a:rPr>
              <a:t>of the face</a:t>
            </a:r>
          </a:p>
        </p:txBody>
      </p:sp>
      <p:sp>
        <p:nvSpPr>
          <p:cNvPr id="20" name="Rectangle 19"/>
          <p:cNvSpPr/>
          <p:nvPr/>
        </p:nvSpPr>
        <p:spPr>
          <a:xfrm>
            <a:off x="2423160" y="2615184"/>
            <a:ext cx="1847088"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Not the design</a:t>
            </a:r>
          </a:p>
          <a:p>
            <a:pPr algn="l">
              <a:spcBef>
                <a:spcPts val="0"/>
              </a:spcBef>
              <a:spcAft>
                <a:spcPts val="0"/>
              </a:spcAft>
            </a:pPr>
            <a:r>
              <a:rPr sz="1200" b="0">
                <a:solidFill>
                  <a:srgbClr val="1C2430"/>
                </a:solidFill>
                <a:latin typeface="Calibri"/>
                <a:ea typeface="Calibri"/>
                <a:cs typeface="Calibri"/>
              </a:rPr>
              <a:t>of these systems</a:t>
            </a:r>
          </a:p>
        </p:txBody>
      </p:sp>
      <p:sp>
        <p:nvSpPr>
          <p:cNvPr id="21" name="Rectangle 20"/>
          <p:cNvSpPr/>
          <p:nvPr/>
        </p:nvSpPr>
        <p:spPr>
          <a:xfrm>
            <a:off x="4270248" y="2615184"/>
            <a:ext cx="1737360"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No usable</a:t>
            </a:r>
          </a:p>
          <a:p>
            <a:pPr algn="l">
              <a:spcBef>
                <a:spcPts val="0"/>
              </a:spcBef>
              <a:spcAft>
                <a:spcPts val="0"/>
              </a:spcAft>
            </a:pPr>
            <a:r>
              <a:rPr sz="1200" b="0">
                <a:solidFill>
                  <a:srgbClr val="1C2430"/>
                </a:solidFill>
                <a:latin typeface="Calibri"/>
                <a:ea typeface="Calibri"/>
                <a:cs typeface="Calibri"/>
              </a:rPr>
              <a:t>bandwidth</a:t>
            </a:r>
          </a:p>
        </p:txBody>
      </p:sp>
      <p:sp>
        <p:nvSpPr>
          <p:cNvPr id="22" name="Rectangle 21"/>
          <p:cNvSpPr/>
          <p:nvPr/>
        </p:nvSpPr>
        <p:spPr>
          <a:xfrm>
            <a:off x="6007608" y="2615184"/>
            <a:ext cx="1828800"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Too slow</a:t>
            </a:r>
          </a:p>
          <a:p>
            <a:pPr algn="l">
              <a:spcBef>
                <a:spcPts val="0"/>
              </a:spcBef>
              <a:spcAft>
                <a:spcPts val="0"/>
              </a:spcAft>
            </a:pPr>
            <a:r>
              <a:rPr sz="1200" b="0">
                <a:solidFill>
                  <a:srgbClr val="1C2430"/>
                </a:solidFill>
                <a:latin typeface="Calibri"/>
                <a:ea typeface="Calibri"/>
                <a:cs typeface="Calibri"/>
              </a:rPr>
              <a:t>for video</a:t>
            </a:r>
          </a:p>
        </p:txBody>
      </p:sp>
      <p:sp>
        <p:nvSpPr>
          <p:cNvPr id="23" name="Rectangle 22"/>
          <p:cNvSpPr/>
          <p:nvPr/>
        </p:nvSpPr>
        <p:spPr>
          <a:xfrm>
            <a:off x="7836408" y="2615184"/>
            <a:ext cx="1874519"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Yes, while</a:t>
            </a:r>
          </a:p>
          <a:p>
            <a:pPr algn="l">
              <a:spcBef>
                <a:spcPts val="0"/>
              </a:spcBef>
              <a:spcAft>
                <a:spcPts val="0"/>
              </a:spcAft>
            </a:pPr>
            <a:r>
              <a:rPr sz="1200" b="0">
                <a:solidFill>
                  <a:srgbClr val="1C2430"/>
                </a:solidFill>
                <a:latin typeface="Calibri"/>
                <a:ea typeface="Calibri"/>
                <a:cs typeface="Calibri"/>
              </a:rPr>
              <a:t>alignment holds</a:t>
            </a:r>
          </a:p>
        </p:txBody>
      </p:sp>
      <p:sp>
        <p:nvSpPr>
          <p:cNvPr id="24" name="Rectangle 23"/>
          <p:cNvSpPr/>
          <p:nvPr/>
        </p:nvSpPr>
        <p:spPr>
          <a:xfrm>
            <a:off x="9710928" y="2615184"/>
            <a:ext cx="1965960" cy="713232"/>
          </a:xfrm>
          <a:prstGeom prst="rect">
            <a:avLst/>
          </a:prstGeom>
          <a:solidFill>
            <a:srgbClr val="FBF3E4"/>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1B3A4B"/>
                </a:solidFill>
                <a:latin typeface="Calibri"/>
                <a:ea typeface="Calibri"/>
                <a:cs typeface="Calibri"/>
              </a:rPr>
              <a:t>Yes. Alignment</a:t>
            </a:r>
          </a:p>
          <a:p>
            <a:pPr algn="l">
              <a:spcBef>
                <a:spcPts val="0"/>
              </a:spcBef>
              <a:spcAft>
                <a:spcPts val="0"/>
              </a:spcAft>
            </a:pPr>
            <a:r>
              <a:rPr sz="1200" b="1">
                <a:solidFill>
                  <a:srgbClr val="1B3A4B"/>
                </a:solidFill>
                <a:latin typeface="Calibri"/>
                <a:ea typeface="Calibri"/>
                <a:cs typeface="Calibri"/>
              </a:rPr>
              <a:t>is closed-loop</a:t>
            </a:r>
          </a:p>
        </p:txBody>
      </p:sp>
      <p:sp>
        <p:nvSpPr>
          <p:cNvPr id="25" name="Rectangle 24"/>
          <p:cNvSpPr/>
          <p:nvPr/>
        </p:nvSpPr>
        <p:spPr>
          <a:xfrm>
            <a:off x="411480" y="3328416"/>
            <a:ext cx="2011680" cy="71323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1B3A4B"/>
                </a:solidFill>
                <a:latin typeface="Calibri"/>
                <a:ea typeface="Calibri"/>
                <a:cs typeface="Calibri"/>
              </a:rPr>
              <a:t>After vibration</a:t>
            </a:r>
          </a:p>
          <a:p>
            <a:pPr algn="l">
              <a:spcBef>
                <a:spcPts val="0"/>
              </a:spcBef>
              <a:spcAft>
                <a:spcPts val="0"/>
              </a:spcAft>
            </a:pPr>
            <a:r>
              <a:rPr sz="1200" b="1">
                <a:solidFill>
                  <a:srgbClr val="1B3A4B"/>
                </a:solidFill>
                <a:latin typeface="Calibri"/>
                <a:ea typeface="Calibri"/>
                <a:cs typeface="Calibri"/>
              </a:rPr>
              <a:t>or a fall</a:t>
            </a:r>
          </a:p>
        </p:txBody>
      </p:sp>
      <p:sp>
        <p:nvSpPr>
          <p:cNvPr id="26" name="Rectangle 25"/>
          <p:cNvSpPr/>
          <p:nvPr/>
        </p:nvSpPr>
        <p:spPr>
          <a:xfrm>
            <a:off x="2423160" y="3328416"/>
            <a:ext cx="1847088"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The cable often</a:t>
            </a:r>
          </a:p>
          <a:p>
            <a:pPr algn="l">
              <a:spcBef>
                <a:spcPts val="0"/>
              </a:spcBef>
              <a:spcAft>
                <a:spcPts val="0"/>
              </a:spcAft>
            </a:pPr>
            <a:r>
              <a:rPr sz="1200" b="0">
                <a:solidFill>
                  <a:srgbClr val="1C2430"/>
                </a:solidFill>
                <a:latin typeface="Calibri"/>
                <a:ea typeface="Calibri"/>
                <a:cs typeface="Calibri"/>
              </a:rPr>
              <a:t>fails as well</a:t>
            </a:r>
          </a:p>
        </p:txBody>
      </p:sp>
      <p:sp>
        <p:nvSpPr>
          <p:cNvPr id="27" name="Rectangle 26"/>
          <p:cNvSpPr/>
          <p:nvPr/>
        </p:nvSpPr>
        <p:spPr>
          <a:xfrm>
            <a:off x="4270248" y="3328416"/>
            <a:ext cx="1737360"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Link is lost</a:t>
            </a:r>
          </a:p>
        </p:txBody>
      </p:sp>
      <p:sp>
        <p:nvSpPr>
          <p:cNvPr id="28" name="Rectangle 27"/>
          <p:cNvSpPr/>
          <p:nvPr/>
        </p:nvSpPr>
        <p:spPr>
          <a:xfrm>
            <a:off x="6007608" y="3328416"/>
            <a:ext cx="1828800"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An alert can</a:t>
            </a:r>
          </a:p>
          <a:p>
            <a:pPr algn="l">
              <a:spcBef>
                <a:spcPts val="0"/>
              </a:spcBef>
              <a:spcAft>
                <a:spcPts val="0"/>
              </a:spcAft>
            </a:pPr>
            <a:r>
              <a:rPr sz="1200" b="0">
                <a:solidFill>
                  <a:srgbClr val="1C2430"/>
                </a:solidFill>
                <a:latin typeface="Calibri"/>
                <a:ea typeface="Calibri"/>
                <a:cs typeface="Calibri"/>
              </a:rPr>
              <a:t>still be sent</a:t>
            </a:r>
          </a:p>
        </p:txBody>
      </p:sp>
      <p:sp>
        <p:nvSpPr>
          <p:cNvPr id="29" name="Rectangle 28"/>
          <p:cNvSpPr/>
          <p:nvPr/>
        </p:nvSpPr>
        <p:spPr>
          <a:xfrm>
            <a:off x="7836408" y="3328416"/>
            <a:ext cx="1874519"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Beam is lost</a:t>
            </a:r>
          </a:p>
        </p:txBody>
      </p:sp>
      <p:sp>
        <p:nvSpPr>
          <p:cNvPr id="30" name="Rectangle 29"/>
          <p:cNvSpPr/>
          <p:nvPr/>
        </p:nvSpPr>
        <p:spPr>
          <a:xfrm>
            <a:off x="9710928" y="3328416"/>
            <a:ext cx="1965960" cy="713232"/>
          </a:xfrm>
          <a:prstGeom prst="rect">
            <a:avLst/>
          </a:prstGeom>
          <a:solidFill>
            <a:srgbClr val="FBF3E4"/>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1B3A4B"/>
                </a:solidFill>
                <a:latin typeface="Calibri"/>
                <a:ea typeface="Calibri"/>
                <a:cs typeface="Calibri"/>
              </a:rPr>
              <a:t>Alert remains.</a:t>
            </a:r>
          </a:p>
          <a:p>
            <a:pPr algn="l">
              <a:spcBef>
                <a:spcPts val="0"/>
              </a:spcBef>
              <a:spcAft>
                <a:spcPts val="0"/>
              </a:spcAft>
            </a:pPr>
            <a:r>
              <a:rPr sz="1200" b="1">
                <a:solidFill>
                  <a:srgbClr val="1B3A4B"/>
                </a:solidFill>
                <a:latin typeface="Calibri"/>
                <a:ea typeface="Calibri"/>
                <a:cs typeface="Calibri"/>
              </a:rPr>
              <a:t>Beam is reacquired</a:t>
            </a:r>
          </a:p>
        </p:txBody>
      </p:sp>
      <p:sp>
        <p:nvSpPr>
          <p:cNvPr id="31" name="Rectangle 30"/>
          <p:cNvSpPr/>
          <p:nvPr/>
        </p:nvSpPr>
        <p:spPr>
          <a:xfrm>
            <a:off x="411480" y="4041648"/>
            <a:ext cx="2011680" cy="71323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1B3A4B"/>
                </a:solidFill>
                <a:latin typeface="Calibri"/>
                <a:ea typeface="Calibri"/>
                <a:cs typeface="Calibri"/>
              </a:rPr>
              <a:t>Fit for an Indian</a:t>
            </a:r>
          </a:p>
          <a:p>
            <a:pPr algn="l">
              <a:spcBef>
                <a:spcPts val="0"/>
              </a:spcBef>
              <a:spcAft>
                <a:spcPts val="0"/>
              </a:spcAft>
            </a:pPr>
            <a:r>
              <a:rPr sz="1200" b="1">
                <a:solidFill>
                  <a:srgbClr val="1B3A4B"/>
                </a:solidFill>
                <a:latin typeface="Calibri"/>
                <a:ea typeface="Calibri"/>
                <a:cs typeface="Calibri"/>
              </a:rPr>
              <a:t>underground mine</a:t>
            </a:r>
          </a:p>
        </p:txBody>
      </p:sp>
      <p:sp>
        <p:nvSpPr>
          <p:cNvPr id="32" name="Rectangle 31"/>
          <p:cNvSpPr/>
          <p:nvPr/>
        </p:nvSpPr>
        <p:spPr>
          <a:xfrm>
            <a:off x="2423160" y="4041648"/>
            <a:ext cx="1847088"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Often imported,</a:t>
            </a:r>
          </a:p>
          <a:p>
            <a:pPr algn="l">
              <a:spcBef>
                <a:spcPts val="0"/>
              </a:spcBef>
              <a:spcAft>
                <a:spcPts val="0"/>
              </a:spcAft>
            </a:pPr>
            <a:r>
              <a:rPr sz="1200" b="0">
                <a:solidFill>
                  <a:srgbClr val="1C2430"/>
                </a:solidFill>
                <a:latin typeface="Calibri"/>
                <a:ea typeface="Calibri"/>
                <a:cs typeface="Calibri"/>
              </a:rPr>
              <a:t>mine-wide install</a:t>
            </a:r>
          </a:p>
        </p:txBody>
      </p:sp>
      <p:sp>
        <p:nvSpPr>
          <p:cNvPr id="33" name="Rectangle 32"/>
          <p:cNvSpPr/>
          <p:nvPr/>
        </p:nvSpPr>
        <p:spPr>
          <a:xfrm>
            <a:off x="4270248" y="4041648"/>
            <a:ext cx="1737360"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Not an</a:t>
            </a:r>
          </a:p>
          <a:p>
            <a:pPr algn="l">
              <a:spcBef>
                <a:spcPts val="0"/>
              </a:spcBef>
              <a:spcAft>
                <a:spcPts val="0"/>
              </a:spcAft>
            </a:pPr>
            <a:r>
              <a:rPr sz="1200" b="0">
                <a:solidFill>
                  <a:srgbClr val="1C2430"/>
                </a:solidFill>
                <a:latin typeface="Calibri"/>
                <a:ea typeface="Calibri"/>
                <a:cs typeface="Calibri"/>
              </a:rPr>
              <a:t>underground system</a:t>
            </a:r>
          </a:p>
        </p:txBody>
      </p:sp>
      <p:sp>
        <p:nvSpPr>
          <p:cNvPr id="34" name="Rectangle 33"/>
          <p:cNvSpPr/>
          <p:nvPr/>
        </p:nvSpPr>
        <p:spPr>
          <a:xfrm>
            <a:off x="6007608" y="4041648"/>
            <a:ext cx="1828800"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Used for sensors,</a:t>
            </a:r>
          </a:p>
          <a:p>
            <a:pPr algn="l">
              <a:spcBef>
                <a:spcPts val="0"/>
              </a:spcBef>
              <a:spcAft>
                <a:spcPts val="0"/>
              </a:spcAft>
            </a:pPr>
            <a:r>
              <a:rPr sz="1200" b="0">
                <a:solidFill>
                  <a:srgbClr val="1C2430"/>
                </a:solidFill>
                <a:latin typeface="Calibri"/>
                <a:ea typeface="Calibri"/>
                <a:cs typeface="Calibri"/>
              </a:rPr>
              <a:t>not for video</a:t>
            </a:r>
          </a:p>
        </p:txBody>
      </p:sp>
      <p:sp>
        <p:nvSpPr>
          <p:cNvPr id="35" name="Rectangle 34"/>
          <p:cNvSpPr/>
          <p:nvPr/>
        </p:nvSpPr>
        <p:spPr>
          <a:xfrm>
            <a:off x="7836408" y="4041648"/>
            <a:ext cx="1874519" cy="71323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200" b="0">
                <a:solidFill>
                  <a:srgbClr val="1C2430"/>
                </a:solidFill>
                <a:latin typeface="Calibri"/>
                <a:ea typeface="Calibri"/>
                <a:cs typeface="Calibri"/>
              </a:rPr>
              <a:t>Mostly shown</a:t>
            </a:r>
          </a:p>
          <a:p>
            <a:pPr algn="l">
              <a:spcBef>
                <a:spcPts val="0"/>
              </a:spcBef>
              <a:spcAft>
                <a:spcPts val="0"/>
              </a:spcAft>
            </a:pPr>
            <a:r>
              <a:rPr sz="1200" b="0">
                <a:solidFill>
                  <a:srgbClr val="1C2430"/>
                </a:solidFill>
                <a:latin typeface="Calibri"/>
                <a:ea typeface="Calibri"/>
                <a:cs typeface="Calibri"/>
              </a:rPr>
              <a:t>in the laboratory</a:t>
            </a:r>
          </a:p>
        </p:txBody>
      </p:sp>
      <p:sp>
        <p:nvSpPr>
          <p:cNvPr id="36" name="Rectangle 35"/>
          <p:cNvSpPr/>
          <p:nvPr/>
        </p:nvSpPr>
        <p:spPr>
          <a:xfrm>
            <a:off x="9710928" y="4041648"/>
            <a:ext cx="1965960" cy="713232"/>
          </a:xfrm>
          <a:prstGeom prst="rect">
            <a:avLst/>
          </a:prstGeom>
          <a:solidFill>
            <a:srgbClr val="FBF3E4"/>
          </a:solidFill>
          <a:ln w="9525">
            <a:solidFill>
              <a:srgbClr val="D9D3C8"/>
            </a:solidFill>
          </a:ln>
        </p:spPr>
        <p:txBody>
          <a:bodyPr rtlCol="0" anchor="ctr" wrap="square" lIns="73152" rIns="54864" tIns="36576" bIns="18288"/>
          <a:lstStyle/>
          <a:p>
            <a:pPr algn="l">
              <a:spcBef>
                <a:spcPts val="0"/>
              </a:spcBef>
              <a:spcAft>
                <a:spcPts val="0"/>
              </a:spcAft>
            </a:pPr>
            <a:r>
              <a:rPr sz="1200" b="1">
                <a:solidFill>
                  <a:srgbClr val="1B3A4B"/>
                </a:solidFill>
                <a:latin typeface="Calibri"/>
                <a:ea typeface="Calibri"/>
                <a:cs typeface="Calibri"/>
              </a:rPr>
              <a:t>Indigenous node,</a:t>
            </a:r>
          </a:p>
          <a:p>
            <a:pPr algn="l">
              <a:spcBef>
                <a:spcPts val="0"/>
              </a:spcBef>
              <a:spcAft>
                <a:spcPts val="0"/>
              </a:spcAft>
            </a:pPr>
            <a:r>
              <a:rPr sz="1200" b="1">
                <a:solidFill>
                  <a:srgbClr val="1B3A4B"/>
                </a:solidFill>
                <a:latin typeface="Calibri"/>
                <a:ea typeface="Calibri"/>
                <a:cs typeface="Calibri"/>
              </a:rPr>
              <a:t>one hop at a time</a:t>
            </a:r>
          </a:p>
        </p:txBody>
      </p:sp>
      <p:sp>
        <p:nvSpPr>
          <p:cNvPr id="37" name="TextBox 36"/>
          <p:cNvSpPr txBox="1"/>
          <p:nvPr/>
        </p:nvSpPr>
        <p:spPr>
          <a:xfrm>
            <a:off x="457200" y="4892040"/>
            <a:ext cx="11247120" cy="320040"/>
          </a:xfrm>
          <a:prstGeom prst="rect">
            <a:avLst/>
          </a:prstGeom>
          <a:noFill/>
        </p:spPr>
        <p:txBody>
          <a:bodyPr wrap="square" lIns="18288" rIns="18288" tIns="0" bIns="0" anchor="t"/>
          <a:lstStyle/>
          <a:p>
            <a:pPr algn="l">
              <a:spcBef>
                <a:spcPts val="0"/>
              </a:spcBef>
              <a:spcAft>
                <a:spcPts val="0"/>
              </a:spcAft>
            </a:pPr>
            <a:r>
              <a:rPr sz="1600" b="1" i="0">
                <a:solidFill>
                  <a:srgbClr val="1B3A4B"/>
                </a:solidFill>
                <a:latin typeface="Calibri"/>
                <a:ea typeface="Calibri"/>
                <a:cs typeface="Calibri"/>
              </a:rPr>
              <a:t>Primary focus declared in the proposal: 4S Mining</a:t>
            </a:r>
          </a:p>
        </p:txBody>
      </p:sp>
      <p:sp>
        <p:nvSpPr>
          <p:cNvPr id="38" name="TextBox 37"/>
          <p:cNvSpPr txBox="1"/>
          <p:nvPr/>
        </p:nvSpPr>
        <p:spPr>
          <a:xfrm>
            <a:off x="457200" y="5257800"/>
            <a:ext cx="11247120" cy="1188720"/>
          </a:xfrm>
          <a:prstGeom prst="rect">
            <a:avLst/>
          </a:prstGeom>
          <a:noFill/>
        </p:spPr>
        <p:txBody>
          <a:bodyPr wrap="square" lIns="36576" rIns="36576" tIns="18288" bIns="0"/>
          <a:lstStyle/>
          <a:p>
            <a:pPr algn="l">
              <a:spcBef>
                <a:spcPts val="200"/>
              </a:spcBef>
              <a:spcAft>
                <a:spcPts val="200"/>
              </a:spcAft>
              <a:buFont typeface="Arial"/>
              <a:buChar char="•"/>
            </a:pPr>
            <a:r>
              <a:rPr sz="1500">
                <a:solidFill>
                  <a:srgbClr val="1C2430"/>
                </a:solidFill>
                <a:latin typeface="Calibri"/>
                <a:ea typeface="Calibri"/>
                <a:cs typeface="Calibri"/>
              </a:rPr>
              <a:t>Safe — a picture of the face, and an alert if that picture drops, before a team is sent in.</a:t>
            </a:r>
          </a:p>
          <a:p>
            <a:pPr algn="l">
              <a:spcBef>
                <a:spcPts val="200"/>
              </a:spcBef>
              <a:spcAft>
                <a:spcPts val="200"/>
              </a:spcAft>
              <a:buFont typeface="Arial"/>
              <a:buChar char="•"/>
            </a:pPr>
            <a:r>
              <a:rPr sz="1500">
                <a:solidFill>
                  <a:srgbClr val="1C2430"/>
                </a:solidFill>
                <a:latin typeface="Calibri"/>
                <a:ea typeface="Calibri"/>
                <a:cs typeface="Calibri"/>
              </a:rPr>
              <a:t>Smart — camera, IMU, both radios and the steering loop in one node.</a:t>
            </a:r>
          </a:p>
          <a:p>
            <a:pPr algn="l">
              <a:spcBef>
                <a:spcPts val="200"/>
              </a:spcBef>
              <a:spcAft>
                <a:spcPts val="200"/>
              </a:spcAft>
              <a:buFont typeface="Arial"/>
              <a:buChar char="•"/>
            </a:pPr>
            <a:r>
              <a:rPr sz="1500">
                <a:solidFill>
                  <a:srgbClr val="1C2430"/>
                </a:solidFill>
                <a:latin typeface="Calibri"/>
                <a:ea typeface="Calibri"/>
                <a:cs typeface="Calibri"/>
              </a:rPr>
              <a:t>Sustainable — heavy data on the optical link; control traffic on low-power radio.</a:t>
            </a:r>
          </a:p>
          <a:p>
            <a:pPr algn="l">
              <a:spcBef>
                <a:spcPts val="200"/>
              </a:spcBef>
              <a:spcAft>
                <a:spcPts val="200"/>
              </a:spcAft>
              <a:buFont typeface="Arial"/>
              <a:buChar char="•"/>
            </a:pPr>
            <a:r>
              <a:rPr sz="1500">
                <a:solidFill>
                  <a:srgbClr val="1C2430"/>
                </a:solidFill>
                <a:latin typeface="Calibri"/>
                <a:ea typeface="Calibri"/>
                <a:cs typeface="Calibri"/>
              </a:rPr>
              <a:t>Social — fewer people exposed to a heading the surface cannot see.</a:t>
            </a:r>
          </a:p>
        </p:txBody>
      </p:sp>
      <p:sp>
        <p:nvSpPr>
          <p:cNvPr id="39" name="Rectangle 38"/>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40" name="TextBox 39"/>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Relevance to mining</a:t>
            </a:r>
          </a:p>
        </p:txBody>
      </p:sp>
      <p:sp>
        <p:nvSpPr>
          <p:cNvPr id="41" name="TextBox 40"/>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03     ·     INNOVATION AND UNIQUENESS</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What is different in the proposed system</a:t>
            </a:r>
          </a:p>
        </p:txBody>
      </p:sp>
      <p:sp>
        <p:nvSpPr>
          <p:cNvPr id="21" name="Rectangle 20"/>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22" name="TextBox 21"/>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Innovation</a:t>
            </a:r>
          </a:p>
        </p:txBody>
      </p:sp>
      <p:sp>
        <p:nvSpPr>
          <p:cNvPr id="23" name="TextBox 22"/>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5  /  14</a:t>
            </a:r>
          </a:p>
        </p:txBody>
      </p:sp>
      <p:sp>
        <p:nvSpPr>
          <p:cNvPr id="24" name="Rounded Rectangle 23"/>
          <p:cNvSpPr/>
          <p:nvPr/>
        </p:nvSpPr>
        <p:spPr>
          <a:xfrm>
            <a:off x="457200" y="1143000"/>
            <a:ext cx="3657600" cy="2423160"/>
          </a:xfrm>
          <a:prstGeom prst="roundRect">
            <a:avLst>
              <a:gd name="adj" fmla="val 6000"/>
            </a:avLst>
          </a:prstGeom>
          <a:solidFill>
            <a:srgbClr val="F7F5F2"/>
          </a:solidFill>
          <a:ln>
            <a:noFill/>
          </a:ln>
        </p:spPr>
        <p:txBody>
          <a:bodyPr rtlCol="0" anchor="ctr"/>
          <a:lstStyle/>
          <a:p>
            <a:pPr algn="ctr"/>
          </a:p>
        </p:txBody>
      </p:sp>
      <p:sp>
        <p:nvSpPr>
          <p:cNvPr id="25" name="Oval 24"/>
          <p:cNvSpPr/>
          <p:nvPr/>
        </p:nvSpPr>
        <p:spPr>
          <a:xfrm>
            <a:off x="640080" y="132588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1</a:t>
            </a:r>
          </a:p>
        </p:txBody>
      </p:sp>
      <p:sp>
        <p:nvSpPr>
          <p:cNvPr id="26" name="TextBox 25"/>
          <p:cNvSpPr txBox="1"/>
          <p:nvPr/>
        </p:nvSpPr>
        <p:spPr>
          <a:xfrm>
            <a:off x="640080" y="1828800"/>
            <a:ext cx="3291840" cy="457200"/>
          </a:xfrm>
          <a:prstGeom prst="rect">
            <a:avLst/>
          </a:prstGeom>
          <a:noFill/>
        </p:spPr>
        <p:txBody>
          <a:bodyPr wrap="square" lIns="45720" rIns="45720" tIns="27432" bIns="27432" anchor="t">
            <a:spAutoFit/>
          </a:bodyPr>
          <a:lstStyle/>
          <a:p>
            <a:pPr algn="l"/>
            <a:r>
              <a:rPr sz="1900" b="1" i="0">
                <a:solidFill>
                  <a:srgbClr val="1B3A4B"/>
                </a:solidFill>
                <a:latin typeface="Calibri"/>
              </a:rPr>
              <a:t>Hybrid FSO and LoRa</a:t>
            </a:r>
          </a:p>
        </p:txBody>
      </p:sp>
      <p:sp>
        <p:nvSpPr>
          <p:cNvPr id="27" name="TextBox 26"/>
          <p:cNvSpPr txBox="1"/>
          <p:nvPr/>
        </p:nvSpPr>
        <p:spPr>
          <a:xfrm>
            <a:off x="64008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FSO carries video. LoRa carries control, alerts and backup.</a:t>
            </a:r>
          </a:p>
        </p:txBody>
      </p:sp>
      <p:sp>
        <p:nvSpPr>
          <p:cNvPr id="28" name="Rounded Rectangle 27"/>
          <p:cNvSpPr/>
          <p:nvPr/>
        </p:nvSpPr>
        <p:spPr>
          <a:xfrm>
            <a:off x="4251960" y="1143000"/>
            <a:ext cx="3657600" cy="2423160"/>
          </a:xfrm>
          <a:prstGeom prst="roundRect">
            <a:avLst>
              <a:gd name="adj" fmla="val 6000"/>
            </a:avLst>
          </a:prstGeom>
          <a:solidFill>
            <a:srgbClr val="F7F5F2"/>
          </a:solidFill>
          <a:ln>
            <a:noFill/>
          </a:ln>
        </p:spPr>
        <p:txBody>
          <a:bodyPr rtlCol="0" anchor="ctr"/>
          <a:lstStyle/>
          <a:p>
            <a:pPr algn="ctr"/>
          </a:p>
        </p:txBody>
      </p:sp>
      <p:sp>
        <p:nvSpPr>
          <p:cNvPr id="29" name="Oval 28"/>
          <p:cNvSpPr/>
          <p:nvPr/>
        </p:nvSpPr>
        <p:spPr>
          <a:xfrm>
            <a:off x="4434840" y="132588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2</a:t>
            </a:r>
          </a:p>
        </p:txBody>
      </p:sp>
      <p:sp>
        <p:nvSpPr>
          <p:cNvPr id="30" name="TextBox 29"/>
          <p:cNvSpPr txBox="1"/>
          <p:nvPr/>
        </p:nvSpPr>
        <p:spPr>
          <a:xfrm>
            <a:off x="4434840" y="1828800"/>
            <a:ext cx="3291840" cy="457200"/>
          </a:xfrm>
          <a:prstGeom prst="rect">
            <a:avLst/>
          </a:prstGeom>
          <a:noFill/>
        </p:spPr>
        <p:txBody>
          <a:bodyPr wrap="square" lIns="45720" rIns="45720" tIns="27432" bIns="27432" anchor="t">
            <a:spAutoFit/>
          </a:bodyPr>
          <a:lstStyle/>
          <a:p>
            <a:pPr algn="l"/>
            <a:r>
              <a:rPr sz="1900" b="1" i="0">
                <a:solidFill>
                  <a:srgbClr val="1B3A4B"/>
                </a:solidFill>
                <a:latin typeface="Calibri"/>
              </a:rPr>
              <a:t>Multi-hop along the tunnel</a:t>
            </a:r>
          </a:p>
        </p:txBody>
      </p:sp>
      <p:sp>
        <p:nvSpPr>
          <p:cNvPr id="31" name="TextBox 30"/>
          <p:cNvSpPr txBox="1"/>
          <p:nvPr/>
        </p:nvSpPr>
        <p:spPr>
          <a:xfrm>
            <a:off x="443484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node every 50–100 m on line of sight. Longer heading means more relays, not a stronger laser.</a:t>
            </a:r>
          </a:p>
        </p:txBody>
      </p:sp>
      <p:sp>
        <p:nvSpPr>
          <p:cNvPr id="32" name="Rounded Rectangle 31"/>
          <p:cNvSpPr/>
          <p:nvPr/>
        </p:nvSpPr>
        <p:spPr>
          <a:xfrm>
            <a:off x="8046720" y="1143000"/>
            <a:ext cx="3657600" cy="2423160"/>
          </a:xfrm>
          <a:prstGeom prst="roundRect">
            <a:avLst>
              <a:gd name="adj" fmla="val 6000"/>
            </a:avLst>
          </a:prstGeom>
          <a:solidFill>
            <a:srgbClr val="F7F5F2"/>
          </a:solidFill>
          <a:ln>
            <a:noFill/>
          </a:ln>
        </p:spPr>
        <p:txBody>
          <a:bodyPr rtlCol="0" anchor="ctr"/>
          <a:lstStyle/>
          <a:p>
            <a:pPr algn="ctr"/>
          </a:p>
        </p:txBody>
      </p:sp>
      <p:sp>
        <p:nvSpPr>
          <p:cNvPr id="33" name="Oval 32"/>
          <p:cNvSpPr/>
          <p:nvPr/>
        </p:nvSpPr>
        <p:spPr>
          <a:xfrm>
            <a:off x="8229600" y="132588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3</a:t>
            </a:r>
          </a:p>
        </p:txBody>
      </p:sp>
      <p:sp>
        <p:nvSpPr>
          <p:cNvPr id="34" name="TextBox 33"/>
          <p:cNvSpPr txBox="1"/>
          <p:nvPr/>
        </p:nvSpPr>
        <p:spPr>
          <a:xfrm>
            <a:off x="8229600" y="1828800"/>
            <a:ext cx="3291840" cy="457200"/>
          </a:xfrm>
          <a:prstGeom prst="rect">
            <a:avLst/>
          </a:prstGeom>
          <a:noFill/>
        </p:spPr>
        <p:txBody>
          <a:bodyPr wrap="square" lIns="45720" rIns="45720" tIns="27432" bIns="27432" anchor="t">
            <a:spAutoFit/>
          </a:bodyPr>
          <a:lstStyle/>
          <a:p>
            <a:pPr algn="l"/>
            <a:r>
              <a:rPr sz="1900" b="1" i="0">
                <a:solidFill>
                  <a:srgbClr val="1B3A4B"/>
                </a:solidFill>
                <a:latin typeface="Calibri"/>
              </a:rPr>
              <a:t>IMU auto-tracking</a:t>
            </a:r>
          </a:p>
        </p:txBody>
      </p:sp>
      <p:sp>
        <p:nvSpPr>
          <p:cNvPr id="35" name="TextBox 34"/>
          <p:cNvSpPr txBox="1"/>
          <p:nvPr/>
        </p:nvSpPr>
        <p:spPr>
          <a:xfrm>
            <a:off x="822960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IMU drives a motorized mount and corrects pointing. Prototype exists in the department.</a:t>
            </a:r>
          </a:p>
        </p:txBody>
      </p:sp>
      <p:sp>
        <p:nvSpPr>
          <p:cNvPr id="36" name="Rounded Rectangle 35"/>
          <p:cNvSpPr/>
          <p:nvPr/>
        </p:nvSpPr>
        <p:spPr>
          <a:xfrm>
            <a:off x="457200" y="3749039"/>
            <a:ext cx="3657600" cy="2423160"/>
          </a:xfrm>
          <a:prstGeom prst="roundRect">
            <a:avLst>
              <a:gd name="adj" fmla="val 6000"/>
            </a:avLst>
          </a:prstGeom>
          <a:solidFill>
            <a:srgbClr val="F7F5F2"/>
          </a:solidFill>
          <a:ln>
            <a:noFill/>
          </a:ln>
        </p:spPr>
        <p:txBody>
          <a:bodyPr rtlCol="0" anchor="ctr"/>
          <a:lstStyle/>
          <a:p>
            <a:pPr algn="ctr"/>
          </a:p>
        </p:txBody>
      </p:sp>
      <p:sp>
        <p:nvSpPr>
          <p:cNvPr id="37" name="Oval 36"/>
          <p:cNvSpPr/>
          <p:nvPr/>
        </p:nvSpPr>
        <p:spPr>
          <a:xfrm>
            <a:off x="640080" y="393192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4</a:t>
            </a:r>
          </a:p>
        </p:txBody>
      </p:sp>
      <p:sp>
        <p:nvSpPr>
          <p:cNvPr id="38" name="TextBox 37"/>
          <p:cNvSpPr txBox="1"/>
          <p:nvPr/>
        </p:nvSpPr>
        <p:spPr>
          <a:xfrm>
            <a:off x="640080" y="4434840"/>
            <a:ext cx="3291840" cy="457200"/>
          </a:xfrm>
          <a:prstGeom prst="rect">
            <a:avLst/>
          </a:prstGeom>
          <a:noFill/>
        </p:spPr>
        <p:txBody>
          <a:bodyPr wrap="square" lIns="45720" rIns="45720" tIns="27432" bIns="27432" anchor="t">
            <a:spAutoFit/>
          </a:bodyPr>
          <a:lstStyle/>
          <a:p>
            <a:pPr algn="l"/>
            <a:r>
              <a:rPr sz="1900" b="1" i="0">
                <a:solidFill>
                  <a:srgbClr val="1B3A4B"/>
                </a:solidFill>
                <a:latin typeface="Calibri"/>
              </a:rPr>
              <a:t>Video as safety</a:t>
            </a:r>
          </a:p>
        </p:txBody>
      </p:sp>
      <p:sp>
        <p:nvSpPr>
          <p:cNvPr id="39" name="TextBox 38"/>
          <p:cNvSpPr txBox="1"/>
          <p:nvPr/>
        </p:nvSpPr>
        <p:spPr>
          <a:xfrm>
            <a:off x="640080" y="4937759"/>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live view of the zone a team is about to enter.</a:t>
            </a:r>
          </a:p>
        </p:txBody>
      </p:sp>
      <p:sp>
        <p:nvSpPr>
          <p:cNvPr id="40" name="Rounded Rectangle 39"/>
          <p:cNvSpPr/>
          <p:nvPr/>
        </p:nvSpPr>
        <p:spPr>
          <a:xfrm>
            <a:off x="4251960" y="3749039"/>
            <a:ext cx="3657600" cy="2423160"/>
          </a:xfrm>
          <a:prstGeom prst="roundRect">
            <a:avLst>
              <a:gd name="adj" fmla="val 6000"/>
            </a:avLst>
          </a:prstGeom>
          <a:solidFill>
            <a:srgbClr val="F7F5F2"/>
          </a:solidFill>
          <a:ln>
            <a:noFill/>
          </a:ln>
        </p:spPr>
        <p:txBody>
          <a:bodyPr rtlCol="0" anchor="ctr"/>
          <a:lstStyle/>
          <a:p>
            <a:pPr algn="ctr"/>
          </a:p>
        </p:txBody>
      </p:sp>
      <p:sp>
        <p:nvSpPr>
          <p:cNvPr id="41" name="Oval 40"/>
          <p:cNvSpPr/>
          <p:nvPr/>
        </p:nvSpPr>
        <p:spPr>
          <a:xfrm>
            <a:off x="4434840" y="393192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5</a:t>
            </a:r>
          </a:p>
        </p:txBody>
      </p:sp>
      <p:sp>
        <p:nvSpPr>
          <p:cNvPr id="42" name="TextBox 41"/>
          <p:cNvSpPr txBox="1"/>
          <p:nvPr/>
        </p:nvSpPr>
        <p:spPr>
          <a:xfrm>
            <a:off x="4434840" y="4434840"/>
            <a:ext cx="3291840" cy="457200"/>
          </a:xfrm>
          <a:prstGeom prst="rect">
            <a:avLst/>
          </a:prstGeom>
          <a:noFill/>
        </p:spPr>
        <p:txBody>
          <a:bodyPr wrap="square" lIns="45720" rIns="45720" tIns="27432" bIns="27432" anchor="t">
            <a:spAutoFit/>
          </a:bodyPr>
          <a:lstStyle/>
          <a:p>
            <a:pPr algn="l"/>
            <a:r>
              <a:rPr sz="1900" b="1" i="0">
                <a:solidFill>
                  <a:srgbClr val="1B3A4B"/>
                </a:solidFill>
                <a:latin typeface="Calibri"/>
              </a:rPr>
              <a:t>One cyber-physical node</a:t>
            </a:r>
          </a:p>
        </p:txBody>
      </p:sp>
      <p:sp>
        <p:nvSpPr>
          <p:cNvPr id="43" name="TextBox 42"/>
          <p:cNvSpPr txBox="1"/>
          <p:nvPr/>
        </p:nvSpPr>
        <p:spPr>
          <a:xfrm>
            <a:off x="4434840" y="4937759"/>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Senses (camera, IMU, gas, temperature, humidity), communicates, and steers the beam.</a:t>
            </a:r>
          </a:p>
        </p:txBody>
      </p:sp>
      <p:sp>
        <p:nvSpPr>
          <p:cNvPr id="44" name="Rounded Rectangle 43"/>
          <p:cNvSpPr/>
          <p:nvPr/>
        </p:nvSpPr>
        <p:spPr>
          <a:xfrm>
            <a:off x="8046720" y="3749039"/>
            <a:ext cx="3657600" cy="2423160"/>
          </a:xfrm>
          <a:prstGeom prst="roundRect">
            <a:avLst>
              <a:gd name="adj" fmla="val 6000"/>
            </a:avLst>
          </a:prstGeom>
          <a:solidFill>
            <a:srgbClr val="1B3A4B"/>
          </a:solidFill>
          <a:ln>
            <a:noFill/>
          </a:ln>
        </p:spPr>
        <p:txBody>
          <a:bodyPr rtlCol="0" anchor="ctr"/>
          <a:lstStyle/>
          <a:p>
            <a:pPr algn="ctr"/>
          </a:p>
        </p:txBody>
      </p:sp>
      <p:sp>
        <p:nvSpPr>
          <p:cNvPr id="45" name="TextBox 44"/>
          <p:cNvSpPr txBox="1"/>
          <p:nvPr/>
        </p:nvSpPr>
        <p:spPr>
          <a:xfrm>
            <a:off x="8229600" y="3931920"/>
            <a:ext cx="3291840" cy="2057400"/>
          </a:xfrm>
          <a:prstGeom prst="rect">
            <a:avLst/>
          </a:prstGeom>
          <a:noFill/>
        </p:spPr>
        <p:txBody>
          <a:bodyPr wrap="square" lIns="45720" rIns="45720" tIns="27432" bIns="27432" anchor="ctr">
            <a:spAutoFit/>
          </a:bodyPr>
          <a:lstStyle/>
          <a:p>
            <a:pPr algn="l"/>
            <a:r>
              <a:rPr sz="1900" b="1" i="0">
                <a:solidFill>
                  <a:srgbClr val="B5740A"/>
                </a:solidFill>
                <a:latin typeface="Calibri"/>
              </a:rPr>
              <a:t>Why FSO works underground</a:t>
            </a:r>
          </a:p>
          <a:p>
            <a:pPr algn="l"/>
            <a:r>
              <a:rPr sz="1700" b="0" i="0">
                <a:solidFill>
                  <a:srgbClr val="FFFFFF"/>
                </a:solidFill>
                <a:latin typeface="Calibri"/>
              </a:rPr>
              <a:t>The beam runs down the open tunnel, not through rock.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04     ·     TECHNICAL FEASIBILITY AND METHODOLOGY</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600" b="1" i="0">
                <a:solidFill>
                  <a:srgbClr val="1B3A4B"/>
                </a:solidFill>
                <a:latin typeface="Calibri"/>
                <a:ea typeface="Calibri"/>
                <a:cs typeface="Calibri"/>
              </a:rPr>
              <a:t>Proposed scheme</a:t>
            </a:r>
          </a:p>
        </p:txBody>
      </p:sp>
      <p:pic>
        <p:nvPicPr>
          <p:cNvPr id="6" name="Picture 5" descr="diagram.png"/>
          <p:cNvPicPr>
            <a:picLocks noChangeAspect="1"/>
          </p:cNvPicPr>
          <p:nvPr/>
        </p:nvPicPr>
        <p:blipFill>
          <a:blip r:embed="rId2"/>
          <a:stretch>
            <a:fillRect/>
          </a:stretch>
        </p:blipFill>
        <p:spPr>
          <a:xfrm>
            <a:off x="777240" y="1051560"/>
            <a:ext cx="10607040" cy="4401155"/>
          </a:xfrm>
          <a:prstGeom prst="rect">
            <a:avLst/>
          </a:prstGeom>
        </p:spPr>
      </p:pic>
      <p:sp>
        <p:nvSpPr>
          <p:cNvPr id="7" name="TextBox 6"/>
          <p:cNvSpPr txBox="1"/>
          <p:nvPr/>
        </p:nvSpPr>
        <p:spPr>
          <a:xfrm>
            <a:off x="457200" y="5544155"/>
            <a:ext cx="11247120" cy="822960"/>
          </a:xfrm>
          <a:prstGeom prst="rect">
            <a:avLst/>
          </a:prstGeom>
          <a:noFill/>
        </p:spPr>
        <p:txBody>
          <a:bodyPr wrap="square" lIns="18288" rIns="18288" tIns="0" bIns="0" anchor="t"/>
          <a:lstStyle/>
          <a:p>
            <a:pPr algn="l">
              <a:spcBef>
                <a:spcPts val="0"/>
              </a:spcBef>
              <a:spcAft>
                <a:spcPts val="0"/>
              </a:spcAft>
            </a:pPr>
            <a:r>
              <a:rPr sz="1500" b="0" i="0">
                <a:solidFill>
                  <a:srgbClr val="1C2430"/>
                </a:solidFill>
                <a:latin typeface="Calibri"/>
                <a:ea typeface="Calibri"/>
                <a:cs typeface="Calibri"/>
              </a:rPr>
              <a:t>Figure from the submitted proposal.  FSO transceivers 1 to n carry real-time video on auto-tracked hops of 50–100 m. Each node has the laser, the IMU, the motorized mount and a LoRa radio. LoRa carries control and alerts to the surface base station.</a:t>
            </a:r>
          </a:p>
        </p:txBody>
      </p:sp>
      <p:sp>
        <p:nvSpPr>
          <p:cNvPr id="8" name="Rectangle 7"/>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9" name="TextBox 8"/>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Proposed scheme</a:t>
            </a:r>
          </a:p>
        </p:txBody>
      </p:sp>
      <p:sp>
        <p:nvSpPr>
          <p:cNvPr id="10" name="TextBox 9"/>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04     ·     TECHNICAL FEASIBILITY AND METHODOLOGY</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600" b="1" i="0">
                <a:solidFill>
                  <a:srgbClr val="1B3A4B"/>
                </a:solidFill>
                <a:latin typeface="Calibri"/>
                <a:ea typeface="Calibri"/>
                <a:cs typeface="Calibri"/>
              </a:rPr>
              <a:t>Starting point: auto-tracking FSO already working</a:t>
            </a:r>
          </a:p>
        </p:txBody>
      </p:sp>
      <p:pic>
        <p:nvPicPr>
          <p:cNvPr id="6" name="Picture 5" descr="old_image8.png"/>
          <p:cNvPicPr>
            <a:picLocks noChangeAspect="1"/>
          </p:cNvPicPr>
          <p:nvPr/>
        </p:nvPicPr>
        <p:blipFill>
          <a:blip r:embed="rId2"/>
          <a:stretch>
            <a:fillRect/>
          </a:stretch>
        </p:blipFill>
        <p:spPr>
          <a:xfrm>
            <a:off x="457200" y="1234440"/>
            <a:ext cx="4709160" cy="3914562"/>
          </a:xfrm>
          <a:prstGeom prst="rect">
            <a:avLst/>
          </a:prstGeom>
        </p:spPr>
      </p:pic>
      <p:sp>
        <p:nvSpPr>
          <p:cNvPr id="12" name="Rectangle 11"/>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13" name="TextBox 12"/>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Feasibility</a:t>
            </a:r>
          </a:p>
        </p:txBody>
      </p:sp>
      <p:sp>
        <p:nvSpPr>
          <p:cNvPr id="14" name="TextBox 13"/>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7  /  14</a:t>
            </a:r>
          </a:p>
        </p:txBody>
      </p:sp>
      <p:sp>
        <p:nvSpPr>
          <p:cNvPr id="15" name="TextBox 14"/>
          <p:cNvSpPr txBox="1"/>
          <p:nvPr/>
        </p:nvSpPr>
        <p:spPr>
          <a:xfrm>
            <a:off x="457200" y="5257800"/>
            <a:ext cx="4709160" cy="822960"/>
          </a:xfrm>
          <a:prstGeom prst="rect">
            <a:avLst/>
          </a:prstGeom>
          <a:noFill/>
        </p:spPr>
        <p:txBody>
          <a:bodyPr wrap="square" lIns="45720" rIns="45720" tIns="27432" bIns="27432" anchor="t">
            <a:spAutoFit/>
          </a:bodyPr>
          <a:lstStyle/>
          <a:p>
            <a:pPr algn="l"/>
            <a:r>
              <a:rPr sz="1300" b="0" i="0">
                <a:solidFill>
                  <a:srgbClr val="5C6770"/>
                </a:solidFill>
                <a:latin typeface="Calibri"/>
              </a:rPr>
              <a:t>Auto-tracking FSO prototype, department laboratory, NIT Rourkela. This unit will be used. Alignment is not started from scratch.</a:t>
            </a:r>
          </a:p>
        </p:txBody>
      </p:sp>
      <p:sp>
        <p:nvSpPr>
          <p:cNvPr id="16" name="TextBox 15"/>
          <p:cNvSpPr txBox="1"/>
          <p:nvPr/>
        </p:nvSpPr>
        <p:spPr>
          <a:xfrm>
            <a:off x="5486400" y="1143000"/>
            <a:ext cx="621792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this grant adds</a:t>
            </a:r>
          </a:p>
        </p:txBody>
      </p:sp>
      <p:sp>
        <p:nvSpPr>
          <p:cNvPr id="17" name="Rounded Rectangle 16"/>
          <p:cNvSpPr/>
          <p:nvPr/>
        </p:nvSpPr>
        <p:spPr>
          <a:xfrm>
            <a:off x="5486400" y="1645920"/>
            <a:ext cx="6263640" cy="475488"/>
          </a:xfrm>
          <a:prstGeom prst="roundRect">
            <a:avLst>
              <a:gd name="adj" fmla="val 6000"/>
            </a:avLst>
          </a:prstGeom>
          <a:solidFill>
            <a:srgbClr val="F7F5F2"/>
          </a:solidFill>
          <a:ln>
            <a:noFill/>
          </a:ln>
        </p:spPr>
        <p:txBody>
          <a:bodyPr rtlCol="0" anchor="ctr"/>
          <a:lstStyle/>
          <a:p>
            <a:pPr algn="ctr"/>
          </a:p>
        </p:txBody>
      </p:sp>
      <p:sp>
        <p:nvSpPr>
          <p:cNvPr id="18" name="Oval 17"/>
          <p:cNvSpPr/>
          <p:nvPr/>
        </p:nvSpPr>
        <p:spPr>
          <a:xfrm>
            <a:off x="5559552" y="1700784"/>
            <a:ext cx="365760" cy="365760"/>
          </a:xfrm>
          <a:prstGeom prst="ellipse">
            <a:avLst/>
          </a:prstGeom>
          <a:solidFill>
            <a:srgbClr val="B5740A"/>
          </a:solidFill>
          <a:ln>
            <a:noFill/>
          </a:ln>
        </p:spPr>
        <p:txBody>
          <a:bodyPr rtlCol="0" anchor="ctr" lIns="0" rIns="0" tIns="0" bIns="0"/>
          <a:lstStyle/>
          <a:p>
            <a:pPr algn="ctr"/>
            <a:r>
              <a:rPr sz="1800" b="1">
                <a:solidFill>
                  <a:srgbClr val="FFFFFF"/>
                </a:solidFill>
                <a:latin typeface="Calibri"/>
              </a:rPr>
              <a:t>+</a:t>
            </a:r>
          </a:p>
        </p:txBody>
      </p:sp>
      <p:sp>
        <p:nvSpPr>
          <p:cNvPr id="19" name="TextBox 18"/>
          <p:cNvSpPr txBox="1"/>
          <p:nvPr/>
        </p:nvSpPr>
        <p:spPr>
          <a:xfrm>
            <a:off x="6035040" y="1691640"/>
            <a:ext cx="5577840" cy="384048"/>
          </a:xfrm>
          <a:prstGeom prst="rect">
            <a:avLst/>
          </a:prstGeom>
          <a:noFill/>
        </p:spPr>
        <p:txBody>
          <a:bodyPr wrap="square" lIns="45720" rIns="45720" tIns="27432" bIns="27432" anchor="ctr">
            <a:spAutoFit/>
          </a:bodyPr>
          <a:lstStyle/>
          <a:p>
            <a:pPr algn="l"/>
            <a:r>
              <a:rPr sz="1600" b="0" i="0">
                <a:solidFill>
                  <a:srgbClr val="1C2430"/>
                </a:solidFill>
                <a:latin typeface="Calibri"/>
              </a:rPr>
              <a:t>Video on the optical hop</a:t>
            </a:r>
          </a:p>
        </p:txBody>
      </p:sp>
      <p:sp>
        <p:nvSpPr>
          <p:cNvPr id="20" name="Rounded Rectangle 19"/>
          <p:cNvSpPr/>
          <p:nvPr/>
        </p:nvSpPr>
        <p:spPr>
          <a:xfrm>
            <a:off x="5486400" y="2212848"/>
            <a:ext cx="6263640" cy="475488"/>
          </a:xfrm>
          <a:prstGeom prst="roundRect">
            <a:avLst>
              <a:gd name="adj" fmla="val 6000"/>
            </a:avLst>
          </a:prstGeom>
          <a:solidFill>
            <a:srgbClr val="F7F5F2"/>
          </a:solidFill>
          <a:ln>
            <a:noFill/>
          </a:ln>
        </p:spPr>
        <p:txBody>
          <a:bodyPr rtlCol="0" anchor="ctr"/>
          <a:lstStyle/>
          <a:p>
            <a:pPr algn="ctr"/>
          </a:p>
        </p:txBody>
      </p:sp>
      <p:sp>
        <p:nvSpPr>
          <p:cNvPr id="21" name="Oval 20"/>
          <p:cNvSpPr/>
          <p:nvPr/>
        </p:nvSpPr>
        <p:spPr>
          <a:xfrm>
            <a:off x="5559552" y="2267712"/>
            <a:ext cx="365760" cy="365760"/>
          </a:xfrm>
          <a:prstGeom prst="ellipse">
            <a:avLst/>
          </a:prstGeom>
          <a:solidFill>
            <a:srgbClr val="B5740A"/>
          </a:solidFill>
          <a:ln>
            <a:noFill/>
          </a:ln>
        </p:spPr>
        <p:txBody>
          <a:bodyPr rtlCol="0" anchor="ctr" lIns="0" rIns="0" tIns="0" bIns="0"/>
          <a:lstStyle/>
          <a:p>
            <a:pPr algn="ctr"/>
            <a:r>
              <a:rPr sz="1800" b="1">
                <a:solidFill>
                  <a:srgbClr val="FFFFFF"/>
                </a:solidFill>
                <a:latin typeface="Calibri"/>
              </a:rPr>
              <a:t>+</a:t>
            </a:r>
          </a:p>
        </p:txBody>
      </p:sp>
      <p:sp>
        <p:nvSpPr>
          <p:cNvPr id="22" name="TextBox 21"/>
          <p:cNvSpPr txBox="1"/>
          <p:nvPr/>
        </p:nvSpPr>
        <p:spPr>
          <a:xfrm>
            <a:off x="6035040" y="2258568"/>
            <a:ext cx="5577840" cy="384048"/>
          </a:xfrm>
          <a:prstGeom prst="rect">
            <a:avLst/>
          </a:prstGeom>
          <a:noFill/>
        </p:spPr>
        <p:txBody>
          <a:bodyPr wrap="square" lIns="45720" rIns="45720" tIns="27432" bIns="27432" anchor="ctr">
            <a:spAutoFit/>
          </a:bodyPr>
          <a:lstStyle/>
          <a:p>
            <a:pPr algn="l"/>
            <a:r>
              <a:rPr sz="1600" b="0" i="0">
                <a:solidFill>
                  <a:srgbClr val="1C2430"/>
                </a:solidFill>
                <a:latin typeface="Calibri"/>
              </a:rPr>
              <a:t>LoRa for alerts and fallback</a:t>
            </a:r>
          </a:p>
        </p:txBody>
      </p:sp>
      <p:sp>
        <p:nvSpPr>
          <p:cNvPr id="23" name="Rounded Rectangle 22"/>
          <p:cNvSpPr/>
          <p:nvPr/>
        </p:nvSpPr>
        <p:spPr>
          <a:xfrm>
            <a:off x="5486400" y="2779776"/>
            <a:ext cx="6263640" cy="475488"/>
          </a:xfrm>
          <a:prstGeom prst="roundRect">
            <a:avLst>
              <a:gd name="adj" fmla="val 6000"/>
            </a:avLst>
          </a:prstGeom>
          <a:solidFill>
            <a:srgbClr val="F7F5F2"/>
          </a:solidFill>
          <a:ln>
            <a:noFill/>
          </a:ln>
        </p:spPr>
        <p:txBody>
          <a:bodyPr rtlCol="0" anchor="ctr"/>
          <a:lstStyle/>
          <a:p>
            <a:pPr algn="ctr"/>
          </a:p>
        </p:txBody>
      </p:sp>
      <p:sp>
        <p:nvSpPr>
          <p:cNvPr id="24" name="Oval 23"/>
          <p:cNvSpPr/>
          <p:nvPr/>
        </p:nvSpPr>
        <p:spPr>
          <a:xfrm>
            <a:off x="5559552" y="2834640"/>
            <a:ext cx="365760" cy="365760"/>
          </a:xfrm>
          <a:prstGeom prst="ellipse">
            <a:avLst/>
          </a:prstGeom>
          <a:solidFill>
            <a:srgbClr val="B5740A"/>
          </a:solidFill>
          <a:ln>
            <a:noFill/>
          </a:ln>
        </p:spPr>
        <p:txBody>
          <a:bodyPr rtlCol="0" anchor="ctr" lIns="0" rIns="0" tIns="0" bIns="0"/>
          <a:lstStyle/>
          <a:p>
            <a:pPr algn="ctr"/>
            <a:r>
              <a:rPr sz="1800" b="1">
                <a:solidFill>
                  <a:srgbClr val="FFFFFF"/>
                </a:solidFill>
                <a:latin typeface="Calibri"/>
              </a:rPr>
              <a:t>+</a:t>
            </a:r>
          </a:p>
        </p:txBody>
      </p:sp>
      <p:sp>
        <p:nvSpPr>
          <p:cNvPr id="25" name="TextBox 24"/>
          <p:cNvSpPr txBox="1"/>
          <p:nvPr/>
        </p:nvSpPr>
        <p:spPr>
          <a:xfrm>
            <a:off x="6035040" y="2825496"/>
            <a:ext cx="5577840" cy="384048"/>
          </a:xfrm>
          <a:prstGeom prst="rect">
            <a:avLst/>
          </a:prstGeom>
          <a:noFill/>
        </p:spPr>
        <p:txBody>
          <a:bodyPr wrap="square" lIns="45720" rIns="45720" tIns="27432" bIns="27432" anchor="ctr">
            <a:spAutoFit/>
          </a:bodyPr>
          <a:lstStyle/>
          <a:p>
            <a:pPr algn="l"/>
            <a:r>
              <a:rPr sz="1600" b="0" i="0">
                <a:solidFill>
                  <a:srgbClr val="1C2430"/>
                </a:solidFill>
                <a:latin typeface="Calibri"/>
              </a:rPr>
              <a:t>Relay nodes along a heading</a:t>
            </a:r>
          </a:p>
        </p:txBody>
      </p:sp>
      <p:sp>
        <p:nvSpPr>
          <p:cNvPr id="26" name="Rounded Rectangle 25"/>
          <p:cNvSpPr/>
          <p:nvPr/>
        </p:nvSpPr>
        <p:spPr>
          <a:xfrm>
            <a:off x="5486400" y="3346704"/>
            <a:ext cx="6263640" cy="475488"/>
          </a:xfrm>
          <a:prstGeom prst="roundRect">
            <a:avLst>
              <a:gd name="adj" fmla="val 6000"/>
            </a:avLst>
          </a:prstGeom>
          <a:solidFill>
            <a:srgbClr val="F7F5F2"/>
          </a:solidFill>
          <a:ln>
            <a:noFill/>
          </a:ln>
        </p:spPr>
        <p:txBody>
          <a:bodyPr rtlCol="0" anchor="ctr"/>
          <a:lstStyle/>
          <a:p>
            <a:pPr algn="ctr"/>
          </a:p>
        </p:txBody>
      </p:sp>
      <p:sp>
        <p:nvSpPr>
          <p:cNvPr id="27" name="Oval 26"/>
          <p:cNvSpPr/>
          <p:nvPr/>
        </p:nvSpPr>
        <p:spPr>
          <a:xfrm>
            <a:off x="5559552" y="3401568"/>
            <a:ext cx="365760" cy="365760"/>
          </a:xfrm>
          <a:prstGeom prst="ellipse">
            <a:avLst/>
          </a:prstGeom>
          <a:solidFill>
            <a:srgbClr val="B5740A"/>
          </a:solidFill>
          <a:ln>
            <a:noFill/>
          </a:ln>
        </p:spPr>
        <p:txBody>
          <a:bodyPr rtlCol="0" anchor="ctr" lIns="0" rIns="0" tIns="0" bIns="0"/>
          <a:lstStyle/>
          <a:p>
            <a:pPr algn="ctr"/>
            <a:r>
              <a:rPr sz="1800" b="1">
                <a:solidFill>
                  <a:srgbClr val="FFFFFF"/>
                </a:solidFill>
                <a:latin typeface="Calibri"/>
              </a:rPr>
              <a:t>+</a:t>
            </a:r>
          </a:p>
        </p:txBody>
      </p:sp>
      <p:sp>
        <p:nvSpPr>
          <p:cNvPr id="28" name="TextBox 27"/>
          <p:cNvSpPr txBox="1"/>
          <p:nvPr/>
        </p:nvSpPr>
        <p:spPr>
          <a:xfrm>
            <a:off x="6035040" y="3392424"/>
            <a:ext cx="5577840" cy="384048"/>
          </a:xfrm>
          <a:prstGeom prst="rect">
            <a:avLst/>
          </a:prstGeom>
          <a:noFill/>
        </p:spPr>
        <p:txBody>
          <a:bodyPr wrap="square" lIns="45720" rIns="45720" tIns="27432" bIns="27432" anchor="ctr">
            <a:spAutoFit/>
          </a:bodyPr>
          <a:lstStyle/>
          <a:p>
            <a:pPr algn="l"/>
            <a:r>
              <a:rPr sz="1600" b="0" i="0">
                <a:solidFill>
                  <a:srgbClr val="1C2430"/>
                </a:solidFill>
                <a:latin typeface="Calibri"/>
              </a:rPr>
              <a:t>Surface station and underground enclosure</a:t>
            </a:r>
          </a:p>
        </p:txBody>
      </p:sp>
      <p:sp>
        <p:nvSpPr>
          <p:cNvPr id="29" name="TextBox 28"/>
          <p:cNvSpPr txBox="1"/>
          <p:nvPr/>
        </p:nvSpPr>
        <p:spPr>
          <a:xfrm>
            <a:off x="5486400" y="4114800"/>
            <a:ext cx="6217920" cy="365760"/>
          </a:xfrm>
          <a:prstGeom prst="rect">
            <a:avLst/>
          </a:prstGeom>
          <a:noFill/>
        </p:spPr>
        <p:txBody>
          <a:bodyPr wrap="square" lIns="45720" rIns="45720" tIns="27432" bIns="27432" anchor="t">
            <a:spAutoFit/>
          </a:bodyPr>
          <a:lstStyle/>
          <a:p>
            <a:pPr algn="l"/>
            <a:r>
              <a:rPr sz="2000" b="1" i="0">
                <a:solidFill>
                  <a:srgbClr val="1B3A4B"/>
                </a:solidFill>
                <a:latin typeface="Calibri"/>
              </a:rPr>
              <a:t>Why the rest can be built here</a:t>
            </a:r>
          </a:p>
        </p:txBody>
      </p:sp>
      <p:sp>
        <p:nvSpPr>
          <p:cNvPr id="30" name="Rounded Rectangle 29"/>
          <p:cNvSpPr/>
          <p:nvPr/>
        </p:nvSpPr>
        <p:spPr>
          <a:xfrm>
            <a:off x="5486400" y="4572000"/>
            <a:ext cx="2011680" cy="1691640"/>
          </a:xfrm>
          <a:prstGeom prst="roundRect">
            <a:avLst>
              <a:gd name="adj" fmla="val 6000"/>
            </a:avLst>
          </a:prstGeom>
          <a:solidFill>
            <a:srgbClr val="1B3A4B"/>
          </a:solidFill>
          <a:ln>
            <a:noFill/>
          </a:ln>
        </p:spPr>
        <p:txBody>
          <a:bodyPr rtlCol="0" anchor="ctr"/>
          <a:lstStyle/>
          <a:p>
            <a:pPr algn="ctr"/>
          </a:p>
        </p:txBody>
      </p:sp>
      <p:sp>
        <p:nvSpPr>
          <p:cNvPr id="31" name="TextBox 30"/>
          <p:cNvSpPr txBox="1"/>
          <p:nvPr/>
        </p:nvSpPr>
        <p:spPr>
          <a:xfrm>
            <a:off x="5577840" y="4617720"/>
            <a:ext cx="1828800" cy="457200"/>
          </a:xfrm>
          <a:prstGeom prst="rect">
            <a:avLst/>
          </a:prstGeom>
          <a:noFill/>
        </p:spPr>
        <p:txBody>
          <a:bodyPr wrap="square" lIns="45720" rIns="45720" tIns="27432" bIns="27432" anchor="t">
            <a:spAutoFit/>
          </a:bodyPr>
          <a:lstStyle/>
          <a:p>
            <a:pPr algn="l"/>
            <a:r>
              <a:rPr sz="1900" b="1" i="0">
                <a:solidFill>
                  <a:srgbClr val="B5740A"/>
                </a:solidFill>
                <a:latin typeface="Calibri"/>
              </a:rPr>
              <a:t>50–100 m</a:t>
            </a:r>
          </a:p>
        </p:txBody>
      </p:sp>
      <p:sp>
        <p:nvSpPr>
          <p:cNvPr id="32" name="TextBox 31"/>
          <p:cNvSpPr txBox="1"/>
          <p:nvPr/>
        </p:nvSpPr>
        <p:spPr>
          <a:xfrm>
            <a:off x="5577840" y="5074920"/>
            <a:ext cx="1828800" cy="1143000"/>
          </a:xfrm>
          <a:prstGeom prst="rect">
            <a:avLst/>
          </a:prstGeom>
          <a:noFill/>
        </p:spPr>
        <p:txBody>
          <a:bodyPr wrap="square" lIns="45720" rIns="45720" tIns="27432" bIns="27432" anchor="t">
            <a:spAutoFit/>
          </a:bodyPr>
          <a:lstStyle/>
          <a:p>
            <a:pPr algn="l"/>
            <a:r>
              <a:rPr sz="1300" b="0" i="0">
                <a:solidFill>
                  <a:srgbClr val="FFFFFF"/>
                </a:solidFill>
                <a:latin typeface="Calibri"/>
              </a:rPr>
              <a:t>line-of-sight hop is within ordinary laser and photodiode modules</a:t>
            </a:r>
          </a:p>
        </p:txBody>
      </p:sp>
      <p:sp>
        <p:nvSpPr>
          <p:cNvPr id="33" name="Rounded Rectangle 32"/>
          <p:cNvSpPr/>
          <p:nvPr/>
        </p:nvSpPr>
        <p:spPr>
          <a:xfrm>
            <a:off x="7589520" y="4572000"/>
            <a:ext cx="2011680" cy="1691640"/>
          </a:xfrm>
          <a:prstGeom prst="roundRect">
            <a:avLst>
              <a:gd name="adj" fmla="val 6000"/>
            </a:avLst>
          </a:prstGeom>
          <a:solidFill>
            <a:srgbClr val="1B3A4B"/>
          </a:solidFill>
          <a:ln>
            <a:noFill/>
          </a:ln>
        </p:spPr>
        <p:txBody>
          <a:bodyPr rtlCol="0" anchor="ctr"/>
          <a:lstStyle/>
          <a:p>
            <a:pPr algn="ctr"/>
          </a:p>
        </p:txBody>
      </p:sp>
      <p:sp>
        <p:nvSpPr>
          <p:cNvPr id="34" name="TextBox 33"/>
          <p:cNvSpPr txBox="1"/>
          <p:nvPr/>
        </p:nvSpPr>
        <p:spPr>
          <a:xfrm>
            <a:off x="7680960" y="4617720"/>
            <a:ext cx="1828800" cy="457200"/>
          </a:xfrm>
          <a:prstGeom prst="rect">
            <a:avLst/>
          </a:prstGeom>
          <a:noFill/>
        </p:spPr>
        <p:txBody>
          <a:bodyPr wrap="square" lIns="45720" rIns="45720" tIns="27432" bIns="27432" anchor="t">
            <a:spAutoFit/>
          </a:bodyPr>
          <a:lstStyle/>
          <a:p>
            <a:pPr algn="l"/>
            <a:r>
              <a:rPr sz="1900" b="1" i="0">
                <a:solidFill>
                  <a:srgbClr val="B5740A"/>
                </a:solidFill>
                <a:latin typeface="Calibri"/>
              </a:rPr>
              <a:t>Lab ready</a:t>
            </a:r>
          </a:p>
        </p:txBody>
      </p:sp>
      <p:sp>
        <p:nvSpPr>
          <p:cNvPr id="35" name="TextBox 34"/>
          <p:cNvSpPr txBox="1"/>
          <p:nvPr/>
        </p:nvSpPr>
        <p:spPr>
          <a:xfrm>
            <a:off x="7680960" y="5074920"/>
            <a:ext cx="1828800" cy="1143000"/>
          </a:xfrm>
          <a:prstGeom prst="rect">
            <a:avLst/>
          </a:prstGeom>
          <a:noFill/>
        </p:spPr>
        <p:txBody>
          <a:bodyPr wrap="square" lIns="45720" rIns="45720" tIns="27432" bIns="27432" anchor="t">
            <a:spAutoFit/>
          </a:bodyPr>
          <a:lstStyle/>
          <a:p>
            <a:pPr algn="l"/>
            <a:r>
              <a:rPr sz="1300" b="0" i="0">
                <a:solidFill>
                  <a:srgbClr val="FFFFFF"/>
                </a:solidFill>
                <a:latin typeface="Calibri"/>
              </a:rPr>
              <a:t>FSO transceivers, embedded benches, computing</a:t>
            </a:r>
          </a:p>
        </p:txBody>
      </p:sp>
      <p:sp>
        <p:nvSpPr>
          <p:cNvPr id="36" name="Rounded Rectangle 35"/>
          <p:cNvSpPr/>
          <p:nvPr/>
        </p:nvSpPr>
        <p:spPr>
          <a:xfrm>
            <a:off x="9692640" y="4572000"/>
            <a:ext cx="2011680" cy="1691640"/>
          </a:xfrm>
          <a:prstGeom prst="roundRect">
            <a:avLst>
              <a:gd name="adj" fmla="val 6000"/>
            </a:avLst>
          </a:prstGeom>
          <a:solidFill>
            <a:srgbClr val="1B3A4B"/>
          </a:solidFill>
          <a:ln>
            <a:noFill/>
          </a:ln>
        </p:spPr>
        <p:txBody>
          <a:bodyPr rtlCol="0" anchor="ctr"/>
          <a:lstStyle/>
          <a:p>
            <a:pPr algn="ctr"/>
          </a:p>
        </p:txBody>
      </p:sp>
      <p:sp>
        <p:nvSpPr>
          <p:cNvPr id="37" name="TextBox 36"/>
          <p:cNvSpPr txBox="1"/>
          <p:nvPr/>
        </p:nvSpPr>
        <p:spPr>
          <a:xfrm>
            <a:off x="9784080" y="4617720"/>
            <a:ext cx="1828800" cy="457200"/>
          </a:xfrm>
          <a:prstGeom prst="rect">
            <a:avLst/>
          </a:prstGeom>
          <a:noFill/>
        </p:spPr>
        <p:txBody>
          <a:bodyPr wrap="square" lIns="45720" rIns="45720" tIns="27432" bIns="27432" anchor="t">
            <a:spAutoFit/>
          </a:bodyPr>
          <a:lstStyle/>
          <a:p>
            <a:pPr algn="l"/>
            <a:r>
              <a:rPr sz="1900" b="1" i="0">
                <a:solidFill>
                  <a:srgbClr val="B5740A"/>
                </a:solidFill>
                <a:latin typeface="Calibri"/>
              </a:rPr>
              <a:t>Designed loss</a:t>
            </a:r>
          </a:p>
        </p:txBody>
      </p:sp>
      <p:sp>
        <p:nvSpPr>
          <p:cNvPr id="38" name="TextBox 37"/>
          <p:cNvSpPr txBox="1"/>
          <p:nvPr/>
        </p:nvSpPr>
        <p:spPr>
          <a:xfrm>
            <a:off x="9784080" y="5074920"/>
            <a:ext cx="1828800" cy="1143000"/>
          </a:xfrm>
          <a:prstGeom prst="rect">
            <a:avLst/>
          </a:prstGeom>
          <a:noFill/>
        </p:spPr>
        <p:txBody>
          <a:bodyPr wrap="square" lIns="45720" rIns="45720" tIns="27432" bIns="27432" anchor="t">
            <a:spAutoFit/>
          </a:bodyPr>
          <a:lstStyle/>
          <a:p>
            <a:pPr algn="l"/>
            <a:r>
              <a:rPr sz="1300" b="0" i="0">
                <a:solidFill>
                  <a:srgbClr val="FFFFFF"/>
                </a:solidFill>
                <a:latin typeface="Calibri"/>
              </a:rPr>
              <a:t>if the beam drops, the alert goes on LoRa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04     ·     TECHNICAL FEASIBILITY AND METHODOLOGY</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Work plan — 24 months</a:t>
            </a:r>
          </a:p>
        </p:txBody>
      </p:sp>
      <p:sp>
        <p:nvSpPr>
          <p:cNvPr id="6" name="TextBox 5"/>
          <p:cNvSpPr txBox="1"/>
          <p:nvPr/>
        </p:nvSpPr>
        <p:spPr>
          <a:xfrm>
            <a:off x="457200" y="1005840"/>
            <a:ext cx="11247120" cy="320040"/>
          </a:xfrm>
          <a:prstGeom prst="rect">
            <a:avLst/>
          </a:prstGeom>
          <a:noFill/>
        </p:spPr>
        <p:txBody>
          <a:bodyPr wrap="square" lIns="18288" rIns="18288" tIns="0" bIns="0" anchor="t"/>
          <a:lstStyle/>
          <a:p>
            <a:pPr algn="l">
              <a:spcBef>
                <a:spcPts val="0"/>
              </a:spcBef>
              <a:spcAft>
                <a:spcPts val="0"/>
              </a:spcAft>
            </a:pPr>
            <a:r>
              <a:rPr sz="1500" b="0" i="0">
                <a:solidFill>
                  <a:srgbClr val="5C6770"/>
                </a:solidFill>
                <a:latin typeface="Calibri"/>
                <a:ea typeface="Calibri"/>
                <a:cs typeface="Calibri"/>
              </a:rPr>
              <a:t>Schedule as given in the proposal. Every package is led by the PI, with two project assistants.</a:t>
            </a:r>
          </a:p>
        </p:txBody>
      </p:sp>
      <p:sp>
        <p:nvSpPr>
          <p:cNvPr id="7" name="Rectangle 6"/>
          <p:cNvSpPr/>
          <p:nvPr/>
        </p:nvSpPr>
        <p:spPr>
          <a:xfrm>
            <a:off x="438912" y="1417320"/>
            <a:ext cx="1280160" cy="365760"/>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FFFFFF"/>
                </a:solidFill>
                <a:latin typeface="Calibri"/>
                <a:ea typeface="Calibri"/>
                <a:cs typeface="Calibri"/>
              </a:rPr>
              <a:t>Months</a:t>
            </a:r>
          </a:p>
        </p:txBody>
      </p:sp>
      <p:sp>
        <p:nvSpPr>
          <p:cNvPr id="8" name="Rectangle 7"/>
          <p:cNvSpPr/>
          <p:nvPr/>
        </p:nvSpPr>
        <p:spPr>
          <a:xfrm>
            <a:off x="1719072" y="1417320"/>
            <a:ext cx="6675120" cy="365760"/>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FFFFFF"/>
                </a:solidFill>
                <a:latin typeface="Calibri"/>
                <a:ea typeface="Calibri"/>
                <a:cs typeface="Calibri"/>
              </a:rPr>
              <a:t>Work</a:t>
            </a:r>
          </a:p>
        </p:txBody>
      </p:sp>
      <p:sp>
        <p:nvSpPr>
          <p:cNvPr id="9" name="Rectangle 8"/>
          <p:cNvSpPr/>
          <p:nvPr/>
        </p:nvSpPr>
        <p:spPr>
          <a:xfrm>
            <a:off x="8394192" y="1417320"/>
            <a:ext cx="3337560" cy="365760"/>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FFFFFF"/>
                </a:solidFill>
                <a:latin typeface="Calibri"/>
                <a:ea typeface="Calibri"/>
                <a:cs typeface="Calibri"/>
              </a:rPr>
              <a:t>Milestone in the proposal</a:t>
            </a:r>
          </a:p>
        </p:txBody>
      </p:sp>
      <p:sp>
        <p:nvSpPr>
          <p:cNvPr id="10" name="Rectangle 9"/>
          <p:cNvSpPr/>
          <p:nvPr/>
        </p:nvSpPr>
        <p:spPr>
          <a:xfrm>
            <a:off x="438912" y="1783080"/>
            <a:ext cx="128016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1B3A4B"/>
                </a:solidFill>
                <a:latin typeface="Calibri"/>
                <a:ea typeface="Calibri"/>
                <a:cs typeface="Calibri"/>
              </a:rPr>
              <a:t>1–3</a:t>
            </a:r>
          </a:p>
        </p:txBody>
      </p:sp>
      <p:sp>
        <p:nvSpPr>
          <p:cNvPr id="11" name="Rectangle 10"/>
          <p:cNvSpPr/>
          <p:nvPr/>
        </p:nvSpPr>
        <p:spPr>
          <a:xfrm>
            <a:off x="1719072" y="1783080"/>
            <a:ext cx="667512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Select and procure FSO modules, IMUs, LoRa, cameras and the mount hardware</a:t>
            </a:r>
          </a:p>
        </p:txBody>
      </p:sp>
      <p:sp>
        <p:nvSpPr>
          <p:cNvPr id="12" name="Rectangle 11"/>
          <p:cNvSpPr/>
          <p:nvPr/>
        </p:nvSpPr>
        <p:spPr>
          <a:xfrm>
            <a:off x="8394192" y="1783080"/>
            <a:ext cx="333756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Month 3 — hardware procured</a:t>
            </a:r>
          </a:p>
        </p:txBody>
      </p:sp>
      <p:sp>
        <p:nvSpPr>
          <p:cNvPr id="13" name="Rectangle 12"/>
          <p:cNvSpPr/>
          <p:nvPr/>
        </p:nvSpPr>
        <p:spPr>
          <a:xfrm>
            <a:off x="438912" y="2404872"/>
            <a:ext cx="1280160" cy="62179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1B3A4B"/>
                </a:solidFill>
                <a:latin typeface="Calibri"/>
                <a:ea typeface="Calibri"/>
                <a:cs typeface="Calibri"/>
              </a:rPr>
              <a:t>4–8</a:t>
            </a:r>
          </a:p>
        </p:txBody>
      </p:sp>
      <p:sp>
        <p:nvSpPr>
          <p:cNvPr id="14" name="Rectangle 13"/>
          <p:cNvSpPr/>
          <p:nvPr/>
        </p:nvSpPr>
        <p:spPr>
          <a:xfrm>
            <a:off x="1719072" y="2404872"/>
            <a:ext cx="6675120" cy="62179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Architecture and the communication framework</a:t>
            </a:r>
          </a:p>
        </p:txBody>
      </p:sp>
      <p:sp>
        <p:nvSpPr>
          <p:cNvPr id="15" name="Rectangle 14"/>
          <p:cNvSpPr/>
          <p:nvPr/>
        </p:nvSpPr>
        <p:spPr>
          <a:xfrm>
            <a:off x="8394192" y="2404872"/>
            <a:ext cx="3337560" cy="62179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Month 7 — architecture finalised; design package closes month 8</a:t>
            </a:r>
          </a:p>
        </p:txBody>
      </p:sp>
      <p:sp>
        <p:nvSpPr>
          <p:cNvPr id="16" name="Rectangle 15"/>
          <p:cNvSpPr/>
          <p:nvPr/>
        </p:nvSpPr>
        <p:spPr>
          <a:xfrm>
            <a:off x="438912" y="3026664"/>
            <a:ext cx="128016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1B3A4B"/>
                </a:solidFill>
                <a:latin typeface="Calibri"/>
                <a:ea typeface="Calibri"/>
                <a:cs typeface="Calibri"/>
              </a:rPr>
              <a:t>8–11</a:t>
            </a:r>
          </a:p>
        </p:txBody>
      </p:sp>
      <p:sp>
        <p:nvSpPr>
          <p:cNvPr id="17" name="Rectangle 16"/>
          <p:cNvSpPr/>
          <p:nvPr/>
        </p:nvSpPr>
        <p:spPr>
          <a:xfrm>
            <a:off x="1719072" y="3026664"/>
            <a:ext cx="667512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Auto-tracking on the mine node, using the existing department prototype</a:t>
            </a:r>
          </a:p>
        </p:txBody>
      </p:sp>
      <p:sp>
        <p:nvSpPr>
          <p:cNvPr id="18" name="Rectangle 17"/>
          <p:cNvSpPr/>
          <p:nvPr/>
        </p:nvSpPr>
        <p:spPr>
          <a:xfrm>
            <a:off x="8394192" y="3026664"/>
            <a:ext cx="333756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Month 11 — tracking ready</a:t>
            </a:r>
          </a:p>
        </p:txBody>
      </p:sp>
      <p:sp>
        <p:nvSpPr>
          <p:cNvPr id="19" name="Rectangle 18"/>
          <p:cNvSpPr/>
          <p:nvPr/>
        </p:nvSpPr>
        <p:spPr>
          <a:xfrm>
            <a:off x="438912" y="3648456"/>
            <a:ext cx="1280160" cy="62179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1B3A4B"/>
                </a:solidFill>
                <a:latin typeface="Calibri"/>
                <a:ea typeface="Calibri"/>
                <a:cs typeface="Calibri"/>
              </a:rPr>
              <a:t>12–16</a:t>
            </a:r>
          </a:p>
        </p:txBody>
      </p:sp>
      <p:sp>
        <p:nvSpPr>
          <p:cNvPr id="20" name="Rectangle 19"/>
          <p:cNvSpPr/>
          <p:nvPr/>
        </p:nvSpPr>
        <p:spPr>
          <a:xfrm>
            <a:off x="1719072" y="3648456"/>
            <a:ext cx="6675120" cy="62179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Integrate transmitter, relay nodes and the surface base station</a:t>
            </a:r>
          </a:p>
        </p:txBody>
      </p:sp>
      <p:sp>
        <p:nvSpPr>
          <p:cNvPr id="21" name="Rectangle 20"/>
          <p:cNvSpPr/>
          <p:nvPr/>
        </p:nvSpPr>
        <p:spPr>
          <a:xfrm>
            <a:off x="8394192" y="3648456"/>
            <a:ext cx="3337560" cy="62179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Month 16 — prototype integrated</a:t>
            </a:r>
          </a:p>
        </p:txBody>
      </p:sp>
      <p:sp>
        <p:nvSpPr>
          <p:cNvPr id="22" name="Rectangle 21"/>
          <p:cNvSpPr/>
          <p:nvPr/>
        </p:nvSpPr>
        <p:spPr>
          <a:xfrm>
            <a:off x="438912" y="4270248"/>
            <a:ext cx="128016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1B3A4B"/>
                </a:solidFill>
                <a:latin typeface="Calibri"/>
                <a:ea typeface="Calibri"/>
                <a:cs typeface="Calibri"/>
              </a:rPr>
              <a:t>17–19</a:t>
            </a:r>
          </a:p>
        </p:txBody>
      </p:sp>
      <p:sp>
        <p:nvSpPr>
          <p:cNvPr id="23" name="Rectangle 22"/>
          <p:cNvSpPr/>
          <p:nvPr/>
        </p:nvSpPr>
        <p:spPr>
          <a:xfrm>
            <a:off x="1719072" y="4270248"/>
            <a:ext cx="667512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Laboratory tests: link stability, alignment, video quality, latency</a:t>
            </a:r>
          </a:p>
        </p:txBody>
      </p:sp>
      <p:sp>
        <p:nvSpPr>
          <p:cNvPr id="24" name="Rectangle 23"/>
          <p:cNvSpPr/>
          <p:nvPr/>
        </p:nvSpPr>
        <p:spPr>
          <a:xfrm>
            <a:off x="8394192" y="4270248"/>
            <a:ext cx="333756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Month 19 — laboratory validation</a:t>
            </a:r>
          </a:p>
        </p:txBody>
      </p:sp>
      <p:sp>
        <p:nvSpPr>
          <p:cNvPr id="25" name="Rectangle 24"/>
          <p:cNvSpPr/>
          <p:nvPr/>
        </p:nvSpPr>
        <p:spPr>
          <a:xfrm>
            <a:off x="438912" y="4892040"/>
            <a:ext cx="1280160" cy="62179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1B3A4B"/>
                </a:solidFill>
                <a:latin typeface="Calibri"/>
                <a:ea typeface="Calibri"/>
                <a:cs typeface="Calibri"/>
              </a:rPr>
              <a:t>20–22</a:t>
            </a:r>
          </a:p>
        </p:txBody>
      </p:sp>
      <p:sp>
        <p:nvSpPr>
          <p:cNvPr id="26" name="Rectangle 25"/>
          <p:cNvSpPr/>
          <p:nvPr/>
        </p:nvSpPr>
        <p:spPr>
          <a:xfrm>
            <a:off x="1719072" y="4892040"/>
            <a:ext cx="6675120" cy="62179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Test in a tunnel-like or underground environment; record reliability, tracking and energy</a:t>
            </a:r>
          </a:p>
        </p:txBody>
      </p:sp>
      <p:sp>
        <p:nvSpPr>
          <p:cNvPr id="27" name="Rectangle 26"/>
          <p:cNvSpPr/>
          <p:nvPr/>
        </p:nvSpPr>
        <p:spPr>
          <a:xfrm>
            <a:off x="8394192" y="4892040"/>
            <a:ext cx="3337560" cy="62179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Month 22 — field validation</a:t>
            </a:r>
          </a:p>
        </p:txBody>
      </p:sp>
      <p:sp>
        <p:nvSpPr>
          <p:cNvPr id="28" name="Rectangle 27"/>
          <p:cNvSpPr/>
          <p:nvPr/>
        </p:nvSpPr>
        <p:spPr>
          <a:xfrm>
            <a:off x="438912" y="5513832"/>
            <a:ext cx="128016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1">
                <a:solidFill>
                  <a:srgbClr val="1B3A4B"/>
                </a:solidFill>
                <a:latin typeface="Calibri"/>
                <a:ea typeface="Calibri"/>
                <a:cs typeface="Calibri"/>
              </a:rPr>
              <a:t>23–24</a:t>
            </a:r>
          </a:p>
        </p:txBody>
      </p:sp>
      <p:sp>
        <p:nvSpPr>
          <p:cNvPr id="29" name="Rectangle 28"/>
          <p:cNvSpPr/>
          <p:nvPr/>
        </p:nvSpPr>
        <p:spPr>
          <a:xfrm>
            <a:off x="1719072" y="5513832"/>
            <a:ext cx="667512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Documentation, deployment guidelines, patent filing, commercialization plan</a:t>
            </a:r>
          </a:p>
        </p:txBody>
      </p:sp>
      <p:sp>
        <p:nvSpPr>
          <p:cNvPr id="30" name="Rectangle 29"/>
          <p:cNvSpPr/>
          <p:nvPr/>
        </p:nvSpPr>
        <p:spPr>
          <a:xfrm>
            <a:off x="8394192" y="5513832"/>
            <a:ext cx="3337560" cy="62179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300" b="0">
                <a:solidFill>
                  <a:srgbClr val="1C2430"/>
                </a:solidFill>
                <a:latin typeface="Calibri"/>
                <a:ea typeface="Calibri"/>
                <a:cs typeface="Calibri"/>
              </a:rPr>
              <a:t>Month 24 — report and filing</a:t>
            </a:r>
          </a:p>
        </p:txBody>
      </p:sp>
      <p:sp>
        <p:nvSpPr>
          <p:cNvPr id="31" name="Rectangle 30"/>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32" name="TextBox 31"/>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Work plan</a:t>
            </a:r>
          </a:p>
        </p:txBody>
      </p:sp>
      <p:sp>
        <p:nvSpPr>
          <p:cNvPr id="33" name="TextBox 32"/>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05     ·     EXPECTED OUTCOMES AND TECHNOLOGY READINESS LEVEL</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Outcomes and readiness</a:t>
            </a:r>
          </a:p>
        </p:txBody>
      </p:sp>
      <p:sp>
        <p:nvSpPr>
          <p:cNvPr id="10" name="Rectangle 9"/>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11" name="TextBox 10"/>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Outcomes and TRL</a:t>
            </a:r>
          </a:p>
        </p:txBody>
      </p:sp>
      <p:sp>
        <p:nvSpPr>
          <p:cNvPr id="12" name="TextBox 11"/>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9  /  14</a:t>
            </a:r>
          </a:p>
        </p:txBody>
      </p:sp>
      <p:sp>
        <p:nvSpPr>
          <p:cNvPr id="13" name="TextBox 12"/>
          <p:cNvSpPr txBox="1"/>
          <p:nvPr/>
        </p:nvSpPr>
        <p:spPr>
          <a:xfrm>
            <a:off x="457200" y="10515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Readiness</a:t>
            </a:r>
          </a:p>
        </p:txBody>
      </p:sp>
      <p:sp>
        <p:nvSpPr>
          <p:cNvPr id="14" name="Rectangle 13"/>
          <p:cNvSpPr/>
          <p:nvPr/>
        </p:nvSpPr>
        <p:spPr>
          <a:xfrm>
            <a:off x="457200" y="1554480"/>
            <a:ext cx="1188720" cy="548640"/>
          </a:xfrm>
          <a:prstGeom prst="rect">
            <a:avLst/>
          </a:prstGeom>
          <a:solidFill>
            <a:srgbClr val="F7F5F2"/>
          </a:solidFill>
          <a:ln>
            <a:noFill/>
          </a:ln>
        </p:spPr>
        <p:txBody>
          <a:bodyPr rtlCol="0" anchor="ctr"/>
          <a:lstStyle/>
          <a:p>
            <a:pPr algn="ctr"/>
            <a:r>
              <a:rPr sz="1500" b="1">
                <a:solidFill>
                  <a:srgbClr val="5C6770"/>
                </a:solidFill>
                <a:latin typeface="Calibri"/>
              </a:rPr>
              <a:t>TRL 1</a:t>
            </a:r>
          </a:p>
        </p:txBody>
      </p:sp>
      <p:sp>
        <p:nvSpPr>
          <p:cNvPr id="15" name="Rectangle 14"/>
          <p:cNvSpPr/>
          <p:nvPr/>
        </p:nvSpPr>
        <p:spPr>
          <a:xfrm>
            <a:off x="1700784" y="1554480"/>
            <a:ext cx="1188720" cy="548640"/>
          </a:xfrm>
          <a:prstGeom prst="rect">
            <a:avLst/>
          </a:prstGeom>
          <a:solidFill>
            <a:srgbClr val="B5740A"/>
          </a:solidFill>
          <a:ln>
            <a:noFill/>
          </a:ln>
        </p:spPr>
        <p:txBody>
          <a:bodyPr rtlCol="0" anchor="ctr"/>
          <a:lstStyle/>
          <a:p>
            <a:pPr algn="ctr"/>
            <a:r>
              <a:rPr sz="1500" b="1">
                <a:solidFill>
                  <a:srgbClr val="FFFFFF"/>
                </a:solidFill>
                <a:latin typeface="Calibri"/>
              </a:rPr>
              <a:t>TRL 2</a:t>
            </a:r>
          </a:p>
        </p:txBody>
      </p:sp>
      <p:sp>
        <p:nvSpPr>
          <p:cNvPr id="16" name="Rectangle 15"/>
          <p:cNvSpPr/>
          <p:nvPr/>
        </p:nvSpPr>
        <p:spPr>
          <a:xfrm>
            <a:off x="2944368" y="1554480"/>
            <a:ext cx="1188720" cy="548640"/>
          </a:xfrm>
          <a:prstGeom prst="rect">
            <a:avLst/>
          </a:prstGeom>
          <a:solidFill>
            <a:srgbClr val="F7F5F2"/>
          </a:solidFill>
          <a:ln>
            <a:noFill/>
          </a:ln>
        </p:spPr>
        <p:txBody>
          <a:bodyPr rtlCol="0" anchor="ctr"/>
          <a:lstStyle/>
          <a:p>
            <a:pPr algn="ctr"/>
            <a:r>
              <a:rPr sz="1500" b="1">
                <a:solidFill>
                  <a:srgbClr val="5C6770"/>
                </a:solidFill>
                <a:latin typeface="Calibri"/>
              </a:rPr>
              <a:t>TRL 3</a:t>
            </a:r>
          </a:p>
        </p:txBody>
      </p:sp>
      <p:sp>
        <p:nvSpPr>
          <p:cNvPr id="17" name="Rectangle 16"/>
          <p:cNvSpPr/>
          <p:nvPr/>
        </p:nvSpPr>
        <p:spPr>
          <a:xfrm>
            <a:off x="4187952" y="1554480"/>
            <a:ext cx="1188720" cy="548640"/>
          </a:xfrm>
          <a:prstGeom prst="rect">
            <a:avLst/>
          </a:prstGeom>
          <a:solidFill>
            <a:srgbClr val="F7F5F2"/>
          </a:solidFill>
          <a:ln>
            <a:noFill/>
          </a:ln>
        </p:spPr>
        <p:txBody>
          <a:bodyPr rtlCol="0" anchor="ctr"/>
          <a:lstStyle/>
          <a:p>
            <a:pPr algn="ctr"/>
            <a:r>
              <a:rPr sz="1500" b="1">
                <a:solidFill>
                  <a:srgbClr val="5C6770"/>
                </a:solidFill>
                <a:latin typeface="Calibri"/>
              </a:rPr>
              <a:t>TRL 4</a:t>
            </a:r>
          </a:p>
        </p:txBody>
      </p:sp>
      <p:sp>
        <p:nvSpPr>
          <p:cNvPr id="18" name="Rectangle 17"/>
          <p:cNvSpPr/>
          <p:nvPr/>
        </p:nvSpPr>
        <p:spPr>
          <a:xfrm>
            <a:off x="5431536" y="1554480"/>
            <a:ext cx="1188720" cy="548640"/>
          </a:xfrm>
          <a:prstGeom prst="rect">
            <a:avLst/>
          </a:prstGeom>
          <a:solidFill>
            <a:srgbClr val="1B3A4B"/>
          </a:solidFill>
          <a:ln>
            <a:noFill/>
          </a:ln>
        </p:spPr>
        <p:txBody>
          <a:bodyPr rtlCol="0" anchor="ctr"/>
          <a:lstStyle/>
          <a:p>
            <a:pPr algn="ctr"/>
            <a:r>
              <a:rPr sz="1500" b="1">
                <a:solidFill>
                  <a:srgbClr val="FFFFFF"/>
                </a:solidFill>
                <a:latin typeface="Calibri"/>
              </a:rPr>
              <a:t>TRL 5</a:t>
            </a:r>
          </a:p>
        </p:txBody>
      </p:sp>
      <p:sp>
        <p:nvSpPr>
          <p:cNvPr id="19" name="Rectangle 18"/>
          <p:cNvSpPr/>
          <p:nvPr/>
        </p:nvSpPr>
        <p:spPr>
          <a:xfrm>
            <a:off x="6675120" y="1554480"/>
            <a:ext cx="1188720" cy="548640"/>
          </a:xfrm>
          <a:prstGeom prst="rect">
            <a:avLst/>
          </a:prstGeom>
          <a:solidFill>
            <a:srgbClr val="F7F5F2"/>
          </a:solidFill>
          <a:ln>
            <a:noFill/>
          </a:ln>
        </p:spPr>
        <p:txBody>
          <a:bodyPr rtlCol="0" anchor="ctr"/>
          <a:lstStyle/>
          <a:p>
            <a:pPr algn="ctr"/>
            <a:r>
              <a:rPr sz="1500" b="1">
                <a:solidFill>
                  <a:srgbClr val="5C6770"/>
                </a:solidFill>
                <a:latin typeface="Calibri"/>
              </a:rPr>
              <a:t>TRL 6</a:t>
            </a:r>
          </a:p>
        </p:txBody>
      </p:sp>
      <p:sp>
        <p:nvSpPr>
          <p:cNvPr id="20" name="Rectangle 19"/>
          <p:cNvSpPr/>
          <p:nvPr/>
        </p:nvSpPr>
        <p:spPr>
          <a:xfrm>
            <a:off x="7918704" y="1554480"/>
            <a:ext cx="1188720" cy="548640"/>
          </a:xfrm>
          <a:prstGeom prst="rect">
            <a:avLst/>
          </a:prstGeom>
          <a:solidFill>
            <a:srgbClr val="F7F5F2"/>
          </a:solidFill>
          <a:ln>
            <a:noFill/>
          </a:ln>
        </p:spPr>
        <p:txBody>
          <a:bodyPr rtlCol="0" anchor="ctr"/>
          <a:lstStyle/>
          <a:p>
            <a:pPr algn="ctr"/>
            <a:r>
              <a:rPr sz="1500" b="1">
                <a:solidFill>
                  <a:srgbClr val="5C6770"/>
                </a:solidFill>
                <a:latin typeface="Calibri"/>
              </a:rPr>
              <a:t>TRL 7</a:t>
            </a:r>
          </a:p>
        </p:txBody>
      </p:sp>
      <p:sp>
        <p:nvSpPr>
          <p:cNvPr id="21" name="Rectangle 20"/>
          <p:cNvSpPr/>
          <p:nvPr/>
        </p:nvSpPr>
        <p:spPr>
          <a:xfrm>
            <a:off x="9162288" y="1554480"/>
            <a:ext cx="1188720" cy="548640"/>
          </a:xfrm>
          <a:prstGeom prst="rect">
            <a:avLst/>
          </a:prstGeom>
          <a:solidFill>
            <a:srgbClr val="F7F5F2"/>
          </a:solidFill>
          <a:ln>
            <a:noFill/>
          </a:ln>
        </p:spPr>
        <p:txBody>
          <a:bodyPr rtlCol="0" anchor="ctr"/>
          <a:lstStyle/>
          <a:p>
            <a:pPr algn="ctr"/>
            <a:r>
              <a:rPr sz="1500" b="1">
                <a:solidFill>
                  <a:srgbClr val="5C6770"/>
                </a:solidFill>
                <a:latin typeface="Calibri"/>
              </a:rPr>
              <a:t>TRL 8</a:t>
            </a:r>
          </a:p>
        </p:txBody>
      </p:sp>
      <p:sp>
        <p:nvSpPr>
          <p:cNvPr id="22" name="Rectangle 21"/>
          <p:cNvSpPr/>
          <p:nvPr/>
        </p:nvSpPr>
        <p:spPr>
          <a:xfrm>
            <a:off x="10405872" y="1554480"/>
            <a:ext cx="1188720" cy="548640"/>
          </a:xfrm>
          <a:prstGeom prst="rect">
            <a:avLst/>
          </a:prstGeom>
          <a:solidFill>
            <a:srgbClr val="F7F5F2"/>
          </a:solidFill>
          <a:ln>
            <a:noFill/>
          </a:ln>
        </p:spPr>
        <p:txBody>
          <a:bodyPr rtlCol="0" anchor="ctr"/>
          <a:lstStyle/>
          <a:p>
            <a:pPr algn="ctr"/>
            <a:r>
              <a:rPr sz="1500" b="1">
                <a:solidFill>
                  <a:srgbClr val="5C6770"/>
                </a:solidFill>
                <a:latin typeface="Calibri"/>
              </a:rPr>
              <a:t>TRL 9</a:t>
            </a:r>
          </a:p>
        </p:txBody>
      </p:sp>
      <p:sp>
        <p:nvSpPr>
          <p:cNvPr id="23" name="TextBox 22"/>
          <p:cNvSpPr txBox="1"/>
          <p:nvPr/>
        </p:nvSpPr>
        <p:spPr>
          <a:xfrm>
            <a:off x="1289304" y="2148840"/>
            <a:ext cx="2011680" cy="594360"/>
          </a:xfrm>
          <a:prstGeom prst="rect">
            <a:avLst/>
          </a:prstGeom>
          <a:noFill/>
        </p:spPr>
        <p:txBody>
          <a:bodyPr wrap="square" lIns="45720" rIns="45720" tIns="27432" bIns="27432" anchor="t">
            <a:spAutoFit/>
          </a:bodyPr>
          <a:lstStyle/>
          <a:p>
            <a:pPr algn="ctr"/>
            <a:r>
              <a:rPr sz="1600" b="1" i="0">
                <a:solidFill>
                  <a:srgbClr val="B5740A"/>
                </a:solidFill>
                <a:latin typeface="Calibri"/>
              </a:rPr>
              <a:t>Today</a:t>
            </a:r>
          </a:p>
          <a:p>
            <a:pPr algn="ctr"/>
            <a:r>
              <a:rPr sz="1300" b="0" i="0">
                <a:solidFill>
                  <a:srgbClr val="5C6770"/>
                </a:solidFill>
                <a:latin typeface="Calibri"/>
              </a:rPr>
              <a:t>integrated system</a:t>
            </a:r>
          </a:p>
        </p:txBody>
      </p:sp>
      <p:sp>
        <p:nvSpPr>
          <p:cNvPr id="24" name="TextBox 23"/>
          <p:cNvSpPr txBox="1"/>
          <p:nvPr/>
        </p:nvSpPr>
        <p:spPr>
          <a:xfrm>
            <a:off x="5020056" y="2148840"/>
            <a:ext cx="2011680" cy="594360"/>
          </a:xfrm>
          <a:prstGeom prst="rect">
            <a:avLst/>
          </a:prstGeom>
          <a:noFill/>
        </p:spPr>
        <p:txBody>
          <a:bodyPr wrap="square" lIns="45720" rIns="45720" tIns="27432" bIns="27432" anchor="t">
            <a:spAutoFit/>
          </a:bodyPr>
          <a:lstStyle/>
          <a:p>
            <a:pPr algn="ctr"/>
            <a:r>
              <a:rPr sz="1600" b="1" i="0">
                <a:solidFill>
                  <a:srgbClr val="1B3A4B"/>
                </a:solidFill>
                <a:latin typeface="Calibri"/>
              </a:rPr>
              <a:t>Month 24</a:t>
            </a:r>
          </a:p>
          <a:p>
            <a:pPr algn="ctr"/>
            <a:r>
              <a:rPr sz="1300" b="0" i="0">
                <a:solidFill>
                  <a:srgbClr val="5C6770"/>
                </a:solidFill>
                <a:latin typeface="Calibri"/>
              </a:rPr>
              <a:t>tunnel-like test</a:t>
            </a:r>
          </a:p>
        </p:txBody>
      </p:sp>
      <p:sp>
        <p:nvSpPr>
          <p:cNvPr id="25" name="TextBox 24"/>
          <p:cNvSpPr txBox="1"/>
          <p:nvPr/>
        </p:nvSpPr>
        <p:spPr>
          <a:xfrm>
            <a:off x="7324344" y="2148840"/>
            <a:ext cx="2377440" cy="594360"/>
          </a:xfrm>
          <a:prstGeom prst="rect">
            <a:avLst/>
          </a:prstGeom>
          <a:noFill/>
        </p:spPr>
        <p:txBody>
          <a:bodyPr wrap="square" lIns="45720" rIns="45720" tIns="27432" bIns="27432" anchor="t">
            <a:spAutoFit/>
          </a:bodyPr>
          <a:lstStyle/>
          <a:p>
            <a:pPr algn="ctr"/>
            <a:r>
              <a:rPr sz="1600" b="1" i="0">
                <a:solidFill>
                  <a:srgbClr val="5C6770"/>
                </a:solidFill>
                <a:latin typeface="Calibri"/>
              </a:rPr>
              <a:t>After this grant</a:t>
            </a:r>
          </a:p>
          <a:p>
            <a:pPr algn="ctr"/>
            <a:r>
              <a:rPr sz="1300" b="0" i="0">
                <a:solidFill>
                  <a:srgbClr val="5C6770"/>
                </a:solidFill>
                <a:latin typeface="Calibri"/>
              </a:rPr>
              <a:t>needs a test mine</a:t>
            </a:r>
          </a:p>
        </p:txBody>
      </p:sp>
      <p:sp>
        <p:nvSpPr>
          <p:cNvPr id="26" name="TextBox 25"/>
          <p:cNvSpPr txBox="1"/>
          <p:nvPr/>
        </p:nvSpPr>
        <p:spPr>
          <a:xfrm>
            <a:off x="457200" y="31089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Deliverables</a:t>
            </a:r>
          </a:p>
        </p:txBody>
      </p:sp>
      <p:sp>
        <p:nvSpPr>
          <p:cNvPr id="27" name="Rounded Rectangle 26"/>
          <p:cNvSpPr/>
          <p:nvPr/>
        </p:nvSpPr>
        <p:spPr>
          <a:xfrm>
            <a:off x="457200" y="3657600"/>
            <a:ext cx="5577840" cy="731520"/>
          </a:xfrm>
          <a:prstGeom prst="roundRect">
            <a:avLst>
              <a:gd name="adj" fmla="val 6000"/>
            </a:avLst>
          </a:prstGeom>
          <a:solidFill>
            <a:srgbClr val="F7F5F2"/>
          </a:solidFill>
          <a:ln>
            <a:noFill/>
          </a:ln>
        </p:spPr>
        <p:txBody>
          <a:bodyPr rtlCol="0" anchor="ctr"/>
          <a:lstStyle/>
          <a:p>
            <a:pPr algn="ctr"/>
          </a:p>
        </p:txBody>
      </p:sp>
      <p:sp>
        <p:nvSpPr>
          <p:cNvPr id="28" name="Oval 27"/>
          <p:cNvSpPr/>
          <p:nvPr/>
        </p:nvSpPr>
        <p:spPr>
          <a:xfrm>
            <a:off x="594360" y="3831336"/>
            <a:ext cx="384048" cy="384048"/>
          </a:xfrm>
          <a:prstGeom prst="ellipse">
            <a:avLst/>
          </a:prstGeom>
          <a:solidFill>
            <a:srgbClr val="1B3A4B"/>
          </a:solidFill>
          <a:ln>
            <a:noFill/>
          </a:ln>
        </p:spPr>
        <p:txBody>
          <a:bodyPr rtlCol="0" anchor="ctr" lIns="0" rIns="0" tIns="0" bIns="0"/>
          <a:lstStyle/>
          <a:p>
            <a:pPr algn="ctr"/>
            <a:r>
              <a:rPr sz="1600" b="1">
                <a:solidFill>
                  <a:srgbClr val="FFFFFF"/>
                </a:solidFill>
                <a:latin typeface="Calibri"/>
              </a:rPr>
              <a:t>1</a:t>
            </a:r>
          </a:p>
        </p:txBody>
      </p:sp>
      <p:sp>
        <p:nvSpPr>
          <p:cNvPr id="29" name="TextBox 28"/>
          <p:cNvSpPr txBox="1"/>
          <p:nvPr/>
        </p:nvSpPr>
        <p:spPr>
          <a:xfrm>
            <a:off x="1097280" y="3703320"/>
            <a:ext cx="4800600" cy="640080"/>
          </a:xfrm>
          <a:prstGeom prst="rect">
            <a:avLst/>
          </a:prstGeom>
          <a:noFill/>
        </p:spPr>
        <p:txBody>
          <a:bodyPr wrap="square" lIns="45720" rIns="45720" tIns="27432" bIns="27432" anchor="ctr">
            <a:spAutoFit/>
          </a:bodyPr>
          <a:lstStyle/>
          <a:p>
            <a:pPr algn="l"/>
            <a:r>
              <a:rPr sz="1500" b="0" i="0">
                <a:solidFill>
                  <a:srgbClr val="1C2430"/>
                </a:solidFill>
                <a:latin typeface="Calibri"/>
              </a:rPr>
              <a:t>Hybrid FSO–LoRa prototype: transmitter, relays, surface base station</a:t>
            </a:r>
          </a:p>
        </p:txBody>
      </p:sp>
      <p:sp>
        <p:nvSpPr>
          <p:cNvPr id="30" name="Rounded Rectangle 29"/>
          <p:cNvSpPr/>
          <p:nvPr/>
        </p:nvSpPr>
        <p:spPr>
          <a:xfrm>
            <a:off x="6172200" y="3657600"/>
            <a:ext cx="5577840" cy="731520"/>
          </a:xfrm>
          <a:prstGeom prst="roundRect">
            <a:avLst>
              <a:gd name="adj" fmla="val 6000"/>
            </a:avLst>
          </a:prstGeom>
          <a:solidFill>
            <a:srgbClr val="F7F5F2"/>
          </a:solidFill>
          <a:ln>
            <a:noFill/>
          </a:ln>
        </p:spPr>
        <p:txBody>
          <a:bodyPr rtlCol="0" anchor="ctr"/>
          <a:lstStyle/>
          <a:p>
            <a:pPr algn="ctr"/>
          </a:p>
        </p:txBody>
      </p:sp>
      <p:sp>
        <p:nvSpPr>
          <p:cNvPr id="31" name="Oval 30"/>
          <p:cNvSpPr/>
          <p:nvPr/>
        </p:nvSpPr>
        <p:spPr>
          <a:xfrm>
            <a:off x="6309360" y="3831336"/>
            <a:ext cx="384048" cy="384048"/>
          </a:xfrm>
          <a:prstGeom prst="ellipse">
            <a:avLst/>
          </a:prstGeom>
          <a:solidFill>
            <a:srgbClr val="1B3A4B"/>
          </a:solidFill>
          <a:ln>
            <a:noFill/>
          </a:ln>
        </p:spPr>
        <p:txBody>
          <a:bodyPr rtlCol="0" anchor="ctr" lIns="0" rIns="0" tIns="0" bIns="0"/>
          <a:lstStyle/>
          <a:p>
            <a:pPr algn="ctr"/>
            <a:r>
              <a:rPr sz="1600" b="1">
                <a:solidFill>
                  <a:srgbClr val="FFFFFF"/>
                </a:solidFill>
                <a:latin typeface="Calibri"/>
              </a:rPr>
              <a:t>2</a:t>
            </a:r>
          </a:p>
        </p:txBody>
      </p:sp>
      <p:sp>
        <p:nvSpPr>
          <p:cNvPr id="32" name="TextBox 31"/>
          <p:cNvSpPr txBox="1"/>
          <p:nvPr/>
        </p:nvSpPr>
        <p:spPr>
          <a:xfrm>
            <a:off x="6812280" y="3703320"/>
            <a:ext cx="4800600" cy="640080"/>
          </a:xfrm>
          <a:prstGeom prst="rect">
            <a:avLst/>
          </a:prstGeom>
          <a:noFill/>
        </p:spPr>
        <p:txBody>
          <a:bodyPr wrap="square" lIns="45720" rIns="45720" tIns="27432" bIns="27432" anchor="ctr">
            <a:spAutoFit/>
          </a:bodyPr>
          <a:lstStyle/>
          <a:p>
            <a:pPr algn="l"/>
            <a:r>
              <a:rPr sz="1500" b="0" i="0">
                <a:solidFill>
                  <a:srgbClr val="1C2430"/>
                </a:solidFill>
                <a:latin typeface="Calibri"/>
              </a:rPr>
              <a:t>Real-time video over more than one optical hop</a:t>
            </a:r>
          </a:p>
        </p:txBody>
      </p:sp>
      <p:sp>
        <p:nvSpPr>
          <p:cNvPr id="33" name="Rounded Rectangle 32"/>
          <p:cNvSpPr/>
          <p:nvPr/>
        </p:nvSpPr>
        <p:spPr>
          <a:xfrm>
            <a:off x="457200" y="4526280"/>
            <a:ext cx="5577840" cy="731520"/>
          </a:xfrm>
          <a:prstGeom prst="roundRect">
            <a:avLst>
              <a:gd name="adj" fmla="val 6000"/>
            </a:avLst>
          </a:prstGeom>
          <a:solidFill>
            <a:srgbClr val="F7F5F2"/>
          </a:solidFill>
          <a:ln>
            <a:noFill/>
          </a:ln>
        </p:spPr>
        <p:txBody>
          <a:bodyPr rtlCol="0" anchor="ctr"/>
          <a:lstStyle/>
          <a:p>
            <a:pPr algn="ctr"/>
          </a:p>
        </p:txBody>
      </p:sp>
      <p:sp>
        <p:nvSpPr>
          <p:cNvPr id="34" name="Oval 33"/>
          <p:cNvSpPr/>
          <p:nvPr/>
        </p:nvSpPr>
        <p:spPr>
          <a:xfrm>
            <a:off x="594360" y="4700016"/>
            <a:ext cx="384048" cy="384048"/>
          </a:xfrm>
          <a:prstGeom prst="ellipse">
            <a:avLst/>
          </a:prstGeom>
          <a:solidFill>
            <a:srgbClr val="1B3A4B"/>
          </a:solidFill>
          <a:ln>
            <a:noFill/>
          </a:ln>
        </p:spPr>
        <p:txBody>
          <a:bodyPr rtlCol="0" anchor="ctr" lIns="0" rIns="0" tIns="0" bIns="0"/>
          <a:lstStyle/>
          <a:p>
            <a:pPr algn="ctr"/>
            <a:r>
              <a:rPr sz="1600" b="1">
                <a:solidFill>
                  <a:srgbClr val="FFFFFF"/>
                </a:solidFill>
                <a:latin typeface="Calibri"/>
              </a:rPr>
              <a:t>3</a:t>
            </a:r>
          </a:p>
        </p:txBody>
      </p:sp>
      <p:sp>
        <p:nvSpPr>
          <p:cNvPr id="35" name="TextBox 34"/>
          <p:cNvSpPr txBox="1"/>
          <p:nvPr/>
        </p:nvSpPr>
        <p:spPr>
          <a:xfrm>
            <a:off x="1097280" y="4572000"/>
            <a:ext cx="4800600" cy="640080"/>
          </a:xfrm>
          <a:prstGeom prst="rect">
            <a:avLst/>
          </a:prstGeom>
          <a:noFill/>
        </p:spPr>
        <p:txBody>
          <a:bodyPr wrap="square" lIns="45720" rIns="45720" tIns="27432" bIns="27432" anchor="ctr">
            <a:spAutoFit/>
          </a:bodyPr>
          <a:lstStyle/>
          <a:p>
            <a:pPr algn="l"/>
            <a:r>
              <a:rPr sz="1500" b="0" i="0">
                <a:solidFill>
                  <a:srgbClr val="1C2430"/>
                </a:solidFill>
                <a:latin typeface="Calibri"/>
              </a:rPr>
              <a:t>Auto-tracking recovering from deliberate misalignment</a:t>
            </a:r>
          </a:p>
        </p:txBody>
      </p:sp>
      <p:sp>
        <p:nvSpPr>
          <p:cNvPr id="36" name="Rounded Rectangle 35"/>
          <p:cNvSpPr/>
          <p:nvPr/>
        </p:nvSpPr>
        <p:spPr>
          <a:xfrm>
            <a:off x="6172200" y="4526280"/>
            <a:ext cx="5577840" cy="731520"/>
          </a:xfrm>
          <a:prstGeom prst="roundRect">
            <a:avLst>
              <a:gd name="adj" fmla="val 6000"/>
            </a:avLst>
          </a:prstGeom>
          <a:solidFill>
            <a:srgbClr val="F7F5F2"/>
          </a:solidFill>
          <a:ln>
            <a:noFill/>
          </a:ln>
        </p:spPr>
        <p:txBody>
          <a:bodyPr rtlCol="0" anchor="ctr"/>
          <a:lstStyle/>
          <a:p>
            <a:pPr algn="ctr"/>
          </a:p>
        </p:txBody>
      </p:sp>
      <p:sp>
        <p:nvSpPr>
          <p:cNvPr id="37" name="Oval 36"/>
          <p:cNvSpPr/>
          <p:nvPr/>
        </p:nvSpPr>
        <p:spPr>
          <a:xfrm>
            <a:off x="6309360" y="4700016"/>
            <a:ext cx="384048" cy="384048"/>
          </a:xfrm>
          <a:prstGeom prst="ellipse">
            <a:avLst/>
          </a:prstGeom>
          <a:solidFill>
            <a:srgbClr val="1B3A4B"/>
          </a:solidFill>
          <a:ln>
            <a:noFill/>
          </a:ln>
        </p:spPr>
        <p:txBody>
          <a:bodyPr rtlCol="0" anchor="ctr" lIns="0" rIns="0" tIns="0" bIns="0"/>
          <a:lstStyle/>
          <a:p>
            <a:pPr algn="ctr"/>
            <a:r>
              <a:rPr sz="1600" b="1">
                <a:solidFill>
                  <a:srgbClr val="FFFFFF"/>
                </a:solidFill>
                <a:latin typeface="Calibri"/>
              </a:rPr>
              <a:t>4</a:t>
            </a:r>
          </a:p>
        </p:txBody>
      </p:sp>
      <p:sp>
        <p:nvSpPr>
          <p:cNvPr id="38" name="TextBox 37"/>
          <p:cNvSpPr txBox="1"/>
          <p:nvPr/>
        </p:nvSpPr>
        <p:spPr>
          <a:xfrm>
            <a:off x="6812280" y="4572000"/>
            <a:ext cx="4800600" cy="640080"/>
          </a:xfrm>
          <a:prstGeom prst="rect">
            <a:avLst/>
          </a:prstGeom>
          <a:noFill/>
        </p:spPr>
        <p:txBody>
          <a:bodyPr wrap="square" lIns="45720" rIns="45720" tIns="27432" bIns="27432" anchor="ctr">
            <a:spAutoFit/>
          </a:bodyPr>
          <a:lstStyle/>
          <a:p>
            <a:pPr algn="l"/>
            <a:r>
              <a:rPr sz="1500" b="0" i="0">
                <a:solidFill>
                  <a:srgbClr val="1C2430"/>
                </a:solidFill>
                <a:latin typeface="Calibri"/>
              </a:rPr>
              <a:t>LoRa alert delivered when a hop is interrupted</a:t>
            </a:r>
          </a:p>
        </p:txBody>
      </p:sp>
      <p:sp>
        <p:nvSpPr>
          <p:cNvPr id="39" name="Rounded Rectangle 38"/>
          <p:cNvSpPr/>
          <p:nvPr/>
        </p:nvSpPr>
        <p:spPr>
          <a:xfrm>
            <a:off x="457200" y="5394960"/>
            <a:ext cx="11292840" cy="731520"/>
          </a:xfrm>
          <a:prstGeom prst="roundRect">
            <a:avLst>
              <a:gd name="adj" fmla="val 6000"/>
            </a:avLst>
          </a:prstGeom>
          <a:solidFill>
            <a:srgbClr val="F7F5F2"/>
          </a:solidFill>
          <a:ln>
            <a:noFill/>
          </a:ln>
        </p:spPr>
        <p:txBody>
          <a:bodyPr rtlCol="0" anchor="ctr"/>
          <a:lstStyle/>
          <a:p>
            <a:pPr algn="ctr"/>
          </a:p>
        </p:txBody>
      </p:sp>
      <p:sp>
        <p:nvSpPr>
          <p:cNvPr id="40" name="Oval 39"/>
          <p:cNvSpPr/>
          <p:nvPr/>
        </p:nvSpPr>
        <p:spPr>
          <a:xfrm>
            <a:off x="594360" y="5568696"/>
            <a:ext cx="384048" cy="384048"/>
          </a:xfrm>
          <a:prstGeom prst="ellipse">
            <a:avLst/>
          </a:prstGeom>
          <a:solidFill>
            <a:srgbClr val="1B3A4B"/>
          </a:solidFill>
          <a:ln>
            <a:noFill/>
          </a:ln>
        </p:spPr>
        <p:txBody>
          <a:bodyPr rtlCol="0" anchor="ctr" lIns="0" rIns="0" tIns="0" bIns="0"/>
          <a:lstStyle/>
          <a:p>
            <a:pPr algn="ctr"/>
            <a:r>
              <a:rPr sz="1600" b="1">
                <a:solidFill>
                  <a:srgbClr val="FFFFFF"/>
                </a:solidFill>
                <a:latin typeface="Calibri"/>
              </a:rPr>
              <a:t>5</a:t>
            </a:r>
          </a:p>
        </p:txBody>
      </p:sp>
      <p:sp>
        <p:nvSpPr>
          <p:cNvPr id="41" name="TextBox 40"/>
          <p:cNvSpPr txBox="1"/>
          <p:nvPr/>
        </p:nvSpPr>
        <p:spPr>
          <a:xfrm>
            <a:off x="1097280" y="5440680"/>
            <a:ext cx="10515600" cy="640080"/>
          </a:xfrm>
          <a:prstGeom prst="rect">
            <a:avLst/>
          </a:prstGeom>
          <a:noFill/>
        </p:spPr>
        <p:txBody>
          <a:bodyPr wrap="square" lIns="45720" rIns="45720" tIns="27432" bIns="27432" anchor="ctr">
            <a:spAutoFit/>
          </a:bodyPr>
          <a:lstStyle/>
          <a:p>
            <a:pPr algn="l"/>
            <a:r>
              <a:rPr sz="1500" b="0" i="0">
                <a:solidFill>
                  <a:srgbClr val="1C2430"/>
                </a:solidFill>
                <a:latin typeface="Calibri"/>
              </a:rPr>
              <a:t>Validation report, deployment guidelines, commercialization plan, patent filing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06     ·     INDUSTRY READINESS AND COLLABORATION</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Industry engagement</a:t>
            </a:r>
          </a:p>
        </p:txBody>
      </p:sp>
      <p:sp>
        <p:nvSpPr>
          <p:cNvPr id="11" name="Rectangle 10"/>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12" name="TextBox 11"/>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Industry</a:t>
            </a:r>
          </a:p>
        </p:txBody>
      </p:sp>
      <p:sp>
        <p:nvSpPr>
          <p:cNvPr id="13" name="TextBox 12"/>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10  /  14</a:t>
            </a:r>
          </a:p>
        </p:txBody>
      </p:sp>
      <p:sp>
        <p:nvSpPr>
          <p:cNvPr id="14" name="Rounded Rectangle 13"/>
          <p:cNvSpPr/>
          <p:nvPr/>
        </p:nvSpPr>
        <p:spPr>
          <a:xfrm>
            <a:off x="457200" y="1051560"/>
            <a:ext cx="11292840" cy="685800"/>
          </a:xfrm>
          <a:prstGeom prst="roundRect">
            <a:avLst>
              <a:gd name="adj" fmla="val 6000"/>
            </a:avLst>
          </a:prstGeom>
          <a:solidFill>
            <a:srgbClr val="1B3A4B"/>
          </a:solidFill>
          <a:ln>
            <a:noFill/>
          </a:ln>
        </p:spPr>
        <p:txBody>
          <a:bodyPr rtlCol="0" anchor="ctr"/>
          <a:lstStyle/>
          <a:p>
            <a:pPr algn="ctr"/>
          </a:p>
        </p:txBody>
      </p:sp>
      <p:sp>
        <p:nvSpPr>
          <p:cNvPr id="15" name="TextBox 14"/>
          <p:cNvSpPr txBox="1"/>
          <p:nvPr/>
        </p:nvSpPr>
        <p:spPr>
          <a:xfrm>
            <a:off x="640080" y="1069848"/>
            <a:ext cx="10881360" cy="640080"/>
          </a:xfrm>
          <a:prstGeom prst="rect">
            <a:avLst/>
          </a:prstGeom>
          <a:noFill/>
        </p:spPr>
        <p:txBody>
          <a:bodyPr wrap="square" lIns="45720" rIns="45720" tIns="27432" bIns="27432" anchor="ctr">
            <a:spAutoFit/>
          </a:bodyPr>
          <a:lstStyle/>
          <a:p>
            <a:pPr algn="l"/>
            <a:r>
              <a:rPr sz="1700" b="1" i="0">
                <a:solidFill>
                  <a:srgbClr val="FFFFFF"/>
                </a:solidFill>
                <a:latin typeface="Calibri"/>
              </a:rPr>
              <a:t>No industry letter is attached. It is to be earned from an operator or manufacturer who has seen a supervised trial.</a:t>
            </a:r>
          </a:p>
        </p:txBody>
      </p:sp>
      <p:sp>
        <p:nvSpPr>
          <p:cNvPr id="16" name="Oval 15"/>
          <p:cNvSpPr/>
          <p:nvPr/>
        </p:nvSpPr>
        <p:spPr>
          <a:xfrm>
            <a:off x="502920" y="201168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1</a:t>
            </a:r>
          </a:p>
        </p:txBody>
      </p:sp>
      <p:sp>
        <p:nvSpPr>
          <p:cNvPr id="17" name="TextBox 16"/>
          <p:cNvSpPr txBox="1"/>
          <p:nvPr/>
        </p:nvSpPr>
        <p:spPr>
          <a:xfrm>
            <a:off x="960120" y="2029968"/>
            <a:ext cx="2194560" cy="365760"/>
          </a:xfrm>
          <a:prstGeom prst="rect">
            <a:avLst/>
          </a:prstGeom>
          <a:noFill/>
        </p:spPr>
        <p:txBody>
          <a:bodyPr wrap="square" lIns="45720" rIns="45720" tIns="27432" bIns="27432" anchor="t">
            <a:spAutoFit/>
          </a:bodyPr>
          <a:lstStyle/>
          <a:p>
            <a:pPr algn="l"/>
            <a:r>
              <a:rPr sz="1500" b="1" i="0">
                <a:solidFill>
                  <a:srgbClr val="B5740A"/>
                </a:solidFill>
                <a:latin typeface="Calibri"/>
              </a:rPr>
              <a:t>Months 1–6</a:t>
            </a:r>
          </a:p>
        </p:txBody>
      </p:sp>
      <p:sp>
        <p:nvSpPr>
          <p:cNvPr id="18" name="TextBox 17"/>
          <p:cNvSpPr txBox="1"/>
          <p:nvPr/>
        </p:nvSpPr>
        <p:spPr>
          <a:xfrm>
            <a:off x="457200"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Find partners</a:t>
            </a:r>
          </a:p>
        </p:txBody>
      </p:sp>
      <p:sp>
        <p:nvSpPr>
          <p:cNvPr id="19" name="TextBox 18"/>
          <p:cNvSpPr txBox="1"/>
          <p:nvPr/>
        </p:nvSpPr>
        <p:spPr>
          <a:xfrm>
            <a:off x="457200" y="3063240"/>
            <a:ext cx="2697480" cy="1463040"/>
          </a:xfrm>
          <a:prstGeom prst="rect">
            <a:avLst/>
          </a:prstGeom>
          <a:noFill/>
        </p:spPr>
        <p:txBody>
          <a:bodyPr wrap="square" lIns="45720" rIns="45720" tIns="27432" bIns="27432" anchor="t">
            <a:spAutoFit/>
          </a:bodyPr>
          <a:lstStyle/>
          <a:p>
            <a:pPr algn="l"/>
            <a:r>
              <a:rPr sz="1600" b="0" i="0">
                <a:solidFill>
                  <a:srgbClr val="1C2430"/>
                </a:solidFill>
                <a:latin typeface="Calibri"/>
              </a:rPr>
              <a:t>Identify an underground operator and a mine-communications maker with TEXMiN and the industry cell. Ask for a letter of interest.</a:t>
            </a:r>
          </a:p>
        </p:txBody>
      </p:sp>
      <p:sp>
        <p:nvSpPr>
          <p:cNvPr id="20" name="Oval 19"/>
          <p:cNvSpPr/>
          <p:nvPr/>
        </p:nvSpPr>
        <p:spPr>
          <a:xfrm>
            <a:off x="3355848" y="201168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2</a:t>
            </a:r>
          </a:p>
        </p:txBody>
      </p:sp>
      <p:sp>
        <p:nvSpPr>
          <p:cNvPr id="21" name="TextBox 20"/>
          <p:cNvSpPr txBox="1"/>
          <p:nvPr/>
        </p:nvSpPr>
        <p:spPr>
          <a:xfrm>
            <a:off x="3813048" y="2029968"/>
            <a:ext cx="2194560" cy="365760"/>
          </a:xfrm>
          <a:prstGeom prst="rect">
            <a:avLst/>
          </a:prstGeom>
          <a:noFill/>
        </p:spPr>
        <p:txBody>
          <a:bodyPr wrap="square" lIns="45720" rIns="45720" tIns="27432" bIns="27432" anchor="t">
            <a:spAutoFit/>
          </a:bodyPr>
          <a:lstStyle/>
          <a:p>
            <a:pPr algn="l"/>
            <a:r>
              <a:rPr sz="1500" b="1" i="0">
                <a:solidFill>
                  <a:srgbClr val="B5740A"/>
                </a:solidFill>
                <a:latin typeface="Calibri"/>
              </a:rPr>
              <a:t>Months 6–12</a:t>
            </a:r>
          </a:p>
        </p:txBody>
      </p:sp>
      <p:sp>
        <p:nvSpPr>
          <p:cNvPr id="22" name="TextBox 21"/>
          <p:cNvSpPr txBox="1"/>
          <p:nvPr/>
        </p:nvSpPr>
        <p:spPr>
          <a:xfrm>
            <a:off x="3310128"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Workshop</a:t>
            </a:r>
          </a:p>
        </p:txBody>
      </p:sp>
      <p:sp>
        <p:nvSpPr>
          <p:cNvPr id="23" name="TextBox 22"/>
          <p:cNvSpPr txBox="1"/>
          <p:nvPr/>
        </p:nvSpPr>
        <p:spPr>
          <a:xfrm>
            <a:off x="3310128" y="3063240"/>
            <a:ext cx="2697480" cy="1463040"/>
          </a:xfrm>
          <a:prstGeom prst="rect">
            <a:avLst/>
          </a:prstGeom>
          <a:noFill/>
        </p:spPr>
        <p:txBody>
          <a:bodyPr wrap="square" lIns="45720" rIns="45720" tIns="27432" bIns="27432" anchor="t">
            <a:spAutoFit/>
          </a:bodyPr>
          <a:lstStyle/>
          <a:p>
            <a:pPr algn="l"/>
            <a:r>
              <a:rPr sz="1600" b="0" i="0">
                <a:solidFill>
                  <a:srgbClr val="1C2430"/>
                </a:solidFill>
                <a:latin typeface="Calibri"/>
              </a:rPr>
              <a:t>Their engineer on mounting, power, dust, gas zones. Constraints frozen before the enclosure closes.</a:t>
            </a:r>
          </a:p>
        </p:txBody>
      </p:sp>
      <p:sp>
        <p:nvSpPr>
          <p:cNvPr id="24" name="Oval 23"/>
          <p:cNvSpPr/>
          <p:nvPr/>
        </p:nvSpPr>
        <p:spPr>
          <a:xfrm>
            <a:off x="6208776" y="2011680"/>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3</a:t>
            </a:r>
          </a:p>
        </p:txBody>
      </p:sp>
      <p:sp>
        <p:nvSpPr>
          <p:cNvPr id="25" name="TextBox 24"/>
          <p:cNvSpPr txBox="1"/>
          <p:nvPr/>
        </p:nvSpPr>
        <p:spPr>
          <a:xfrm>
            <a:off x="6665976" y="2029968"/>
            <a:ext cx="2194560" cy="365760"/>
          </a:xfrm>
          <a:prstGeom prst="rect">
            <a:avLst/>
          </a:prstGeom>
          <a:noFill/>
        </p:spPr>
        <p:txBody>
          <a:bodyPr wrap="square" lIns="45720" rIns="45720" tIns="27432" bIns="27432" anchor="t">
            <a:spAutoFit/>
          </a:bodyPr>
          <a:lstStyle/>
          <a:p>
            <a:pPr algn="l"/>
            <a:r>
              <a:rPr sz="1500" b="1" i="0">
                <a:solidFill>
                  <a:srgbClr val="B5740A"/>
                </a:solidFill>
                <a:latin typeface="Calibri"/>
              </a:rPr>
              <a:t>Months 18–22</a:t>
            </a:r>
          </a:p>
        </p:txBody>
      </p:sp>
      <p:sp>
        <p:nvSpPr>
          <p:cNvPr id="26" name="TextBox 25"/>
          <p:cNvSpPr txBox="1"/>
          <p:nvPr/>
        </p:nvSpPr>
        <p:spPr>
          <a:xfrm>
            <a:off x="6163056"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Trial</a:t>
            </a:r>
          </a:p>
        </p:txBody>
      </p:sp>
      <p:sp>
        <p:nvSpPr>
          <p:cNvPr id="27" name="TextBox 26"/>
          <p:cNvSpPr txBox="1"/>
          <p:nvPr/>
        </p:nvSpPr>
        <p:spPr>
          <a:xfrm>
            <a:off x="6163056" y="3063240"/>
            <a:ext cx="2697480" cy="1463040"/>
          </a:xfrm>
          <a:prstGeom prst="rect">
            <a:avLst/>
          </a:prstGeom>
          <a:noFill/>
        </p:spPr>
        <p:txBody>
          <a:bodyPr wrap="square" lIns="45720" rIns="45720" tIns="27432" bIns="27432" anchor="t">
            <a:spAutoFit/>
          </a:bodyPr>
          <a:lstStyle/>
          <a:p>
            <a:pPr algn="l"/>
            <a:r>
              <a:rPr sz="1600" b="0" i="0">
                <a:solidFill>
                  <a:srgbClr val="1C2430"/>
                </a:solidFill>
                <a:latin typeface="Calibri"/>
              </a:rPr>
              <a:t>TEXMiN test mine or partner drift, engineer present. Report video, realignment, alert delivery.</a:t>
            </a:r>
          </a:p>
        </p:txBody>
      </p:sp>
      <p:sp>
        <p:nvSpPr>
          <p:cNvPr id="28" name="Oval 27"/>
          <p:cNvSpPr/>
          <p:nvPr/>
        </p:nvSpPr>
        <p:spPr>
          <a:xfrm>
            <a:off x="9061704" y="2011680"/>
            <a:ext cx="384048" cy="384048"/>
          </a:xfrm>
          <a:prstGeom prst="ellipse">
            <a:avLst/>
          </a:prstGeom>
          <a:solidFill>
            <a:srgbClr val="1B3A4B"/>
          </a:solidFill>
          <a:ln>
            <a:noFill/>
          </a:ln>
        </p:spPr>
        <p:txBody>
          <a:bodyPr rtlCol="0" anchor="ctr" lIns="0" rIns="0" tIns="0" bIns="0"/>
          <a:lstStyle/>
          <a:p>
            <a:pPr algn="ctr"/>
            <a:r>
              <a:rPr sz="1600" b="1">
                <a:solidFill>
                  <a:srgbClr val="FFFFFF"/>
                </a:solidFill>
                <a:latin typeface="Calibri"/>
              </a:rPr>
              <a:t>4</a:t>
            </a:r>
          </a:p>
        </p:txBody>
      </p:sp>
      <p:sp>
        <p:nvSpPr>
          <p:cNvPr id="29" name="TextBox 28"/>
          <p:cNvSpPr txBox="1"/>
          <p:nvPr/>
        </p:nvSpPr>
        <p:spPr>
          <a:xfrm>
            <a:off x="9518904" y="2029968"/>
            <a:ext cx="2194560" cy="365760"/>
          </a:xfrm>
          <a:prstGeom prst="rect">
            <a:avLst/>
          </a:prstGeom>
          <a:noFill/>
        </p:spPr>
        <p:txBody>
          <a:bodyPr wrap="square" lIns="45720" rIns="45720" tIns="27432" bIns="27432" anchor="t">
            <a:spAutoFit/>
          </a:bodyPr>
          <a:lstStyle/>
          <a:p>
            <a:pPr algn="l"/>
            <a:r>
              <a:rPr sz="1500" b="1" i="0">
                <a:solidFill>
                  <a:srgbClr val="B5740A"/>
                </a:solidFill>
                <a:latin typeface="Calibri"/>
              </a:rPr>
              <a:t>Months 22–24</a:t>
            </a:r>
          </a:p>
        </p:txBody>
      </p:sp>
      <p:sp>
        <p:nvSpPr>
          <p:cNvPr id="30" name="TextBox 29"/>
          <p:cNvSpPr txBox="1"/>
          <p:nvPr/>
        </p:nvSpPr>
        <p:spPr>
          <a:xfrm>
            <a:off x="9015984"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Next step</a:t>
            </a:r>
          </a:p>
        </p:txBody>
      </p:sp>
      <p:sp>
        <p:nvSpPr>
          <p:cNvPr id="31" name="TextBox 30"/>
          <p:cNvSpPr txBox="1"/>
          <p:nvPr/>
        </p:nvSpPr>
        <p:spPr>
          <a:xfrm>
            <a:off x="9015984" y="3063240"/>
            <a:ext cx="2697480" cy="1463040"/>
          </a:xfrm>
          <a:prstGeom prst="rect">
            <a:avLst/>
          </a:prstGeom>
          <a:noFill/>
        </p:spPr>
        <p:txBody>
          <a:bodyPr wrap="square" lIns="45720" rIns="45720" tIns="27432" bIns="27432" anchor="t">
            <a:spAutoFit/>
          </a:bodyPr>
          <a:lstStyle/>
          <a:p>
            <a:pPr algn="l"/>
            <a:r>
              <a:rPr sz="1600" b="0" i="0">
                <a:solidFill>
                  <a:srgbClr val="1C2430"/>
                </a:solidFill>
                <a:latin typeface="Calibri"/>
              </a:rPr>
              <a:t>Licence or pilot talk. FTBI incubation if it becomes a venture.</a:t>
            </a:r>
          </a:p>
        </p:txBody>
      </p:sp>
      <p:sp>
        <p:nvSpPr>
          <p:cNvPr id="32" name="Rounded Rectangle 31"/>
          <p:cNvSpPr/>
          <p:nvPr/>
        </p:nvSpPr>
        <p:spPr>
          <a:xfrm>
            <a:off x="457200" y="4663440"/>
            <a:ext cx="5577840" cy="1600200"/>
          </a:xfrm>
          <a:prstGeom prst="roundRect">
            <a:avLst>
              <a:gd name="adj" fmla="val 6000"/>
            </a:avLst>
          </a:prstGeom>
          <a:solidFill>
            <a:srgbClr val="F7F5F2"/>
          </a:solidFill>
          <a:ln>
            <a:noFill/>
          </a:ln>
        </p:spPr>
        <p:txBody>
          <a:bodyPr rtlCol="0" anchor="ctr"/>
          <a:lstStyle/>
          <a:p>
            <a:pPr algn="ctr"/>
          </a:p>
        </p:txBody>
      </p:sp>
      <p:sp>
        <p:nvSpPr>
          <p:cNvPr id="33" name="TextBox 32"/>
          <p:cNvSpPr txBox="1"/>
          <p:nvPr/>
        </p:nvSpPr>
        <p:spPr>
          <a:xfrm>
            <a:off x="640080" y="4754880"/>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Users</a:t>
            </a:r>
          </a:p>
        </p:txBody>
      </p:sp>
      <p:sp>
        <p:nvSpPr>
          <p:cNvPr id="34" name="TextBox 33"/>
          <p:cNvSpPr txBox="1"/>
          <p:nvPr/>
        </p:nvSpPr>
        <p:spPr>
          <a:xfrm>
            <a:off x="640080" y="5166360"/>
            <a:ext cx="5212080" cy="1005840"/>
          </a:xfrm>
          <a:prstGeom prst="rect">
            <a:avLst/>
          </a:prstGeom>
          <a:noFill/>
        </p:spPr>
        <p:txBody>
          <a:bodyPr wrap="square" lIns="45720" rIns="45720" tIns="27432" bIns="27432" anchor="t">
            <a:spAutoFit/>
          </a:bodyPr>
          <a:lstStyle/>
          <a:p>
            <a:pPr algn="l"/>
            <a:r>
              <a:rPr sz="1500" b="0" i="0">
                <a:solidFill>
                  <a:srgbClr val="1C2430"/>
                </a:solidFill>
                <a:latin typeface="Calibri"/>
              </a:rPr>
              <a:t>Underground coal and metal mines (managers, safety officers, rescue rooms) and mine-communication equipment makers.</a:t>
            </a:r>
          </a:p>
        </p:txBody>
      </p:sp>
      <p:sp>
        <p:nvSpPr>
          <p:cNvPr id="35" name="Rounded Rectangle 34"/>
          <p:cNvSpPr/>
          <p:nvPr/>
        </p:nvSpPr>
        <p:spPr>
          <a:xfrm>
            <a:off x="6172200" y="4663440"/>
            <a:ext cx="5577840" cy="1600200"/>
          </a:xfrm>
          <a:prstGeom prst="roundRect">
            <a:avLst>
              <a:gd name="adj" fmla="val 6000"/>
            </a:avLst>
          </a:prstGeom>
          <a:solidFill>
            <a:srgbClr val="F7F5F2"/>
          </a:solidFill>
          <a:ln>
            <a:noFill/>
          </a:ln>
        </p:spPr>
        <p:txBody>
          <a:bodyPr rtlCol="0" anchor="ctr"/>
          <a:lstStyle/>
          <a:p>
            <a:pPr algn="ctr"/>
          </a:p>
        </p:txBody>
      </p:sp>
      <p:sp>
        <p:nvSpPr>
          <p:cNvPr id="36" name="TextBox 35"/>
          <p:cNvSpPr txBox="1"/>
          <p:nvPr/>
        </p:nvSpPr>
        <p:spPr>
          <a:xfrm>
            <a:off x="6355080" y="4754880"/>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Asked of TEXMiN, non-financial</a:t>
            </a:r>
          </a:p>
        </p:txBody>
      </p:sp>
      <p:sp>
        <p:nvSpPr>
          <p:cNvPr id="37" name="TextBox 36"/>
          <p:cNvSpPr txBox="1"/>
          <p:nvPr/>
        </p:nvSpPr>
        <p:spPr>
          <a:xfrm>
            <a:off x="6355080" y="5166360"/>
            <a:ext cx="5212080" cy="1005840"/>
          </a:xfrm>
          <a:prstGeom prst="rect">
            <a:avLst/>
          </a:prstGeom>
          <a:noFill/>
        </p:spPr>
        <p:txBody>
          <a:bodyPr wrap="square" lIns="45720" rIns="45720" tIns="27432" bIns="27432" anchor="t">
            <a:spAutoFit/>
          </a:bodyPr>
          <a:lstStyle/>
          <a:p>
            <a:pPr algn="l"/>
            <a:r>
              <a:rPr sz="1500" b="0" i="0">
                <a:solidFill>
                  <a:srgbClr val="1C2430"/>
                </a:solidFill>
                <a:latin typeface="Calibri"/>
              </a:rPr>
              <a:t>Mentorship on mining standards, commercialization guidance, and test-mine access if it can be arranged.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07     ·     IMPACT AND COMMERCIALIZATION PLAN</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Impact, and how it would be deployed</a:t>
            </a:r>
          </a:p>
        </p:txBody>
      </p:sp>
      <p:sp>
        <p:nvSpPr>
          <p:cNvPr id="12" name="Rectangle 11"/>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13" name="TextBox 12"/>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Impact and commercialization</a:t>
            </a:r>
          </a:p>
        </p:txBody>
      </p:sp>
      <p:sp>
        <p:nvSpPr>
          <p:cNvPr id="14" name="TextBox 13"/>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11  /  14</a:t>
            </a:r>
          </a:p>
        </p:txBody>
      </p:sp>
      <p:sp>
        <p:nvSpPr>
          <p:cNvPr id="15" name="TextBox 14"/>
          <p:cNvSpPr txBox="1"/>
          <p:nvPr/>
        </p:nvSpPr>
        <p:spPr>
          <a:xfrm>
            <a:off x="457200" y="10515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the tunnel trial will measure</a:t>
            </a:r>
          </a:p>
        </p:txBody>
      </p:sp>
      <p:sp>
        <p:nvSpPr>
          <p:cNvPr id="16" name="Rounded Rectangle 15"/>
          <p:cNvSpPr/>
          <p:nvPr/>
        </p:nvSpPr>
        <p:spPr>
          <a:xfrm>
            <a:off x="457200" y="1508760"/>
            <a:ext cx="2697480" cy="1280160"/>
          </a:xfrm>
          <a:prstGeom prst="roundRect">
            <a:avLst>
              <a:gd name="adj" fmla="val 6000"/>
            </a:avLst>
          </a:prstGeom>
          <a:solidFill>
            <a:srgbClr val="1B3A4B"/>
          </a:solidFill>
          <a:ln>
            <a:noFill/>
          </a:ln>
        </p:spPr>
        <p:txBody>
          <a:bodyPr rtlCol="0" anchor="ctr"/>
          <a:lstStyle/>
          <a:p>
            <a:pPr algn="ctr"/>
          </a:p>
        </p:txBody>
      </p:sp>
      <p:sp>
        <p:nvSpPr>
          <p:cNvPr id="17" name="TextBox 16"/>
          <p:cNvSpPr txBox="1"/>
          <p:nvPr/>
        </p:nvSpPr>
        <p:spPr>
          <a:xfrm>
            <a:off x="594360" y="1618488"/>
            <a:ext cx="2423160" cy="457200"/>
          </a:xfrm>
          <a:prstGeom prst="rect">
            <a:avLst/>
          </a:prstGeom>
          <a:noFill/>
        </p:spPr>
        <p:txBody>
          <a:bodyPr wrap="square" lIns="45720" rIns="45720" tIns="27432" bIns="27432" anchor="t">
            <a:spAutoFit/>
          </a:bodyPr>
          <a:lstStyle/>
          <a:p>
            <a:pPr algn="l"/>
            <a:r>
              <a:rPr sz="1900" b="1" i="0">
                <a:solidFill>
                  <a:srgbClr val="B5740A"/>
                </a:solidFill>
                <a:latin typeface="Calibri"/>
              </a:rPr>
              <a:t>Video continuity</a:t>
            </a:r>
          </a:p>
        </p:txBody>
      </p:sp>
      <p:sp>
        <p:nvSpPr>
          <p:cNvPr id="18" name="TextBox 17"/>
          <p:cNvSpPr txBox="1"/>
          <p:nvPr/>
        </p:nvSpPr>
        <p:spPr>
          <a:xfrm>
            <a:off x="594360" y="2148839"/>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on a 50–100 m hop</a:t>
            </a:r>
          </a:p>
        </p:txBody>
      </p:sp>
      <p:sp>
        <p:nvSpPr>
          <p:cNvPr id="19" name="Rounded Rectangle 18"/>
          <p:cNvSpPr/>
          <p:nvPr/>
        </p:nvSpPr>
        <p:spPr>
          <a:xfrm>
            <a:off x="3291840" y="1508760"/>
            <a:ext cx="2697480" cy="1280160"/>
          </a:xfrm>
          <a:prstGeom prst="roundRect">
            <a:avLst>
              <a:gd name="adj" fmla="val 6000"/>
            </a:avLst>
          </a:prstGeom>
          <a:solidFill>
            <a:srgbClr val="1B3A4B"/>
          </a:solidFill>
          <a:ln>
            <a:noFill/>
          </a:ln>
        </p:spPr>
        <p:txBody>
          <a:bodyPr rtlCol="0" anchor="ctr"/>
          <a:lstStyle/>
          <a:p>
            <a:pPr algn="ctr"/>
          </a:p>
        </p:txBody>
      </p:sp>
      <p:sp>
        <p:nvSpPr>
          <p:cNvPr id="20" name="TextBox 19"/>
          <p:cNvSpPr txBox="1"/>
          <p:nvPr/>
        </p:nvSpPr>
        <p:spPr>
          <a:xfrm>
            <a:off x="3429000" y="1618488"/>
            <a:ext cx="2423160" cy="457200"/>
          </a:xfrm>
          <a:prstGeom prst="rect">
            <a:avLst/>
          </a:prstGeom>
          <a:noFill/>
        </p:spPr>
        <p:txBody>
          <a:bodyPr wrap="square" lIns="45720" rIns="45720" tIns="27432" bIns="27432" anchor="t">
            <a:spAutoFit/>
          </a:bodyPr>
          <a:lstStyle/>
          <a:p>
            <a:pPr algn="l"/>
            <a:r>
              <a:rPr sz="1900" b="1" i="0">
                <a:solidFill>
                  <a:srgbClr val="B5740A"/>
                </a:solidFill>
                <a:latin typeface="Calibri"/>
              </a:rPr>
              <a:t>Alert delivery</a:t>
            </a:r>
          </a:p>
        </p:txBody>
      </p:sp>
      <p:sp>
        <p:nvSpPr>
          <p:cNvPr id="21" name="TextBox 20"/>
          <p:cNvSpPr txBox="1"/>
          <p:nvPr/>
        </p:nvSpPr>
        <p:spPr>
          <a:xfrm>
            <a:off x="3429000" y="2148839"/>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when the hop is interrupted</a:t>
            </a:r>
          </a:p>
        </p:txBody>
      </p:sp>
      <p:sp>
        <p:nvSpPr>
          <p:cNvPr id="22" name="Rounded Rectangle 21"/>
          <p:cNvSpPr/>
          <p:nvPr/>
        </p:nvSpPr>
        <p:spPr>
          <a:xfrm>
            <a:off x="457200" y="2926080"/>
            <a:ext cx="2697480" cy="1280160"/>
          </a:xfrm>
          <a:prstGeom prst="roundRect">
            <a:avLst>
              <a:gd name="adj" fmla="val 6000"/>
            </a:avLst>
          </a:prstGeom>
          <a:solidFill>
            <a:srgbClr val="1B3A4B"/>
          </a:solidFill>
          <a:ln>
            <a:noFill/>
          </a:ln>
        </p:spPr>
        <p:txBody>
          <a:bodyPr rtlCol="0" anchor="ctr"/>
          <a:lstStyle/>
          <a:p>
            <a:pPr algn="ctr"/>
          </a:p>
        </p:txBody>
      </p:sp>
      <p:sp>
        <p:nvSpPr>
          <p:cNvPr id="23" name="TextBox 22"/>
          <p:cNvSpPr txBox="1"/>
          <p:nvPr/>
        </p:nvSpPr>
        <p:spPr>
          <a:xfrm>
            <a:off x="594360" y="3035808"/>
            <a:ext cx="2423160" cy="457200"/>
          </a:xfrm>
          <a:prstGeom prst="rect">
            <a:avLst/>
          </a:prstGeom>
          <a:noFill/>
        </p:spPr>
        <p:txBody>
          <a:bodyPr wrap="square" lIns="45720" rIns="45720" tIns="27432" bIns="27432" anchor="t">
            <a:spAutoFit/>
          </a:bodyPr>
          <a:lstStyle/>
          <a:p>
            <a:pPr algn="l"/>
            <a:r>
              <a:rPr sz="1900" b="1" i="0">
                <a:solidFill>
                  <a:srgbClr val="B5740A"/>
                </a:solidFill>
                <a:latin typeface="Calibri"/>
              </a:rPr>
              <a:t>Realignment time</a:t>
            </a:r>
          </a:p>
        </p:txBody>
      </p:sp>
      <p:sp>
        <p:nvSpPr>
          <p:cNvPr id="24" name="TextBox 23"/>
          <p:cNvSpPr txBox="1"/>
          <p:nvPr/>
        </p:nvSpPr>
        <p:spPr>
          <a:xfrm>
            <a:off x="594360" y="356616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after a deliberate disturbance</a:t>
            </a:r>
          </a:p>
        </p:txBody>
      </p:sp>
      <p:sp>
        <p:nvSpPr>
          <p:cNvPr id="25" name="Rounded Rectangle 24"/>
          <p:cNvSpPr/>
          <p:nvPr/>
        </p:nvSpPr>
        <p:spPr>
          <a:xfrm>
            <a:off x="3291840" y="2926080"/>
            <a:ext cx="2697480" cy="1280160"/>
          </a:xfrm>
          <a:prstGeom prst="roundRect">
            <a:avLst>
              <a:gd name="adj" fmla="val 6000"/>
            </a:avLst>
          </a:prstGeom>
          <a:solidFill>
            <a:srgbClr val="1B3A4B"/>
          </a:solidFill>
          <a:ln>
            <a:noFill/>
          </a:ln>
        </p:spPr>
        <p:txBody>
          <a:bodyPr rtlCol="0" anchor="ctr"/>
          <a:lstStyle/>
          <a:p>
            <a:pPr algn="ctr"/>
          </a:p>
        </p:txBody>
      </p:sp>
      <p:sp>
        <p:nvSpPr>
          <p:cNvPr id="26" name="TextBox 25"/>
          <p:cNvSpPr txBox="1"/>
          <p:nvPr/>
        </p:nvSpPr>
        <p:spPr>
          <a:xfrm>
            <a:off x="3429000" y="3035808"/>
            <a:ext cx="2423160" cy="457200"/>
          </a:xfrm>
          <a:prstGeom prst="rect">
            <a:avLst/>
          </a:prstGeom>
          <a:noFill/>
        </p:spPr>
        <p:txBody>
          <a:bodyPr wrap="square" lIns="45720" rIns="45720" tIns="27432" bIns="27432" anchor="t">
            <a:spAutoFit/>
          </a:bodyPr>
          <a:lstStyle/>
          <a:p>
            <a:pPr algn="l"/>
            <a:r>
              <a:rPr sz="1900" b="1" i="0">
                <a:solidFill>
                  <a:srgbClr val="B5740A"/>
                </a:solidFill>
                <a:latin typeface="Calibri"/>
              </a:rPr>
              <a:t>Energy per node</a:t>
            </a:r>
          </a:p>
        </p:txBody>
      </p:sp>
      <p:sp>
        <p:nvSpPr>
          <p:cNvPr id="27" name="TextBox 26"/>
          <p:cNvSpPr txBox="1"/>
          <p:nvPr/>
        </p:nvSpPr>
        <p:spPr>
          <a:xfrm>
            <a:off x="3429000" y="356616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and bill of materials</a:t>
            </a:r>
          </a:p>
        </p:txBody>
      </p:sp>
      <p:sp>
        <p:nvSpPr>
          <p:cNvPr id="28" name="TextBox 27"/>
          <p:cNvSpPr txBox="1"/>
          <p:nvPr/>
        </p:nvSpPr>
        <p:spPr>
          <a:xfrm>
            <a:off x="6355080" y="10515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it changes for a mine</a:t>
            </a:r>
          </a:p>
        </p:txBody>
      </p:sp>
      <p:sp>
        <p:nvSpPr>
          <p:cNvPr id="29" name="Rounded Rectangle 28"/>
          <p:cNvSpPr/>
          <p:nvPr/>
        </p:nvSpPr>
        <p:spPr>
          <a:xfrm>
            <a:off x="6355080" y="1508760"/>
            <a:ext cx="5394960" cy="777240"/>
          </a:xfrm>
          <a:prstGeom prst="roundRect">
            <a:avLst>
              <a:gd name="adj" fmla="val 6000"/>
            </a:avLst>
          </a:prstGeom>
          <a:solidFill>
            <a:srgbClr val="F7F5F2"/>
          </a:solidFill>
          <a:ln>
            <a:noFill/>
          </a:ln>
        </p:spPr>
        <p:txBody>
          <a:bodyPr rtlCol="0" anchor="ctr"/>
          <a:lstStyle/>
          <a:p>
            <a:pPr algn="ctr"/>
          </a:p>
        </p:txBody>
      </p:sp>
      <p:sp>
        <p:nvSpPr>
          <p:cNvPr id="30" name="Oval 29"/>
          <p:cNvSpPr/>
          <p:nvPr/>
        </p:nvSpPr>
        <p:spPr>
          <a:xfrm>
            <a:off x="6492240" y="1700784"/>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1</a:t>
            </a:r>
          </a:p>
        </p:txBody>
      </p:sp>
      <p:sp>
        <p:nvSpPr>
          <p:cNvPr id="31" name="TextBox 30"/>
          <p:cNvSpPr txBox="1"/>
          <p:nvPr/>
        </p:nvSpPr>
        <p:spPr>
          <a:xfrm>
            <a:off x="7040880" y="1554480"/>
            <a:ext cx="4617720" cy="685800"/>
          </a:xfrm>
          <a:prstGeom prst="rect">
            <a:avLst/>
          </a:prstGeom>
          <a:noFill/>
        </p:spPr>
        <p:txBody>
          <a:bodyPr wrap="square" lIns="45720" rIns="45720" tIns="27432" bIns="27432" anchor="ctr">
            <a:spAutoFit/>
          </a:bodyPr>
          <a:lstStyle/>
          <a:p>
            <a:pPr algn="l"/>
            <a:r>
              <a:rPr sz="1500" b="0" i="0">
                <a:solidFill>
                  <a:srgbClr val="1C2430"/>
                </a:solidFill>
                <a:latin typeface="Calibri"/>
              </a:rPr>
              <a:t>Re-entry decisions taken with a current picture of the face</a:t>
            </a:r>
          </a:p>
        </p:txBody>
      </p:sp>
      <p:sp>
        <p:nvSpPr>
          <p:cNvPr id="32" name="Rounded Rectangle 31"/>
          <p:cNvSpPr/>
          <p:nvPr/>
        </p:nvSpPr>
        <p:spPr>
          <a:xfrm>
            <a:off x="6355080" y="2404872"/>
            <a:ext cx="5394960" cy="777240"/>
          </a:xfrm>
          <a:prstGeom prst="roundRect">
            <a:avLst>
              <a:gd name="adj" fmla="val 6000"/>
            </a:avLst>
          </a:prstGeom>
          <a:solidFill>
            <a:srgbClr val="F7F5F2"/>
          </a:solidFill>
          <a:ln>
            <a:noFill/>
          </a:ln>
        </p:spPr>
        <p:txBody>
          <a:bodyPr rtlCol="0" anchor="ctr"/>
          <a:lstStyle/>
          <a:p>
            <a:pPr algn="ctr"/>
          </a:p>
        </p:txBody>
      </p:sp>
      <p:sp>
        <p:nvSpPr>
          <p:cNvPr id="33" name="Oval 32"/>
          <p:cNvSpPr/>
          <p:nvPr/>
        </p:nvSpPr>
        <p:spPr>
          <a:xfrm>
            <a:off x="6492240" y="2596896"/>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2</a:t>
            </a:r>
          </a:p>
        </p:txBody>
      </p:sp>
      <p:sp>
        <p:nvSpPr>
          <p:cNvPr id="34" name="TextBox 33"/>
          <p:cNvSpPr txBox="1"/>
          <p:nvPr/>
        </p:nvSpPr>
        <p:spPr>
          <a:xfrm>
            <a:off x="7040880" y="2450591"/>
            <a:ext cx="4617720" cy="685800"/>
          </a:xfrm>
          <a:prstGeom prst="rect">
            <a:avLst/>
          </a:prstGeom>
          <a:noFill/>
        </p:spPr>
        <p:txBody>
          <a:bodyPr wrap="square" lIns="45720" rIns="45720" tIns="27432" bIns="27432" anchor="ctr">
            <a:spAutoFit/>
          </a:bodyPr>
          <a:lstStyle/>
          <a:p>
            <a:pPr algn="l"/>
            <a:r>
              <a:rPr sz="1500" b="0" i="0">
                <a:solidFill>
                  <a:srgbClr val="1C2430"/>
                </a:solidFill>
                <a:latin typeface="Calibri"/>
              </a:rPr>
              <a:t>The alert does not depend on a single cable</a:t>
            </a:r>
          </a:p>
        </p:txBody>
      </p:sp>
      <p:sp>
        <p:nvSpPr>
          <p:cNvPr id="35" name="Rounded Rectangle 34"/>
          <p:cNvSpPr/>
          <p:nvPr/>
        </p:nvSpPr>
        <p:spPr>
          <a:xfrm>
            <a:off x="6355080" y="3300984"/>
            <a:ext cx="5394960" cy="777240"/>
          </a:xfrm>
          <a:prstGeom prst="roundRect">
            <a:avLst>
              <a:gd name="adj" fmla="val 6000"/>
            </a:avLst>
          </a:prstGeom>
          <a:solidFill>
            <a:srgbClr val="F7F5F2"/>
          </a:solidFill>
          <a:ln>
            <a:noFill/>
          </a:ln>
        </p:spPr>
        <p:txBody>
          <a:bodyPr rtlCol="0" anchor="ctr"/>
          <a:lstStyle/>
          <a:p>
            <a:pPr algn="ctr"/>
          </a:p>
        </p:txBody>
      </p:sp>
      <p:sp>
        <p:nvSpPr>
          <p:cNvPr id="36" name="Oval 35"/>
          <p:cNvSpPr/>
          <p:nvPr/>
        </p:nvSpPr>
        <p:spPr>
          <a:xfrm>
            <a:off x="6492240" y="3493008"/>
            <a:ext cx="384048" cy="384048"/>
          </a:xfrm>
          <a:prstGeom prst="ellipse">
            <a:avLst/>
          </a:prstGeom>
          <a:solidFill>
            <a:srgbClr val="B5740A"/>
          </a:solidFill>
          <a:ln>
            <a:noFill/>
          </a:ln>
        </p:spPr>
        <p:txBody>
          <a:bodyPr rtlCol="0" anchor="ctr" lIns="0" rIns="0" tIns="0" bIns="0"/>
          <a:lstStyle/>
          <a:p>
            <a:pPr algn="ctr"/>
            <a:r>
              <a:rPr sz="1600" b="1">
                <a:solidFill>
                  <a:srgbClr val="FFFFFF"/>
                </a:solidFill>
                <a:latin typeface="Calibri"/>
              </a:rPr>
              <a:t>3</a:t>
            </a:r>
          </a:p>
        </p:txBody>
      </p:sp>
      <p:sp>
        <p:nvSpPr>
          <p:cNvPr id="37" name="TextBox 36"/>
          <p:cNvSpPr txBox="1"/>
          <p:nvPr/>
        </p:nvSpPr>
        <p:spPr>
          <a:xfrm>
            <a:off x="7040880" y="3346703"/>
            <a:ext cx="4617720" cy="685800"/>
          </a:xfrm>
          <a:prstGeom prst="rect">
            <a:avLst/>
          </a:prstGeom>
          <a:noFill/>
        </p:spPr>
        <p:txBody>
          <a:bodyPr wrap="square" lIns="45720" rIns="45720" tIns="27432" bIns="27432" anchor="ctr">
            <a:spAutoFit/>
          </a:bodyPr>
          <a:lstStyle/>
          <a:p>
            <a:pPr algn="l"/>
            <a:r>
              <a:rPr sz="1500" b="0" i="0">
                <a:solidFill>
                  <a:srgbClr val="1C2430"/>
                </a:solidFill>
                <a:latin typeface="Calibri"/>
              </a:rPr>
              <a:t>An indigenous node, where this class is largely imported</a:t>
            </a:r>
          </a:p>
        </p:txBody>
      </p:sp>
      <p:sp>
        <p:nvSpPr>
          <p:cNvPr id="38" name="TextBox 37"/>
          <p:cNvSpPr txBox="1"/>
          <p:nvPr/>
        </p:nvSpPr>
        <p:spPr>
          <a:xfrm>
            <a:off x="457200" y="4434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Commercial path</a:t>
            </a:r>
          </a:p>
        </p:txBody>
      </p:sp>
      <p:sp>
        <p:nvSpPr>
          <p:cNvPr id="39" name="Pentagon 38"/>
          <p:cNvSpPr/>
          <p:nvPr/>
        </p:nvSpPr>
        <p:spPr>
          <a:xfrm>
            <a:off x="457200" y="4892040"/>
            <a:ext cx="2788920" cy="1371600"/>
          </a:xfrm>
          <a:prstGeom prst="homePlate">
            <a:avLst/>
          </a:prstGeom>
          <a:solidFill>
            <a:srgbClr val="1B3A4B"/>
          </a:solidFill>
          <a:ln>
            <a:noFill/>
          </a:ln>
        </p:spPr>
        <p:txBody>
          <a:bodyPr rtlCol="0" anchor="ctr"/>
          <a:lstStyle/>
          <a:p>
            <a:pPr algn="ctr"/>
          </a:p>
        </p:txBody>
      </p:sp>
      <p:sp>
        <p:nvSpPr>
          <p:cNvPr id="40" name="TextBox 39"/>
          <p:cNvSpPr txBox="1"/>
          <p:nvPr/>
        </p:nvSpPr>
        <p:spPr>
          <a:xfrm>
            <a:off x="640080" y="4983480"/>
            <a:ext cx="2194560" cy="411480"/>
          </a:xfrm>
          <a:prstGeom prst="rect">
            <a:avLst/>
          </a:prstGeom>
          <a:noFill/>
        </p:spPr>
        <p:txBody>
          <a:bodyPr wrap="square" lIns="45720" rIns="45720" tIns="27432" bIns="27432" anchor="t">
            <a:spAutoFit/>
          </a:bodyPr>
          <a:lstStyle/>
          <a:p>
            <a:pPr algn="l"/>
            <a:r>
              <a:rPr sz="1800" b="1" i="0">
                <a:solidFill>
                  <a:srgbClr val="B5740A"/>
                </a:solidFill>
                <a:latin typeface="Calibri"/>
              </a:rPr>
              <a:t>This grant</a:t>
            </a:r>
          </a:p>
        </p:txBody>
      </p:sp>
      <p:sp>
        <p:nvSpPr>
          <p:cNvPr id="41" name="TextBox 40"/>
          <p:cNvSpPr txBox="1"/>
          <p:nvPr/>
        </p:nvSpPr>
        <p:spPr>
          <a:xfrm>
            <a:off x="640080" y="5413248"/>
            <a:ext cx="2103120" cy="822960"/>
          </a:xfrm>
          <a:prstGeom prst="rect">
            <a:avLst/>
          </a:prstGeom>
          <a:noFill/>
        </p:spPr>
        <p:txBody>
          <a:bodyPr wrap="square" lIns="45720" rIns="45720" tIns="27432" bIns="27432" anchor="t">
            <a:spAutoFit/>
          </a:bodyPr>
          <a:lstStyle/>
          <a:p>
            <a:pPr algn="l"/>
            <a:r>
              <a:rPr sz="1400" b="0" i="0">
                <a:solidFill>
                  <a:srgbClr val="FFFFFF"/>
                </a:solidFill>
                <a:latin typeface="Calibri"/>
              </a:rPr>
              <a:t>Proves one heading</a:t>
            </a:r>
          </a:p>
        </p:txBody>
      </p:sp>
      <p:sp>
        <p:nvSpPr>
          <p:cNvPr id="42" name="Pentagon 41"/>
          <p:cNvSpPr/>
          <p:nvPr/>
        </p:nvSpPr>
        <p:spPr>
          <a:xfrm>
            <a:off x="3310128" y="4892040"/>
            <a:ext cx="2788920" cy="1371600"/>
          </a:xfrm>
          <a:prstGeom prst="homePlate">
            <a:avLst/>
          </a:prstGeom>
          <a:solidFill>
            <a:srgbClr val="F7F5F2"/>
          </a:solidFill>
          <a:ln>
            <a:noFill/>
          </a:ln>
        </p:spPr>
        <p:txBody>
          <a:bodyPr rtlCol="0" anchor="ctr"/>
          <a:lstStyle/>
          <a:p>
            <a:pPr algn="ctr"/>
          </a:p>
        </p:txBody>
      </p:sp>
      <p:sp>
        <p:nvSpPr>
          <p:cNvPr id="43" name="TextBox 42"/>
          <p:cNvSpPr txBox="1"/>
          <p:nvPr/>
        </p:nvSpPr>
        <p:spPr>
          <a:xfrm>
            <a:off x="3493008" y="4983480"/>
            <a:ext cx="2194560" cy="411480"/>
          </a:xfrm>
          <a:prstGeom prst="rect">
            <a:avLst/>
          </a:prstGeom>
          <a:noFill/>
        </p:spPr>
        <p:txBody>
          <a:bodyPr wrap="square" lIns="45720" rIns="45720" tIns="27432" bIns="27432" anchor="t">
            <a:spAutoFit/>
          </a:bodyPr>
          <a:lstStyle/>
          <a:p>
            <a:pPr algn="l"/>
            <a:r>
              <a:rPr sz="1800" b="1" i="0">
                <a:solidFill>
                  <a:srgbClr val="1B3A4B"/>
                </a:solidFill>
                <a:latin typeface="Calibri"/>
              </a:rPr>
              <a:t>Pilot</a:t>
            </a:r>
          </a:p>
        </p:txBody>
      </p:sp>
      <p:sp>
        <p:nvSpPr>
          <p:cNvPr id="44" name="TextBox 43"/>
          <p:cNvSpPr txBox="1"/>
          <p:nvPr/>
        </p:nvSpPr>
        <p:spPr>
          <a:xfrm>
            <a:off x="3493008" y="5413248"/>
            <a:ext cx="2103120" cy="822960"/>
          </a:xfrm>
          <a:prstGeom prst="rect">
            <a:avLst/>
          </a:prstGeom>
          <a:noFill/>
        </p:spPr>
        <p:txBody>
          <a:bodyPr wrap="square" lIns="45720" rIns="45720" tIns="27432" bIns="27432" anchor="t">
            <a:spAutoFit/>
          </a:bodyPr>
          <a:lstStyle/>
          <a:p>
            <a:pPr algn="l"/>
            <a:r>
              <a:rPr sz="1400" b="0" i="0">
                <a:solidFill>
                  <a:srgbClr val="1C2430"/>
                </a:solidFill>
                <a:latin typeface="Calibri"/>
              </a:rPr>
              <a:t>Supervised, with the partner who signs the letter</a:t>
            </a:r>
          </a:p>
        </p:txBody>
      </p:sp>
      <p:sp>
        <p:nvSpPr>
          <p:cNvPr id="45" name="Pentagon 44"/>
          <p:cNvSpPr/>
          <p:nvPr/>
        </p:nvSpPr>
        <p:spPr>
          <a:xfrm>
            <a:off x="6163056" y="4892040"/>
            <a:ext cx="2788920" cy="1371600"/>
          </a:xfrm>
          <a:prstGeom prst="homePlate">
            <a:avLst/>
          </a:prstGeom>
          <a:solidFill>
            <a:srgbClr val="F7F5F2"/>
          </a:solidFill>
          <a:ln>
            <a:noFill/>
          </a:ln>
        </p:spPr>
        <p:txBody>
          <a:bodyPr rtlCol="0" anchor="ctr"/>
          <a:lstStyle/>
          <a:p>
            <a:pPr algn="ctr"/>
          </a:p>
        </p:txBody>
      </p:sp>
      <p:sp>
        <p:nvSpPr>
          <p:cNvPr id="46" name="TextBox 45"/>
          <p:cNvSpPr txBox="1"/>
          <p:nvPr/>
        </p:nvSpPr>
        <p:spPr>
          <a:xfrm>
            <a:off x="6345936" y="4983480"/>
            <a:ext cx="2194560" cy="411480"/>
          </a:xfrm>
          <a:prstGeom prst="rect">
            <a:avLst/>
          </a:prstGeom>
          <a:noFill/>
        </p:spPr>
        <p:txBody>
          <a:bodyPr wrap="square" lIns="45720" rIns="45720" tIns="27432" bIns="27432" anchor="t">
            <a:spAutoFit/>
          </a:bodyPr>
          <a:lstStyle/>
          <a:p>
            <a:pPr algn="l"/>
            <a:r>
              <a:rPr sz="1800" b="1" i="0">
                <a:solidFill>
                  <a:srgbClr val="1B3A4B"/>
                </a:solidFill>
                <a:latin typeface="Calibri"/>
              </a:rPr>
              <a:t>Licence or FTBI</a:t>
            </a:r>
          </a:p>
        </p:txBody>
      </p:sp>
      <p:sp>
        <p:nvSpPr>
          <p:cNvPr id="47" name="TextBox 46"/>
          <p:cNvSpPr txBox="1"/>
          <p:nvPr/>
        </p:nvSpPr>
        <p:spPr>
          <a:xfrm>
            <a:off x="6345936" y="5413248"/>
            <a:ext cx="2103120" cy="822960"/>
          </a:xfrm>
          <a:prstGeom prst="rect">
            <a:avLst/>
          </a:prstGeom>
          <a:noFill/>
        </p:spPr>
        <p:txBody>
          <a:bodyPr wrap="square" lIns="45720" rIns="45720" tIns="27432" bIns="27432" anchor="t">
            <a:spAutoFit/>
          </a:bodyPr>
          <a:lstStyle/>
          <a:p>
            <a:pPr algn="l"/>
            <a:r>
              <a:rPr sz="1400" b="0" i="0">
                <a:solidFill>
                  <a:srgbClr val="1C2430"/>
                </a:solidFill>
                <a:latin typeface="Calibri"/>
              </a:rPr>
              <a:t>Manufacturer licence, or incubated venture</a:t>
            </a:r>
          </a:p>
        </p:txBody>
      </p:sp>
      <p:sp>
        <p:nvSpPr>
          <p:cNvPr id="48" name="Pentagon 47"/>
          <p:cNvSpPr/>
          <p:nvPr/>
        </p:nvSpPr>
        <p:spPr>
          <a:xfrm>
            <a:off x="9015984" y="4892040"/>
            <a:ext cx="2788920" cy="1371600"/>
          </a:xfrm>
          <a:prstGeom prst="homePlate">
            <a:avLst/>
          </a:prstGeom>
          <a:solidFill>
            <a:srgbClr val="F7F5F2"/>
          </a:solidFill>
          <a:ln>
            <a:noFill/>
          </a:ln>
        </p:spPr>
        <p:txBody>
          <a:bodyPr rtlCol="0" anchor="ctr"/>
          <a:lstStyle/>
          <a:p>
            <a:pPr algn="ctr"/>
          </a:p>
        </p:txBody>
      </p:sp>
      <p:sp>
        <p:nvSpPr>
          <p:cNvPr id="49" name="TextBox 48"/>
          <p:cNvSpPr txBox="1"/>
          <p:nvPr/>
        </p:nvSpPr>
        <p:spPr>
          <a:xfrm>
            <a:off x="9198863" y="4983480"/>
            <a:ext cx="2194560" cy="411480"/>
          </a:xfrm>
          <a:prstGeom prst="rect">
            <a:avLst/>
          </a:prstGeom>
          <a:noFill/>
        </p:spPr>
        <p:txBody>
          <a:bodyPr wrap="square" lIns="45720" rIns="45720" tIns="27432" bIns="27432" anchor="t">
            <a:spAutoFit/>
          </a:bodyPr>
          <a:lstStyle/>
          <a:p>
            <a:pPr algn="l"/>
            <a:r>
              <a:rPr sz="1800" b="1" i="0">
                <a:solidFill>
                  <a:srgbClr val="1B3A4B"/>
                </a:solidFill>
                <a:latin typeface="Calibri"/>
              </a:rPr>
              <a:t>Scale</a:t>
            </a:r>
          </a:p>
        </p:txBody>
      </p:sp>
      <p:sp>
        <p:nvSpPr>
          <p:cNvPr id="50" name="TextBox 49"/>
          <p:cNvSpPr txBox="1"/>
          <p:nvPr/>
        </p:nvSpPr>
        <p:spPr>
          <a:xfrm>
            <a:off x="9198863" y="5413248"/>
            <a:ext cx="2103120" cy="822960"/>
          </a:xfrm>
          <a:prstGeom prst="rect">
            <a:avLst/>
          </a:prstGeom>
          <a:noFill/>
        </p:spPr>
        <p:txBody>
          <a:bodyPr wrap="square" lIns="45720" rIns="45720" tIns="27432" bIns="27432" anchor="t">
            <a:spAutoFit/>
          </a:bodyPr>
          <a:lstStyle/>
          <a:p>
            <a:pPr algn="l"/>
            <a:r>
              <a:rPr sz="1400" b="0" i="0">
                <a:solidFill>
                  <a:srgbClr val="1C2430"/>
                </a:solidFill>
                <a:latin typeface="Calibri"/>
              </a:rPr>
              <a:t>Coverage grows by adding hops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08     ·     TEAM DETAILS AND BUDGET SUMMARY</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Team</a:t>
            </a:r>
          </a:p>
        </p:txBody>
      </p:sp>
      <p:sp>
        <p:nvSpPr>
          <p:cNvPr id="11" name="Rectangle 10"/>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12" name="TextBox 11"/>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Team</a:t>
            </a:r>
          </a:p>
        </p:txBody>
      </p:sp>
      <p:sp>
        <p:nvSpPr>
          <p:cNvPr id="13" name="TextBox 12"/>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12  /  14</a:t>
            </a:r>
          </a:p>
        </p:txBody>
      </p:sp>
      <p:sp>
        <p:nvSpPr>
          <p:cNvPr id="14" name="Rounded Rectangle 13"/>
          <p:cNvSpPr/>
          <p:nvPr/>
        </p:nvSpPr>
        <p:spPr>
          <a:xfrm>
            <a:off x="457200" y="1097280"/>
            <a:ext cx="4206240" cy="5166360"/>
          </a:xfrm>
          <a:prstGeom prst="roundRect">
            <a:avLst>
              <a:gd name="adj" fmla="val 6000"/>
            </a:avLst>
          </a:prstGeom>
          <a:solidFill>
            <a:srgbClr val="1B3A4B"/>
          </a:solidFill>
          <a:ln>
            <a:noFill/>
          </a:ln>
        </p:spPr>
        <p:txBody>
          <a:bodyPr rtlCol="0" anchor="ctr"/>
          <a:lstStyle/>
          <a:p>
            <a:pPr algn="ctr"/>
          </a:p>
        </p:txBody>
      </p:sp>
      <p:sp>
        <p:nvSpPr>
          <p:cNvPr id="15" name="TextBox 14"/>
          <p:cNvSpPr txBox="1"/>
          <p:nvPr/>
        </p:nvSpPr>
        <p:spPr>
          <a:xfrm>
            <a:off x="685800" y="1280160"/>
            <a:ext cx="3749039" cy="457200"/>
          </a:xfrm>
          <a:prstGeom prst="rect">
            <a:avLst/>
          </a:prstGeom>
          <a:noFill/>
        </p:spPr>
        <p:txBody>
          <a:bodyPr wrap="square" lIns="45720" rIns="45720" tIns="27432" bIns="27432" anchor="t">
            <a:spAutoFit/>
          </a:bodyPr>
          <a:lstStyle/>
          <a:p>
            <a:pPr algn="l"/>
            <a:r>
              <a:rPr sz="1400" b="1" i="0">
                <a:solidFill>
                  <a:srgbClr val="B5740A"/>
                </a:solidFill>
                <a:latin typeface="Calibri"/>
              </a:rPr>
              <a:t>Principal Investigator</a:t>
            </a:r>
          </a:p>
        </p:txBody>
      </p:sp>
      <p:sp>
        <p:nvSpPr>
          <p:cNvPr id="16" name="TextBox 15"/>
          <p:cNvSpPr txBox="1"/>
          <p:nvPr/>
        </p:nvSpPr>
        <p:spPr>
          <a:xfrm>
            <a:off x="685800" y="1691640"/>
            <a:ext cx="3749039" cy="914400"/>
          </a:xfrm>
          <a:prstGeom prst="rect">
            <a:avLst/>
          </a:prstGeom>
          <a:noFill/>
        </p:spPr>
        <p:txBody>
          <a:bodyPr wrap="square" lIns="45720" rIns="45720" tIns="27432" bIns="27432" anchor="t">
            <a:spAutoFit/>
          </a:bodyPr>
          <a:lstStyle/>
          <a:p>
            <a:pPr algn="l"/>
            <a:r>
              <a:rPr sz="2400" b="1" i="0">
                <a:solidFill>
                  <a:srgbClr val="FFFFFF"/>
                </a:solidFill>
                <a:latin typeface="Calibri"/>
              </a:rPr>
              <a:t>Prof. Sadananda Behera</a:t>
            </a:r>
          </a:p>
        </p:txBody>
      </p:sp>
      <p:sp>
        <p:nvSpPr>
          <p:cNvPr id="17" name="TextBox 16"/>
          <p:cNvSpPr txBox="1"/>
          <p:nvPr/>
        </p:nvSpPr>
        <p:spPr>
          <a:xfrm>
            <a:off x="685800" y="2606040"/>
            <a:ext cx="3749039" cy="640080"/>
          </a:xfrm>
          <a:prstGeom prst="rect">
            <a:avLst/>
          </a:prstGeom>
          <a:noFill/>
        </p:spPr>
        <p:txBody>
          <a:bodyPr wrap="square" lIns="45720" rIns="45720" tIns="27432" bIns="27432" anchor="t">
            <a:spAutoFit/>
          </a:bodyPr>
          <a:lstStyle/>
          <a:p>
            <a:pPr algn="l"/>
            <a:r>
              <a:rPr sz="1600" b="0" i="0">
                <a:solidFill>
                  <a:srgbClr val="FFFFFF"/>
                </a:solidFill>
                <a:latin typeface="Calibri"/>
              </a:rPr>
              <a:t>Assistant Professor</a:t>
            </a:r>
          </a:p>
          <a:p>
            <a:pPr algn="l"/>
            <a:r>
              <a:rPr sz="1600" b="0" i="0">
                <a:solidFill>
                  <a:srgbClr val="FFFFFF"/>
                </a:solidFill>
                <a:latin typeface="Calibri"/>
              </a:rPr>
              <a:t>NIT Rourkela</a:t>
            </a:r>
          </a:p>
        </p:txBody>
      </p:sp>
      <p:sp>
        <p:nvSpPr>
          <p:cNvPr id="18" name="TextBox 17"/>
          <p:cNvSpPr txBox="1"/>
          <p:nvPr/>
        </p:nvSpPr>
        <p:spPr>
          <a:xfrm>
            <a:off x="685800" y="3520440"/>
            <a:ext cx="3749039" cy="365760"/>
          </a:xfrm>
          <a:prstGeom prst="rect">
            <a:avLst/>
          </a:prstGeom>
          <a:noFill/>
        </p:spPr>
        <p:txBody>
          <a:bodyPr wrap="square" lIns="45720" rIns="45720" tIns="27432" bIns="27432" anchor="t">
            <a:spAutoFit/>
          </a:bodyPr>
          <a:lstStyle/>
          <a:p>
            <a:pPr algn="l"/>
            <a:r>
              <a:rPr sz="1600" b="0" i="0">
                <a:solidFill>
                  <a:srgbClr val="FFFFFF"/>
                </a:solidFill>
                <a:latin typeface="Calibri"/>
              </a:rPr>
              <a:t>98610 77539</a:t>
            </a:r>
          </a:p>
        </p:txBody>
      </p:sp>
      <p:sp>
        <p:nvSpPr>
          <p:cNvPr id="19" name="TextBox 18"/>
          <p:cNvSpPr txBox="1"/>
          <p:nvPr/>
        </p:nvSpPr>
        <p:spPr>
          <a:xfrm>
            <a:off x="685800" y="4023360"/>
            <a:ext cx="3749039" cy="2011680"/>
          </a:xfrm>
          <a:prstGeom prst="rect">
            <a:avLst/>
          </a:prstGeom>
          <a:noFill/>
        </p:spPr>
        <p:txBody>
          <a:bodyPr wrap="square" lIns="45720" rIns="45720" tIns="27432" bIns="27432" anchor="t">
            <a:spAutoFit/>
          </a:bodyPr>
          <a:lstStyle/>
          <a:p>
            <a:pPr algn="l"/>
            <a:r>
              <a:rPr sz="1500" b="1" i="0">
                <a:solidFill>
                  <a:srgbClr val="B5740A"/>
                </a:solidFill>
                <a:latin typeface="Calibri"/>
              </a:rPr>
              <a:t>No co-PI. </a:t>
            </a:r>
            <a:r>
              <a:rPr sz="1500" b="0" i="0">
                <a:solidFill>
                  <a:srgbClr val="FFFFFF"/>
                </a:solidFill>
                <a:latin typeface="Calibri"/>
              </a:rPr>
              <a:t>Two project assistants for 24 months. The PI leads every work package.</a:t>
            </a:r>
          </a:p>
        </p:txBody>
      </p:sp>
      <p:sp>
        <p:nvSpPr>
          <p:cNvPr id="20" name="TextBox 19"/>
          <p:cNvSpPr txBox="1"/>
          <p:nvPr/>
        </p:nvSpPr>
        <p:spPr>
          <a:xfrm>
            <a:off x="4937760" y="1097280"/>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Relevant experience</a:t>
            </a:r>
          </a:p>
        </p:txBody>
      </p:sp>
      <p:sp>
        <p:nvSpPr>
          <p:cNvPr id="21" name="Rounded Rectangle 20"/>
          <p:cNvSpPr/>
          <p:nvPr/>
        </p:nvSpPr>
        <p:spPr>
          <a:xfrm>
            <a:off x="4937760" y="1554480"/>
            <a:ext cx="2194560" cy="1965960"/>
          </a:xfrm>
          <a:prstGeom prst="roundRect">
            <a:avLst>
              <a:gd name="adj" fmla="val 6000"/>
            </a:avLst>
          </a:prstGeom>
          <a:solidFill>
            <a:srgbClr val="F7F5F2"/>
          </a:solidFill>
          <a:ln>
            <a:noFill/>
          </a:ln>
        </p:spPr>
        <p:txBody>
          <a:bodyPr rtlCol="0" anchor="ctr"/>
          <a:lstStyle/>
          <a:p>
            <a:pPr algn="ctr"/>
          </a:p>
        </p:txBody>
      </p:sp>
      <p:sp>
        <p:nvSpPr>
          <p:cNvPr id="22" name="TextBox 21"/>
          <p:cNvSpPr txBox="1"/>
          <p:nvPr/>
        </p:nvSpPr>
        <p:spPr>
          <a:xfrm>
            <a:off x="5047488" y="1627632"/>
            <a:ext cx="2011680" cy="640080"/>
          </a:xfrm>
          <a:prstGeom prst="rect">
            <a:avLst/>
          </a:prstGeom>
          <a:noFill/>
        </p:spPr>
        <p:txBody>
          <a:bodyPr wrap="square" lIns="45720" rIns="45720" tIns="27432" bIns="27432" anchor="t">
            <a:spAutoFit/>
          </a:bodyPr>
          <a:lstStyle/>
          <a:p>
            <a:pPr algn="l"/>
            <a:r>
              <a:rPr sz="1700" b="1" i="0">
                <a:solidFill>
                  <a:srgbClr val="B5740A"/>
                </a:solidFill>
                <a:latin typeface="Calibri"/>
              </a:rPr>
              <a:t>JLT, JOCN</a:t>
            </a:r>
          </a:p>
        </p:txBody>
      </p:sp>
      <p:sp>
        <p:nvSpPr>
          <p:cNvPr id="23" name="TextBox 22"/>
          <p:cNvSpPr txBox="1"/>
          <p:nvPr/>
        </p:nvSpPr>
        <p:spPr>
          <a:xfrm>
            <a:off x="5047488" y="2286000"/>
            <a:ext cx="2011680" cy="1188720"/>
          </a:xfrm>
          <a:prstGeom prst="rect">
            <a:avLst/>
          </a:prstGeom>
          <a:noFill/>
        </p:spPr>
        <p:txBody>
          <a:bodyPr wrap="square" lIns="45720" rIns="45720" tIns="27432" bIns="27432" anchor="t">
            <a:spAutoFit/>
          </a:bodyPr>
          <a:lstStyle/>
          <a:p>
            <a:pPr algn="l"/>
            <a:r>
              <a:rPr sz="1300" b="0" i="0">
                <a:solidFill>
                  <a:srgbClr val="1C2430"/>
                </a:solidFill>
                <a:latin typeface="Calibri"/>
              </a:rPr>
              <a:t>Optical links under impairment: soft-failure detection and localization</a:t>
            </a:r>
          </a:p>
        </p:txBody>
      </p:sp>
      <p:sp>
        <p:nvSpPr>
          <p:cNvPr id="24" name="Rounded Rectangle 23"/>
          <p:cNvSpPr/>
          <p:nvPr/>
        </p:nvSpPr>
        <p:spPr>
          <a:xfrm>
            <a:off x="7223760" y="1554480"/>
            <a:ext cx="2194560" cy="1965960"/>
          </a:xfrm>
          <a:prstGeom prst="roundRect">
            <a:avLst>
              <a:gd name="adj" fmla="val 6000"/>
            </a:avLst>
          </a:prstGeom>
          <a:solidFill>
            <a:srgbClr val="F7F5F2"/>
          </a:solidFill>
          <a:ln>
            <a:noFill/>
          </a:ln>
        </p:spPr>
        <p:txBody>
          <a:bodyPr rtlCol="0" anchor="ctr"/>
          <a:lstStyle/>
          <a:p>
            <a:pPr algn="ctr"/>
          </a:p>
        </p:txBody>
      </p:sp>
      <p:sp>
        <p:nvSpPr>
          <p:cNvPr id="25" name="TextBox 24"/>
          <p:cNvSpPr txBox="1"/>
          <p:nvPr/>
        </p:nvSpPr>
        <p:spPr>
          <a:xfrm>
            <a:off x="7333488" y="1627632"/>
            <a:ext cx="2011680" cy="640080"/>
          </a:xfrm>
          <a:prstGeom prst="rect">
            <a:avLst/>
          </a:prstGeom>
          <a:noFill/>
        </p:spPr>
        <p:txBody>
          <a:bodyPr wrap="square" lIns="45720" rIns="45720" tIns="27432" bIns="27432" anchor="t">
            <a:spAutoFit/>
          </a:bodyPr>
          <a:lstStyle/>
          <a:p>
            <a:pPr algn="l"/>
            <a:r>
              <a:rPr sz="1700" b="1" i="0">
                <a:solidFill>
                  <a:srgbClr val="B5740A"/>
                </a:solidFill>
                <a:latin typeface="Calibri"/>
              </a:rPr>
              <a:t>Indian patent</a:t>
            </a:r>
          </a:p>
        </p:txBody>
      </p:sp>
      <p:sp>
        <p:nvSpPr>
          <p:cNvPr id="26" name="TextBox 25"/>
          <p:cNvSpPr txBox="1"/>
          <p:nvPr/>
        </p:nvSpPr>
        <p:spPr>
          <a:xfrm>
            <a:off x="7333488" y="2286000"/>
            <a:ext cx="2011680" cy="1188720"/>
          </a:xfrm>
          <a:prstGeom prst="rect">
            <a:avLst/>
          </a:prstGeom>
          <a:noFill/>
        </p:spPr>
        <p:txBody>
          <a:bodyPr wrap="square" lIns="45720" rIns="45720" tIns="27432" bIns="27432" anchor="t">
            <a:spAutoFit/>
          </a:bodyPr>
          <a:lstStyle/>
          <a:p>
            <a:pPr algn="l"/>
            <a:r>
              <a:rPr sz="1300" b="0" i="0">
                <a:solidFill>
                  <a:srgbClr val="1C2430"/>
                </a:solidFill>
                <a:latin typeface="Calibri"/>
              </a:rPr>
              <a:t>Published application for a deployable hardware testbed</a:t>
            </a:r>
          </a:p>
        </p:txBody>
      </p:sp>
      <p:sp>
        <p:nvSpPr>
          <p:cNvPr id="27" name="Rounded Rectangle 26"/>
          <p:cNvSpPr/>
          <p:nvPr/>
        </p:nvSpPr>
        <p:spPr>
          <a:xfrm>
            <a:off x="9509760" y="1554480"/>
            <a:ext cx="2194560" cy="1965960"/>
          </a:xfrm>
          <a:prstGeom prst="roundRect">
            <a:avLst>
              <a:gd name="adj" fmla="val 6000"/>
            </a:avLst>
          </a:prstGeom>
          <a:solidFill>
            <a:srgbClr val="F7F5F2"/>
          </a:solidFill>
          <a:ln>
            <a:noFill/>
          </a:ln>
        </p:spPr>
        <p:txBody>
          <a:bodyPr rtlCol="0" anchor="ctr"/>
          <a:lstStyle/>
          <a:p>
            <a:pPr algn="ctr"/>
          </a:p>
        </p:txBody>
      </p:sp>
      <p:sp>
        <p:nvSpPr>
          <p:cNvPr id="28" name="TextBox 27"/>
          <p:cNvSpPr txBox="1"/>
          <p:nvPr/>
        </p:nvSpPr>
        <p:spPr>
          <a:xfrm>
            <a:off x="9619488" y="1627632"/>
            <a:ext cx="2011680" cy="640080"/>
          </a:xfrm>
          <a:prstGeom prst="rect">
            <a:avLst/>
          </a:prstGeom>
          <a:noFill/>
        </p:spPr>
        <p:txBody>
          <a:bodyPr wrap="square" lIns="45720" rIns="45720" tIns="27432" bIns="27432" anchor="t">
            <a:spAutoFit/>
          </a:bodyPr>
          <a:lstStyle/>
          <a:p>
            <a:pPr algn="l"/>
            <a:r>
              <a:rPr sz="1700" b="1" i="0">
                <a:solidFill>
                  <a:srgbClr val="B5740A"/>
                </a:solidFill>
                <a:latin typeface="Calibri"/>
              </a:rPr>
              <a:t>2 DoT / TCoE projects</a:t>
            </a:r>
          </a:p>
        </p:txBody>
      </p:sp>
      <p:sp>
        <p:nvSpPr>
          <p:cNvPr id="29" name="TextBox 28"/>
          <p:cNvSpPr txBox="1"/>
          <p:nvPr/>
        </p:nvSpPr>
        <p:spPr>
          <a:xfrm>
            <a:off x="9619488" y="2286000"/>
            <a:ext cx="2011680" cy="1188720"/>
          </a:xfrm>
          <a:prstGeom prst="rect">
            <a:avLst/>
          </a:prstGeom>
          <a:noFill/>
        </p:spPr>
        <p:txBody>
          <a:bodyPr wrap="square" lIns="45720" rIns="45720" tIns="27432" bIns="27432" anchor="t">
            <a:spAutoFit/>
          </a:bodyPr>
          <a:lstStyle/>
          <a:p>
            <a:pPr algn="l"/>
            <a:r>
              <a:rPr sz="1300" b="0" i="0">
                <a:solidFill>
                  <a:srgbClr val="1C2430"/>
                </a:solidFill>
                <a:latin typeface="Calibri"/>
              </a:rPr>
              <a:t>Co-PI on 6G projects, about ₹80 lakh and ₹82.4 lakh. One is a hybrid transceiver</a:t>
            </a:r>
          </a:p>
        </p:txBody>
      </p:sp>
      <p:sp>
        <p:nvSpPr>
          <p:cNvPr id="30" name="TextBox 29"/>
          <p:cNvSpPr txBox="1"/>
          <p:nvPr/>
        </p:nvSpPr>
        <p:spPr>
          <a:xfrm>
            <a:off x="4937760" y="3749039"/>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Division of the work</a:t>
            </a:r>
          </a:p>
        </p:txBody>
      </p:sp>
      <p:sp>
        <p:nvSpPr>
          <p:cNvPr id="31" name="Rounded Rectangle 30"/>
          <p:cNvSpPr/>
          <p:nvPr/>
        </p:nvSpPr>
        <p:spPr>
          <a:xfrm>
            <a:off x="4937760" y="4206240"/>
            <a:ext cx="3291840" cy="2057400"/>
          </a:xfrm>
          <a:prstGeom prst="roundRect">
            <a:avLst>
              <a:gd name="adj" fmla="val 6000"/>
            </a:avLst>
          </a:prstGeom>
          <a:solidFill>
            <a:srgbClr val="F7F5F2"/>
          </a:solidFill>
          <a:ln>
            <a:noFill/>
          </a:ln>
        </p:spPr>
        <p:txBody>
          <a:bodyPr rtlCol="0" anchor="ctr"/>
          <a:lstStyle/>
          <a:p>
            <a:pPr algn="ctr"/>
          </a:p>
        </p:txBody>
      </p:sp>
      <p:sp>
        <p:nvSpPr>
          <p:cNvPr id="32" name="TextBox 31"/>
          <p:cNvSpPr txBox="1"/>
          <p:nvPr/>
        </p:nvSpPr>
        <p:spPr>
          <a:xfrm>
            <a:off x="5074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1</a:t>
            </a:r>
          </a:p>
        </p:txBody>
      </p:sp>
      <p:sp>
        <p:nvSpPr>
          <p:cNvPr id="33" name="TextBox 32"/>
          <p:cNvSpPr txBox="1"/>
          <p:nvPr/>
        </p:nvSpPr>
        <p:spPr>
          <a:xfrm>
            <a:off x="5074920" y="4681728"/>
            <a:ext cx="3017520" cy="1051560"/>
          </a:xfrm>
          <a:prstGeom prst="rect">
            <a:avLst/>
          </a:prstGeom>
          <a:noFill/>
        </p:spPr>
        <p:txBody>
          <a:bodyPr wrap="square" lIns="45720" rIns="45720" tIns="27432" bIns="27432" anchor="t">
            <a:spAutoFit/>
          </a:bodyPr>
          <a:lstStyle/>
          <a:p>
            <a:pPr algn="l"/>
            <a:r>
              <a:rPr sz="1400" b="0" i="0">
                <a:solidFill>
                  <a:srgbClr val="1C2430"/>
                </a:solidFill>
                <a:latin typeface="Calibri"/>
              </a:rPr>
              <a:t>Hardware: FSO, IMU, pan-tilt, LoRa, PCB, enclosure</a:t>
            </a:r>
          </a:p>
        </p:txBody>
      </p:sp>
      <p:sp>
        <p:nvSpPr>
          <p:cNvPr id="34" name="TextBox 33"/>
          <p:cNvSpPr txBox="1"/>
          <p:nvPr/>
        </p:nvSpPr>
        <p:spPr>
          <a:xfrm>
            <a:off x="5074920" y="5806440"/>
            <a:ext cx="3017520" cy="365760"/>
          </a:xfrm>
          <a:prstGeom prst="rect">
            <a:avLst/>
          </a:prstGeom>
          <a:noFill/>
        </p:spPr>
        <p:txBody>
          <a:bodyPr wrap="square" lIns="45720" rIns="45720" tIns="27432" bIns="27432" anchor="t">
            <a:spAutoFit/>
          </a:bodyPr>
          <a:lstStyle/>
          <a:p>
            <a:pPr algn="l"/>
            <a:r>
              <a:rPr sz="1400" b="1" i="0">
                <a:solidFill>
                  <a:srgbClr val="B5740A"/>
                </a:solidFill>
                <a:latin typeface="Calibri"/>
              </a:rPr>
              <a:t>₹15,000 / month</a:t>
            </a:r>
          </a:p>
        </p:txBody>
      </p:sp>
      <p:sp>
        <p:nvSpPr>
          <p:cNvPr id="35" name="Rounded Rectangle 34"/>
          <p:cNvSpPr/>
          <p:nvPr/>
        </p:nvSpPr>
        <p:spPr>
          <a:xfrm>
            <a:off x="8366760" y="4206240"/>
            <a:ext cx="3291840" cy="2057400"/>
          </a:xfrm>
          <a:prstGeom prst="roundRect">
            <a:avLst>
              <a:gd name="adj" fmla="val 6000"/>
            </a:avLst>
          </a:prstGeom>
          <a:solidFill>
            <a:srgbClr val="F7F5F2"/>
          </a:solidFill>
          <a:ln>
            <a:noFill/>
          </a:ln>
        </p:spPr>
        <p:txBody>
          <a:bodyPr rtlCol="0" anchor="ctr"/>
          <a:lstStyle/>
          <a:p>
            <a:pPr algn="ctr"/>
          </a:p>
        </p:txBody>
      </p:sp>
      <p:sp>
        <p:nvSpPr>
          <p:cNvPr id="36" name="TextBox 35"/>
          <p:cNvSpPr txBox="1"/>
          <p:nvPr/>
        </p:nvSpPr>
        <p:spPr>
          <a:xfrm>
            <a:off x="8503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2</a:t>
            </a:r>
          </a:p>
        </p:txBody>
      </p:sp>
      <p:sp>
        <p:nvSpPr>
          <p:cNvPr id="37" name="TextBox 36"/>
          <p:cNvSpPr txBox="1"/>
          <p:nvPr/>
        </p:nvSpPr>
        <p:spPr>
          <a:xfrm>
            <a:off x="8503920" y="4681728"/>
            <a:ext cx="3017520" cy="1051560"/>
          </a:xfrm>
          <a:prstGeom prst="rect">
            <a:avLst/>
          </a:prstGeom>
          <a:noFill/>
        </p:spPr>
        <p:txBody>
          <a:bodyPr wrap="square" lIns="45720" rIns="45720" tIns="27432" bIns="27432" anchor="t">
            <a:spAutoFit/>
          </a:bodyPr>
          <a:lstStyle/>
          <a:p>
            <a:pPr algn="l"/>
            <a:r>
              <a:rPr sz="1400" b="0" i="0">
                <a:solidFill>
                  <a:srgbClr val="1C2430"/>
                </a:solidFill>
                <a:latin typeface="Calibri"/>
              </a:rPr>
              <a:t>Software: multi-hop forwarding, video, tracking loop, surface display</a:t>
            </a:r>
          </a:p>
        </p:txBody>
      </p:sp>
      <p:sp>
        <p:nvSpPr>
          <p:cNvPr id="38" name="TextBox 37"/>
          <p:cNvSpPr txBox="1"/>
          <p:nvPr/>
        </p:nvSpPr>
        <p:spPr>
          <a:xfrm>
            <a:off x="8503920" y="5806440"/>
            <a:ext cx="3017520" cy="365760"/>
          </a:xfrm>
          <a:prstGeom prst="rect">
            <a:avLst/>
          </a:prstGeom>
          <a:noFill/>
        </p:spPr>
        <p:txBody>
          <a:bodyPr wrap="square" lIns="45720" rIns="45720" tIns="27432" bIns="27432" anchor="t">
            <a:spAutoFit/>
          </a:bodyPr>
          <a:lstStyle/>
          <a:p>
            <a:pPr algn="l"/>
            <a:r>
              <a:rPr sz="1400" b="1" i="0">
                <a:solidFill>
                  <a:srgbClr val="B5740A"/>
                </a:solidFill>
                <a:latin typeface="Calibri"/>
              </a:rPr>
              <a:t>₹15,000 / month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457200" y="182880"/>
            <a:ext cx="11247120" cy="256032"/>
          </a:xfrm>
          <a:prstGeom prst="rect">
            <a:avLst/>
          </a:prstGeom>
          <a:noFill/>
        </p:spPr>
        <p:txBody>
          <a:bodyPr wrap="square" lIns="18288" rIns="18288" tIns="0" bIns="0" anchor="t"/>
          <a:lstStyle/>
          <a:p>
            <a:pPr algn="l">
              <a:spcBef>
                <a:spcPts val="0"/>
              </a:spcBef>
              <a:spcAft>
                <a:spcPts val="0"/>
              </a:spcAft>
            </a:pPr>
            <a:r>
              <a:rPr sz="1300" b="1" i="0">
                <a:solidFill>
                  <a:srgbClr val="B5740A"/>
                </a:solidFill>
                <a:latin typeface="Calibri"/>
                <a:ea typeface="Calibri"/>
                <a:cs typeface="Calibri"/>
              </a:rPr>
              <a:t>08     ·     TEAM DETAILS AND BUDGET SUMMARY</a:t>
            </a:r>
          </a:p>
        </p:txBody>
      </p:sp>
      <p:sp>
        <p:nvSpPr>
          <p:cNvPr id="5" name="TextBox 4"/>
          <p:cNvSpPr txBox="1"/>
          <p:nvPr/>
        </p:nvSpPr>
        <p:spPr>
          <a:xfrm>
            <a:off x="438912" y="420624"/>
            <a:ext cx="11338560" cy="502920"/>
          </a:xfrm>
          <a:prstGeom prst="rect">
            <a:avLst/>
          </a:prstGeom>
          <a:noFill/>
        </p:spPr>
        <p:txBody>
          <a:bodyPr wrap="square" lIns="18288" rIns="18288" tIns="0" bIns="0" anchor="t"/>
          <a:lstStyle/>
          <a:p>
            <a:pPr algn="l">
              <a:spcBef>
                <a:spcPts val="0"/>
              </a:spcBef>
              <a:spcAft>
                <a:spcPts val="0"/>
              </a:spcAft>
            </a:pPr>
            <a:r>
              <a:rPr sz="2800" b="1" i="0">
                <a:solidFill>
                  <a:srgbClr val="1B3A4B"/>
                </a:solidFill>
                <a:latin typeface="Calibri"/>
                <a:ea typeface="Calibri"/>
                <a:cs typeface="Calibri"/>
              </a:rPr>
              <a:t>Budget — ₹15.00 lakh</a:t>
            </a:r>
          </a:p>
        </p:txBody>
      </p:sp>
      <p:sp>
        <p:nvSpPr>
          <p:cNvPr id="6" name="TextBox 5"/>
          <p:cNvSpPr txBox="1"/>
          <p:nvPr/>
        </p:nvSpPr>
        <p:spPr>
          <a:xfrm>
            <a:off x="457200" y="1024128"/>
            <a:ext cx="11247120" cy="320040"/>
          </a:xfrm>
          <a:prstGeom prst="rect">
            <a:avLst/>
          </a:prstGeom>
          <a:noFill/>
        </p:spPr>
        <p:txBody>
          <a:bodyPr wrap="square" lIns="18288" rIns="18288" tIns="0" bIns="0" anchor="t"/>
          <a:lstStyle/>
          <a:p>
            <a:pPr algn="l">
              <a:spcBef>
                <a:spcPts val="0"/>
              </a:spcBef>
              <a:spcAft>
                <a:spcPts val="0"/>
              </a:spcAft>
            </a:pPr>
            <a:r>
              <a:rPr sz="1600" b="0" i="0">
                <a:solidFill>
                  <a:srgbClr val="5C6770"/>
                </a:solidFill>
                <a:latin typeface="Calibri"/>
                <a:ea typeface="Calibri"/>
                <a:cs typeface="Calibri"/>
              </a:rPr>
              <a:t>Figures in ₹ lakh, as submitted. Institute overhead is zero. Year 1 is ₹7.60 lakh. Year 2 is ₹7.40 lakh.</a:t>
            </a:r>
          </a:p>
        </p:txBody>
      </p:sp>
      <p:sp>
        <p:nvSpPr>
          <p:cNvPr id="7" name="Rectangle 6"/>
          <p:cNvSpPr/>
          <p:nvPr/>
        </p:nvSpPr>
        <p:spPr>
          <a:xfrm>
            <a:off x="438912" y="1463040"/>
            <a:ext cx="2743200" cy="384048"/>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Head</a:t>
            </a:r>
          </a:p>
        </p:txBody>
      </p:sp>
      <p:sp>
        <p:nvSpPr>
          <p:cNvPr id="8" name="Rectangle 7"/>
          <p:cNvSpPr/>
          <p:nvPr/>
        </p:nvSpPr>
        <p:spPr>
          <a:xfrm>
            <a:off x="3182112" y="1463040"/>
            <a:ext cx="1143000" cy="384048"/>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Year 1</a:t>
            </a:r>
          </a:p>
        </p:txBody>
      </p:sp>
      <p:sp>
        <p:nvSpPr>
          <p:cNvPr id="9" name="Rectangle 8"/>
          <p:cNvSpPr/>
          <p:nvPr/>
        </p:nvSpPr>
        <p:spPr>
          <a:xfrm>
            <a:off x="4325112" y="1463040"/>
            <a:ext cx="1143000" cy="384048"/>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Year 2</a:t>
            </a:r>
          </a:p>
        </p:txBody>
      </p:sp>
      <p:sp>
        <p:nvSpPr>
          <p:cNvPr id="10" name="Rectangle 9"/>
          <p:cNvSpPr/>
          <p:nvPr/>
        </p:nvSpPr>
        <p:spPr>
          <a:xfrm>
            <a:off x="5468112" y="1463040"/>
            <a:ext cx="1188720" cy="384048"/>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Total</a:t>
            </a:r>
          </a:p>
        </p:txBody>
      </p:sp>
      <p:sp>
        <p:nvSpPr>
          <p:cNvPr id="11" name="Rectangle 10"/>
          <p:cNvSpPr/>
          <p:nvPr/>
        </p:nvSpPr>
        <p:spPr>
          <a:xfrm>
            <a:off x="6656832" y="1463040"/>
            <a:ext cx="1051560" cy="384048"/>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Share</a:t>
            </a:r>
          </a:p>
        </p:txBody>
      </p:sp>
      <p:sp>
        <p:nvSpPr>
          <p:cNvPr id="12" name="Rectangle 11"/>
          <p:cNvSpPr/>
          <p:nvPr/>
        </p:nvSpPr>
        <p:spPr>
          <a:xfrm>
            <a:off x="7708392" y="1463040"/>
            <a:ext cx="3977639" cy="384048"/>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Use</a:t>
            </a:r>
          </a:p>
        </p:txBody>
      </p:sp>
      <p:sp>
        <p:nvSpPr>
          <p:cNvPr id="13" name="Rectangle 12"/>
          <p:cNvSpPr/>
          <p:nvPr/>
        </p:nvSpPr>
        <p:spPr>
          <a:xfrm>
            <a:off x="438912" y="1847088"/>
            <a:ext cx="274320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Two project assistants</a:t>
            </a:r>
          </a:p>
        </p:txBody>
      </p:sp>
      <p:sp>
        <p:nvSpPr>
          <p:cNvPr id="14" name="Rectangle 13"/>
          <p:cNvSpPr/>
          <p:nvPr/>
        </p:nvSpPr>
        <p:spPr>
          <a:xfrm>
            <a:off x="3182112" y="1847088"/>
            <a:ext cx="114300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3.60</a:t>
            </a:r>
          </a:p>
        </p:txBody>
      </p:sp>
      <p:sp>
        <p:nvSpPr>
          <p:cNvPr id="15" name="Rectangle 14"/>
          <p:cNvSpPr/>
          <p:nvPr/>
        </p:nvSpPr>
        <p:spPr>
          <a:xfrm>
            <a:off x="4325112" y="1847088"/>
            <a:ext cx="114300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3.60</a:t>
            </a:r>
          </a:p>
        </p:txBody>
      </p:sp>
      <p:sp>
        <p:nvSpPr>
          <p:cNvPr id="16" name="Rectangle 15"/>
          <p:cNvSpPr/>
          <p:nvPr/>
        </p:nvSpPr>
        <p:spPr>
          <a:xfrm>
            <a:off x="5468112" y="1847088"/>
            <a:ext cx="118872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7.20</a:t>
            </a:r>
          </a:p>
        </p:txBody>
      </p:sp>
      <p:sp>
        <p:nvSpPr>
          <p:cNvPr id="17" name="Rectangle 16"/>
          <p:cNvSpPr/>
          <p:nvPr/>
        </p:nvSpPr>
        <p:spPr>
          <a:xfrm>
            <a:off x="6656832" y="1847088"/>
            <a:ext cx="105156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48%</a:t>
            </a:r>
          </a:p>
        </p:txBody>
      </p:sp>
      <p:sp>
        <p:nvSpPr>
          <p:cNvPr id="18" name="Rectangle 17"/>
          <p:cNvSpPr/>
          <p:nvPr/>
        </p:nvSpPr>
        <p:spPr>
          <a:xfrm>
            <a:off x="7708392" y="1847088"/>
            <a:ext cx="3977639"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Hardware and software for 24 months</a:t>
            </a:r>
          </a:p>
        </p:txBody>
      </p:sp>
      <p:sp>
        <p:nvSpPr>
          <p:cNvPr id="19" name="Rectangle 18"/>
          <p:cNvSpPr/>
          <p:nvPr/>
        </p:nvSpPr>
        <p:spPr>
          <a:xfrm>
            <a:off x="438912" y="2377440"/>
            <a:ext cx="274320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Equipment</a:t>
            </a:r>
          </a:p>
        </p:txBody>
      </p:sp>
      <p:sp>
        <p:nvSpPr>
          <p:cNvPr id="20" name="Rectangle 19"/>
          <p:cNvSpPr/>
          <p:nvPr/>
        </p:nvSpPr>
        <p:spPr>
          <a:xfrm>
            <a:off x="3182112" y="2377440"/>
            <a:ext cx="114300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2.00</a:t>
            </a:r>
          </a:p>
        </p:txBody>
      </p:sp>
      <p:sp>
        <p:nvSpPr>
          <p:cNvPr id="21" name="Rectangle 20"/>
          <p:cNvSpPr/>
          <p:nvPr/>
        </p:nvSpPr>
        <p:spPr>
          <a:xfrm>
            <a:off x="4325112" y="2377440"/>
            <a:ext cx="114300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1.50</a:t>
            </a:r>
          </a:p>
        </p:txBody>
      </p:sp>
      <p:sp>
        <p:nvSpPr>
          <p:cNvPr id="22" name="Rectangle 21"/>
          <p:cNvSpPr/>
          <p:nvPr/>
        </p:nvSpPr>
        <p:spPr>
          <a:xfrm>
            <a:off x="5468112" y="2377440"/>
            <a:ext cx="118872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3.50</a:t>
            </a:r>
          </a:p>
        </p:txBody>
      </p:sp>
      <p:sp>
        <p:nvSpPr>
          <p:cNvPr id="23" name="Rectangle 22"/>
          <p:cNvSpPr/>
          <p:nvPr/>
        </p:nvSpPr>
        <p:spPr>
          <a:xfrm>
            <a:off x="6656832" y="2377440"/>
            <a:ext cx="105156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23%</a:t>
            </a:r>
          </a:p>
        </p:txBody>
      </p:sp>
      <p:sp>
        <p:nvSpPr>
          <p:cNvPr id="24" name="Rectangle 23"/>
          <p:cNvSpPr/>
          <p:nvPr/>
        </p:nvSpPr>
        <p:spPr>
          <a:xfrm>
            <a:off x="7708392" y="2377440"/>
            <a:ext cx="3977639"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FSO, tracking, LoRa, cameras, power, enclosures</a:t>
            </a:r>
          </a:p>
        </p:txBody>
      </p:sp>
      <p:sp>
        <p:nvSpPr>
          <p:cNvPr id="25" name="Rectangle 24"/>
          <p:cNvSpPr/>
          <p:nvPr/>
        </p:nvSpPr>
        <p:spPr>
          <a:xfrm>
            <a:off x="438912" y="2907791"/>
            <a:ext cx="274320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Consumables</a:t>
            </a:r>
          </a:p>
        </p:txBody>
      </p:sp>
      <p:sp>
        <p:nvSpPr>
          <p:cNvPr id="26" name="Rectangle 25"/>
          <p:cNvSpPr/>
          <p:nvPr/>
        </p:nvSpPr>
        <p:spPr>
          <a:xfrm>
            <a:off x="3182112" y="2907791"/>
            <a:ext cx="114300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0.75</a:t>
            </a:r>
          </a:p>
        </p:txBody>
      </p:sp>
      <p:sp>
        <p:nvSpPr>
          <p:cNvPr id="27" name="Rectangle 26"/>
          <p:cNvSpPr/>
          <p:nvPr/>
        </p:nvSpPr>
        <p:spPr>
          <a:xfrm>
            <a:off x="4325112" y="2907791"/>
            <a:ext cx="114300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0.75</a:t>
            </a:r>
          </a:p>
        </p:txBody>
      </p:sp>
      <p:sp>
        <p:nvSpPr>
          <p:cNvPr id="28" name="Rectangle 27"/>
          <p:cNvSpPr/>
          <p:nvPr/>
        </p:nvSpPr>
        <p:spPr>
          <a:xfrm>
            <a:off x="5468112" y="2907791"/>
            <a:ext cx="118872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1.50</a:t>
            </a:r>
          </a:p>
        </p:txBody>
      </p:sp>
      <p:sp>
        <p:nvSpPr>
          <p:cNvPr id="29" name="Rectangle 28"/>
          <p:cNvSpPr/>
          <p:nvPr/>
        </p:nvSpPr>
        <p:spPr>
          <a:xfrm>
            <a:off x="6656832" y="2907791"/>
            <a:ext cx="105156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10%</a:t>
            </a:r>
          </a:p>
        </p:txBody>
      </p:sp>
      <p:sp>
        <p:nvSpPr>
          <p:cNvPr id="30" name="Rectangle 29"/>
          <p:cNvSpPr/>
          <p:nvPr/>
        </p:nvSpPr>
        <p:spPr>
          <a:xfrm>
            <a:off x="7708392" y="2907791"/>
            <a:ext cx="3977639"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PCBs, mounts, cables, cells, small parts</a:t>
            </a:r>
          </a:p>
        </p:txBody>
      </p:sp>
      <p:sp>
        <p:nvSpPr>
          <p:cNvPr id="31" name="Rectangle 30"/>
          <p:cNvSpPr/>
          <p:nvPr/>
        </p:nvSpPr>
        <p:spPr>
          <a:xfrm>
            <a:off x="438912" y="3438144"/>
            <a:ext cx="274320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Contingency</a:t>
            </a:r>
          </a:p>
        </p:txBody>
      </p:sp>
      <p:sp>
        <p:nvSpPr>
          <p:cNvPr id="32" name="Rectangle 31"/>
          <p:cNvSpPr/>
          <p:nvPr/>
        </p:nvSpPr>
        <p:spPr>
          <a:xfrm>
            <a:off x="3182112" y="3438144"/>
            <a:ext cx="114300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0.75</a:t>
            </a:r>
          </a:p>
        </p:txBody>
      </p:sp>
      <p:sp>
        <p:nvSpPr>
          <p:cNvPr id="33" name="Rectangle 32"/>
          <p:cNvSpPr/>
          <p:nvPr/>
        </p:nvSpPr>
        <p:spPr>
          <a:xfrm>
            <a:off x="4325112" y="3438144"/>
            <a:ext cx="114300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0.75</a:t>
            </a:r>
          </a:p>
        </p:txBody>
      </p:sp>
      <p:sp>
        <p:nvSpPr>
          <p:cNvPr id="34" name="Rectangle 33"/>
          <p:cNvSpPr/>
          <p:nvPr/>
        </p:nvSpPr>
        <p:spPr>
          <a:xfrm>
            <a:off x="5468112" y="3438144"/>
            <a:ext cx="118872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1.50</a:t>
            </a:r>
          </a:p>
        </p:txBody>
      </p:sp>
      <p:sp>
        <p:nvSpPr>
          <p:cNvPr id="35" name="Rectangle 34"/>
          <p:cNvSpPr/>
          <p:nvPr/>
        </p:nvSpPr>
        <p:spPr>
          <a:xfrm>
            <a:off x="6656832" y="3438144"/>
            <a:ext cx="105156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10%</a:t>
            </a:r>
          </a:p>
        </p:txBody>
      </p:sp>
      <p:sp>
        <p:nvSpPr>
          <p:cNvPr id="36" name="Rectangle 35"/>
          <p:cNvSpPr/>
          <p:nvPr/>
        </p:nvSpPr>
        <p:spPr>
          <a:xfrm>
            <a:off x="7708392" y="3438144"/>
            <a:ext cx="3977639"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Spares and prototype iterations</a:t>
            </a:r>
          </a:p>
        </p:txBody>
      </p:sp>
      <p:sp>
        <p:nvSpPr>
          <p:cNvPr id="37" name="Rectangle 36"/>
          <p:cNvSpPr/>
          <p:nvPr/>
        </p:nvSpPr>
        <p:spPr>
          <a:xfrm>
            <a:off x="438912" y="3968496"/>
            <a:ext cx="274320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Travel</a:t>
            </a:r>
          </a:p>
        </p:txBody>
      </p:sp>
      <p:sp>
        <p:nvSpPr>
          <p:cNvPr id="38" name="Rectangle 37"/>
          <p:cNvSpPr/>
          <p:nvPr/>
        </p:nvSpPr>
        <p:spPr>
          <a:xfrm>
            <a:off x="3182112" y="3968496"/>
            <a:ext cx="114300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0.50</a:t>
            </a:r>
          </a:p>
        </p:txBody>
      </p:sp>
      <p:sp>
        <p:nvSpPr>
          <p:cNvPr id="39" name="Rectangle 38"/>
          <p:cNvSpPr/>
          <p:nvPr/>
        </p:nvSpPr>
        <p:spPr>
          <a:xfrm>
            <a:off x="4325112" y="3968496"/>
            <a:ext cx="114300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0.80</a:t>
            </a:r>
          </a:p>
        </p:txBody>
      </p:sp>
      <p:sp>
        <p:nvSpPr>
          <p:cNvPr id="40" name="Rectangle 39"/>
          <p:cNvSpPr/>
          <p:nvPr/>
        </p:nvSpPr>
        <p:spPr>
          <a:xfrm>
            <a:off x="5468112" y="3968496"/>
            <a:ext cx="118872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1.30</a:t>
            </a:r>
          </a:p>
        </p:txBody>
      </p:sp>
      <p:sp>
        <p:nvSpPr>
          <p:cNvPr id="41" name="Rectangle 40"/>
          <p:cNvSpPr/>
          <p:nvPr/>
        </p:nvSpPr>
        <p:spPr>
          <a:xfrm>
            <a:off x="6656832" y="3968496"/>
            <a:ext cx="1051560"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9%</a:t>
            </a:r>
          </a:p>
        </p:txBody>
      </p:sp>
      <p:sp>
        <p:nvSpPr>
          <p:cNvPr id="42" name="Rectangle 41"/>
          <p:cNvSpPr/>
          <p:nvPr/>
        </p:nvSpPr>
        <p:spPr>
          <a:xfrm>
            <a:off x="7708392" y="3968496"/>
            <a:ext cx="3977639" cy="530352"/>
          </a:xfrm>
          <a:prstGeom prst="rect">
            <a:avLst/>
          </a:prstGeom>
          <a:solidFill>
            <a:srgbClr val="F7F5F2"/>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Tunnel trials, partner visits, reviews</a:t>
            </a:r>
          </a:p>
        </p:txBody>
      </p:sp>
      <p:sp>
        <p:nvSpPr>
          <p:cNvPr id="43" name="Rectangle 42"/>
          <p:cNvSpPr/>
          <p:nvPr/>
        </p:nvSpPr>
        <p:spPr>
          <a:xfrm>
            <a:off x="438912" y="4498848"/>
            <a:ext cx="274320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Overhead</a:t>
            </a:r>
          </a:p>
        </p:txBody>
      </p:sp>
      <p:sp>
        <p:nvSpPr>
          <p:cNvPr id="44" name="Rectangle 43"/>
          <p:cNvSpPr/>
          <p:nvPr/>
        </p:nvSpPr>
        <p:spPr>
          <a:xfrm>
            <a:off x="3182112" y="4498848"/>
            <a:ext cx="114300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0</a:t>
            </a:r>
          </a:p>
        </p:txBody>
      </p:sp>
      <p:sp>
        <p:nvSpPr>
          <p:cNvPr id="45" name="Rectangle 44"/>
          <p:cNvSpPr/>
          <p:nvPr/>
        </p:nvSpPr>
        <p:spPr>
          <a:xfrm>
            <a:off x="4325112" y="4498848"/>
            <a:ext cx="114300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0</a:t>
            </a:r>
          </a:p>
        </p:txBody>
      </p:sp>
      <p:sp>
        <p:nvSpPr>
          <p:cNvPr id="46" name="Rectangle 45"/>
          <p:cNvSpPr/>
          <p:nvPr/>
        </p:nvSpPr>
        <p:spPr>
          <a:xfrm>
            <a:off x="5468112" y="4498848"/>
            <a:ext cx="118872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1C2430"/>
                </a:solidFill>
                <a:latin typeface="Calibri"/>
                <a:ea typeface="Calibri"/>
                <a:cs typeface="Calibri"/>
              </a:rPr>
              <a:t>0</a:t>
            </a:r>
          </a:p>
        </p:txBody>
      </p:sp>
      <p:sp>
        <p:nvSpPr>
          <p:cNvPr id="47" name="Rectangle 46"/>
          <p:cNvSpPr/>
          <p:nvPr/>
        </p:nvSpPr>
        <p:spPr>
          <a:xfrm>
            <a:off x="6656832" y="4498848"/>
            <a:ext cx="1051560"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0%</a:t>
            </a:r>
          </a:p>
        </p:txBody>
      </p:sp>
      <p:sp>
        <p:nvSpPr>
          <p:cNvPr id="48" name="Rectangle 47"/>
          <p:cNvSpPr/>
          <p:nvPr/>
        </p:nvSpPr>
        <p:spPr>
          <a:xfrm>
            <a:off x="7708392" y="4498848"/>
            <a:ext cx="3977639" cy="530352"/>
          </a:xfrm>
          <a:prstGeom prst="rect">
            <a:avLst/>
          </a:prstGeom>
          <a:solidFill>
            <a:srgbClr val="FFFFFF"/>
          </a:solidFill>
          <a:ln w="9525">
            <a:solidFill>
              <a:srgbClr val="D9D3C8"/>
            </a:solidFill>
          </a:ln>
        </p:spPr>
        <p:txBody>
          <a:bodyPr rtlCol="0" anchor="ctr" wrap="square" lIns="73152" rIns="54864" tIns="36576" bIns="18288"/>
          <a:lstStyle/>
          <a:p>
            <a:pPr algn="l">
              <a:spcBef>
                <a:spcPts val="0"/>
              </a:spcBef>
              <a:spcAft>
                <a:spcPts val="0"/>
              </a:spcAft>
            </a:pPr>
            <a:r>
              <a:rPr sz="1400" b="0">
                <a:solidFill>
                  <a:srgbClr val="1C2430"/>
                </a:solidFill>
                <a:latin typeface="Calibri"/>
                <a:ea typeface="Calibri"/>
                <a:cs typeface="Calibri"/>
              </a:rPr>
              <a:t>Waived</a:t>
            </a:r>
          </a:p>
        </p:txBody>
      </p:sp>
      <p:sp>
        <p:nvSpPr>
          <p:cNvPr id="49" name="Rectangle 48"/>
          <p:cNvSpPr/>
          <p:nvPr/>
        </p:nvSpPr>
        <p:spPr>
          <a:xfrm>
            <a:off x="438912" y="5029200"/>
            <a:ext cx="2743200" cy="53035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Total</a:t>
            </a:r>
          </a:p>
        </p:txBody>
      </p:sp>
      <p:sp>
        <p:nvSpPr>
          <p:cNvPr id="50" name="Rectangle 49"/>
          <p:cNvSpPr/>
          <p:nvPr/>
        </p:nvSpPr>
        <p:spPr>
          <a:xfrm>
            <a:off x="3182112" y="5029200"/>
            <a:ext cx="1143000" cy="53035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7.60</a:t>
            </a:r>
          </a:p>
        </p:txBody>
      </p:sp>
      <p:sp>
        <p:nvSpPr>
          <p:cNvPr id="51" name="Rectangle 50"/>
          <p:cNvSpPr/>
          <p:nvPr/>
        </p:nvSpPr>
        <p:spPr>
          <a:xfrm>
            <a:off x="4325112" y="5029200"/>
            <a:ext cx="1143000" cy="53035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7.40</a:t>
            </a:r>
          </a:p>
        </p:txBody>
      </p:sp>
      <p:sp>
        <p:nvSpPr>
          <p:cNvPr id="52" name="Rectangle 51"/>
          <p:cNvSpPr/>
          <p:nvPr/>
        </p:nvSpPr>
        <p:spPr>
          <a:xfrm>
            <a:off x="5468112" y="5029200"/>
            <a:ext cx="1188720" cy="53035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15.00</a:t>
            </a:r>
          </a:p>
        </p:txBody>
      </p:sp>
      <p:sp>
        <p:nvSpPr>
          <p:cNvPr id="53" name="Rectangle 52"/>
          <p:cNvSpPr/>
          <p:nvPr/>
        </p:nvSpPr>
        <p:spPr>
          <a:xfrm>
            <a:off x="6656832" y="5029200"/>
            <a:ext cx="1051560" cy="53035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100%</a:t>
            </a:r>
          </a:p>
        </p:txBody>
      </p:sp>
      <p:sp>
        <p:nvSpPr>
          <p:cNvPr id="54" name="Rectangle 53"/>
          <p:cNvSpPr/>
          <p:nvPr/>
        </p:nvSpPr>
        <p:spPr>
          <a:xfrm>
            <a:off x="7708392" y="5029200"/>
            <a:ext cx="3977639" cy="530352"/>
          </a:xfrm>
          <a:prstGeom prst="rect">
            <a:avLst/>
          </a:prstGeom>
          <a:solidFill>
            <a:srgbClr val="1B3A4B"/>
          </a:solidFill>
          <a:ln w="9525">
            <a:solidFill>
              <a:srgbClr val="D9D3C8"/>
            </a:solidFill>
          </a:ln>
        </p:spPr>
        <p:txBody>
          <a:bodyPr rtlCol="0" anchor="ctr" wrap="square" lIns="73152" rIns="54864" tIns="36576" bIns="18288"/>
          <a:lstStyle/>
          <a:p>
            <a:pPr algn="l">
              <a:spcBef>
                <a:spcPts val="0"/>
              </a:spcBef>
              <a:spcAft>
                <a:spcPts val="0"/>
              </a:spcAft>
            </a:pPr>
            <a:r>
              <a:rPr sz="1400" b="1">
                <a:solidFill>
                  <a:srgbClr val="FFFFFF"/>
                </a:solidFill>
                <a:latin typeface="Calibri"/>
                <a:ea typeface="Calibri"/>
                <a:cs typeface="Calibri"/>
              </a:rPr>
              <a:t/>
            </a:r>
          </a:p>
        </p:txBody>
      </p:sp>
      <p:sp>
        <p:nvSpPr>
          <p:cNvPr id="55" name="TextBox 54"/>
          <p:cNvSpPr txBox="1"/>
          <p:nvPr/>
        </p:nvSpPr>
        <p:spPr>
          <a:xfrm>
            <a:off x="457200" y="5669280"/>
            <a:ext cx="11247120" cy="731520"/>
          </a:xfrm>
          <a:prstGeom prst="rect">
            <a:avLst/>
          </a:prstGeom>
          <a:noFill/>
        </p:spPr>
        <p:txBody>
          <a:bodyPr wrap="square" lIns="18288" rIns="18288" tIns="0" bIns="0" anchor="t"/>
          <a:lstStyle/>
          <a:p>
            <a:pPr algn="l">
              <a:spcBef>
                <a:spcPts val="0"/>
              </a:spcBef>
              <a:spcAft>
                <a:spcPts val="0"/>
              </a:spcAft>
            </a:pPr>
            <a:r>
              <a:rPr sz="1500" b="0" i="0">
                <a:solidFill>
                  <a:srgbClr val="1C2430"/>
                </a:solidFill>
                <a:latin typeface="Calibri"/>
                <a:ea typeface="Calibri"/>
                <a:cs typeface="Calibri"/>
              </a:rPr>
              <a:t>Year-1 equipment is the link: FSO modules, pan-tilt, IMUs, controllers, cameras, LoRa and gateway, batteries, enclosures, edge computer, lenses and mounts. Year-2 equipment is antennas, PCB fabrication and a 3D printer for mounts. The line-item list is in the proposal.</a:t>
            </a:r>
          </a:p>
        </p:txBody>
      </p:sp>
      <p:sp>
        <p:nvSpPr>
          <p:cNvPr id="56" name="Rectangle 55"/>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57" name="TextBox 56"/>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Budget</a:t>
            </a:r>
          </a:p>
        </p:txBody>
      </p:sp>
      <p:sp>
        <p:nvSpPr>
          <p:cNvPr id="58" name="TextBox 57"/>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Rectangle 2"/>
          <p:cNvSpPr/>
          <p:nvPr/>
        </p:nvSpPr>
        <p:spPr>
          <a:xfrm>
            <a:off x="0" y="0"/>
            <a:ext cx="12191695" cy="73152"/>
          </a:xfrm>
          <a:prstGeom prst="rect">
            <a:avLst/>
          </a:prstGeom>
          <a:solidFill>
            <a:srgbClr val="1B3A4B"/>
          </a:solidFill>
          <a:ln>
            <a:noFill/>
          </a:ln>
        </p:spPr>
        <p:txBody>
          <a:bodyPr rtlCol="0" anchor="ctr"/>
          <a:lstStyle/>
          <a:p>
            <a:pPr algn="ctr"/>
          </a:p>
        </p:txBody>
      </p:sp>
      <p:sp>
        <p:nvSpPr>
          <p:cNvPr id="4" name="TextBox 3"/>
          <p:cNvSpPr txBox="1"/>
          <p:nvPr/>
        </p:nvSpPr>
        <p:spPr>
          <a:xfrm>
            <a:off x="502920" y="1371600"/>
            <a:ext cx="11155680" cy="365760"/>
          </a:xfrm>
          <a:prstGeom prst="rect">
            <a:avLst/>
          </a:prstGeom>
          <a:noFill/>
        </p:spPr>
        <p:txBody>
          <a:bodyPr wrap="square" lIns="18288" rIns="18288" tIns="0" bIns="0" anchor="t"/>
          <a:lstStyle/>
          <a:p>
            <a:pPr algn="l">
              <a:spcBef>
                <a:spcPts val="0"/>
              </a:spcBef>
              <a:spcAft>
                <a:spcPts val="0"/>
              </a:spcAft>
            </a:pPr>
            <a:r>
              <a:rPr sz="1400" b="1" i="0">
                <a:solidFill>
                  <a:srgbClr val="B5740A"/>
                </a:solidFill>
                <a:latin typeface="Calibri"/>
                <a:ea typeface="Calibri"/>
                <a:cs typeface="Calibri"/>
              </a:rPr>
              <a:t>FTBI–TEXMiN MINING CPS CoE</a:t>
            </a:r>
          </a:p>
        </p:txBody>
      </p:sp>
      <p:sp>
        <p:nvSpPr>
          <p:cNvPr id="5" name="TextBox 4"/>
          <p:cNvSpPr txBox="1"/>
          <p:nvPr/>
        </p:nvSpPr>
        <p:spPr>
          <a:xfrm>
            <a:off x="457200" y="1874519"/>
            <a:ext cx="11155680" cy="1371600"/>
          </a:xfrm>
          <a:prstGeom prst="rect">
            <a:avLst/>
          </a:prstGeom>
          <a:noFill/>
        </p:spPr>
        <p:txBody>
          <a:bodyPr wrap="square" lIns="18288" rIns="18288" tIns="0" bIns="0" anchor="t"/>
          <a:lstStyle/>
          <a:p>
            <a:pPr algn="l">
              <a:spcBef>
                <a:spcPts val="0"/>
              </a:spcBef>
              <a:spcAft>
                <a:spcPts val="0"/>
              </a:spcAft>
            </a:pPr>
            <a:r>
              <a:rPr sz="4000" b="1" i="0">
                <a:solidFill>
                  <a:srgbClr val="1B3A4B"/>
                </a:solidFill>
                <a:latin typeface="Calibri"/>
                <a:ea typeface="Calibri"/>
                <a:cs typeface="Calibri"/>
              </a:rPr>
              <a:t>Thank you.</a:t>
            </a:r>
          </a:p>
        </p:txBody>
      </p:sp>
      <p:sp>
        <p:nvSpPr>
          <p:cNvPr id="6" name="TextBox 5"/>
          <p:cNvSpPr txBox="1"/>
          <p:nvPr/>
        </p:nvSpPr>
        <p:spPr>
          <a:xfrm>
            <a:off x="502920" y="3017520"/>
            <a:ext cx="10972800" cy="1188720"/>
          </a:xfrm>
          <a:prstGeom prst="rect">
            <a:avLst/>
          </a:prstGeom>
          <a:noFill/>
        </p:spPr>
        <p:txBody>
          <a:bodyPr wrap="square" lIns="18288" rIns="18288" tIns="0" bIns="0" anchor="t"/>
          <a:lstStyle/>
          <a:p>
            <a:pPr algn="l">
              <a:spcBef>
                <a:spcPts val="0"/>
              </a:spcBef>
              <a:spcAft>
                <a:spcPts val="0"/>
              </a:spcAft>
            </a:pPr>
            <a:r>
              <a:rPr sz="2000" b="0" i="0">
                <a:solidFill>
                  <a:srgbClr val="1C2430"/>
                </a:solidFill>
                <a:latin typeface="Calibri"/>
                <a:ea typeface="Calibri"/>
                <a:cs typeface="Calibri"/>
              </a:rPr>
              <a:t>Request: ₹15 lakh over 24 months, to take the department’s auto-tracking</a:t>
            </a:r>
          </a:p>
          <a:p>
            <a:pPr algn="l">
              <a:spcBef>
                <a:spcPts val="0"/>
              </a:spcBef>
              <a:spcAft>
                <a:spcPts val="0"/>
              </a:spcAft>
            </a:pPr>
            <a:r>
              <a:rPr sz="2000" b="0" i="0">
                <a:solidFill>
                  <a:srgbClr val="1C2430"/>
                </a:solidFill>
                <a:latin typeface="Calibri"/>
                <a:ea typeface="Calibri"/>
                <a:cs typeface="Calibri"/>
              </a:rPr>
              <a:t>FSO prototype to a hybrid underground link, validated at TRL 5.</a:t>
            </a:r>
          </a:p>
        </p:txBody>
      </p:sp>
      <p:sp>
        <p:nvSpPr>
          <p:cNvPr id="7" name="Rectangle 6"/>
          <p:cNvSpPr/>
          <p:nvPr/>
        </p:nvSpPr>
        <p:spPr>
          <a:xfrm>
            <a:off x="502920" y="4389120"/>
            <a:ext cx="1828800" cy="13716"/>
          </a:xfrm>
          <a:prstGeom prst="rect">
            <a:avLst/>
          </a:prstGeom>
          <a:solidFill>
            <a:srgbClr val="B5740A"/>
          </a:solidFill>
          <a:ln>
            <a:noFill/>
          </a:ln>
        </p:spPr>
        <p:txBody>
          <a:bodyPr rtlCol="0" anchor="ctr"/>
          <a:lstStyle/>
          <a:p>
            <a:pPr algn="ctr"/>
          </a:p>
        </p:txBody>
      </p:sp>
      <p:sp>
        <p:nvSpPr>
          <p:cNvPr id="8" name="TextBox 7"/>
          <p:cNvSpPr txBox="1"/>
          <p:nvPr/>
        </p:nvSpPr>
        <p:spPr>
          <a:xfrm>
            <a:off x="502920" y="4617720"/>
            <a:ext cx="10972800" cy="1097280"/>
          </a:xfrm>
          <a:prstGeom prst="rect">
            <a:avLst/>
          </a:prstGeom>
          <a:noFill/>
        </p:spPr>
        <p:txBody>
          <a:bodyPr wrap="square" lIns="18288" rIns="18288" tIns="0" bIns="0" anchor="t"/>
          <a:lstStyle/>
          <a:p>
            <a:pPr algn="l">
              <a:spcBef>
                <a:spcPts val="0"/>
              </a:spcBef>
              <a:spcAft>
                <a:spcPts val="0"/>
              </a:spcAft>
            </a:pPr>
            <a:r>
              <a:rPr sz="1800" b="0" i="0">
                <a:solidFill>
                  <a:srgbClr val="1C2430"/>
                </a:solidFill>
                <a:latin typeface="Calibri"/>
                <a:ea typeface="Calibri"/>
                <a:cs typeface="Calibri"/>
              </a:rPr>
              <a:t>Prof. Sadananda Behera</a:t>
            </a:r>
          </a:p>
          <a:p>
            <a:pPr algn="l">
              <a:spcBef>
                <a:spcPts val="0"/>
              </a:spcBef>
              <a:spcAft>
                <a:spcPts val="0"/>
              </a:spcAft>
            </a:pPr>
            <a:r>
              <a:rPr sz="1800" b="0" i="0">
                <a:solidFill>
                  <a:srgbClr val="1C2430"/>
                </a:solidFill>
                <a:latin typeface="Calibri"/>
                <a:ea typeface="Calibri"/>
                <a:cs typeface="Calibri"/>
              </a:rPr>
              <a:t>Assistant Professor, National Institute of Technology Rourkela</a:t>
            </a:r>
          </a:p>
          <a:p>
            <a:pPr algn="l">
              <a:spcBef>
                <a:spcPts val="0"/>
              </a:spcBef>
              <a:spcAft>
                <a:spcPts val="0"/>
              </a:spcAft>
            </a:pPr>
            <a:r>
              <a:rPr sz="1800" b="0" i="0">
                <a:solidFill>
                  <a:srgbClr val="1C2430"/>
                </a:solidFill>
                <a:latin typeface="Calibri"/>
                <a:ea typeface="Calibri"/>
                <a:cs typeface="Calibri"/>
              </a:rPr>
              <a:t>98610 77539</a:t>
            </a:r>
          </a:p>
        </p:txBody>
      </p:sp>
      <p:sp>
        <p:nvSpPr>
          <p:cNvPr id="9" name="Rectangle 8"/>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10" name="TextBox 9"/>
          <p:cNvSpPr txBox="1"/>
          <p:nvPr/>
        </p:nvSpPr>
        <p:spPr>
          <a:xfrm>
            <a:off x="457200" y="6583680"/>
            <a:ext cx="7772400" cy="237744"/>
          </a:xfrm>
          <a:prstGeom prst="rect">
            <a:avLst/>
          </a:prstGeom>
          <a:noFill/>
        </p:spPr>
        <p:txBody>
          <a:bodyPr wrap="square" lIns="18288" rIns="18288" tIns="0" bIns="0" anchor="ctr"/>
          <a:lstStyle/>
          <a:p>
            <a:pPr algn="l">
              <a:spcBef>
                <a:spcPts val="0"/>
              </a:spcBef>
              <a:spcAft>
                <a:spcPts val="0"/>
              </a:spcAft>
            </a:pPr>
            <a:r>
              <a:rPr sz="1200" b="0" i="0">
                <a:solidFill>
                  <a:srgbClr val="5C6770"/>
                </a:solidFill>
                <a:latin typeface="Calibri"/>
                <a:ea typeface="Calibri"/>
                <a:cs typeface="Calibri"/>
              </a:rPr>
              <a:t>NIT Rourkela   ·   FTBI–TEXMiN   ·   Close</a:t>
            </a:r>
          </a:p>
        </p:txBody>
      </p:sp>
      <p:sp>
        <p:nvSpPr>
          <p:cNvPr id="11" name="TextBox 10"/>
          <p:cNvSpPr txBox="1"/>
          <p:nvPr/>
        </p:nvSpPr>
        <p:spPr>
          <a:xfrm>
            <a:off x="9509760" y="6583680"/>
            <a:ext cx="2240280" cy="237744"/>
          </a:xfrm>
          <a:prstGeom prst="rect">
            <a:avLst/>
          </a:prstGeom>
          <a:noFill/>
        </p:spPr>
        <p:txBody>
          <a:bodyPr wrap="square" lIns="18288" rIns="18288" tIns="0" bIns="0" anchor="ctr"/>
          <a:lstStyle/>
          <a:p>
            <a:pPr algn="r">
              <a:spcBef>
                <a:spcPts val="0"/>
              </a:spcBef>
              <a:spcAft>
                <a:spcPts val="0"/>
              </a:spcAft>
            </a:pPr>
            <a:r>
              <a:rPr sz="1200" b="1" i="0">
                <a:solidFill>
                  <a:srgbClr val="1B3A4B"/>
                </a:solidFill>
                <a:latin typeface="Calibri"/>
                <a:ea typeface="Calibri"/>
                <a:cs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Underground Audio/Video Communication System for Miner Safety and Monitoring</dc:title>
  <dc:subject>FTBI–TEXMiN Technology Development presentation</dc:subject>
  <dc:creator>Prof. Sadananda Behera, NIT Rourkela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