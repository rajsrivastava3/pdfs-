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Budget</c:v>
                </c:pt>
              </c:strCache>
            </c:strRef>
          </c:tx>
          <c:dPt>
            <c:idx val="0"/>
            <c:spPr>
              <a:solidFill>
                <a:srgbClr val="0071C1"/>
              </a:solidFill>
              <a:ln w="25400">
                <a:solidFill>
                  <a:srgbClr val="FFFFFF"/>
                </a:solidFill>
              </a:ln>
            </c:spPr>
          </c:dPt>
          <c:dPt>
            <c:idx val="1"/>
            <c:spPr>
              <a:solidFill>
                <a:srgbClr val="ED7D31"/>
              </a:solidFill>
              <a:ln w="25400">
                <a:solidFill>
                  <a:srgbClr val="FFFFFF"/>
                </a:solidFill>
              </a:ln>
            </c:spPr>
          </c:dPt>
          <c:dPt>
            <c:idx val="2"/>
            <c:spPr>
              <a:solidFill>
                <a:srgbClr val="1B3A4B"/>
              </a:solidFill>
              <a:ln w="25400">
                <a:solidFill>
                  <a:srgbClr val="FFFFFF"/>
                </a:solidFill>
              </a:ln>
            </c:spPr>
          </c:dPt>
          <c:dPt>
            <c:idx val="3"/>
            <c:spPr>
              <a:solidFill>
                <a:srgbClr val="A6A6A6"/>
              </a:solidFill>
              <a:ln w="25400">
                <a:solidFill>
                  <a:srgbClr val="FFFFFF"/>
                </a:solidFill>
              </a:ln>
            </c:spPr>
          </c:dPt>
          <c:dPt>
            <c:idx val="4"/>
            <c:spPr>
              <a:solidFill>
                <a:srgbClr val="FFC000"/>
              </a:solidFill>
              <a:ln w="25400">
                <a:solidFill>
                  <a:srgbClr val="FFFFFF"/>
                </a:solidFill>
              </a:ln>
            </c:spPr>
          </c:dPt>
          <c:cat>
            <c:strRef>
              <c:f>Sheet1!$A$2:$A$6</c:f>
              <c:strCache>
                <c:ptCount val="5"/>
                <c:pt idx="0">
                  <c:v>Project assistants</c:v>
                </c:pt>
                <c:pt idx="1">
                  <c:v>Equipment</c:v>
                </c:pt>
                <c:pt idx="2">
                  <c:v>Consumables</c:v>
                </c:pt>
                <c:pt idx="3">
                  <c:v>Contingency</c:v>
                </c:pt>
                <c:pt idx="4">
                  <c:v>Travel</c:v>
                </c:pt>
              </c:strCache>
            </c:strRef>
          </c:cat>
          <c:val>
            <c:numRef>
              <c:f>Sheet1!$B$2:$B$6</c:f>
              <c:numCache>
                <c:formatCode>General</c:formatCode>
                <c:ptCount val="5"/>
                <c:pt idx="0">
                  <c:v>7.2</c:v>
                </c:pt>
                <c:pt idx="1">
                  <c:v>3.5</c:v>
                </c:pt>
                <c:pt idx="2">
                  <c:v>1.5</c:v>
                </c:pt>
                <c:pt idx="3">
                  <c:v>1.5</c:v>
                </c:pt>
                <c:pt idx="4">
                  <c:v>1.3</c:v>
                </c:pt>
              </c:numCache>
            </c:numRef>
          </c:val>
        </c:ser>
        <c:dLbls>
          <c:showLegendKey val="0"/>
          <c:showVal val="0"/>
          <c:showCatName val="0"/>
          <c:showSerName val="0"/>
          <c:showPercent val="0"/>
          <c:showBubbleSize val="0"/>
          <c:showLeaderLines val="1"/>
        </c:dLbls>
        <c:firstSliceAng val="0"/>
        <c:holeSize val="62"/>
      </c:doughnutChart>
    </c:plotArea>
    <c:plotVisOnly val="1"/>
    <c:dispBlanksAs val="gap"/>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problem in one sentence, then the frame.</a:t>
            </a:r>
          </a:p>
          <a:p/>
          <a:p>
            <a:r>
              <a:t>Underground mines lose the link to the surface when it is most needed. This proposal builds a hybrid link: real-time video on a free-space optical hop of 50 to 100 metres, and a LoRa path for control and alerts when that hop is down.</a:t>
            </a:r>
          </a:p>
          <a:p/>
          <a:p>
            <a:r>
              <a:t>State the frame: NIT Rourkela, 4S Mining, 15 lakh, 24 months, TRL 2 to TRL 5. Say that an industry letter is not attached; the plan for it is a later slide. A working auto-tracking FSO prototype already exists in the department and will be used.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objective once. Then the four points, without adding claims.</a:t>
            </a:r>
          </a:p>
          <a:p/>
          <a:p>
            <a:r>
              <a:t>Point 2 is the one to pause on: alignment is not a new start. The department already has a working auto-tracking FSO prototype. This grant puts video on it, adds LoRa, and makes it a mine node.</a:t>
            </a:r>
          </a:p>
          <a:p/>
          <a:p>
            <a:r>
              <a:t>Point 4 is the limit of the grant: laboratory plus a tunnel-like or underground test. A production-mine product trial comes after.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background from the earlier deck, stated plainly.</a:t>
            </a:r>
          </a:p>
          <a:p/>
          <a:p>
            <a:r>
              <a:t>Present practice is leaky feeder and wired phones, plus low-rate radio. It is enough for voice on a drift that is still intact. It is not enough when the cable goes with the fall, and it never shows the face.</a:t>
            </a:r>
          </a:p>
          <a:p/>
          <a:p>
            <a:r>
              <a:t>DGMS: do not promise certification in this grant. Say that dependable communication is part of mine safety practice, and that any statutory clearance will be taken before production deployment, as written in the proposal.</a:t>
            </a:r>
          </a:p>
          <a:p/>
          <a:p>
            <a:r>
              <a:t>If asked what changed since the earlier presentation: the problem is the same. The system in the submitted proposal is the hybrid FSO–LoRa relay, built on the auto-tracking hardware already in the department. A handheld RFID device is not the deliverable of this grant.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Stay on the last column. Cable reaches the surface until it is cut. LoRa can carry the alert and cannot carry the video. FSO can carry the video and loses it when the mount moves. This proposal keeps both, on a hop the length of a straight stretch of tunnel.</a:t>
            </a:r>
          </a:p>
          <a:p/>
          <a:p>
            <a:r>
              <a:t>Do not claim this replaces leaky feeder for voice across a whole mine. It is a heading kit: video on the clear spans, an alert that does not share the fate of the cable.</a:t>
            </a:r>
          </a:p>
          <a:p/>
          <a:p>
            <a:r>
              <a:t>4S is the focus area ticked in the proposal. One clause each is enough.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time on points 2 and 3. Those answer the objection that FSO cannot work underground.</a:t>
            </a:r>
          </a:p>
          <a:p/>
          <a:p>
            <a:r>
              <a:t>Point 2: the link is along the open tunnel, 50 to 100 metres, then repeated. Point 3: the mount is part of the link, and the first version of it already runs in the department.</a:t>
            </a:r>
          </a:p>
          <a:p/>
          <a:p>
            <a:r>
              <a:t>Point 1 is the architecture in the proposal figure. Point 4 is the mining use of the bandwidth. Point 5 is why the work belongs in a CPS centre.</a:t>
            </a:r>
          </a:p>
          <a:p/>
          <a:p>
            <a:r>
              <a:t>Import, if there is time: mine communication systems of this class are largely bought from Germany, the USA and China. This is an indigenous design for the tunnel in front of 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figure up. Walk it left to right.</a:t>
            </a:r>
          </a:p>
          <a:p/>
          <a:p>
            <a:r>
              <a:t>Each underground node has four parts: FSO laser, IMU, motorized alignment, LoRa. The optical beam between two nodes is the video path, 50 to 100 metres, steered by the IMU. The chain continues to transceiver n. The surface station receives the monitoring view and the LoRa alerts.</a:t>
            </a:r>
          </a:p>
          <a:p/>
          <a:p>
            <a:r>
              <a:t>If a span is blocked or the beam walks off, the video on that span stops and the LoRa alert does not. The tracking loop then tries to reacquire.</a:t>
            </a:r>
          </a:p>
          <a:p/>
          <a:p>
            <a:r>
              <a:t>Do not invent a bitrate or a latency. Those targets are fixed in the first three months, after the camera and the laser are selected.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three boxes left to right. The camera node wraps one JPEG in a small frame and keys the laser with it. The relay does not amplify light: it rebuilds the frame, checks the CRC and transmits it again, so an error does not travel further. The base shows the JPEG on the screen. If the picture is on the screen, both hops worked.</a:t>
            </a:r>
          </a:p>
          <a:p/>
          <a:p>
            <a:r>
              <a:t>Three jobs, three channels. Laser: JPEG only. IMU: holds the angle of the camera head, it cannot see the relay or the beam. LoRa: five bytes, LOCK or LOST from the relay, ALERT or IMG_OK to the base. If either laser is blocked the screen goes blank and the alert still arrives.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photograph. Say clearly: this is a working auto-tracking FSO system in the department, and the project will use it.</a:t>
            </a:r>
          </a:p>
          <a:p/>
          <a:p>
            <a:r>
              <a:t>Do not quote a range or an accuracy for this unit unless you have the measured number in front of you. The design target for the mine hop, 50 to 100 metres, is the proposal target, not a result already claimed for this bench unit.</a:t>
            </a:r>
          </a:p>
          <a:p/>
          <a:p>
            <a:r>
              <a:t>Then the four additions: video, LoRa, relays, underground enclosure and trial. The feasibility points are physics and facilities, not adjectives.</a:t>
            </a:r>
          </a:p>
          <a:p/>
          <a:p>
            <a:r>
              <a:t>The bench strip at the bottom is the first milestone: one camera node, the one new relay node, and a base, 2 to 5 metres apart. One JPEG is sent hop by hop. If the picture appears on the base screen, both hops work and the tracking loop can be switched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every row. Give the gates: month 3 hardware, month 7 architecture, month 11 tracker, month 16 integrated prototype, month 19 laboratory, month 22 tunnel-like test, month 24 patent and commercialization plan.</a:t>
            </a:r>
          </a:p>
          <a:p/>
          <a:p>
            <a:r>
              <a:t>Point at months 8 to 11 and say that this block adapts the prototype already running in the department. The dates in the proposal are unchanged.</a:t>
            </a:r>
          </a:p>
          <a:p/>
          <a:p>
            <a:r>
              <a:t>The tunnel trial does not start unless the month 16 and month 19 results justify it. If the optical hop drops during the trial, LoRa is the path under test for the alert.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exact on the numbers. Do not raise the integrated system above TRL 2. The proposal says TRL 2. What is ahead of that is the auto-tracking prototype, which is a subsystem, not the whole mine link.</a:t>
            </a:r>
          </a:p>
          <a:p/>
          <a:p>
            <a:r>
              <a:t>Month 24 commitment is TRL 5: relevant environment, meaning tunnel-like or underground, not only the optical bench. TRL 6 needs a partner or TEXMiN site and is outside this budget.</a:t>
            </a:r>
          </a:p>
          <a:p/>
          <a:p>
            <a:r>
              <a:t>If they ask for numbers we will measure, and not for numbers we already have: hop length against 50–100 m, video continuity, time to realign, whether the alert arrives when the beam is blocked, and energy per node. Latency and bitrate are set in months 1 to 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first sentence before anyone asks. A letter is not in the file.</a:t>
            </a:r>
          </a:p>
          <a:p/>
          <a:p>
            <a:r>
              <a:t>Do not name Coal India or any other company as a partner. They are the class of user.</a:t>
            </a:r>
          </a:p>
          <a:p/>
          <a:p>
            <a:r>
              <a:t>The useful introduction from the committee is a safety or communications engineer who will spend time on constraints in months 6 to 12, before the mechanical design is frozen.</a:t>
            </a:r>
          </a:p>
          <a:p/>
          <a:p>
            <a:r>
              <a:t>Regulatory clearance is taken before product deployment, as the proposal states, not before the laboratory 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side of the argument is the four measurements. Read one of them: when the beam is blocked, does the alert still arrive?</a:t>
            </a:r>
          </a:p>
          <a:p/>
          <a:p>
            <a:r>
              <a:t>Do not quote lives saved, downtime percentages or rupees. We do not have those figures. The trial is how they would be obtained.</a:t>
            </a:r>
          </a:p>
          <a:p/>
          <a:p>
            <a:r>
              <a:t>Commercial unit is a heading: node, relays, surface station. That is why a 15 lakh prototype is a step toward a product.</a:t>
            </a:r>
          </a:p>
          <a:p/>
          <a:p>
            <a:r>
              <a:t>Later extensions, only if asked: video analytics, gas-trend monitoring, robotic nodes. They are in the proposal as future work. They are not month-24 deliverables.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of credibility: the PI’s work is optical links under impairment, and hardware that leaves the simulator. This project points that at a mine heading.</a:t>
            </a:r>
          </a:p>
          <a:p/>
          <a:p>
            <a:r>
              <a:t>Do not read the publication list. If asked: JLT and JOCN; Indian patent application 202631017889, published 2026; two ongoing DoT projects, of which the hybrid transceiver is the closest.</a:t>
            </a:r>
          </a:p>
          <a:p/>
          <a:p>
            <a:r>
              <a:t>The question to expect: there is no mining co-PI. Answer from the third bullet. Mining constraints enter through TEXMiN and the industry workshop. This group builds the link.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fifteen lakh, no overhead, two people and the hardware for one heading.</a:t>
            </a:r>
          </a:p>
          <a:p/>
          <a:p>
            <a:r>
              <a:t>The columns add up: 7.20 + 3.50 + 1.50 + 1.50 + 1.30 = 15.00. Year split 7.60 and 7.40.</a:t>
            </a:r>
          </a:p>
          <a:p/>
          <a:p>
            <a:r>
              <a:t>Salary is the largest head because the work is a build. Two assistants at 15,000 rupees a month for 24 months is 7.20 lakh. Equipment stays at 3.50 lakh because the unit under test is a heading, not a mine-wide installation. Travel is higher in year 2 because that is the tunnel trial.</a:t>
            </a:r>
          </a:p>
          <a:p/>
          <a:p>
            <a:r>
              <a:t>Gas, temperature and humidity sensors are in the proposal justification and sit inside the hardware and consumables.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request once and stop. Invite questions.</a:t>
            </a:r>
          </a:p>
          <a:p/>
          <a:p>
            <a:r>
              <a:t>Answers to keep short:</a:t>
            </a:r>
          </a:p>
          <a:p/>
          <a:p>
            <a:r>
              <a:t>Letter — not in the file. Months 1–6 find the counterpart, 6–12 learn their heading, 18–22 trial with them present.</a:t>
            </a:r>
          </a:p>
          <a:p/>
          <a:p>
            <a:r>
              <a:t>Why FSO underground — the beam crosses open tunnel, 50–100 m, not rock. Relays follow the heading. The IMU mount exists because a fixed bracket will not hold, and a version of it already runs in the department.</a:t>
            </a:r>
          </a:p>
          <a:p/>
          <a:p>
            <a:r>
              <a:t>Leaky feeder — remains useful for voice on an equipped drift. This work adds a picture and an alert path on one heading.</a:t>
            </a:r>
          </a:p>
          <a:p/>
          <a:p>
            <a:r>
              <a:t>TRL — integrated system is TRL 2. Auto-tracking prototype is already working. Target is TRL 5. TRL 6 needs a partner site.</a:t>
            </a:r>
          </a:p>
          <a:p/>
          <a:p>
            <a:r>
              <a:t>No mining co-PI — TEXMiN mentors and the month-6 workshop. The enclosure is not frozen before that.</a:t>
            </a:r>
          </a:p>
          <a:p/>
          <a:p>
            <a:r>
              <a:t>Audio — the new capacity is live video. LoRa carries alerts and control.</a:t>
            </a:r>
          </a:p>
          <a:p/>
          <a:p>
            <a:r>
              <a:t>Laser safety — power, enclosure and exposure are part of the month-6 constraints. Clearance before any production deployment.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9.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4.jpg"/><Relationship Id="rId8" Type="http://schemas.openxmlformats.org/officeDocument/2006/relationships/image" Target="../media/image6.png"/><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2.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4.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pic>
        <p:nvPicPr>
          <p:cNvPr id="4" name="Picture 3" descr="s1_4.png"/>
          <p:cNvPicPr>
            <a:picLocks noChangeAspect="1"/>
          </p:cNvPicPr>
          <p:nvPr/>
        </p:nvPicPr>
        <p:blipFill>
          <a:blip r:embed="rId2"/>
          <a:stretch>
            <a:fillRect/>
          </a:stretch>
        </p:blipFill>
        <p:spPr>
          <a:xfrm>
            <a:off x="411480" y="256032"/>
            <a:ext cx="740664" cy="713232"/>
          </a:xfrm>
          <a:prstGeom prst="rect">
            <a:avLst/>
          </a:prstGeom>
        </p:spPr>
      </p:pic>
      <p:pic>
        <p:nvPicPr>
          <p:cNvPr id="5" name="Picture 4" descr="s1_5.png"/>
          <p:cNvPicPr>
            <a:picLocks noChangeAspect="1"/>
          </p:cNvPicPr>
          <p:nvPr/>
        </p:nvPicPr>
        <p:blipFill>
          <a:blip r:embed="rId3"/>
          <a:stretch>
            <a:fillRect/>
          </a:stretch>
        </p:blipFill>
        <p:spPr>
          <a:xfrm>
            <a:off x="1325880" y="292608"/>
            <a:ext cx="566928" cy="658368"/>
          </a:xfrm>
          <a:prstGeom prst="rect">
            <a:avLst/>
          </a:prstGeom>
        </p:spPr>
      </p:pic>
      <p:pic>
        <p:nvPicPr>
          <p:cNvPr id="6" name="Picture 5" descr="s1_6.png"/>
          <p:cNvPicPr>
            <a:picLocks noChangeAspect="1"/>
          </p:cNvPicPr>
          <p:nvPr/>
        </p:nvPicPr>
        <p:blipFill>
          <a:blip r:embed="rId4"/>
          <a:stretch>
            <a:fillRect/>
          </a:stretch>
        </p:blipFill>
        <p:spPr>
          <a:xfrm>
            <a:off x="9646920" y="292608"/>
            <a:ext cx="2002536" cy="640080"/>
          </a:xfrm>
          <a:prstGeom prst="rect">
            <a:avLst/>
          </a:prstGeom>
        </p:spPr>
      </p:pic>
      <p:sp>
        <p:nvSpPr>
          <p:cNvPr id="7" name="TextBox 6"/>
          <p:cNvSpPr txBox="1"/>
          <p:nvPr/>
        </p:nvSpPr>
        <p:spPr>
          <a:xfrm>
            <a:off x="457200" y="1143000"/>
            <a:ext cx="6400800" cy="274320"/>
          </a:xfrm>
          <a:prstGeom prst="rect">
            <a:avLst/>
          </a:prstGeom>
          <a:noFill/>
        </p:spPr>
        <p:txBody>
          <a:bodyPr wrap="square" lIns="45720" rIns="45720" tIns="27432" bIns="27432" anchor="t">
            <a:spAutoFit/>
          </a:bodyPr>
          <a:lstStyle/>
          <a:p>
            <a:pPr algn="l"/>
            <a:r>
              <a:rPr sz="1300" b="1" i="0">
                <a:solidFill>
                  <a:srgbClr val="B5740A"/>
                </a:solidFill>
                <a:latin typeface="Calibri"/>
              </a:rPr>
              <a:t>TECHNOLOGY DEVELOPMENT PROPOSAL    ·    FTBI–TEXMiN MINING CPS CoE</a:t>
            </a:r>
          </a:p>
        </p:txBody>
      </p:sp>
      <p:sp>
        <p:nvSpPr>
          <p:cNvPr id="8" name="TextBox 7"/>
          <p:cNvSpPr txBox="1"/>
          <p:nvPr/>
        </p:nvSpPr>
        <p:spPr>
          <a:xfrm>
            <a:off x="438912" y="1508760"/>
            <a:ext cx="6126480" cy="2103120"/>
          </a:xfrm>
          <a:prstGeom prst="rect">
            <a:avLst/>
          </a:prstGeom>
          <a:noFill/>
        </p:spPr>
        <p:txBody>
          <a:bodyPr wrap="square" lIns="45720" rIns="45720" tIns="27432" bIns="27432" anchor="t">
            <a:spAutoFit/>
          </a:bodyPr>
          <a:lstStyle/>
          <a:p>
            <a:pPr algn="l"/>
            <a:r>
              <a:rPr sz="3200" b="1" i="0">
                <a:solidFill>
                  <a:srgbClr val="1B3A4B"/>
                </a:solidFill>
                <a:latin typeface="Calibri"/>
              </a:rPr>
              <a:t>Underground Audio/Video</a:t>
            </a:r>
          </a:p>
          <a:p>
            <a:pPr algn="l"/>
            <a:r>
              <a:rPr sz="3200" b="1" i="0">
                <a:solidFill>
                  <a:srgbClr val="1B3A4B"/>
                </a:solidFill>
                <a:latin typeface="Calibri"/>
              </a:rPr>
              <a:t>Communication System</a:t>
            </a:r>
          </a:p>
          <a:p>
            <a:pPr algn="l"/>
            <a:r>
              <a:rPr sz="3200" b="1" i="0">
                <a:solidFill>
                  <a:srgbClr val="1B3A4B"/>
                </a:solidFill>
                <a:latin typeface="Calibri"/>
              </a:rPr>
              <a:t>for Miner Safety</a:t>
            </a:r>
          </a:p>
          <a:p>
            <a:pPr algn="l"/>
            <a:r>
              <a:rPr sz="3200" b="1" i="0">
                <a:solidFill>
                  <a:srgbClr val="1B3A4B"/>
                </a:solidFill>
                <a:latin typeface="Calibri"/>
              </a:rPr>
              <a:t>and Monitoring</a:t>
            </a:r>
          </a:p>
        </p:txBody>
      </p:sp>
      <p:sp>
        <p:nvSpPr>
          <p:cNvPr id="9" name="TextBox 8"/>
          <p:cNvSpPr txBox="1"/>
          <p:nvPr/>
        </p:nvSpPr>
        <p:spPr>
          <a:xfrm>
            <a:off x="457200" y="3840480"/>
            <a:ext cx="5852160" cy="731520"/>
          </a:xfrm>
          <a:prstGeom prst="rect">
            <a:avLst/>
          </a:prstGeom>
          <a:noFill/>
        </p:spPr>
        <p:txBody>
          <a:bodyPr wrap="square" lIns="45720" rIns="45720" tIns="27432" bIns="27432" anchor="t">
            <a:spAutoFit/>
          </a:bodyPr>
          <a:lstStyle/>
          <a:p>
            <a:pPr algn="l"/>
            <a:r>
              <a:rPr sz="1700" b="0" i="0">
                <a:solidFill>
                  <a:srgbClr val="1C2430"/>
                </a:solidFill>
                <a:latin typeface="Calibri"/>
              </a:rPr>
              <a:t>Hybrid free-space optical and LoRa communication for real-time video and emergency alerts in underground mines.</a:t>
            </a:r>
          </a:p>
        </p:txBody>
      </p:sp>
      <p:sp>
        <p:nvSpPr>
          <p:cNvPr id="10" name="Rectangle 9"/>
          <p:cNvSpPr/>
          <p:nvPr/>
        </p:nvSpPr>
        <p:spPr>
          <a:xfrm>
            <a:off x="6720840" y="1188720"/>
            <a:ext cx="5029200" cy="566928"/>
          </a:xfrm>
          <a:prstGeom prst="rect">
            <a:avLst/>
          </a:prstGeom>
          <a:solidFill>
            <a:srgbClr val="F2F7FB"/>
          </a:solidFill>
          <a:ln>
            <a:noFill/>
          </a:ln>
        </p:spPr>
        <p:txBody>
          <a:bodyPr rtlCol="0" anchor="ctr"/>
          <a:lstStyle/>
          <a:p>
            <a:pPr algn="ctr"/>
          </a:p>
        </p:txBody>
      </p:sp>
      <p:sp>
        <p:nvSpPr>
          <p:cNvPr id="11" name="Rectangle 10"/>
          <p:cNvSpPr/>
          <p:nvPr/>
        </p:nvSpPr>
        <p:spPr>
          <a:xfrm>
            <a:off x="6720840" y="1755648"/>
            <a:ext cx="5029200" cy="73152"/>
          </a:xfrm>
          <a:prstGeom prst="rect">
            <a:avLst/>
          </a:prstGeom>
          <a:solidFill>
            <a:srgbClr val="7C9A5B"/>
          </a:solidFill>
          <a:ln>
            <a:noFill/>
          </a:ln>
        </p:spPr>
        <p:txBody>
          <a:bodyPr rtlCol="0" anchor="ctr"/>
          <a:lstStyle/>
          <a:p>
            <a:pPr algn="ctr"/>
          </a:p>
        </p:txBody>
      </p:sp>
      <p:pic>
        <p:nvPicPr>
          <p:cNvPr id="12" name="Picture 11" descr="rock2.jpg"/>
          <p:cNvPicPr>
            <a:picLocks noChangeAspect="1"/>
          </p:cNvPicPr>
          <p:nvPr/>
        </p:nvPicPr>
        <p:blipFill>
          <a:blip r:embed="rId5"/>
          <a:srcRect t="9642" b="30876"/>
          <a:stretch>
            <a:fillRect/>
          </a:stretch>
        </p:blipFill>
        <p:spPr>
          <a:xfrm>
            <a:off x="6720840" y="1828800"/>
            <a:ext cx="5029200" cy="502920"/>
          </a:xfrm>
          <a:prstGeom prst="rect">
            <a:avLst/>
          </a:prstGeom>
        </p:spPr>
      </p:pic>
      <p:sp>
        <p:nvSpPr>
          <p:cNvPr id="13" name="Rectangle 12"/>
          <p:cNvSpPr/>
          <p:nvPr/>
        </p:nvSpPr>
        <p:spPr>
          <a:xfrm>
            <a:off x="6720840" y="2331720"/>
            <a:ext cx="5029200" cy="1691640"/>
          </a:xfrm>
          <a:prstGeom prst="rect">
            <a:avLst/>
          </a:prstGeom>
          <a:solidFill>
            <a:srgbClr val="F4F1EC"/>
          </a:solidFill>
          <a:ln>
            <a:noFill/>
          </a:ln>
        </p:spPr>
        <p:txBody>
          <a:bodyPr rtlCol="0" anchor="ctr"/>
          <a:lstStyle/>
          <a:p>
            <a:pPr algn="ctr"/>
          </a:p>
        </p:txBody>
      </p:sp>
      <p:sp>
        <p:nvSpPr>
          <p:cNvPr id="14" name="Rectangle 13"/>
          <p:cNvSpPr/>
          <p:nvPr/>
        </p:nvSpPr>
        <p:spPr>
          <a:xfrm>
            <a:off x="6720840" y="3941064"/>
            <a:ext cx="5029200" cy="82296"/>
          </a:xfrm>
          <a:prstGeom prst="rect">
            <a:avLst/>
          </a:prstGeom>
          <a:solidFill>
            <a:srgbClr val="D8D2C6"/>
          </a:solidFill>
          <a:ln>
            <a:noFill/>
          </a:ln>
        </p:spPr>
        <p:txBody>
          <a:bodyPr rtlCol="0" anchor="ctr"/>
          <a:lstStyle/>
          <a:p>
            <a:pPr algn="ctr"/>
          </a:p>
        </p:txBody>
      </p:sp>
      <p:sp>
        <p:nvSpPr>
          <p:cNvPr id="15" name="Rectangle 14"/>
          <p:cNvSpPr/>
          <p:nvPr/>
        </p:nvSpPr>
        <p:spPr>
          <a:xfrm>
            <a:off x="6720840" y="2331720"/>
            <a:ext cx="5029200" cy="36576"/>
          </a:xfrm>
          <a:prstGeom prst="rect">
            <a:avLst/>
          </a:prstGeom>
          <a:solidFill>
            <a:srgbClr val="7A6350"/>
          </a:solidFill>
          <a:ln>
            <a:noFill/>
          </a:ln>
        </p:spPr>
        <p:txBody>
          <a:bodyPr rtlCol="0" anchor="ctr"/>
          <a:lstStyle/>
          <a:p>
            <a:pPr algn="ctr"/>
          </a:p>
        </p:txBody>
      </p:sp>
      <p:pic>
        <p:nvPicPr>
          <p:cNvPr id="16" name="Picture 15" descr="rock2.jpg"/>
          <p:cNvPicPr>
            <a:picLocks noChangeAspect="1"/>
          </p:cNvPicPr>
          <p:nvPr/>
        </p:nvPicPr>
        <p:blipFill>
          <a:blip r:embed="rId5"/>
          <a:srcRect t="7960" b="27150"/>
          <a:stretch>
            <a:fillRect/>
          </a:stretch>
        </p:blipFill>
        <p:spPr>
          <a:xfrm>
            <a:off x="6720840" y="4023360"/>
            <a:ext cx="5029200" cy="548640"/>
          </a:xfrm>
          <a:prstGeom prst="rect">
            <a:avLst/>
          </a:prstGeom>
        </p:spPr>
      </p:pic>
      <p:cxnSp>
        <p:nvCxnSpPr>
          <p:cNvPr id="17" name="Connector 16"/>
          <p:cNvCxnSpPr/>
          <p:nvPr/>
        </p:nvCxnSpPr>
        <p:spPr>
          <a:xfrm flipH="1">
            <a:off x="11122761" y="1024127"/>
            <a:ext cx="124359" cy="731521"/>
          </a:xfrm>
          <a:prstGeom prst="line">
            <a:avLst/>
          </a:prstGeom>
          <a:ln w="31750">
            <a:solidFill>
              <a:srgbClr val="1A1A1A"/>
            </a:solidFill>
          </a:ln>
        </p:spPr>
      </p:cxnSp>
      <p:cxnSp>
        <p:nvCxnSpPr>
          <p:cNvPr id="18" name="Connector 17"/>
          <p:cNvCxnSpPr/>
          <p:nvPr/>
        </p:nvCxnSpPr>
        <p:spPr>
          <a:xfrm>
            <a:off x="11247120" y="1024127"/>
            <a:ext cx="124358" cy="731521"/>
          </a:xfrm>
          <a:prstGeom prst="line">
            <a:avLst/>
          </a:prstGeom>
          <a:ln w="31750">
            <a:solidFill>
              <a:srgbClr val="1A1A1A"/>
            </a:solidFill>
          </a:ln>
        </p:spPr>
      </p:cxnSp>
      <p:cxnSp>
        <p:nvCxnSpPr>
          <p:cNvPr id="19" name="Connector 18"/>
          <p:cNvCxnSpPr/>
          <p:nvPr/>
        </p:nvCxnSpPr>
        <p:spPr>
          <a:xfrm>
            <a:off x="11173968" y="1536192"/>
            <a:ext cx="146304" cy="0"/>
          </a:xfrm>
          <a:prstGeom prst="line">
            <a:avLst/>
          </a:prstGeom>
          <a:ln w="19050">
            <a:solidFill>
              <a:srgbClr val="1A1A1A"/>
            </a:solidFill>
          </a:ln>
        </p:spPr>
      </p:cxnSp>
      <p:cxnSp>
        <p:nvCxnSpPr>
          <p:cNvPr id="20" name="Connector 19"/>
          <p:cNvCxnSpPr/>
          <p:nvPr/>
        </p:nvCxnSpPr>
        <p:spPr>
          <a:xfrm>
            <a:off x="11203228" y="1316736"/>
            <a:ext cx="87783" cy="0"/>
          </a:xfrm>
          <a:prstGeom prst="line">
            <a:avLst/>
          </a:prstGeom>
          <a:ln w="19050">
            <a:solidFill>
              <a:srgbClr val="1A1A1A"/>
            </a:solidFill>
          </a:ln>
        </p:spPr>
      </p:cxnSp>
      <p:sp>
        <p:nvSpPr>
          <p:cNvPr id="21" name="Oval 20"/>
          <p:cNvSpPr/>
          <p:nvPr/>
        </p:nvSpPr>
        <p:spPr>
          <a:xfrm>
            <a:off x="11195913" y="972921"/>
            <a:ext cx="102412" cy="102412"/>
          </a:xfrm>
          <a:prstGeom prst="ellipse">
            <a:avLst/>
          </a:prstGeom>
          <a:solidFill>
            <a:srgbClr val="E8445A"/>
          </a:solidFill>
          <a:ln>
            <a:noFill/>
          </a:ln>
        </p:spPr>
        <p:txBody>
          <a:bodyPr rtlCol="0" anchor="ctr"/>
          <a:lstStyle/>
          <a:p>
            <a:pPr algn="ctr"/>
          </a:p>
        </p:txBody>
      </p:sp>
      <p:pic>
        <p:nvPicPr>
          <p:cNvPr id="22" name="Picture 21" descr="tripodL.png"/>
          <p:cNvPicPr>
            <a:picLocks noChangeAspect="1"/>
          </p:cNvPicPr>
          <p:nvPr/>
        </p:nvPicPr>
        <p:blipFill>
          <a:blip r:embed="rId6"/>
          <a:stretch>
            <a:fillRect/>
          </a:stretch>
        </p:blipFill>
        <p:spPr>
          <a:xfrm>
            <a:off x="7055192" y="2752344"/>
            <a:ext cx="702895" cy="1188720"/>
          </a:xfrm>
          <a:prstGeom prst="rect">
            <a:avLst/>
          </a:prstGeom>
        </p:spPr>
      </p:pic>
      <p:pic>
        <p:nvPicPr>
          <p:cNvPr id="23" name="Picture 22" descr="tripodR.png"/>
          <p:cNvPicPr>
            <a:picLocks noChangeAspect="1"/>
          </p:cNvPicPr>
          <p:nvPr/>
        </p:nvPicPr>
        <p:blipFill>
          <a:blip r:embed="rId7"/>
          <a:stretch>
            <a:fillRect/>
          </a:stretch>
        </p:blipFill>
        <p:spPr>
          <a:xfrm>
            <a:off x="8472711" y="2752344"/>
            <a:ext cx="868282" cy="1188720"/>
          </a:xfrm>
          <a:prstGeom prst="rect">
            <a:avLst/>
          </a:prstGeom>
        </p:spPr>
      </p:pic>
      <p:pic>
        <p:nvPicPr>
          <p:cNvPr id="24" name="Picture 23" descr="tripodL.png"/>
          <p:cNvPicPr>
            <a:picLocks noChangeAspect="1"/>
          </p:cNvPicPr>
          <p:nvPr/>
        </p:nvPicPr>
        <p:blipFill>
          <a:blip r:embed="rId6"/>
          <a:stretch>
            <a:fillRect/>
          </a:stretch>
        </p:blipFill>
        <p:spPr>
          <a:xfrm>
            <a:off x="9386713" y="2752344"/>
            <a:ext cx="702895" cy="1188720"/>
          </a:xfrm>
          <a:prstGeom prst="rect">
            <a:avLst/>
          </a:prstGeom>
        </p:spPr>
      </p:pic>
      <p:pic>
        <p:nvPicPr>
          <p:cNvPr id="25" name="Picture 24" descr="tripodR.png"/>
          <p:cNvPicPr>
            <a:picLocks noChangeAspect="1"/>
          </p:cNvPicPr>
          <p:nvPr/>
        </p:nvPicPr>
        <p:blipFill>
          <a:blip r:embed="rId7"/>
          <a:stretch>
            <a:fillRect/>
          </a:stretch>
        </p:blipFill>
        <p:spPr>
          <a:xfrm>
            <a:off x="10492938" y="2752344"/>
            <a:ext cx="868282" cy="1188720"/>
          </a:xfrm>
          <a:prstGeom prst="rect">
            <a:avLst/>
          </a:prstGeom>
        </p:spPr>
      </p:pic>
      <p:sp>
        <p:nvSpPr>
          <p:cNvPr id="26" name="Rectangle 25"/>
          <p:cNvSpPr/>
          <p:nvPr/>
        </p:nvSpPr>
        <p:spPr>
          <a:xfrm>
            <a:off x="7758087" y="2802818"/>
            <a:ext cx="714623" cy="146304"/>
          </a:xfrm>
          <a:prstGeom prst="rect">
            <a:avLst/>
          </a:prstGeom>
          <a:solidFill>
            <a:srgbClr val="ED7D31">
              <a:alpha val="28000"/>
            </a:srgbClr>
          </a:solidFill>
          <a:ln>
            <a:noFill/>
          </a:ln>
        </p:spPr>
        <p:txBody>
          <a:bodyPr rtlCol="0" anchor="ctr"/>
          <a:lstStyle/>
          <a:p>
            <a:pPr algn="ctr"/>
          </a:p>
        </p:txBody>
      </p:sp>
      <p:sp>
        <p:nvSpPr>
          <p:cNvPr id="27" name="Rectangle 26"/>
          <p:cNvSpPr/>
          <p:nvPr/>
        </p:nvSpPr>
        <p:spPr>
          <a:xfrm>
            <a:off x="7758087" y="2853110"/>
            <a:ext cx="714623" cy="45720"/>
          </a:xfrm>
          <a:prstGeom prst="rect">
            <a:avLst/>
          </a:prstGeom>
          <a:solidFill>
            <a:srgbClr val="ED7D31"/>
          </a:solidFill>
          <a:ln>
            <a:noFill/>
          </a:ln>
        </p:spPr>
        <p:txBody>
          <a:bodyPr rtlCol="0" anchor="ctr"/>
          <a:lstStyle/>
          <a:p>
            <a:pPr algn="ctr"/>
          </a:p>
        </p:txBody>
      </p:sp>
      <p:sp>
        <p:nvSpPr>
          <p:cNvPr id="28" name="Rectangle 27"/>
          <p:cNvSpPr/>
          <p:nvPr/>
        </p:nvSpPr>
        <p:spPr>
          <a:xfrm>
            <a:off x="10089608" y="2802818"/>
            <a:ext cx="403329" cy="146304"/>
          </a:xfrm>
          <a:prstGeom prst="rect">
            <a:avLst/>
          </a:prstGeom>
          <a:solidFill>
            <a:srgbClr val="ED7D31">
              <a:alpha val="28000"/>
            </a:srgbClr>
          </a:solidFill>
          <a:ln>
            <a:noFill/>
          </a:ln>
        </p:spPr>
        <p:txBody>
          <a:bodyPr rtlCol="0" anchor="ctr"/>
          <a:lstStyle/>
          <a:p>
            <a:pPr algn="ctr"/>
          </a:p>
        </p:txBody>
      </p:sp>
      <p:sp>
        <p:nvSpPr>
          <p:cNvPr id="29" name="Rectangle 28"/>
          <p:cNvSpPr/>
          <p:nvPr/>
        </p:nvSpPr>
        <p:spPr>
          <a:xfrm>
            <a:off x="10089608" y="2853110"/>
            <a:ext cx="403329" cy="45720"/>
          </a:xfrm>
          <a:prstGeom prst="rect">
            <a:avLst/>
          </a:prstGeom>
          <a:solidFill>
            <a:srgbClr val="ED7D31"/>
          </a:solidFill>
          <a:ln>
            <a:noFill/>
          </a:ln>
        </p:spPr>
        <p:txBody>
          <a:bodyPr rtlCol="0" anchor="ctr"/>
          <a:lstStyle/>
          <a:p>
            <a:pPr algn="ctr"/>
          </a:p>
        </p:txBody>
      </p:sp>
      <p:cxnSp>
        <p:nvCxnSpPr>
          <p:cNvPr id="30" name="Connector 29"/>
          <p:cNvCxnSpPr/>
          <p:nvPr/>
        </p:nvCxnSpPr>
        <p:spPr>
          <a:xfrm flipV="1">
            <a:off x="7406640" y="1252728"/>
            <a:ext cx="3840480" cy="1499616"/>
          </a:xfrm>
          <a:prstGeom prst="line">
            <a:avLst/>
          </a:prstGeom>
          <a:ln w="15875">
            <a:solidFill>
              <a:srgbClr val="404040"/>
            </a:solidFill>
            <a:prstDash val="sysDot"/>
          </a:ln>
        </p:spPr>
      </p:cxnSp>
      <p:cxnSp>
        <p:nvCxnSpPr>
          <p:cNvPr id="31" name="Connector 30"/>
          <p:cNvCxnSpPr/>
          <p:nvPr/>
        </p:nvCxnSpPr>
        <p:spPr>
          <a:xfrm flipV="1">
            <a:off x="9281159" y="1252728"/>
            <a:ext cx="1965961" cy="1499616"/>
          </a:xfrm>
          <a:prstGeom prst="line">
            <a:avLst/>
          </a:prstGeom>
          <a:ln w="15875">
            <a:solidFill>
              <a:srgbClr val="404040"/>
            </a:solidFill>
            <a:prstDash val="sysDot"/>
          </a:ln>
        </p:spPr>
      </p:cxnSp>
      <p:sp>
        <p:nvSpPr>
          <p:cNvPr id="32" name="TextBox 31"/>
          <p:cNvSpPr txBox="1"/>
          <p:nvPr/>
        </p:nvSpPr>
        <p:spPr>
          <a:xfrm>
            <a:off x="6720840" y="1298448"/>
            <a:ext cx="2926080" cy="365760"/>
          </a:xfrm>
          <a:prstGeom prst="rect">
            <a:avLst/>
          </a:prstGeom>
          <a:noFill/>
        </p:spPr>
        <p:txBody>
          <a:bodyPr wrap="square" lIns="45720" rIns="45720" tIns="27432" bIns="27432" anchor="t">
            <a:spAutoFit/>
          </a:bodyPr>
          <a:lstStyle/>
          <a:p>
            <a:pPr algn="l"/>
            <a:r>
              <a:rPr sz="1300" b="1" i="0">
                <a:solidFill>
                  <a:srgbClr val="1B3A4B"/>
                </a:solidFill>
                <a:latin typeface="Calibri"/>
              </a:rPr>
              <a:t>Underground nodes  ·  50–100 m hops</a:t>
            </a:r>
          </a:p>
        </p:txBody>
      </p:sp>
      <p:sp>
        <p:nvSpPr>
          <p:cNvPr id="33" name="Rectangle 32"/>
          <p:cNvSpPr/>
          <p:nvPr/>
        </p:nvSpPr>
        <p:spPr>
          <a:xfrm>
            <a:off x="6720840" y="1188720"/>
            <a:ext cx="5029200" cy="3383280"/>
          </a:xfrm>
          <a:prstGeom prst="rect">
            <a:avLst/>
          </a:prstGeom>
          <a:noFill/>
          <a:ln w="9525">
            <a:solidFill>
              <a:srgbClr val="9A9A9A"/>
            </a:solidFill>
          </a:ln>
        </p:spPr>
        <p:txBody>
          <a:bodyPr rtlCol="0" anchor="ctr"/>
          <a:lstStyle/>
          <a:p>
            <a:pPr algn="ctr"/>
          </a:p>
        </p:txBody>
      </p:sp>
      <p:sp>
        <p:nvSpPr>
          <p:cNvPr id="34" name="Rectangle 33"/>
          <p:cNvSpPr/>
          <p:nvPr/>
        </p:nvSpPr>
        <p:spPr>
          <a:xfrm>
            <a:off x="457200" y="4663440"/>
            <a:ext cx="2011680" cy="18288"/>
          </a:xfrm>
          <a:prstGeom prst="rect">
            <a:avLst/>
          </a:prstGeom>
          <a:solidFill>
            <a:srgbClr val="ED7D31"/>
          </a:solidFill>
          <a:ln>
            <a:noFill/>
          </a:ln>
        </p:spPr>
        <p:txBody>
          <a:bodyPr rtlCol="0" anchor="ctr"/>
          <a:lstStyle/>
          <a:p>
            <a:pPr algn="ctr"/>
          </a:p>
        </p:txBody>
      </p:sp>
      <p:sp>
        <p:nvSpPr>
          <p:cNvPr id="35" name="TextBox 34"/>
          <p:cNvSpPr txBox="1"/>
          <p:nvPr/>
        </p:nvSpPr>
        <p:spPr>
          <a:xfrm>
            <a:off x="457200" y="4846320"/>
            <a:ext cx="2743200" cy="256032"/>
          </a:xfrm>
          <a:prstGeom prst="rect">
            <a:avLst/>
          </a:prstGeom>
          <a:noFill/>
        </p:spPr>
        <p:txBody>
          <a:bodyPr wrap="square" lIns="45720" rIns="45720" tIns="27432" bIns="27432" anchor="t">
            <a:spAutoFit/>
          </a:bodyPr>
          <a:lstStyle/>
          <a:p>
            <a:pPr algn="l"/>
            <a:r>
              <a:rPr sz="1200" b="1" i="0">
                <a:solidFill>
                  <a:srgbClr val="C55A11"/>
                </a:solidFill>
                <a:latin typeface="Calibri"/>
              </a:rPr>
              <a:t>Focus</a:t>
            </a:r>
          </a:p>
        </p:txBody>
      </p:sp>
      <p:sp>
        <p:nvSpPr>
          <p:cNvPr id="36" name="TextBox 35"/>
          <p:cNvSpPr txBox="1"/>
          <p:nvPr/>
        </p:nvSpPr>
        <p:spPr>
          <a:xfrm>
            <a:off x="457200" y="5102352"/>
            <a:ext cx="2743200" cy="731520"/>
          </a:xfrm>
          <a:prstGeom prst="rect">
            <a:avLst/>
          </a:prstGeom>
          <a:noFill/>
        </p:spPr>
        <p:txBody>
          <a:bodyPr wrap="square" lIns="45720" rIns="45720" tIns="27432" bIns="27432" anchor="t">
            <a:spAutoFit/>
          </a:bodyPr>
          <a:lstStyle/>
          <a:p>
            <a:pPr algn="l"/>
            <a:r>
              <a:rPr sz="1700" b="1" i="0">
                <a:solidFill>
                  <a:srgbClr val="1B3A4B"/>
                </a:solidFill>
                <a:latin typeface="Calibri"/>
              </a:rPr>
              <a:t>4S Mining</a:t>
            </a:r>
          </a:p>
          <a:p>
            <a:pPr algn="l"/>
            <a:r>
              <a:rPr sz="1400" b="0" i="0">
                <a:solidFill>
                  <a:srgbClr val="5C6770"/>
                </a:solidFill>
                <a:latin typeface="Calibri"/>
              </a:rPr>
              <a:t>Safe, Smart, Sustainable, Social</a:t>
            </a:r>
          </a:p>
        </p:txBody>
      </p:sp>
      <p:sp>
        <p:nvSpPr>
          <p:cNvPr id="37" name="TextBox 36"/>
          <p:cNvSpPr txBox="1"/>
          <p:nvPr/>
        </p:nvSpPr>
        <p:spPr>
          <a:xfrm>
            <a:off x="3291840" y="4846320"/>
            <a:ext cx="2743200" cy="256032"/>
          </a:xfrm>
          <a:prstGeom prst="rect">
            <a:avLst/>
          </a:prstGeom>
          <a:noFill/>
        </p:spPr>
        <p:txBody>
          <a:bodyPr wrap="square" lIns="45720" rIns="45720" tIns="27432" bIns="27432" anchor="t">
            <a:spAutoFit/>
          </a:bodyPr>
          <a:lstStyle/>
          <a:p>
            <a:pPr algn="l"/>
            <a:r>
              <a:rPr sz="1200" b="1" i="0">
                <a:solidFill>
                  <a:srgbClr val="C55A11"/>
                </a:solidFill>
                <a:latin typeface="Calibri"/>
              </a:rPr>
              <a:t>Funding</a:t>
            </a:r>
          </a:p>
        </p:txBody>
      </p:sp>
      <p:sp>
        <p:nvSpPr>
          <p:cNvPr id="38" name="TextBox 37"/>
          <p:cNvSpPr txBox="1"/>
          <p:nvPr/>
        </p:nvSpPr>
        <p:spPr>
          <a:xfrm>
            <a:off x="3291840" y="5102352"/>
            <a:ext cx="2743200" cy="731520"/>
          </a:xfrm>
          <a:prstGeom prst="rect">
            <a:avLst/>
          </a:prstGeom>
          <a:noFill/>
        </p:spPr>
        <p:txBody>
          <a:bodyPr wrap="square" lIns="45720" rIns="45720" tIns="27432" bIns="27432" anchor="t">
            <a:spAutoFit/>
          </a:bodyPr>
          <a:lstStyle/>
          <a:p>
            <a:pPr algn="l"/>
            <a:r>
              <a:rPr sz="1700" b="1" i="0">
                <a:solidFill>
                  <a:srgbClr val="1B3A4B"/>
                </a:solidFill>
                <a:latin typeface="Calibri"/>
              </a:rPr>
              <a:t>₹15 lakh</a:t>
            </a:r>
          </a:p>
          <a:p>
            <a:pPr algn="l"/>
            <a:r>
              <a:rPr sz="1400" b="0" i="0">
                <a:solidFill>
                  <a:srgbClr val="5C6770"/>
                </a:solidFill>
                <a:latin typeface="Calibri"/>
              </a:rPr>
              <a:t>24 months</a:t>
            </a:r>
          </a:p>
        </p:txBody>
      </p:sp>
      <p:sp>
        <p:nvSpPr>
          <p:cNvPr id="39" name="TextBox 38"/>
          <p:cNvSpPr txBox="1"/>
          <p:nvPr/>
        </p:nvSpPr>
        <p:spPr>
          <a:xfrm>
            <a:off x="6126480" y="4846320"/>
            <a:ext cx="2743200" cy="256032"/>
          </a:xfrm>
          <a:prstGeom prst="rect">
            <a:avLst/>
          </a:prstGeom>
          <a:noFill/>
        </p:spPr>
        <p:txBody>
          <a:bodyPr wrap="square" lIns="45720" rIns="45720" tIns="27432" bIns="27432" anchor="t">
            <a:spAutoFit/>
          </a:bodyPr>
          <a:lstStyle/>
          <a:p>
            <a:pPr algn="l"/>
            <a:r>
              <a:rPr sz="1200" b="1" i="0">
                <a:solidFill>
                  <a:srgbClr val="C55A11"/>
                </a:solidFill>
                <a:latin typeface="Calibri"/>
              </a:rPr>
              <a:t>Readiness</a:t>
            </a:r>
          </a:p>
        </p:txBody>
      </p:sp>
      <p:sp>
        <p:nvSpPr>
          <p:cNvPr id="40" name="TextBox 39"/>
          <p:cNvSpPr txBox="1"/>
          <p:nvPr/>
        </p:nvSpPr>
        <p:spPr>
          <a:xfrm>
            <a:off x="6126480" y="5102352"/>
            <a:ext cx="2743200" cy="731520"/>
          </a:xfrm>
          <a:prstGeom prst="rect">
            <a:avLst/>
          </a:prstGeom>
          <a:noFill/>
        </p:spPr>
        <p:txBody>
          <a:bodyPr wrap="square" lIns="45720" rIns="45720" tIns="27432" bIns="27432" anchor="t">
            <a:spAutoFit/>
          </a:bodyPr>
          <a:lstStyle/>
          <a:p>
            <a:pPr algn="l"/>
            <a:r>
              <a:rPr sz="1700" b="1" i="0">
                <a:solidFill>
                  <a:srgbClr val="1B3A4B"/>
                </a:solidFill>
                <a:latin typeface="Calibri"/>
              </a:rPr>
              <a:t>TRL 2  →  TRL 5</a:t>
            </a:r>
          </a:p>
          <a:p>
            <a:pPr algn="l"/>
            <a:r>
              <a:rPr sz="1400" b="0" i="0">
                <a:solidFill>
                  <a:srgbClr val="5C6770"/>
                </a:solidFill>
                <a:latin typeface="Calibri"/>
              </a:rPr>
              <a:t>Tunnel-level validation</a:t>
            </a:r>
          </a:p>
        </p:txBody>
      </p:sp>
      <p:sp>
        <p:nvSpPr>
          <p:cNvPr id="41" name="TextBox 40"/>
          <p:cNvSpPr txBox="1"/>
          <p:nvPr/>
        </p:nvSpPr>
        <p:spPr>
          <a:xfrm>
            <a:off x="8961120" y="4846320"/>
            <a:ext cx="2743200" cy="256032"/>
          </a:xfrm>
          <a:prstGeom prst="rect">
            <a:avLst/>
          </a:prstGeom>
          <a:noFill/>
        </p:spPr>
        <p:txBody>
          <a:bodyPr wrap="square" lIns="45720" rIns="45720" tIns="27432" bIns="27432" anchor="t">
            <a:spAutoFit/>
          </a:bodyPr>
          <a:lstStyle/>
          <a:p>
            <a:pPr algn="l"/>
            <a:r>
              <a:rPr sz="1200" b="1" i="0">
                <a:solidFill>
                  <a:srgbClr val="C55A11"/>
                </a:solidFill>
                <a:latin typeface="Calibri"/>
              </a:rPr>
              <a:t>Institute</a:t>
            </a:r>
          </a:p>
        </p:txBody>
      </p:sp>
      <p:sp>
        <p:nvSpPr>
          <p:cNvPr id="42" name="TextBox 41"/>
          <p:cNvSpPr txBox="1"/>
          <p:nvPr/>
        </p:nvSpPr>
        <p:spPr>
          <a:xfrm>
            <a:off x="8961120" y="5102352"/>
            <a:ext cx="2743200" cy="731520"/>
          </a:xfrm>
          <a:prstGeom prst="rect">
            <a:avLst/>
          </a:prstGeom>
          <a:noFill/>
        </p:spPr>
        <p:txBody>
          <a:bodyPr wrap="square" lIns="45720" rIns="45720" tIns="27432" bIns="27432" anchor="t">
            <a:spAutoFit/>
          </a:bodyPr>
          <a:lstStyle/>
          <a:p>
            <a:pPr algn="l"/>
            <a:r>
              <a:rPr sz="1700" b="1" i="0">
                <a:solidFill>
                  <a:srgbClr val="1B3A4B"/>
                </a:solidFill>
                <a:latin typeface="Calibri"/>
              </a:rPr>
              <a:t>NIT Rourkela</a:t>
            </a:r>
          </a:p>
          <a:p>
            <a:pPr algn="l"/>
            <a:r>
              <a:rPr sz="1400" b="0" i="0">
                <a:solidFill>
                  <a:srgbClr val="5C6770"/>
                </a:solidFill>
                <a:latin typeface="Calibri"/>
              </a:rPr>
              <a:t>Prof. Sadananda Behera, PI</a:t>
            </a:r>
          </a:p>
        </p:txBody>
      </p:sp>
      <p:sp>
        <p:nvSpPr>
          <p:cNvPr id="43" name="TextBox 42"/>
          <p:cNvSpPr txBox="1"/>
          <p:nvPr/>
        </p:nvSpPr>
        <p:spPr>
          <a:xfrm>
            <a:off x="457200" y="5989320"/>
            <a:ext cx="11155680" cy="365760"/>
          </a:xfrm>
          <a:prstGeom prst="rect">
            <a:avLst/>
          </a:prstGeom>
          <a:noFill/>
        </p:spPr>
        <p:txBody>
          <a:bodyPr wrap="square" lIns="45720" rIns="45720" tIns="27432" bIns="27432" anchor="t">
            <a:spAutoFit/>
          </a:bodyPr>
          <a:lstStyle/>
          <a:p>
            <a:pPr algn="l"/>
            <a:r>
              <a:rPr sz="1400" b="0" i="0">
                <a:solidFill>
                  <a:srgbClr val="5C6770"/>
                </a:solidFill>
                <a:latin typeface="Calibri"/>
              </a:rPr>
              <a:t>Prof. Sadananda Behera, Assistant Professor     ·     98610 77539     ·     No co-PI     ·     Industry letter: not attached</a:t>
            </a:r>
          </a:p>
        </p:txBody>
      </p:sp>
      <p:sp>
        <p:nvSpPr>
          <p:cNvPr id="44"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45"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Title</a:t>
            </a:r>
          </a:p>
        </p:txBody>
      </p:sp>
      <p:sp>
        <p:nvSpPr>
          <p:cNvPr id="46"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01     ·     PROJECT TITLE AND OBJECTIVES</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Objective</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Objectives</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2  /  15</a:t>
            </a:r>
          </a:p>
        </p:txBody>
      </p:sp>
      <p:sp>
        <p:nvSpPr>
          <p:cNvPr id="9" name="Rounded Rectangle 8"/>
          <p:cNvSpPr/>
          <p:nvPr/>
        </p:nvSpPr>
        <p:spPr>
          <a:xfrm>
            <a:off x="457200" y="1097280"/>
            <a:ext cx="11292840" cy="109728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0" name="TextBox 9"/>
          <p:cNvSpPr txBox="1"/>
          <p:nvPr/>
        </p:nvSpPr>
        <p:spPr>
          <a:xfrm>
            <a:off x="731520" y="1170432"/>
            <a:ext cx="10789920" cy="960120"/>
          </a:xfrm>
          <a:prstGeom prst="rect">
            <a:avLst/>
          </a:prstGeom>
          <a:noFill/>
        </p:spPr>
        <p:txBody>
          <a:bodyPr wrap="square" lIns="45720" rIns="45720" tIns="27432" bIns="27432" anchor="ctr">
            <a:spAutoFit/>
          </a:bodyPr>
          <a:lstStyle/>
          <a:p>
            <a:pPr algn="l"/>
            <a:r>
              <a:rPr sz="2100" b="1" i="0">
                <a:solidFill>
                  <a:srgbClr val="FFFFFF"/>
                </a:solidFill>
                <a:latin typeface="Calibri"/>
              </a:rPr>
              <a:t>Real-time video from a mine heading to the surface on aligned free-space optical hops, with LoRa keeping the alert path alive.</a:t>
            </a:r>
          </a:p>
        </p:txBody>
      </p:sp>
      <p:sp>
        <p:nvSpPr>
          <p:cNvPr id="11" name="TextBox 10"/>
          <p:cNvSpPr txBox="1"/>
          <p:nvPr/>
        </p:nvSpPr>
        <p:spPr>
          <a:xfrm>
            <a:off x="457200" y="2423160"/>
            <a:ext cx="5486400" cy="365760"/>
          </a:xfrm>
          <a:prstGeom prst="rect">
            <a:avLst/>
          </a:prstGeom>
          <a:noFill/>
        </p:spPr>
        <p:txBody>
          <a:bodyPr wrap="square" lIns="45720" rIns="45720" tIns="27432" bIns="27432" anchor="t">
            <a:spAutoFit/>
          </a:bodyPr>
          <a:lstStyle/>
          <a:p>
            <a:pPr algn="l"/>
            <a:r>
              <a:rPr sz="1900" b="1" i="0">
                <a:solidFill>
                  <a:srgbClr val="1B3A4B"/>
                </a:solidFill>
                <a:latin typeface="Calibri"/>
              </a:rPr>
              <a:t>Specific objectives</a:t>
            </a:r>
          </a:p>
        </p:txBody>
      </p:sp>
      <p:sp>
        <p:nvSpPr>
          <p:cNvPr id="12" name="Rounded Rectangle 11"/>
          <p:cNvSpPr/>
          <p:nvPr/>
        </p:nvSpPr>
        <p:spPr>
          <a:xfrm>
            <a:off x="457200" y="2880360"/>
            <a:ext cx="2697480" cy="3337560"/>
          </a:xfrm>
          <a:prstGeom prst="roundRect">
            <a:avLst>
              <a:gd name="adj" fmla="val 8000"/>
            </a:avLst>
          </a:prstGeom>
          <a:solidFill>
            <a:srgbClr val="E9E9E9"/>
          </a:solidFill>
          <a:ln w="9525">
            <a:solidFill>
              <a:srgbClr val="9A9A9A"/>
            </a:solidFill>
          </a:ln>
        </p:spPr>
        <p:txBody>
          <a:bodyPr rtlCol="0" anchor="ctr"/>
          <a:lstStyle/>
          <a:p>
            <a:pPr algn="ctr"/>
          </a:p>
        </p:txBody>
      </p:sp>
      <p:sp>
        <p:nvSpPr>
          <p:cNvPr id="13" name="Oval 12"/>
          <p:cNvSpPr/>
          <p:nvPr/>
        </p:nvSpPr>
        <p:spPr>
          <a:xfrm>
            <a:off x="640080" y="3063240"/>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1</a:t>
            </a:r>
          </a:p>
        </p:txBody>
      </p:sp>
      <p:pic>
        <p:nvPicPr>
          <p:cNvPr id="14" name="Picture 13" descr="tripodL.png"/>
          <p:cNvPicPr>
            <a:picLocks noChangeAspect="1"/>
          </p:cNvPicPr>
          <p:nvPr/>
        </p:nvPicPr>
        <p:blipFill>
          <a:blip r:embed="rId2"/>
          <a:stretch>
            <a:fillRect/>
          </a:stretch>
        </p:blipFill>
        <p:spPr>
          <a:xfrm>
            <a:off x="2423160" y="2971800"/>
            <a:ext cx="389295" cy="658368"/>
          </a:xfrm>
          <a:prstGeom prst="rect">
            <a:avLst/>
          </a:prstGeom>
        </p:spPr>
      </p:pic>
      <p:sp>
        <p:nvSpPr>
          <p:cNvPr id="15" name="TextBox 14"/>
          <p:cNvSpPr txBox="1"/>
          <p:nvPr/>
        </p:nvSpPr>
        <p:spPr>
          <a:xfrm>
            <a:off x="594360" y="3611880"/>
            <a:ext cx="2423160" cy="548640"/>
          </a:xfrm>
          <a:prstGeom prst="rect">
            <a:avLst/>
          </a:prstGeom>
          <a:noFill/>
        </p:spPr>
        <p:txBody>
          <a:bodyPr wrap="square" lIns="45720" rIns="45720" tIns="27432" bIns="27432" anchor="t">
            <a:spAutoFit/>
          </a:bodyPr>
          <a:lstStyle/>
          <a:p>
            <a:pPr algn="l"/>
            <a:r>
              <a:rPr sz="2800" b="1" i="0">
                <a:solidFill>
                  <a:srgbClr val="1B3A4B"/>
                </a:solidFill>
                <a:latin typeface="Calibri"/>
              </a:rPr>
              <a:t>50–100 m</a:t>
            </a:r>
          </a:p>
        </p:txBody>
      </p:sp>
      <p:sp>
        <p:nvSpPr>
          <p:cNvPr id="16" name="TextBox 15"/>
          <p:cNvSpPr txBox="1"/>
          <p:nvPr/>
        </p:nvSpPr>
        <p:spPr>
          <a:xfrm>
            <a:off x="594360" y="4251960"/>
            <a:ext cx="2423160" cy="1920240"/>
          </a:xfrm>
          <a:prstGeom prst="rect">
            <a:avLst/>
          </a:prstGeom>
          <a:noFill/>
        </p:spPr>
        <p:txBody>
          <a:bodyPr wrap="square" lIns="45720" rIns="45720" tIns="27432" bIns="27432" anchor="t">
            <a:spAutoFit/>
          </a:bodyPr>
          <a:lstStyle/>
          <a:p>
            <a:pPr algn="l"/>
            <a:r>
              <a:rPr sz="1800" b="0" i="0">
                <a:solidFill>
                  <a:srgbClr val="1C2430"/>
                </a:solidFill>
                <a:latin typeface="Calibri"/>
              </a:rPr>
              <a:t>Real-time video on FSO links between successive tunnel nodes</a:t>
            </a:r>
          </a:p>
        </p:txBody>
      </p:sp>
      <p:sp>
        <p:nvSpPr>
          <p:cNvPr id="17" name="Rounded Rectangle 16"/>
          <p:cNvSpPr/>
          <p:nvPr/>
        </p:nvSpPr>
        <p:spPr>
          <a:xfrm>
            <a:off x="3310128" y="2880360"/>
            <a:ext cx="2697480" cy="3337560"/>
          </a:xfrm>
          <a:prstGeom prst="roundRect">
            <a:avLst>
              <a:gd name="adj" fmla="val 8000"/>
            </a:avLst>
          </a:prstGeom>
          <a:solidFill>
            <a:srgbClr val="E9E9E9"/>
          </a:solidFill>
          <a:ln w="9525">
            <a:solidFill>
              <a:srgbClr val="9A9A9A"/>
            </a:solidFill>
          </a:ln>
        </p:spPr>
        <p:txBody>
          <a:bodyPr rtlCol="0" anchor="ctr"/>
          <a:lstStyle/>
          <a:p>
            <a:pPr algn="ctr"/>
          </a:p>
        </p:txBody>
      </p:sp>
      <p:sp>
        <p:nvSpPr>
          <p:cNvPr id="18" name="Oval 17"/>
          <p:cNvSpPr/>
          <p:nvPr/>
        </p:nvSpPr>
        <p:spPr>
          <a:xfrm>
            <a:off x="3493008" y="3063240"/>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2</a:t>
            </a:r>
          </a:p>
        </p:txBody>
      </p:sp>
      <p:pic>
        <p:nvPicPr>
          <p:cNvPr id="19" name="Picture 18" descr="imu.png"/>
          <p:cNvPicPr>
            <a:picLocks noChangeAspect="1"/>
          </p:cNvPicPr>
          <p:nvPr/>
        </p:nvPicPr>
        <p:blipFill>
          <a:blip r:embed="rId3"/>
          <a:stretch>
            <a:fillRect/>
          </a:stretch>
        </p:blipFill>
        <p:spPr>
          <a:xfrm>
            <a:off x="5230368" y="3017520"/>
            <a:ext cx="594360" cy="435863"/>
          </a:xfrm>
          <a:prstGeom prst="rect">
            <a:avLst/>
          </a:prstGeom>
        </p:spPr>
      </p:pic>
      <p:sp>
        <p:nvSpPr>
          <p:cNvPr id="20" name="TextBox 19"/>
          <p:cNvSpPr txBox="1"/>
          <p:nvPr/>
        </p:nvSpPr>
        <p:spPr>
          <a:xfrm>
            <a:off x="3447288" y="3611880"/>
            <a:ext cx="2423160" cy="548640"/>
          </a:xfrm>
          <a:prstGeom prst="rect">
            <a:avLst/>
          </a:prstGeom>
          <a:noFill/>
        </p:spPr>
        <p:txBody>
          <a:bodyPr wrap="square" lIns="45720" rIns="45720" tIns="27432" bIns="27432" anchor="t">
            <a:spAutoFit/>
          </a:bodyPr>
          <a:lstStyle/>
          <a:p>
            <a:pPr algn="l"/>
            <a:r>
              <a:rPr sz="2800" b="1" i="0">
                <a:solidFill>
                  <a:srgbClr val="1B3A4B"/>
                </a:solidFill>
                <a:latin typeface="Calibri"/>
              </a:rPr>
              <a:t>IMU</a:t>
            </a:r>
          </a:p>
        </p:txBody>
      </p:sp>
      <p:sp>
        <p:nvSpPr>
          <p:cNvPr id="21" name="TextBox 20"/>
          <p:cNvSpPr txBox="1"/>
          <p:nvPr/>
        </p:nvSpPr>
        <p:spPr>
          <a:xfrm>
            <a:off x="3447288" y="4251960"/>
            <a:ext cx="2423160" cy="1920240"/>
          </a:xfrm>
          <a:prstGeom prst="rect">
            <a:avLst/>
          </a:prstGeom>
          <a:noFill/>
        </p:spPr>
        <p:txBody>
          <a:bodyPr wrap="square" lIns="45720" rIns="45720" tIns="27432" bIns="27432" anchor="t">
            <a:spAutoFit/>
          </a:bodyPr>
          <a:lstStyle/>
          <a:p>
            <a:pPr algn="l"/>
            <a:r>
              <a:rPr sz="1800" b="0" i="0">
                <a:solidFill>
                  <a:srgbClr val="1C2430"/>
                </a:solidFill>
                <a:latin typeface="Calibri"/>
              </a:rPr>
              <a:t>Auto-tracking with motorized steering. Department prototype already working</a:t>
            </a:r>
          </a:p>
        </p:txBody>
      </p:sp>
      <p:sp>
        <p:nvSpPr>
          <p:cNvPr id="22" name="Rounded Rectangle 21"/>
          <p:cNvSpPr/>
          <p:nvPr/>
        </p:nvSpPr>
        <p:spPr>
          <a:xfrm>
            <a:off x="6163056" y="2880360"/>
            <a:ext cx="2697480" cy="333756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3" name="Oval 22"/>
          <p:cNvSpPr/>
          <p:nvPr/>
        </p:nvSpPr>
        <p:spPr>
          <a:xfrm>
            <a:off x="6345936" y="3063240"/>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3</a:t>
            </a:r>
          </a:p>
        </p:txBody>
      </p:sp>
      <p:pic>
        <p:nvPicPr>
          <p:cNvPr id="24" name="Picture 23" descr="lora.png"/>
          <p:cNvPicPr>
            <a:picLocks noChangeAspect="1"/>
          </p:cNvPicPr>
          <p:nvPr/>
        </p:nvPicPr>
        <p:blipFill>
          <a:blip r:embed="rId4"/>
          <a:stretch>
            <a:fillRect/>
          </a:stretch>
        </p:blipFill>
        <p:spPr>
          <a:xfrm>
            <a:off x="8174736" y="2971800"/>
            <a:ext cx="716889" cy="640080"/>
          </a:xfrm>
          <a:prstGeom prst="rect">
            <a:avLst/>
          </a:prstGeom>
        </p:spPr>
      </p:pic>
      <p:sp>
        <p:nvSpPr>
          <p:cNvPr id="25" name="TextBox 24"/>
          <p:cNvSpPr txBox="1"/>
          <p:nvPr/>
        </p:nvSpPr>
        <p:spPr>
          <a:xfrm>
            <a:off x="6300216" y="3611880"/>
            <a:ext cx="2423160" cy="548640"/>
          </a:xfrm>
          <a:prstGeom prst="rect">
            <a:avLst/>
          </a:prstGeom>
          <a:noFill/>
        </p:spPr>
        <p:txBody>
          <a:bodyPr wrap="square" lIns="45720" rIns="45720" tIns="27432" bIns="27432" anchor="t">
            <a:spAutoFit/>
          </a:bodyPr>
          <a:lstStyle/>
          <a:p>
            <a:pPr algn="l"/>
            <a:r>
              <a:rPr sz="2800" b="1" i="0">
                <a:solidFill>
                  <a:srgbClr val="1B3A4B"/>
                </a:solidFill>
                <a:latin typeface="Calibri"/>
              </a:rPr>
              <a:t>LoRa</a:t>
            </a:r>
          </a:p>
        </p:txBody>
      </p:sp>
      <p:sp>
        <p:nvSpPr>
          <p:cNvPr id="26" name="TextBox 25"/>
          <p:cNvSpPr txBox="1"/>
          <p:nvPr/>
        </p:nvSpPr>
        <p:spPr>
          <a:xfrm>
            <a:off x="6300216" y="4251960"/>
            <a:ext cx="2423160" cy="1920240"/>
          </a:xfrm>
          <a:prstGeom prst="rect">
            <a:avLst/>
          </a:prstGeom>
          <a:noFill/>
        </p:spPr>
        <p:txBody>
          <a:bodyPr wrap="square" lIns="45720" rIns="45720" tIns="27432" bIns="27432" anchor="t">
            <a:spAutoFit/>
          </a:bodyPr>
          <a:lstStyle/>
          <a:p>
            <a:pPr algn="l"/>
            <a:r>
              <a:rPr sz="1800" b="0" i="0">
                <a:solidFill>
                  <a:srgbClr val="1C2430"/>
                </a:solidFill>
                <a:latin typeface="Calibri"/>
              </a:rPr>
              <a:t>Control, alerts and fallback when an optical hop is interrupted</a:t>
            </a:r>
          </a:p>
        </p:txBody>
      </p:sp>
      <p:sp>
        <p:nvSpPr>
          <p:cNvPr id="27" name="Rounded Rectangle 26"/>
          <p:cNvSpPr/>
          <p:nvPr/>
        </p:nvSpPr>
        <p:spPr>
          <a:xfrm>
            <a:off x="9015984" y="2880360"/>
            <a:ext cx="2697480" cy="333756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8" name="Oval 27"/>
          <p:cNvSpPr/>
          <p:nvPr/>
        </p:nvSpPr>
        <p:spPr>
          <a:xfrm>
            <a:off x="9198863" y="3063240"/>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4</a:t>
            </a:r>
          </a:p>
        </p:txBody>
      </p:sp>
      <p:pic>
        <p:nvPicPr>
          <p:cNvPr id="29" name="Picture 28" descr="monitor.png"/>
          <p:cNvPicPr>
            <a:picLocks noChangeAspect="1"/>
          </p:cNvPicPr>
          <p:nvPr/>
        </p:nvPicPr>
        <p:blipFill>
          <a:blip r:embed="rId5"/>
          <a:stretch>
            <a:fillRect/>
          </a:stretch>
        </p:blipFill>
        <p:spPr>
          <a:xfrm>
            <a:off x="10844784" y="3017520"/>
            <a:ext cx="731520" cy="589016"/>
          </a:xfrm>
          <a:prstGeom prst="rect">
            <a:avLst/>
          </a:prstGeom>
        </p:spPr>
      </p:pic>
      <p:sp>
        <p:nvSpPr>
          <p:cNvPr id="30" name="TextBox 29"/>
          <p:cNvSpPr txBox="1"/>
          <p:nvPr/>
        </p:nvSpPr>
        <p:spPr>
          <a:xfrm>
            <a:off x="9153144" y="3611880"/>
            <a:ext cx="2423160" cy="548640"/>
          </a:xfrm>
          <a:prstGeom prst="rect">
            <a:avLst/>
          </a:prstGeom>
          <a:noFill/>
        </p:spPr>
        <p:txBody>
          <a:bodyPr wrap="square" lIns="45720" rIns="45720" tIns="27432" bIns="27432" anchor="t">
            <a:spAutoFit/>
          </a:bodyPr>
          <a:lstStyle/>
          <a:p>
            <a:pPr algn="l"/>
            <a:r>
              <a:rPr sz="2800" b="1" i="0">
                <a:solidFill>
                  <a:srgbClr val="1B3A4B"/>
                </a:solidFill>
                <a:latin typeface="Calibri"/>
              </a:rPr>
              <a:t>Multi-hop</a:t>
            </a:r>
          </a:p>
        </p:txBody>
      </p:sp>
      <p:sp>
        <p:nvSpPr>
          <p:cNvPr id="31" name="TextBox 30"/>
          <p:cNvSpPr txBox="1"/>
          <p:nvPr/>
        </p:nvSpPr>
        <p:spPr>
          <a:xfrm>
            <a:off x="9153144" y="4251960"/>
            <a:ext cx="2423160" cy="1920240"/>
          </a:xfrm>
          <a:prstGeom prst="rect">
            <a:avLst/>
          </a:prstGeom>
          <a:noFill/>
        </p:spPr>
        <p:txBody>
          <a:bodyPr wrap="square" lIns="45720" rIns="45720" tIns="27432" bIns="27432" anchor="t">
            <a:spAutoFit/>
          </a:bodyPr>
          <a:lstStyle/>
          <a:p>
            <a:pPr algn="l"/>
            <a:r>
              <a:rPr sz="1800" b="0" i="0">
                <a:solidFill>
                  <a:srgbClr val="1C2430"/>
                </a:solidFill>
                <a:latin typeface="Calibri"/>
              </a:rPr>
              <a:t>Transmitter, relays, surface base station. Lab and tunnel-like tests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02     ·     PROBLEM STATEMENT AND RELEVANCE TO THE MINING SECTOR</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Background: communication underground today</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Background and problem</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3  /  15</a:t>
            </a:r>
          </a:p>
        </p:txBody>
      </p:sp>
      <p:sp>
        <p:nvSpPr>
          <p:cNvPr id="9" name="TextBox 8"/>
          <p:cNvSpPr txBox="1"/>
          <p:nvPr/>
        </p:nvSpPr>
        <p:spPr>
          <a:xfrm>
            <a:off x="457200" y="1005840"/>
            <a:ext cx="11247120" cy="411480"/>
          </a:xfrm>
          <a:prstGeom prst="rect">
            <a:avLst/>
          </a:prstGeom>
          <a:noFill/>
        </p:spPr>
        <p:txBody>
          <a:bodyPr wrap="square" lIns="45720" rIns="45720" tIns="27432" bIns="27432" anchor="t">
            <a:spAutoFit/>
          </a:bodyPr>
          <a:lstStyle/>
          <a:p>
            <a:pPr algn="l"/>
            <a:r>
              <a:rPr sz="1800" b="0" i="0">
                <a:solidFill>
                  <a:srgbClr val="1C2430"/>
                </a:solidFill>
                <a:latin typeface="Calibri"/>
              </a:rPr>
              <a:t>Miners at the face depend on a link that rock, water and ground movement regularly remove.</a:t>
            </a:r>
          </a:p>
        </p:txBody>
      </p:sp>
      <p:sp>
        <p:nvSpPr>
          <p:cNvPr id="10" name="Rectangle 9"/>
          <p:cNvSpPr/>
          <p:nvPr/>
        </p:nvSpPr>
        <p:spPr>
          <a:xfrm>
            <a:off x="457200" y="1554480"/>
            <a:ext cx="11292840" cy="548640"/>
          </a:xfrm>
          <a:prstGeom prst="rect">
            <a:avLst/>
          </a:prstGeom>
          <a:solidFill>
            <a:srgbClr val="F2F7FB"/>
          </a:solidFill>
          <a:ln>
            <a:noFill/>
          </a:ln>
        </p:spPr>
        <p:txBody>
          <a:bodyPr rtlCol="0" anchor="ctr"/>
          <a:lstStyle/>
          <a:p>
            <a:pPr algn="ctr"/>
          </a:p>
        </p:txBody>
      </p:sp>
      <p:sp>
        <p:nvSpPr>
          <p:cNvPr id="11" name="Rectangle 10"/>
          <p:cNvSpPr/>
          <p:nvPr/>
        </p:nvSpPr>
        <p:spPr>
          <a:xfrm>
            <a:off x="457200" y="2057400"/>
            <a:ext cx="11292840" cy="91440"/>
          </a:xfrm>
          <a:prstGeom prst="rect">
            <a:avLst/>
          </a:prstGeom>
          <a:solidFill>
            <a:srgbClr val="7C9A5B"/>
          </a:solidFill>
          <a:ln>
            <a:noFill/>
          </a:ln>
        </p:spPr>
        <p:txBody>
          <a:bodyPr rtlCol="0" anchor="ctr"/>
          <a:lstStyle/>
          <a:p>
            <a:pPr algn="ctr"/>
          </a:p>
        </p:txBody>
      </p:sp>
      <p:pic>
        <p:nvPicPr>
          <p:cNvPr id="12" name="Picture 11" descr="rock2.jpg"/>
          <p:cNvPicPr>
            <a:picLocks noChangeAspect="1"/>
          </p:cNvPicPr>
          <p:nvPr/>
        </p:nvPicPr>
        <p:blipFill>
          <a:blip r:embed="rId2"/>
          <a:srcRect l="212" r="679"/>
          <a:stretch>
            <a:fillRect/>
          </a:stretch>
        </p:blipFill>
        <p:spPr>
          <a:xfrm>
            <a:off x="457200" y="2148840"/>
            <a:ext cx="3773423" cy="640080"/>
          </a:xfrm>
          <a:prstGeom prst="rect">
            <a:avLst/>
          </a:prstGeom>
        </p:spPr>
      </p:pic>
      <p:pic>
        <p:nvPicPr>
          <p:cNvPr id="13" name="Picture 12" descr="rock2.jpg"/>
          <p:cNvPicPr>
            <a:picLocks noChangeAspect="1"/>
          </p:cNvPicPr>
          <p:nvPr/>
        </p:nvPicPr>
        <p:blipFill>
          <a:blip r:embed="rId2"/>
          <a:srcRect l="210" r="681"/>
          <a:stretch>
            <a:fillRect/>
          </a:stretch>
        </p:blipFill>
        <p:spPr>
          <a:xfrm>
            <a:off x="4221480" y="2148840"/>
            <a:ext cx="3773423" cy="640080"/>
          </a:xfrm>
          <a:prstGeom prst="rect">
            <a:avLst/>
          </a:prstGeom>
        </p:spPr>
      </p:pic>
      <p:pic>
        <p:nvPicPr>
          <p:cNvPr id="14" name="Picture 13" descr="rock2.jpg"/>
          <p:cNvPicPr>
            <a:picLocks noChangeAspect="1"/>
          </p:cNvPicPr>
          <p:nvPr/>
        </p:nvPicPr>
        <p:blipFill>
          <a:blip r:embed="rId2"/>
          <a:srcRect l="705" r="427"/>
          <a:stretch>
            <a:fillRect/>
          </a:stretch>
        </p:blipFill>
        <p:spPr>
          <a:xfrm>
            <a:off x="7985759" y="2148840"/>
            <a:ext cx="3764279" cy="640080"/>
          </a:xfrm>
          <a:prstGeom prst="rect">
            <a:avLst/>
          </a:prstGeom>
        </p:spPr>
      </p:pic>
      <p:sp>
        <p:nvSpPr>
          <p:cNvPr id="15" name="Rectangle 14"/>
          <p:cNvSpPr/>
          <p:nvPr/>
        </p:nvSpPr>
        <p:spPr>
          <a:xfrm>
            <a:off x="457200" y="2788920"/>
            <a:ext cx="11292840" cy="1554480"/>
          </a:xfrm>
          <a:prstGeom prst="rect">
            <a:avLst/>
          </a:prstGeom>
          <a:solidFill>
            <a:srgbClr val="F4F1EC"/>
          </a:solidFill>
          <a:ln>
            <a:noFill/>
          </a:ln>
        </p:spPr>
        <p:txBody>
          <a:bodyPr rtlCol="0" anchor="ctr"/>
          <a:lstStyle/>
          <a:p>
            <a:pPr algn="ctr"/>
          </a:p>
        </p:txBody>
      </p:sp>
      <p:sp>
        <p:nvSpPr>
          <p:cNvPr id="16" name="Rectangle 15"/>
          <p:cNvSpPr/>
          <p:nvPr/>
        </p:nvSpPr>
        <p:spPr>
          <a:xfrm>
            <a:off x="457200" y="4261104"/>
            <a:ext cx="11292840" cy="82296"/>
          </a:xfrm>
          <a:prstGeom prst="rect">
            <a:avLst/>
          </a:prstGeom>
          <a:solidFill>
            <a:srgbClr val="D8D2C6"/>
          </a:solidFill>
          <a:ln>
            <a:noFill/>
          </a:ln>
        </p:spPr>
        <p:txBody>
          <a:bodyPr rtlCol="0" anchor="ctr"/>
          <a:lstStyle/>
          <a:p>
            <a:pPr algn="ctr"/>
          </a:p>
        </p:txBody>
      </p:sp>
      <p:sp>
        <p:nvSpPr>
          <p:cNvPr id="17" name="Rectangle 16"/>
          <p:cNvSpPr/>
          <p:nvPr/>
        </p:nvSpPr>
        <p:spPr>
          <a:xfrm>
            <a:off x="457200" y="2788920"/>
            <a:ext cx="11292840" cy="36576"/>
          </a:xfrm>
          <a:prstGeom prst="rect">
            <a:avLst/>
          </a:prstGeom>
          <a:solidFill>
            <a:srgbClr val="7A6350"/>
          </a:solidFill>
          <a:ln>
            <a:noFill/>
          </a:ln>
        </p:spPr>
        <p:txBody>
          <a:bodyPr rtlCol="0" anchor="ctr"/>
          <a:lstStyle/>
          <a:p>
            <a:pPr algn="ctr"/>
          </a:p>
        </p:txBody>
      </p:sp>
      <p:pic>
        <p:nvPicPr>
          <p:cNvPr id="18" name="Picture 17" descr="rock2.jpg"/>
          <p:cNvPicPr>
            <a:picLocks noChangeAspect="1"/>
          </p:cNvPicPr>
          <p:nvPr/>
        </p:nvPicPr>
        <p:blipFill>
          <a:blip r:embed="rId2"/>
          <a:srcRect l="3011" r="10269"/>
          <a:stretch>
            <a:fillRect/>
          </a:stretch>
        </p:blipFill>
        <p:spPr>
          <a:xfrm>
            <a:off x="457200" y="4343400"/>
            <a:ext cx="3773423" cy="731520"/>
          </a:xfrm>
          <a:prstGeom prst="rect">
            <a:avLst/>
          </a:prstGeom>
        </p:spPr>
      </p:pic>
      <p:pic>
        <p:nvPicPr>
          <p:cNvPr id="19" name="Picture 18" descr="rock2.jpg"/>
          <p:cNvPicPr>
            <a:picLocks noChangeAspect="1"/>
          </p:cNvPicPr>
          <p:nvPr/>
        </p:nvPicPr>
        <p:blipFill>
          <a:blip r:embed="rId2"/>
          <a:srcRect l="6149" r="7131"/>
          <a:stretch>
            <a:fillRect/>
          </a:stretch>
        </p:blipFill>
        <p:spPr>
          <a:xfrm>
            <a:off x="4221480" y="4343400"/>
            <a:ext cx="3773423" cy="731520"/>
          </a:xfrm>
          <a:prstGeom prst="rect">
            <a:avLst/>
          </a:prstGeom>
        </p:spPr>
      </p:pic>
      <p:pic>
        <p:nvPicPr>
          <p:cNvPr id="20" name="Picture 19" descr="rock2.jpg"/>
          <p:cNvPicPr>
            <a:picLocks noChangeAspect="1"/>
          </p:cNvPicPr>
          <p:nvPr/>
        </p:nvPicPr>
        <p:blipFill>
          <a:blip r:embed="rId2"/>
          <a:srcRect l="7708" r="5782"/>
          <a:stretch>
            <a:fillRect/>
          </a:stretch>
        </p:blipFill>
        <p:spPr>
          <a:xfrm>
            <a:off x="7985759" y="4343400"/>
            <a:ext cx="3764279" cy="731520"/>
          </a:xfrm>
          <a:prstGeom prst="rect">
            <a:avLst/>
          </a:prstGeom>
        </p:spPr>
      </p:pic>
      <p:pic>
        <p:nvPicPr>
          <p:cNvPr id="21" name="Picture 20" descr="monitor.png"/>
          <p:cNvPicPr>
            <a:picLocks noChangeAspect="1"/>
          </p:cNvPicPr>
          <p:nvPr/>
        </p:nvPicPr>
        <p:blipFill>
          <a:blip r:embed="rId3"/>
          <a:stretch>
            <a:fillRect/>
          </a:stretch>
        </p:blipFill>
        <p:spPr>
          <a:xfrm>
            <a:off x="1097280" y="1591056"/>
            <a:ext cx="590525" cy="475488"/>
          </a:xfrm>
          <a:prstGeom prst="rect">
            <a:avLst/>
          </a:prstGeom>
        </p:spPr>
      </p:pic>
      <p:sp>
        <p:nvSpPr>
          <p:cNvPr id="22" name="TextBox 21"/>
          <p:cNvSpPr txBox="1"/>
          <p:nvPr/>
        </p:nvSpPr>
        <p:spPr>
          <a:xfrm>
            <a:off x="2377440" y="1627632"/>
            <a:ext cx="2194560" cy="365760"/>
          </a:xfrm>
          <a:prstGeom prst="rect">
            <a:avLst/>
          </a:prstGeom>
          <a:noFill/>
        </p:spPr>
        <p:txBody>
          <a:bodyPr wrap="square" lIns="45720" rIns="45720" tIns="27432" bIns="27432" anchor="t">
            <a:spAutoFit/>
          </a:bodyPr>
          <a:lstStyle/>
          <a:p>
            <a:pPr algn="l"/>
            <a:r>
              <a:rPr sz="1400" b="1" i="0">
                <a:solidFill>
                  <a:srgbClr val="1B3A4B"/>
                </a:solidFill>
                <a:latin typeface="Calibri"/>
              </a:rPr>
              <a:t>Surface control room</a:t>
            </a:r>
          </a:p>
        </p:txBody>
      </p:sp>
      <p:cxnSp>
        <p:nvCxnSpPr>
          <p:cNvPr id="23" name="Connector 22"/>
          <p:cNvCxnSpPr/>
          <p:nvPr/>
        </p:nvCxnSpPr>
        <p:spPr>
          <a:xfrm>
            <a:off x="1600200" y="2148840"/>
            <a:ext cx="0" cy="1920240"/>
          </a:xfrm>
          <a:prstGeom prst="line">
            <a:avLst/>
          </a:prstGeom>
          <a:ln w="28575">
            <a:solidFill>
              <a:srgbClr val="6B7780"/>
            </a:solidFill>
          </a:ln>
        </p:spPr>
      </p:cxnSp>
      <p:cxnSp>
        <p:nvCxnSpPr>
          <p:cNvPr id="24" name="Connector 23"/>
          <p:cNvCxnSpPr/>
          <p:nvPr/>
        </p:nvCxnSpPr>
        <p:spPr>
          <a:xfrm>
            <a:off x="1600200" y="4069080"/>
            <a:ext cx="3337560" cy="0"/>
          </a:xfrm>
          <a:prstGeom prst="line">
            <a:avLst/>
          </a:prstGeom>
          <a:ln w="28575">
            <a:solidFill>
              <a:srgbClr val="6B7780"/>
            </a:solidFill>
          </a:ln>
        </p:spPr>
      </p:cxnSp>
      <p:cxnSp>
        <p:nvCxnSpPr>
          <p:cNvPr id="25" name="Connector 24"/>
          <p:cNvCxnSpPr/>
          <p:nvPr/>
        </p:nvCxnSpPr>
        <p:spPr>
          <a:xfrm>
            <a:off x="6126480" y="4069080"/>
            <a:ext cx="4389120" cy="0"/>
          </a:xfrm>
          <a:prstGeom prst="line">
            <a:avLst/>
          </a:prstGeom>
          <a:ln w="28575">
            <a:solidFill>
              <a:srgbClr val="6B7780"/>
            </a:solidFill>
            <a:prstDash val="dash"/>
          </a:ln>
        </p:spPr>
      </p:cxnSp>
      <p:sp>
        <p:nvSpPr>
          <p:cNvPr id="26" name="Rounded Rectangle 25"/>
          <p:cNvSpPr/>
          <p:nvPr/>
        </p:nvSpPr>
        <p:spPr>
          <a:xfrm>
            <a:off x="5452573" y="3795994"/>
            <a:ext cx="260270" cy="341356"/>
          </a:xfrm>
          <a:prstGeom prst="roundRect">
            <a:avLst>
              <a:gd name="adj" fmla="val 30000"/>
            </a:avLst>
          </a:prstGeom>
          <a:solidFill>
            <a:srgbClr val="7A6A58"/>
          </a:solidFill>
          <a:ln>
            <a:noFill/>
          </a:ln>
        </p:spPr>
        <p:txBody>
          <a:bodyPr rtlCol="0" anchor="ctr"/>
          <a:lstStyle/>
          <a:p>
            <a:pPr algn="ctr"/>
          </a:p>
        </p:txBody>
      </p:sp>
      <p:sp>
        <p:nvSpPr>
          <p:cNvPr id="27" name="Rounded Rectangle 26"/>
          <p:cNvSpPr/>
          <p:nvPr/>
        </p:nvSpPr>
        <p:spPr>
          <a:xfrm>
            <a:off x="5338564" y="3729858"/>
            <a:ext cx="366834" cy="243966"/>
          </a:xfrm>
          <a:prstGeom prst="roundRect">
            <a:avLst>
              <a:gd name="adj" fmla="val 30000"/>
            </a:avLst>
          </a:prstGeom>
          <a:solidFill>
            <a:srgbClr val="6B5D4D"/>
          </a:solidFill>
          <a:ln>
            <a:noFill/>
          </a:ln>
        </p:spPr>
        <p:txBody>
          <a:bodyPr rtlCol="0" anchor="ctr"/>
          <a:lstStyle/>
          <a:p>
            <a:pPr algn="ctr"/>
          </a:p>
        </p:txBody>
      </p:sp>
      <p:sp>
        <p:nvSpPr>
          <p:cNvPr id="28" name="Rounded Rectangle 27"/>
          <p:cNvSpPr/>
          <p:nvPr/>
        </p:nvSpPr>
        <p:spPr>
          <a:xfrm>
            <a:off x="5669369" y="3536392"/>
            <a:ext cx="267328" cy="355923"/>
          </a:xfrm>
          <a:prstGeom prst="roundRect">
            <a:avLst>
              <a:gd name="adj" fmla="val 30000"/>
            </a:avLst>
          </a:prstGeom>
          <a:solidFill>
            <a:srgbClr val="6B5D4D"/>
          </a:solidFill>
          <a:ln>
            <a:noFill/>
          </a:ln>
        </p:spPr>
        <p:txBody>
          <a:bodyPr rtlCol="0" anchor="ctr"/>
          <a:lstStyle/>
          <a:p>
            <a:pPr algn="ctr"/>
          </a:p>
        </p:txBody>
      </p:sp>
      <p:sp>
        <p:nvSpPr>
          <p:cNvPr id="29" name="Rounded Rectangle 28"/>
          <p:cNvSpPr/>
          <p:nvPr/>
        </p:nvSpPr>
        <p:spPr>
          <a:xfrm>
            <a:off x="5415613" y="3945871"/>
            <a:ext cx="240334" cy="207097"/>
          </a:xfrm>
          <a:prstGeom prst="roundRect">
            <a:avLst>
              <a:gd name="adj" fmla="val 30000"/>
            </a:avLst>
          </a:prstGeom>
          <a:solidFill>
            <a:srgbClr val="6B5D4D"/>
          </a:solidFill>
          <a:ln>
            <a:noFill/>
          </a:ln>
        </p:spPr>
        <p:txBody>
          <a:bodyPr rtlCol="0" anchor="ctr"/>
          <a:lstStyle/>
          <a:p>
            <a:pPr algn="ctr"/>
          </a:p>
        </p:txBody>
      </p:sp>
      <p:sp>
        <p:nvSpPr>
          <p:cNvPr id="30" name="Rounded Rectangle 29"/>
          <p:cNvSpPr/>
          <p:nvPr/>
        </p:nvSpPr>
        <p:spPr>
          <a:xfrm>
            <a:off x="5087106" y="3565471"/>
            <a:ext cx="409101" cy="345142"/>
          </a:xfrm>
          <a:prstGeom prst="roundRect">
            <a:avLst>
              <a:gd name="adj" fmla="val 30000"/>
            </a:avLst>
          </a:prstGeom>
          <a:solidFill>
            <a:srgbClr val="8A7A66"/>
          </a:solidFill>
          <a:ln>
            <a:noFill/>
          </a:ln>
        </p:spPr>
        <p:txBody>
          <a:bodyPr rtlCol="0" anchor="ctr"/>
          <a:lstStyle/>
          <a:p>
            <a:pPr algn="ctr"/>
          </a:p>
        </p:txBody>
      </p:sp>
      <p:sp>
        <p:nvSpPr>
          <p:cNvPr id="31" name="Rounded Rectangle 30"/>
          <p:cNvSpPr/>
          <p:nvPr/>
        </p:nvSpPr>
        <p:spPr>
          <a:xfrm>
            <a:off x="5216615" y="3904999"/>
            <a:ext cx="409878" cy="345565"/>
          </a:xfrm>
          <a:prstGeom prst="roundRect">
            <a:avLst>
              <a:gd name="adj" fmla="val 30000"/>
            </a:avLst>
          </a:prstGeom>
          <a:solidFill>
            <a:srgbClr val="8A7A66"/>
          </a:solidFill>
          <a:ln>
            <a:noFill/>
          </a:ln>
        </p:spPr>
        <p:txBody>
          <a:bodyPr rtlCol="0" anchor="ctr"/>
          <a:lstStyle/>
          <a:p>
            <a:pPr algn="ctr"/>
          </a:p>
        </p:txBody>
      </p:sp>
      <p:sp>
        <p:nvSpPr>
          <p:cNvPr id="32" name="Rounded Rectangle 31"/>
          <p:cNvSpPr/>
          <p:nvPr/>
        </p:nvSpPr>
        <p:spPr>
          <a:xfrm>
            <a:off x="5862565" y="3779000"/>
            <a:ext cx="306703" cy="190779"/>
          </a:xfrm>
          <a:prstGeom prst="roundRect">
            <a:avLst>
              <a:gd name="adj" fmla="val 30000"/>
            </a:avLst>
          </a:prstGeom>
          <a:solidFill>
            <a:srgbClr val="6B5D4D"/>
          </a:solidFill>
          <a:ln>
            <a:noFill/>
          </a:ln>
        </p:spPr>
        <p:txBody>
          <a:bodyPr rtlCol="0" anchor="ctr"/>
          <a:lstStyle/>
          <a:p>
            <a:pPr algn="ctr"/>
          </a:p>
        </p:txBody>
      </p:sp>
      <p:sp>
        <p:nvSpPr>
          <p:cNvPr id="33" name="Rounded Rectangle 32"/>
          <p:cNvSpPr/>
          <p:nvPr/>
        </p:nvSpPr>
        <p:spPr>
          <a:xfrm>
            <a:off x="5839723" y="3425800"/>
            <a:ext cx="241124" cy="252157"/>
          </a:xfrm>
          <a:prstGeom prst="roundRect">
            <a:avLst>
              <a:gd name="adj" fmla="val 30000"/>
            </a:avLst>
          </a:prstGeom>
          <a:solidFill>
            <a:srgbClr val="8A7A66"/>
          </a:solidFill>
          <a:ln>
            <a:noFill/>
          </a:ln>
        </p:spPr>
        <p:txBody>
          <a:bodyPr rtlCol="0" anchor="ctr"/>
          <a:lstStyle/>
          <a:p>
            <a:pPr algn="ctr"/>
          </a:p>
        </p:txBody>
      </p:sp>
      <p:sp>
        <p:nvSpPr>
          <p:cNvPr id="34" name="Rounded Rectangle 33"/>
          <p:cNvSpPr/>
          <p:nvPr/>
        </p:nvSpPr>
        <p:spPr>
          <a:xfrm>
            <a:off x="5156432" y="3895904"/>
            <a:ext cx="396903" cy="338461"/>
          </a:xfrm>
          <a:prstGeom prst="roundRect">
            <a:avLst>
              <a:gd name="adj" fmla="val 30000"/>
            </a:avLst>
          </a:prstGeom>
          <a:solidFill>
            <a:srgbClr val="6B5D4D"/>
          </a:solidFill>
          <a:ln>
            <a:noFill/>
          </a:ln>
        </p:spPr>
        <p:txBody>
          <a:bodyPr rtlCol="0" anchor="ctr"/>
          <a:lstStyle/>
          <a:p>
            <a:pPr algn="ctr"/>
          </a:p>
        </p:txBody>
      </p:sp>
      <p:sp>
        <p:nvSpPr>
          <p:cNvPr id="35" name="Rounded Rectangle 34"/>
          <p:cNvSpPr/>
          <p:nvPr/>
        </p:nvSpPr>
        <p:spPr>
          <a:xfrm>
            <a:off x="5032742" y="3509933"/>
            <a:ext cx="273787" cy="338729"/>
          </a:xfrm>
          <a:prstGeom prst="roundRect">
            <a:avLst>
              <a:gd name="adj" fmla="val 30000"/>
            </a:avLst>
          </a:prstGeom>
          <a:solidFill>
            <a:srgbClr val="8A7A66"/>
          </a:solidFill>
          <a:ln>
            <a:noFill/>
          </a:ln>
        </p:spPr>
        <p:txBody>
          <a:bodyPr rtlCol="0" anchor="ctr"/>
          <a:lstStyle/>
          <a:p>
            <a:pPr algn="ctr"/>
          </a:p>
        </p:txBody>
      </p:sp>
      <p:sp>
        <p:nvSpPr>
          <p:cNvPr id="36" name="Rounded Rectangle 35"/>
          <p:cNvSpPr/>
          <p:nvPr/>
        </p:nvSpPr>
        <p:spPr>
          <a:xfrm>
            <a:off x="5036746" y="4007995"/>
            <a:ext cx="351991" cy="186073"/>
          </a:xfrm>
          <a:prstGeom prst="roundRect">
            <a:avLst>
              <a:gd name="adj" fmla="val 30000"/>
            </a:avLst>
          </a:prstGeom>
          <a:solidFill>
            <a:srgbClr val="7A6A58"/>
          </a:solidFill>
          <a:ln>
            <a:noFill/>
          </a:ln>
        </p:spPr>
        <p:txBody>
          <a:bodyPr rtlCol="0" anchor="ctr"/>
          <a:lstStyle/>
          <a:p>
            <a:pPr algn="ctr"/>
          </a:p>
        </p:txBody>
      </p:sp>
      <p:sp>
        <p:nvSpPr>
          <p:cNvPr id="37" name="Rounded Rectangle 36"/>
          <p:cNvSpPr/>
          <p:nvPr/>
        </p:nvSpPr>
        <p:spPr>
          <a:xfrm>
            <a:off x="5553131" y="3675823"/>
            <a:ext cx="273902" cy="195465"/>
          </a:xfrm>
          <a:prstGeom prst="roundRect">
            <a:avLst>
              <a:gd name="adj" fmla="val 30000"/>
            </a:avLst>
          </a:prstGeom>
          <a:solidFill>
            <a:srgbClr val="7A6A58"/>
          </a:solidFill>
          <a:ln>
            <a:noFill/>
          </a:ln>
        </p:spPr>
        <p:txBody>
          <a:bodyPr rtlCol="0" anchor="ctr"/>
          <a:lstStyle/>
          <a:p>
            <a:pPr algn="ctr"/>
          </a:p>
        </p:txBody>
      </p:sp>
      <p:sp>
        <p:nvSpPr>
          <p:cNvPr id="38" name="Rounded Rectangle 37"/>
          <p:cNvSpPr/>
          <p:nvPr/>
        </p:nvSpPr>
        <p:spPr>
          <a:xfrm>
            <a:off x="5613243" y="4000743"/>
            <a:ext cx="361142" cy="214436"/>
          </a:xfrm>
          <a:prstGeom prst="roundRect">
            <a:avLst>
              <a:gd name="adj" fmla="val 30000"/>
            </a:avLst>
          </a:prstGeom>
          <a:solidFill>
            <a:srgbClr val="6B5D4D"/>
          </a:solidFill>
          <a:ln>
            <a:noFill/>
          </a:ln>
        </p:spPr>
        <p:txBody>
          <a:bodyPr rtlCol="0" anchor="ctr"/>
          <a:lstStyle/>
          <a:p>
            <a:pPr algn="ctr"/>
          </a:p>
        </p:txBody>
      </p:sp>
      <p:sp>
        <p:nvSpPr>
          <p:cNvPr id="39" name="Rounded Rectangle 38"/>
          <p:cNvSpPr/>
          <p:nvPr/>
        </p:nvSpPr>
        <p:spPr>
          <a:xfrm>
            <a:off x="5687234" y="4038941"/>
            <a:ext cx="290320" cy="307828"/>
          </a:xfrm>
          <a:prstGeom prst="roundRect">
            <a:avLst>
              <a:gd name="adj" fmla="val 30000"/>
            </a:avLst>
          </a:prstGeom>
          <a:solidFill>
            <a:srgbClr val="7A6A58"/>
          </a:solidFill>
          <a:ln>
            <a:noFill/>
          </a:ln>
        </p:spPr>
        <p:txBody>
          <a:bodyPr rtlCol="0" anchor="ctr"/>
          <a:lstStyle/>
          <a:p>
            <a:pPr algn="ctr"/>
          </a:p>
        </p:txBody>
      </p:sp>
      <p:sp>
        <p:nvSpPr>
          <p:cNvPr id="40" name="Rounded Rectangle 39"/>
          <p:cNvSpPr/>
          <p:nvPr/>
        </p:nvSpPr>
        <p:spPr>
          <a:xfrm>
            <a:off x="5029200" y="4023360"/>
            <a:ext cx="1097280" cy="228600"/>
          </a:xfrm>
          <a:prstGeom prst="roundRect">
            <a:avLst>
              <a:gd name="adj" fmla="val 30000"/>
            </a:avLst>
          </a:prstGeom>
          <a:solidFill>
            <a:srgbClr val="6B5D4D"/>
          </a:solidFill>
          <a:ln>
            <a:noFill/>
          </a:ln>
        </p:spPr>
        <p:txBody>
          <a:bodyPr rtlCol="0" anchor="ctr"/>
          <a:lstStyle/>
          <a:p>
            <a:pPr algn="ctr"/>
          </a:p>
        </p:txBody>
      </p:sp>
      <p:sp>
        <p:nvSpPr>
          <p:cNvPr id="41" name="Oval 40"/>
          <p:cNvSpPr/>
          <p:nvPr/>
        </p:nvSpPr>
        <p:spPr>
          <a:xfrm>
            <a:off x="5349240" y="3749040"/>
            <a:ext cx="457200" cy="457200"/>
          </a:xfrm>
          <a:prstGeom prst="ellipse">
            <a:avLst/>
          </a:prstGeom>
          <a:solidFill>
            <a:srgbClr val="C8402A"/>
          </a:solidFill>
          <a:ln>
            <a:noFill/>
          </a:ln>
        </p:spPr>
        <p:txBody>
          <a:bodyPr rtlCol="0" anchor="ctr" lIns="36576" rIns="36576" tIns="0" bIns="0" wrap="square"/>
          <a:lstStyle/>
          <a:p>
            <a:pPr algn="ctr"/>
            <a:r>
              <a:rPr sz="1600" b="1">
                <a:solidFill>
                  <a:srgbClr val="FFFFFF"/>
                </a:solidFill>
                <a:latin typeface="Calibri"/>
              </a:rPr>
              <a:t>✕</a:t>
            </a:r>
          </a:p>
        </p:txBody>
      </p:sp>
      <p:sp>
        <p:nvSpPr>
          <p:cNvPr id="42" name="Rounded Rectangle 41"/>
          <p:cNvSpPr/>
          <p:nvPr/>
        </p:nvSpPr>
        <p:spPr>
          <a:xfrm>
            <a:off x="10597896" y="3749040"/>
            <a:ext cx="201168" cy="341985"/>
          </a:xfrm>
          <a:prstGeom prst="roundRect">
            <a:avLst>
              <a:gd name="adj" fmla="val 30000"/>
            </a:avLst>
          </a:prstGeom>
          <a:solidFill>
            <a:srgbClr val="ED7D31"/>
          </a:solidFill>
          <a:ln>
            <a:noFill/>
          </a:ln>
        </p:spPr>
        <p:txBody>
          <a:bodyPr rtlCol="0" anchor="ctr"/>
          <a:lstStyle/>
          <a:p>
            <a:pPr algn="ctr"/>
          </a:p>
        </p:txBody>
      </p:sp>
      <p:sp>
        <p:nvSpPr>
          <p:cNvPr id="43" name="Rectangle 42"/>
          <p:cNvSpPr/>
          <p:nvPr/>
        </p:nvSpPr>
        <p:spPr>
          <a:xfrm>
            <a:off x="10628071" y="4080967"/>
            <a:ext cx="60350" cy="170992"/>
          </a:xfrm>
          <a:prstGeom prst="rect">
            <a:avLst/>
          </a:prstGeom>
          <a:solidFill>
            <a:srgbClr val="0071C1"/>
          </a:solidFill>
          <a:ln>
            <a:noFill/>
          </a:ln>
        </p:spPr>
        <p:txBody>
          <a:bodyPr rtlCol="0" anchor="ctr"/>
          <a:lstStyle/>
          <a:p>
            <a:pPr algn="ctr"/>
          </a:p>
        </p:txBody>
      </p:sp>
      <p:sp>
        <p:nvSpPr>
          <p:cNvPr id="44" name="Rectangle 43"/>
          <p:cNvSpPr/>
          <p:nvPr/>
        </p:nvSpPr>
        <p:spPr>
          <a:xfrm>
            <a:off x="10708538" y="4080967"/>
            <a:ext cx="60350" cy="170992"/>
          </a:xfrm>
          <a:prstGeom prst="rect">
            <a:avLst/>
          </a:prstGeom>
          <a:solidFill>
            <a:srgbClr val="0071C1"/>
          </a:solidFill>
          <a:ln>
            <a:noFill/>
          </a:ln>
        </p:spPr>
        <p:txBody>
          <a:bodyPr rtlCol="0" anchor="ctr"/>
          <a:lstStyle/>
          <a:p>
            <a:pPr algn="ctr"/>
          </a:p>
        </p:txBody>
      </p:sp>
      <p:sp>
        <p:nvSpPr>
          <p:cNvPr id="45" name="Oval 44"/>
          <p:cNvSpPr/>
          <p:nvPr/>
        </p:nvSpPr>
        <p:spPr>
          <a:xfrm>
            <a:off x="10623042" y="3608222"/>
            <a:ext cx="150876" cy="150876"/>
          </a:xfrm>
          <a:prstGeom prst="ellipse">
            <a:avLst/>
          </a:prstGeom>
          <a:solidFill>
            <a:srgbClr val="E7B98F"/>
          </a:solidFill>
          <a:ln>
            <a:noFill/>
          </a:ln>
        </p:spPr>
        <p:txBody>
          <a:bodyPr rtlCol="0" anchor="ctr"/>
          <a:lstStyle/>
          <a:p>
            <a:pPr algn="ctr"/>
          </a:p>
        </p:txBody>
      </p:sp>
      <p:sp>
        <p:nvSpPr>
          <p:cNvPr id="46" name="Oval 45"/>
          <p:cNvSpPr/>
          <p:nvPr/>
        </p:nvSpPr>
        <p:spPr>
          <a:xfrm>
            <a:off x="10597896" y="3567988"/>
            <a:ext cx="201168" cy="100584"/>
          </a:xfrm>
          <a:prstGeom prst="ellipse">
            <a:avLst/>
          </a:prstGeom>
          <a:solidFill>
            <a:srgbClr val="D99A2B"/>
          </a:solidFill>
          <a:ln>
            <a:noFill/>
          </a:ln>
        </p:spPr>
        <p:txBody>
          <a:bodyPr rtlCol="0" anchor="ctr"/>
          <a:lstStyle/>
          <a:p>
            <a:pPr algn="ctr"/>
          </a:p>
        </p:txBody>
      </p:sp>
      <p:sp>
        <p:nvSpPr>
          <p:cNvPr id="47" name="Rounded Rectangle 46"/>
          <p:cNvSpPr/>
          <p:nvPr/>
        </p:nvSpPr>
        <p:spPr>
          <a:xfrm>
            <a:off x="11064240" y="3794760"/>
            <a:ext cx="182880" cy="310896"/>
          </a:xfrm>
          <a:prstGeom prst="roundRect">
            <a:avLst>
              <a:gd name="adj" fmla="val 30000"/>
            </a:avLst>
          </a:prstGeom>
          <a:solidFill>
            <a:srgbClr val="ED7D31"/>
          </a:solidFill>
          <a:ln>
            <a:noFill/>
          </a:ln>
        </p:spPr>
        <p:txBody>
          <a:bodyPr rtlCol="0" anchor="ctr"/>
          <a:lstStyle/>
          <a:p>
            <a:pPr algn="ctr"/>
          </a:p>
        </p:txBody>
      </p:sp>
      <p:sp>
        <p:nvSpPr>
          <p:cNvPr id="48" name="Rectangle 47"/>
          <p:cNvSpPr/>
          <p:nvPr/>
        </p:nvSpPr>
        <p:spPr>
          <a:xfrm>
            <a:off x="11091672" y="4096512"/>
            <a:ext cx="54864" cy="155448"/>
          </a:xfrm>
          <a:prstGeom prst="rect">
            <a:avLst/>
          </a:prstGeom>
          <a:solidFill>
            <a:srgbClr val="0071C1"/>
          </a:solidFill>
          <a:ln>
            <a:noFill/>
          </a:ln>
        </p:spPr>
        <p:txBody>
          <a:bodyPr rtlCol="0" anchor="ctr"/>
          <a:lstStyle/>
          <a:p>
            <a:pPr algn="ctr"/>
          </a:p>
        </p:txBody>
      </p:sp>
      <p:sp>
        <p:nvSpPr>
          <p:cNvPr id="49" name="Rectangle 48"/>
          <p:cNvSpPr/>
          <p:nvPr/>
        </p:nvSpPr>
        <p:spPr>
          <a:xfrm>
            <a:off x="11164824" y="4096512"/>
            <a:ext cx="54864" cy="155448"/>
          </a:xfrm>
          <a:prstGeom prst="rect">
            <a:avLst/>
          </a:prstGeom>
          <a:solidFill>
            <a:srgbClr val="0071C1"/>
          </a:solidFill>
          <a:ln>
            <a:noFill/>
          </a:ln>
        </p:spPr>
        <p:txBody>
          <a:bodyPr rtlCol="0" anchor="ctr"/>
          <a:lstStyle/>
          <a:p>
            <a:pPr algn="ctr"/>
          </a:p>
        </p:txBody>
      </p:sp>
      <p:sp>
        <p:nvSpPr>
          <p:cNvPr id="50" name="Oval 49"/>
          <p:cNvSpPr/>
          <p:nvPr/>
        </p:nvSpPr>
        <p:spPr>
          <a:xfrm>
            <a:off x="11087100" y="3666744"/>
            <a:ext cx="137160" cy="137160"/>
          </a:xfrm>
          <a:prstGeom prst="ellipse">
            <a:avLst/>
          </a:prstGeom>
          <a:solidFill>
            <a:srgbClr val="E7B98F"/>
          </a:solidFill>
          <a:ln>
            <a:noFill/>
          </a:ln>
        </p:spPr>
        <p:txBody>
          <a:bodyPr rtlCol="0" anchor="ctr"/>
          <a:lstStyle/>
          <a:p>
            <a:pPr algn="ctr"/>
          </a:p>
        </p:txBody>
      </p:sp>
      <p:sp>
        <p:nvSpPr>
          <p:cNvPr id="51" name="Oval 50"/>
          <p:cNvSpPr/>
          <p:nvPr/>
        </p:nvSpPr>
        <p:spPr>
          <a:xfrm>
            <a:off x="11064240" y="3630168"/>
            <a:ext cx="182880" cy="91440"/>
          </a:xfrm>
          <a:prstGeom prst="ellipse">
            <a:avLst/>
          </a:prstGeom>
          <a:solidFill>
            <a:srgbClr val="D99A2B"/>
          </a:solidFill>
          <a:ln>
            <a:noFill/>
          </a:ln>
        </p:spPr>
        <p:txBody>
          <a:bodyPr rtlCol="0" anchor="ctr"/>
          <a:lstStyle/>
          <a:p>
            <a:pPr algn="ctr"/>
          </a:p>
        </p:txBody>
      </p:sp>
      <p:pic>
        <p:nvPicPr>
          <p:cNvPr id="52" name="Picture 51" descr="rock2.jpg"/>
          <p:cNvPicPr>
            <a:picLocks noChangeAspect="1"/>
          </p:cNvPicPr>
          <p:nvPr/>
        </p:nvPicPr>
        <p:blipFill>
          <a:blip r:embed="rId2"/>
          <a:srcRect l="60442" r="36591"/>
          <a:stretch>
            <a:fillRect/>
          </a:stretch>
        </p:blipFill>
        <p:spPr>
          <a:xfrm>
            <a:off x="11475720" y="2788920"/>
            <a:ext cx="274320" cy="1554480"/>
          </a:xfrm>
          <a:prstGeom prst="rect">
            <a:avLst/>
          </a:prstGeom>
        </p:spPr>
      </p:pic>
      <p:sp>
        <p:nvSpPr>
          <p:cNvPr id="53" name="Rounded Rectangle 52"/>
          <p:cNvSpPr/>
          <p:nvPr/>
        </p:nvSpPr>
        <p:spPr>
          <a:xfrm>
            <a:off x="2743200" y="2423160"/>
            <a:ext cx="2286000" cy="566928"/>
          </a:xfrm>
          <a:prstGeom prst="roundRect">
            <a:avLst>
              <a:gd name="adj" fmla="val 15000"/>
            </a:avLst>
          </a:prstGeom>
          <a:solidFill>
            <a:srgbClr val="FFFFFF"/>
          </a:solidFill>
          <a:ln w="15875">
            <a:solidFill>
              <a:srgbClr val="1B3A4B"/>
            </a:solidFill>
          </a:ln>
        </p:spPr>
        <p:txBody>
          <a:bodyPr rtlCol="0" anchor="ctr" lIns="36576" rIns="36576" tIns="0" bIns="0" wrap="square"/>
          <a:lstStyle/>
          <a:p>
            <a:pPr algn="ctr"/>
            <a:r>
              <a:rPr sz="1400" b="1">
                <a:solidFill>
                  <a:srgbClr val="1B3A4B"/>
                </a:solidFill>
                <a:latin typeface="Calibri"/>
              </a:rPr>
              <a:t>Wi-Fi, LTE: no signal in rock</a:t>
            </a:r>
          </a:p>
        </p:txBody>
      </p:sp>
      <p:sp>
        <p:nvSpPr>
          <p:cNvPr id="54" name="Rounded Rectangle 53"/>
          <p:cNvSpPr/>
          <p:nvPr/>
        </p:nvSpPr>
        <p:spPr>
          <a:xfrm>
            <a:off x="5029200" y="2423160"/>
            <a:ext cx="2468880" cy="566928"/>
          </a:xfrm>
          <a:prstGeom prst="roundRect">
            <a:avLst>
              <a:gd name="adj" fmla="val 15000"/>
            </a:avLst>
          </a:prstGeom>
          <a:solidFill>
            <a:srgbClr val="FFFFFF"/>
          </a:solidFill>
          <a:ln w="15875">
            <a:solidFill>
              <a:srgbClr val="C8402A"/>
            </a:solidFill>
          </a:ln>
        </p:spPr>
        <p:txBody>
          <a:bodyPr rtlCol="0" anchor="ctr" lIns="36576" rIns="36576" tIns="0" bIns="0" wrap="square"/>
          <a:lstStyle/>
          <a:p>
            <a:pPr algn="ctr"/>
            <a:r>
              <a:rPr sz="1400" b="1">
                <a:solidFill>
                  <a:srgbClr val="C8402A"/>
                </a:solidFill>
                <a:latin typeface="Calibri"/>
              </a:rPr>
              <a:t>Cable cut by fall, water, machines</a:t>
            </a:r>
          </a:p>
        </p:txBody>
      </p:sp>
      <p:sp>
        <p:nvSpPr>
          <p:cNvPr id="55" name="Rounded Rectangle 54"/>
          <p:cNvSpPr/>
          <p:nvPr/>
        </p:nvSpPr>
        <p:spPr>
          <a:xfrm>
            <a:off x="7772400" y="2423160"/>
            <a:ext cx="2560320" cy="566928"/>
          </a:xfrm>
          <a:prstGeom prst="roundRect">
            <a:avLst>
              <a:gd name="adj" fmla="val 15000"/>
            </a:avLst>
          </a:prstGeom>
          <a:solidFill>
            <a:srgbClr val="FFFFFF"/>
          </a:solidFill>
          <a:ln w="15875">
            <a:solidFill>
              <a:srgbClr val="1B3A4B"/>
            </a:solidFill>
          </a:ln>
        </p:spPr>
        <p:txBody>
          <a:bodyPr rtlCol="0" anchor="ctr" lIns="36576" rIns="36576" tIns="0" bIns="0" wrap="square"/>
          <a:lstStyle/>
          <a:p>
            <a:pPr algn="ctr"/>
            <a:r>
              <a:rPr sz="1400" b="1">
                <a:solidFill>
                  <a:srgbClr val="1B3A4B"/>
                </a:solidFill>
                <a:latin typeface="Calibri"/>
              </a:rPr>
              <a:t>Voice and text do not show the face</a:t>
            </a:r>
          </a:p>
        </p:txBody>
      </p:sp>
      <p:sp>
        <p:nvSpPr>
          <p:cNvPr id="56" name="Rectangle 55"/>
          <p:cNvSpPr/>
          <p:nvPr/>
        </p:nvSpPr>
        <p:spPr>
          <a:xfrm>
            <a:off x="457200" y="1554480"/>
            <a:ext cx="11292840" cy="3520440"/>
          </a:xfrm>
          <a:prstGeom prst="rect">
            <a:avLst/>
          </a:prstGeom>
          <a:noFill/>
          <a:ln w="9525">
            <a:solidFill>
              <a:srgbClr val="9A9A9A"/>
            </a:solidFill>
          </a:ln>
        </p:spPr>
        <p:txBody>
          <a:bodyPr rtlCol="0" anchor="ctr"/>
          <a:lstStyle/>
          <a:p>
            <a:pPr algn="ctr"/>
          </a:p>
        </p:txBody>
      </p:sp>
      <p:sp>
        <p:nvSpPr>
          <p:cNvPr id="57" name="TextBox 56"/>
          <p:cNvSpPr txBox="1"/>
          <p:nvPr/>
        </p:nvSpPr>
        <p:spPr>
          <a:xfrm>
            <a:off x="457200" y="5212080"/>
            <a:ext cx="5486400" cy="365760"/>
          </a:xfrm>
          <a:prstGeom prst="rect">
            <a:avLst/>
          </a:prstGeom>
          <a:noFill/>
        </p:spPr>
        <p:txBody>
          <a:bodyPr wrap="square" lIns="45720" rIns="45720" tIns="27432" bIns="27432" anchor="t">
            <a:spAutoFit/>
          </a:bodyPr>
          <a:lstStyle/>
          <a:p>
            <a:pPr algn="l"/>
            <a:r>
              <a:rPr sz="1700" b="1" i="0">
                <a:solidFill>
                  <a:srgbClr val="1B3A4B"/>
                </a:solidFill>
                <a:latin typeface="Calibri"/>
              </a:rPr>
              <a:t>What mines use now</a:t>
            </a:r>
          </a:p>
        </p:txBody>
      </p:sp>
      <p:sp>
        <p:nvSpPr>
          <p:cNvPr id="58" name="Rounded Rectangle 57"/>
          <p:cNvSpPr/>
          <p:nvPr/>
        </p:nvSpPr>
        <p:spPr>
          <a:xfrm>
            <a:off x="457200" y="5623560"/>
            <a:ext cx="1874519" cy="457200"/>
          </a:xfrm>
          <a:prstGeom prst="roundRect">
            <a:avLst>
              <a:gd name="adj" fmla="val 30000"/>
            </a:avLst>
          </a:prstGeom>
          <a:solidFill>
            <a:srgbClr val="E9E9E9"/>
          </a:solidFill>
          <a:ln>
            <a:noFill/>
          </a:ln>
        </p:spPr>
        <p:txBody>
          <a:bodyPr rtlCol="0" anchor="ctr" lIns="36576" rIns="36576" tIns="0" bIns="0" wrap="square"/>
          <a:lstStyle/>
          <a:p>
            <a:pPr algn="ctr"/>
            <a:r>
              <a:rPr sz="1400" b="0">
                <a:solidFill>
                  <a:srgbClr val="1C2430"/>
                </a:solidFill>
                <a:latin typeface="Calibri"/>
              </a:rPr>
              <a:t>Wired phones</a:t>
            </a:r>
          </a:p>
        </p:txBody>
      </p:sp>
      <p:sp>
        <p:nvSpPr>
          <p:cNvPr id="59" name="Rounded Rectangle 58"/>
          <p:cNvSpPr/>
          <p:nvPr/>
        </p:nvSpPr>
        <p:spPr>
          <a:xfrm>
            <a:off x="2423160" y="5623560"/>
            <a:ext cx="1874519" cy="457200"/>
          </a:xfrm>
          <a:prstGeom prst="roundRect">
            <a:avLst>
              <a:gd name="adj" fmla="val 30000"/>
            </a:avLst>
          </a:prstGeom>
          <a:solidFill>
            <a:srgbClr val="E9E9E9"/>
          </a:solidFill>
          <a:ln>
            <a:noFill/>
          </a:ln>
        </p:spPr>
        <p:txBody>
          <a:bodyPr rtlCol="0" anchor="ctr" lIns="36576" rIns="36576" tIns="0" bIns="0" wrap="square"/>
          <a:lstStyle/>
          <a:p>
            <a:pPr algn="ctr"/>
            <a:r>
              <a:rPr sz="1400" b="0">
                <a:solidFill>
                  <a:srgbClr val="1C2430"/>
                </a:solidFill>
                <a:latin typeface="Calibri"/>
              </a:rPr>
              <a:t>Leaky-feeder cable</a:t>
            </a:r>
          </a:p>
        </p:txBody>
      </p:sp>
      <p:sp>
        <p:nvSpPr>
          <p:cNvPr id="60" name="Rounded Rectangle 59"/>
          <p:cNvSpPr/>
          <p:nvPr/>
        </p:nvSpPr>
        <p:spPr>
          <a:xfrm>
            <a:off x="4389120" y="5623560"/>
            <a:ext cx="1874519" cy="457200"/>
          </a:xfrm>
          <a:prstGeom prst="roundRect">
            <a:avLst>
              <a:gd name="adj" fmla="val 30000"/>
            </a:avLst>
          </a:prstGeom>
          <a:solidFill>
            <a:srgbClr val="E9E9E9"/>
          </a:solidFill>
          <a:ln>
            <a:noFill/>
          </a:ln>
        </p:spPr>
        <p:txBody>
          <a:bodyPr rtlCol="0" anchor="ctr" lIns="36576" rIns="36576" tIns="0" bIns="0" wrap="square"/>
          <a:lstStyle/>
          <a:p>
            <a:pPr algn="ctr"/>
            <a:r>
              <a:rPr sz="1400" b="0">
                <a:solidFill>
                  <a:srgbClr val="1C2430"/>
                </a:solidFill>
                <a:latin typeface="Calibri"/>
              </a:rPr>
              <a:t>Low-rate radio</a:t>
            </a:r>
          </a:p>
        </p:txBody>
      </p:sp>
      <p:sp>
        <p:nvSpPr>
          <p:cNvPr id="61" name="Rounded Rectangle 60"/>
          <p:cNvSpPr/>
          <p:nvPr/>
        </p:nvSpPr>
        <p:spPr>
          <a:xfrm>
            <a:off x="6355079" y="5623560"/>
            <a:ext cx="1874519" cy="457200"/>
          </a:xfrm>
          <a:prstGeom prst="roundRect">
            <a:avLst>
              <a:gd name="adj" fmla="val 30000"/>
            </a:avLst>
          </a:prstGeom>
          <a:solidFill>
            <a:srgbClr val="E9E9E9"/>
          </a:solidFill>
          <a:ln>
            <a:noFill/>
          </a:ln>
        </p:spPr>
        <p:txBody>
          <a:bodyPr rtlCol="0" anchor="ctr" lIns="36576" rIns="36576" tIns="0" bIns="0" wrap="square"/>
          <a:lstStyle/>
          <a:p>
            <a:pPr algn="ctr"/>
            <a:r>
              <a:rPr sz="1400" b="0">
                <a:solidFill>
                  <a:srgbClr val="1C2430"/>
                </a:solidFill>
                <a:latin typeface="Calibri"/>
              </a:rPr>
              <a:t>Surface control room</a:t>
            </a:r>
          </a:p>
        </p:txBody>
      </p:sp>
      <p:sp>
        <p:nvSpPr>
          <p:cNvPr id="62" name="Rounded Rectangle 61"/>
          <p:cNvSpPr/>
          <p:nvPr/>
        </p:nvSpPr>
        <p:spPr>
          <a:xfrm>
            <a:off x="8366760" y="5212080"/>
            <a:ext cx="3383280" cy="1005840"/>
          </a:xfrm>
          <a:prstGeom prst="roundRect">
            <a:avLst>
              <a:gd name="adj" fmla="val 8000"/>
            </a:avLst>
          </a:prstGeom>
          <a:solidFill>
            <a:srgbClr val="0071C1"/>
          </a:solidFill>
          <a:ln w="9525">
            <a:solidFill>
              <a:srgbClr val="00548F"/>
            </a:solidFill>
          </a:ln>
        </p:spPr>
        <p:txBody>
          <a:bodyPr rtlCol="0" anchor="ctr"/>
          <a:lstStyle/>
          <a:p>
            <a:pPr algn="ctr"/>
          </a:p>
        </p:txBody>
      </p:sp>
      <p:sp>
        <p:nvSpPr>
          <p:cNvPr id="63" name="TextBox 62"/>
          <p:cNvSpPr txBox="1"/>
          <p:nvPr/>
        </p:nvSpPr>
        <p:spPr>
          <a:xfrm>
            <a:off x="8503920" y="5230368"/>
            <a:ext cx="3108960" cy="969264"/>
          </a:xfrm>
          <a:prstGeom prst="rect">
            <a:avLst/>
          </a:prstGeom>
          <a:noFill/>
        </p:spPr>
        <p:txBody>
          <a:bodyPr wrap="square" lIns="45720" rIns="45720" tIns="27432" bIns="27432" anchor="ctr">
            <a:spAutoFit/>
          </a:bodyPr>
          <a:lstStyle/>
          <a:p>
            <a:pPr algn="l"/>
            <a:r>
              <a:rPr sz="1500" b="1" i="0">
                <a:solidFill>
                  <a:srgbClr val="FFD966"/>
                </a:solidFill>
                <a:latin typeface="Calibri"/>
              </a:rPr>
              <a:t>Need: </a:t>
            </a:r>
            <a:r>
              <a:rPr sz="1500" b="0" i="0">
                <a:solidFill>
                  <a:srgbClr val="FFFFFF"/>
                </a:solidFill>
                <a:latin typeface="Calibri"/>
              </a:rPr>
              <a:t>video where there is line of sight, and an alert that survives a cut cable.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02     ·     PROBLEM STATEMENT AND RELEVANCE TO THE MINING SECTOR</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Relevance to underground mining</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Relevance to mining</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4  /  15</a:t>
            </a:r>
          </a:p>
        </p:txBody>
      </p:sp>
      <p:sp>
        <p:nvSpPr>
          <p:cNvPr id="9" name="TextBox 8"/>
          <p:cNvSpPr txBox="1"/>
          <p:nvPr/>
        </p:nvSpPr>
        <p:spPr>
          <a:xfrm>
            <a:off x="457200" y="960120"/>
            <a:ext cx="11247120" cy="365760"/>
          </a:xfrm>
          <a:prstGeom prst="rect">
            <a:avLst/>
          </a:prstGeom>
          <a:noFill/>
        </p:spPr>
        <p:txBody>
          <a:bodyPr wrap="square" lIns="45720" rIns="45720" tIns="27432" bIns="27432" anchor="t">
            <a:spAutoFit/>
          </a:bodyPr>
          <a:lstStyle/>
          <a:p>
            <a:pPr algn="l"/>
            <a:r>
              <a:rPr sz="1600" b="0" i="0">
                <a:solidFill>
                  <a:srgbClr val="5C6770"/>
                </a:solidFill>
                <a:latin typeface="Calibri"/>
              </a:rPr>
              <a:t>What an underground heading needs, set against the systems available today.</a:t>
            </a:r>
          </a:p>
        </p:txBody>
      </p:sp>
      <p:sp>
        <p:nvSpPr>
          <p:cNvPr id="10" name="Rectangle 9"/>
          <p:cNvSpPr/>
          <p:nvPr/>
        </p:nvSpPr>
        <p:spPr>
          <a:xfrm>
            <a:off x="3090672" y="1371600"/>
            <a:ext cx="1682495" cy="457200"/>
          </a:xfrm>
          <a:prstGeom prst="rect">
            <a:avLst/>
          </a:prstGeom>
          <a:solidFill>
            <a:srgbClr val="0071C1"/>
          </a:solidFill>
          <a:ln>
            <a:noFill/>
          </a:ln>
        </p:spPr>
        <p:txBody>
          <a:bodyPr rtlCol="0" anchor="ctr" lIns="36576" rIns="36576" tIns="0" bIns="0" wrap="square"/>
          <a:lstStyle/>
          <a:p>
            <a:pPr algn="ctr"/>
            <a:r>
              <a:rPr sz="1400" b="1">
                <a:solidFill>
                  <a:srgbClr val="FFFFFF"/>
                </a:solidFill>
                <a:latin typeface="Calibri"/>
              </a:rPr>
              <a:t>Cable / leaky feeder</a:t>
            </a:r>
          </a:p>
        </p:txBody>
      </p:sp>
      <p:sp>
        <p:nvSpPr>
          <p:cNvPr id="11" name="Rectangle 10"/>
          <p:cNvSpPr/>
          <p:nvPr/>
        </p:nvSpPr>
        <p:spPr>
          <a:xfrm>
            <a:off x="4828032" y="1371600"/>
            <a:ext cx="1682495" cy="457200"/>
          </a:xfrm>
          <a:prstGeom prst="rect">
            <a:avLst/>
          </a:prstGeom>
          <a:solidFill>
            <a:srgbClr val="0071C1"/>
          </a:solidFill>
          <a:ln>
            <a:noFill/>
          </a:ln>
        </p:spPr>
        <p:txBody>
          <a:bodyPr rtlCol="0" anchor="ctr" lIns="36576" rIns="36576" tIns="0" bIns="0" wrap="square"/>
          <a:lstStyle/>
          <a:p>
            <a:pPr algn="ctr"/>
            <a:r>
              <a:rPr sz="1400" b="1">
                <a:solidFill>
                  <a:srgbClr val="FFFFFF"/>
                </a:solidFill>
                <a:latin typeface="Calibri"/>
              </a:rPr>
              <a:t>Wi-Fi / LTE</a:t>
            </a:r>
          </a:p>
        </p:txBody>
      </p:sp>
      <p:sp>
        <p:nvSpPr>
          <p:cNvPr id="12" name="Rectangle 11"/>
          <p:cNvSpPr/>
          <p:nvPr/>
        </p:nvSpPr>
        <p:spPr>
          <a:xfrm>
            <a:off x="6565392" y="1371600"/>
            <a:ext cx="1682495" cy="457200"/>
          </a:xfrm>
          <a:prstGeom prst="rect">
            <a:avLst/>
          </a:prstGeom>
          <a:solidFill>
            <a:srgbClr val="0071C1"/>
          </a:solidFill>
          <a:ln>
            <a:noFill/>
          </a:ln>
        </p:spPr>
        <p:txBody>
          <a:bodyPr rtlCol="0" anchor="ctr" lIns="36576" rIns="36576" tIns="0" bIns="0" wrap="square"/>
          <a:lstStyle/>
          <a:p>
            <a:pPr algn="ctr"/>
            <a:r>
              <a:rPr sz="1400" b="1">
                <a:solidFill>
                  <a:srgbClr val="FFFFFF"/>
                </a:solidFill>
                <a:latin typeface="Calibri"/>
              </a:rPr>
              <a:t>LoRa only</a:t>
            </a:r>
          </a:p>
        </p:txBody>
      </p:sp>
      <p:sp>
        <p:nvSpPr>
          <p:cNvPr id="13" name="Rectangle 12"/>
          <p:cNvSpPr/>
          <p:nvPr/>
        </p:nvSpPr>
        <p:spPr>
          <a:xfrm>
            <a:off x="8302751" y="1371600"/>
            <a:ext cx="1682495" cy="457200"/>
          </a:xfrm>
          <a:prstGeom prst="rect">
            <a:avLst/>
          </a:prstGeom>
          <a:solidFill>
            <a:srgbClr val="0071C1"/>
          </a:solidFill>
          <a:ln>
            <a:noFill/>
          </a:ln>
        </p:spPr>
        <p:txBody>
          <a:bodyPr rtlCol="0" anchor="ctr" lIns="36576" rIns="36576" tIns="0" bIns="0" wrap="square"/>
          <a:lstStyle/>
          <a:p>
            <a:pPr algn="ctr"/>
            <a:r>
              <a:rPr sz="1400" b="1">
                <a:solidFill>
                  <a:srgbClr val="FFFFFF"/>
                </a:solidFill>
                <a:latin typeface="Calibri"/>
              </a:rPr>
              <a:t>FSO only</a:t>
            </a:r>
          </a:p>
        </p:txBody>
      </p:sp>
      <p:sp>
        <p:nvSpPr>
          <p:cNvPr id="14" name="Rectangle 13"/>
          <p:cNvSpPr/>
          <p:nvPr/>
        </p:nvSpPr>
        <p:spPr>
          <a:xfrm>
            <a:off x="10040111" y="1371600"/>
            <a:ext cx="1682495" cy="457200"/>
          </a:xfrm>
          <a:prstGeom prst="rect">
            <a:avLst/>
          </a:prstGeom>
          <a:solidFill>
            <a:srgbClr val="ED7D31"/>
          </a:solidFill>
          <a:ln>
            <a:noFill/>
          </a:ln>
        </p:spPr>
        <p:txBody>
          <a:bodyPr rtlCol="0" anchor="ctr" lIns="36576" rIns="36576" tIns="0" bIns="0" wrap="square"/>
          <a:lstStyle/>
          <a:p>
            <a:pPr algn="ctr"/>
            <a:r>
              <a:rPr sz="1400" b="1">
                <a:solidFill>
                  <a:srgbClr val="FFFFFF"/>
                </a:solidFill>
                <a:latin typeface="Calibri"/>
              </a:rPr>
              <a:t>This proposal</a:t>
            </a:r>
          </a:p>
        </p:txBody>
      </p:sp>
      <p:sp>
        <p:nvSpPr>
          <p:cNvPr id="15" name="Rectangle 14"/>
          <p:cNvSpPr/>
          <p:nvPr/>
        </p:nvSpPr>
        <p:spPr>
          <a:xfrm>
            <a:off x="457200" y="1883664"/>
            <a:ext cx="2551176" cy="749808"/>
          </a:xfrm>
          <a:prstGeom prst="rect">
            <a:avLst/>
          </a:prstGeom>
          <a:solidFill>
            <a:srgbClr val="E9E9E9"/>
          </a:solidFill>
          <a:ln>
            <a:noFill/>
          </a:ln>
        </p:spPr>
        <p:txBody>
          <a:bodyPr rtlCol="0" anchor="ctr"/>
          <a:lstStyle/>
          <a:p>
            <a:pPr algn="ctr"/>
          </a:p>
        </p:txBody>
      </p:sp>
      <p:sp>
        <p:nvSpPr>
          <p:cNvPr id="16" name="TextBox 15"/>
          <p:cNvSpPr txBox="1"/>
          <p:nvPr/>
        </p:nvSpPr>
        <p:spPr>
          <a:xfrm>
            <a:off x="548640" y="1883664"/>
            <a:ext cx="2331720" cy="749808"/>
          </a:xfrm>
          <a:prstGeom prst="rect">
            <a:avLst/>
          </a:prstGeom>
          <a:noFill/>
        </p:spPr>
        <p:txBody>
          <a:bodyPr wrap="square" lIns="45720" rIns="45720" tIns="27432" bIns="27432" anchor="ctr">
            <a:spAutoFit/>
          </a:bodyPr>
          <a:lstStyle/>
          <a:p>
            <a:pPr algn="l"/>
            <a:r>
              <a:rPr sz="1500" b="1" i="0">
                <a:solidFill>
                  <a:srgbClr val="1B3A4B"/>
                </a:solidFill>
                <a:latin typeface="Calibri"/>
              </a:rPr>
              <a:t>Reach the surface in an emergency</a:t>
            </a:r>
          </a:p>
        </p:txBody>
      </p:sp>
      <p:sp>
        <p:nvSpPr>
          <p:cNvPr id="17" name="Rectangle 16"/>
          <p:cNvSpPr/>
          <p:nvPr/>
        </p:nvSpPr>
        <p:spPr>
          <a:xfrm>
            <a:off x="3090672" y="1883664"/>
            <a:ext cx="1682495" cy="749808"/>
          </a:xfrm>
          <a:prstGeom prst="rect">
            <a:avLst/>
          </a:prstGeom>
          <a:solidFill>
            <a:srgbClr val="E9E9E9"/>
          </a:solidFill>
          <a:ln>
            <a:noFill/>
          </a:ln>
        </p:spPr>
        <p:txBody>
          <a:bodyPr rtlCol="0" anchor="ctr"/>
          <a:lstStyle/>
          <a:p>
            <a:pPr algn="ctr"/>
          </a:p>
        </p:txBody>
      </p:sp>
      <p:sp>
        <p:nvSpPr>
          <p:cNvPr id="18" name="Oval 17"/>
          <p:cNvSpPr/>
          <p:nvPr/>
        </p:nvSpPr>
        <p:spPr>
          <a:xfrm>
            <a:off x="3154680" y="1965960"/>
            <a:ext cx="237744" cy="237744"/>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19" name="TextBox 18"/>
          <p:cNvSpPr txBox="1"/>
          <p:nvPr/>
        </p:nvSpPr>
        <p:spPr>
          <a:xfrm>
            <a:off x="3108960" y="221284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Until the cable is cut</a:t>
            </a:r>
          </a:p>
        </p:txBody>
      </p:sp>
      <p:sp>
        <p:nvSpPr>
          <p:cNvPr id="20" name="Rectangle 19"/>
          <p:cNvSpPr/>
          <p:nvPr/>
        </p:nvSpPr>
        <p:spPr>
          <a:xfrm>
            <a:off x="4828032" y="1883664"/>
            <a:ext cx="1682495" cy="749808"/>
          </a:xfrm>
          <a:prstGeom prst="rect">
            <a:avLst/>
          </a:prstGeom>
          <a:solidFill>
            <a:srgbClr val="E9E9E9"/>
          </a:solidFill>
          <a:ln>
            <a:noFill/>
          </a:ln>
        </p:spPr>
        <p:txBody>
          <a:bodyPr rtlCol="0" anchor="ctr"/>
          <a:lstStyle/>
          <a:p>
            <a:pPr algn="ctr"/>
          </a:p>
        </p:txBody>
      </p:sp>
      <p:sp>
        <p:nvSpPr>
          <p:cNvPr id="21" name="Oval 20"/>
          <p:cNvSpPr/>
          <p:nvPr/>
        </p:nvSpPr>
        <p:spPr>
          <a:xfrm>
            <a:off x="4892040" y="1965960"/>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22" name="TextBox 21"/>
          <p:cNvSpPr txBox="1"/>
          <p:nvPr/>
        </p:nvSpPr>
        <p:spPr>
          <a:xfrm>
            <a:off x="4846320" y="221284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 signal in rock</a:t>
            </a:r>
          </a:p>
        </p:txBody>
      </p:sp>
      <p:sp>
        <p:nvSpPr>
          <p:cNvPr id="23" name="Rectangle 22"/>
          <p:cNvSpPr/>
          <p:nvPr/>
        </p:nvSpPr>
        <p:spPr>
          <a:xfrm>
            <a:off x="6565392" y="1883664"/>
            <a:ext cx="1682495" cy="749808"/>
          </a:xfrm>
          <a:prstGeom prst="rect">
            <a:avLst/>
          </a:prstGeom>
          <a:solidFill>
            <a:srgbClr val="E9E9E9"/>
          </a:solidFill>
          <a:ln>
            <a:noFill/>
          </a:ln>
        </p:spPr>
        <p:txBody>
          <a:bodyPr rtlCol="0" anchor="ctr"/>
          <a:lstStyle/>
          <a:p>
            <a:pPr algn="ctr"/>
          </a:p>
        </p:txBody>
      </p:sp>
      <p:sp>
        <p:nvSpPr>
          <p:cNvPr id="24" name="Oval 23"/>
          <p:cNvSpPr/>
          <p:nvPr/>
        </p:nvSpPr>
        <p:spPr>
          <a:xfrm>
            <a:off x="6629400" y="1965960"/>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25" name="TextBox 24"/>
          <p:cNvSpPr txBox="1"/>
          <p:nvPr/>
        </p:nvSpPr>
        <p:spPr>
          <a:xfrm>
            <a:off x="6583680" y="221284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Yes, at low data rate</a:t>
            </a:r>
          </a:p>
        </p:txBody>
      </p:sp>
      <p:sp>
        <p:nvSpPr>
          <p:cNvPr id="26" name="Rectangle 25"/>
          <p:cNvSpPr/>
          <p:nvPr/>
        </p:nvSpPr>
        <p:spPr>
          <a:xfrm>
            <a:off x="8302751" y="1883664"/>
            <a:ext cx="1682495" cy="749808"/>
          </a:xfrm>
          <a:prstGeom prst="rect">
            <a:avLst/>
          </a:prstGeom>
          <a:solidFill>
            <a:srgbClr val="E9E9E9"/>
          </a:solidFill>
          <a:ln>
            <a:noFill/>
          </a:ln>
        </p:spPr>
        <p:txBody>
          <a:bodyPr rtlCol="0" anchor="ctr"/>
          <a:lstStyle/>
          <a:p>
            <a:pPr algn="ctr"/>
          </a:p>
        </p:txBody>
      </p:sp>
      <p:sp>
        <p:nvSpPr>
          <p:cNvPr id="27" name="Oval 26"/>
          <p:cNvSpPr/>
          <p:nvPr/>
        </p:nvSpPr>
        <p:spPr>
          <a:xfrm>
            <a:off x="8366759" y="1965960"/>
            <a:ext cx="237744" cy="237744"/>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28" name="TextBox 27"/>
          <p:cNvSpPr txBox="1"/>
          <p:nvPr/>
        </p:nvSpPr>
        <p:spPr>
          <a:xfrm>
            <a:off x="8321040" y="221284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Only with clear sightline</a:t>
            </a:r>
          </a:p>
        </p:txBody>
      </p:sp>
      <p:sp>
        <p:nvSpPr>
          <p:cNvPr id="29" name="Rectangle 28"/>
          <p:cNvSpPr/>
          <p:nvPr/>
        </p:nvSpPr>
        <p:spPr>
          <a:xfrm>
            <a:off x="10040111" y="1883664"/>
            <a:ext cx="1682495" cy="749808"/>
          </a:xfrm>
          <a:prstGeom prst="rect">
            <a:avLst/>
          </a:prstGeom>
          <a:solidFill>
            <a:srgbClr val="FBF3E3"/>
          </a:solidFill>
          <a:ln>
            <a:noFill/>
          </a:ln>
        </p:spPr>
        <p:txBody>
          <a:bodyPr rtlCol="0" anchor="ctr"/>
          <a:lstStyle/>
          <a:p>
            <a:pPr algn="ctr"/>
          </a:p>
        </p:txBody>
      </p:sp>
      <p:sp>
        <p:nvSpPr>
          <p:cNvPr id="30" name="Oval 29"/>
          <p:cNvSpPr/>
          <p:nvPr/>
        </p:nvSpPr>
        <p:spPr>
          <a:xfrm>
            <a:off x="10104119" y="1965960"/>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31" name="TextBox 30"/>
          <p:cNvSpPr txBox="1"/>
          <p:nvPr/>
        </p:nvSpPr>
        <p:spPr>
          <a:xfrm>
            <a:off x="10058400" y="221284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LoRa stays up if beam drops</a:t>
            </a:r>
          </a:p>
        </p:txBody>
      </p:sp>
      <p:sp>
        <p:nvSpPr>
          <p:cNvPr id="32" name="Rectangle 31"/>
          <p:cNvSpPr/>
          <p:nvPr/>
        </p:nvSpPr>
        <p:spPr>
          <a:xfrm>
            <a:off x="457200" y="2688336"/>
            <a:ext cx="2551176" cy="749808"/>
          </a:xfrm>
          <a:prstGeom prst="rect">
            <a:avLst/>
          </a:prstGeom>
          <a:solidFill>
            <a:srgbClr val="E9E9E9"/>
          </a:solidFill>
          <a:ln>
            <a:noFill/>
          </a:ln>
        </p:spPr>
        <p:txBody>
          <a:bodyPr rtlCol="0" anchor="ctr"/>
          <a:lstStyle/>
          <a:p>
            <a:pPr algn="ctr"/>
          </a:p>
        </p:txBody>
      </p:sp>
      <p:sp>
        <p:nvSpPr>
          <p:cNvPr id="33" name="TextBox 32"/>
          <p:cNvSpPr txBox="1"/>
          <p:nvPr/>
        </p:nvSpPr>
        <p:spPr>
          <a:xfrm>
            <a:off x="548640" y="2688336"/>
            <a:ext cx="2331720" cy="749808"/>
          </a:xfrm>
          <a:prstGeom prst="rect">
            <a:avLst/>
          </a:prstGeom>
          <a:noFill/>
        </p:spPr>
        <p:txBody>
          <a:bodyPr wrap="square" lIns="45720" rIns="45720" tIns="27432" bIns="27432" anchor="ctr">
            <a:spAutoFit/>
          </a:bodyPr>
          <a:lstStyle/>
          <a:p>
            <a:pPr algn="l"/>
            <a:r>
              <a:rPr sz="1500" b="1" i="0">
                <a:solidFill>
                  <a:srgbClr val="1B3A4B"/>
                </a:solidFill>
                <a:latin typeface="Calibri"/>
              </a:rPr>
              <a:t>Live picture of the face</a:t>
            </a:r>
          </a:p>
        </p:txBody>
      </p:sp>
      <p:sp>
        <p:nvSpPr>
          <p:cNvPr id="34" name="Rectangle 33"/>
          <p:cNvSpPr/>
          <p:nvPr/>
        </p:nvSpPr>
        <p:spPr>
          <a:xfrm>
            <a:off x="3090672" y="2688336"/>
            <a:ext cx="1682495" cy="749808"/>
          </a:xfrm>
          <a:prstGeom prst="rect">
            <a:avLst/>
          </a:prstGeom>
          <a:solidFill>
            <a:srgbClr val="E9E9E9"/>
          </a:solidFill>
          <a:ln>
            <a:noFill/>
          </a:ln>
        </p:spPr>
        <p:txBody>
          <a:bodyPr rtlCol="0" anchor="ctr"/>
          <a:lstStyle/>
          <a:p>
            <a:pPr algn="ctr"/>
          </a:p>
        </p:txBody>
      </p:sp>
      <p:sp>
        <p:nvSpPr>
          <p:cNvPr id="35" name="Oval 34"/>
          <p:cNvSpPr/>
          <p:nvPr/>
        </p:nvSpPr>
        <p:spPr>
          <a:xfrm>
            <a:off x="3154680" y="2770632"/>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36" name="TextBox 35"/>
          <p:cNvSpPr txBox="1"/>
          <p:nvPr/>
        </p:nvSpPr>
        <p:spPr>
          <a:xfrm>
            <a:off x="3108960" y="301752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Not what it is for</a:t>
            </a:r>
          </a:p>
        </p:txBody>
      </p:sp>
      <p:sp>
        <p:nvSpPr>
          <p:cNvPr id="37" name="Rectangle 36"/>
          <p:cNvSpPr/>
          <p:nvPr/>
        </p:nvSpPr>
        <p:spPr>
          <a:xfrm>
            <a:off x="4828032" y="2688336"/>
            <a:ext cx="1682495" cy="749808"/>
          </a:xfrm>
          <a:prstGeom prst="rect">
            <a:avLst/>
          </a:prstGeom>
          <a:solidFill>
            <a:srgbClr val="E9E9E9"/>
          </a:solidFill>
          <a:ln>
            <a:noFill/>
          </a:ln>
        </p:spPr>
        <p:txBody>
          <a:bodyPr rtlCol="0" anchor="ctr"/>
          <a:lstStyle/>
          <a:p>
            <a:pPr algn="ctr"/>
          </a:p>
        </p:txBody>
      </p:sp>
      <p:sp>
        <p:nvSpPr>
          <p:cNvPr id="38" name="Oval 37"/>
          <p:cNvSpPr/>
          <p:nvPr/>
        </p:nvSpPr>
        <p:spPr>
          <a:xfrm>
            <a:off x="4892040" y="2770632"/>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39" name="TextBox 38"/>
          <p:cNvSpPr txBox="1"/>
          <p:nvPr/>
        </p:nvSpPr>
        <p:spPr>
          <a:xfrm>
            <a:off x="4846320" y="301752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 usable bandwidth</a:t>
            </a:r>
          </a:p>
        </p:txBody>
      </p:sp>
      <p:sp>
        <p:nvSpPr>
          <p:cNvPr id="40" name="Rectangle 39"/>
          <p:cNvSpPr/>
          <p:nvPr/>
        </p:nvSpPr>
        <p:spPr>
          <a:xfrm>
            <a:off x="6565392" y="2688336"/>
            <a:ext cx="1682495" cy="749808"/>
          </a:xfrm>
          <a:prstGeom prst="rect">
            <a:avLst/>
          </a:prstGeom>
          <a:solidFill>
            <a:srgbClr val="E9E9E9"/>
          </a:solidFill>
          <a:ln>
            <a:noFill/>
          </a:ln>
        </p:spPr>
        <p:txBody>
          <a:bodyPr rtlCol="0" anchor="ctr"/>
          <a:lstStyle/>
          <a:p>
            <a:pPr algn="ctr"/>
          </a:p>
        </p:txBody>
      </p:sp>
      <p:sp>
        <p:nvSpPr>
          <p:cNvPr id="41" name="Oval 40"/>
          <p:cNvSpPr/>
          <p:nvPr/>
        </p:nvSpPr>
        <p:spPr>
          <a:xfrm>
            <a:off x="6629400" y="2770632"/>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42" name="TextBox 41"/>
          <p:cNvSpPr txBox="1"/>
          <p:nvPr/>
        </p:nvSpPr>
        <p:spPr>
          <a:xfrm>
            <a:off x="6583680" y="301752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Too slow for video</a:t>
            </a:r>
          </a:p>
        </p:txBody>
      </p:sp>
      <p:sp>
        <p:nvSpPr>
          <p:cNvPr id="43" name="Rectangle 42"/>
          <p:cNvSpPr/>
          <p:nvPr/>
        </p:nvSpPr>
        <p:spPr>
          <a:xfrm>
            <a:off x="8302751" y="2688336"/>
            <a:ext cx="1682495" cy="749808"/>
          </a:xfrm>
          <a:prstGeom prst="rect">
            <a:avLst/>
          </a:prstGeom>
          <a:solidFill>
            <a:srgbClr val="E9E9E9"/>
          </a:solidFill>
          <a:ln>
            <a:noFill/>
          </a:ln>
        </p:spPr>
        <p:txBody>
          <a:bodyPr rtlCol="0" anchor="ctr"/>
          <a:lstStyle/>
          <a:p>
            <a:pPr algn="ctr"/>
          </a:p>
        </p:txBody>
      </p:sp>
      <p:sp>
        <p:nvSpPr>
          <p:cNvPr id="44" name="Oval 43"/>
          <p:cNvSpPr/>
          <p:nvPr/>
        </p:nvSpPr>
        <p:spPr>
          <a:xfrm>
            <a:off x="8366759" y="2770632"/>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45" name="TextBox 44"/>
          <p:cNvSpPr txBox="1"/>
          <p:nvPr/>
        </p:nvSpPr>
        <p:spPr>
          <a:xfrm>
            <a:off x="8321040" y="301752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Yes, while aligned</a:t>
            </a:r>
          </a:p>
        </p:txBody>
      </p:sp>
      <p:sp>
        <p:nvSpPr>
          <p:cNvPr id="46" name="Rectangle 45"/>
          <p:cNvSpPr/>
          <p:nvPr/>
        </p:nvSpPr>
        <p:spPr>
          <a:xfrm>
            <a:off x="10040111" y="2688336"/>
            <a:ext cx="1682495" cy="749808"/>
          </a:xfrm>
          <a:prstGeom prst="rect">
            <a:avLst/>
          </a:prstGeom>
          <a:solidFill>
            <a:srgbClr val="FBF3E3"/>
          </a:solidFill>
          <a:ln>
            <a:noFill/>
          </a:ln>
        </p:spPr>
        <p:txBody>
          <a:bodyPr rtlCol="0" anchor="ctr"/>
          <a:lstStyle/>
          <a:p>
            <a:pPr algn="ctr"/>
          </a:p>
        </p:txBody>
      </p:sp>
      <p:sp>
        <p:nvSpPr>
          <p:cNvPr id="47" name="Oval 46"/>
          <p:cNvSpPr/>
          <p:nvPr/>
        </p:nvSpPr>
        <p:spPr>
          <a:xfrm>
            <a:off x="10104119" y="2770632"/>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48" name="TextBox 47"/>
          <p:cNvSpPr txBox="1"/>
          <p:nvPr/>
        </p:nvSpPr>
        <p:spPr>
          <a:xfrm>
            <a:off x="10058400" y="301752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Aligned by closed loop</a:t>
            </a:r>
          </a:p>
        </p:txBody>
      </p:sp>
      <p:sp>
        <p:nvSpPr>
          <p:cNvPr id="49" name="Rectangle 48"/>
          <p:cNvSpPr/>
          <p:nvPr/>
        </p:nvSpPr>
        <p:spPr>
          <a:xfrm>
            <a:off x="457200" y="3493008"/>
            <a:ext cx="2551176" cy="749808"/>
          </a:xfrm>
          <a:prstGeom prst="rect">
            <a:avLst/>
          </a:prstGeom>
          <a:solidFill>
            <a:srgbClr val="E9E9E9"/>
          </a:solidFill>
          <a:ln>
            <a:noFill/>
          </a:ln>
        </p:spPr>
        <p:txBody>
          <a:bodyPr rtlCol="0" anchor="ctr"/>
          <a:lstStyle/>
          <a:p>
            <a:pPr algn="ctr"/>
          </a:p>
        </p:txBody>
      </p:sp>
      <p:sp>
        <p:nvSpPr>
          <p:cNvPr id="50" name="TextBox 49"/>
          <p:cNvSpPr txBox="1"/>
          <p:nvPr/>
        </p:nvSpPr>
        <p:spPr>
          <a:xfrm>
            <a:off x="548640" y="3493008"/>
            <a:ext cx="2331720" cy="749808"/>
          </a:xfrm>
          <a:prstGeom prst="rect">
            <a:avLst/>
          </a:prstGeom>
          <a:noFill/>
        </p:spPr>
        <p:txBody>
          <a:bodyPr wrap="square" lIns="45720" rIns="45720" tIns="27432" bIns="27432" anchor="ctr">
            <a:spAutoFit/>
          </a:bodyPr>
          <a:lstStyle/>
          <a:p>
            <a:pPr algn="l"/>
            <a:r>
              <a:rPr sz="1500" b="1" i="0">
                <a:solidFill>
                  <a:srgbClr val="1B3A4B"/>
                </a:solidFill>
                <a:latin typeface="Calibri"/>
              </a:rPr>
              <a:t>After vibration or a fall</a:t>
            </a:r>
          </a:p>
        </p:txBody>
      </p:sp>
      <p:sp>
        <p:nvSpPr>
          <p:cNvPr id="51" name="Rectangle 50"/>
          <p:cNvSpPr/>
          <p:nvPr/>
        </p:nvSpPr>
        <p:spPr>
          <a:xfrm>
            <a:off x="3090672" y="3493008"/>
            <a:ext cx="1682495" cy="749808"/>
          </a:xfrm>
          <a:prstGeom prst="rect">
            <a:avLst/>
          </a:prstGeom>
          <a:solidFill>
            <a:srgbClr val="E9E9E9"/>
          </a:solidFill>
          <a:ln>
            <a:noFill/>
          </a:ln>
        </p:spPr>
        <p:txBody>
          <a:bodyPr rtlCol="0" anchor="ctr"/>
          <a:lstStyle/>
          <a:p>
            <a:pPr algn="ctr"/>
          </a:p>
        </p:txBody>
      </p:sp>
      <p:sp>
        <p:nvSpPr>
          <p:cNvPr id="52" name="Oval 51"/>
          <p:cNvSpPr/>
          <p:nvPr/>
        </p:nvSpPr>
        <p:spPr>
          <a:xfrm>
            <a:off x="3154680" y="3575303"/>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53" name="TextBox 52"/>
          <p:cNvSpPr txBox="1"/>
          <p:nvPr/>
        </p:nvSpPr>
        <p:spPr>
          <a:xfrm>
            <a:off x="3108960" y="3822191"/>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Cable often fails too</a:t>
            </a:r>
          </a:p>
        </p:txBody>
      </p:sp>
      <p:sp>
        <p:nvSpPr>
          <p:cNvPr id="54" name="Rectangle 53"/>
          <p:cNvSpPr/>
          <p:nvPr/>
        </p:nvSpPr>
        <p:spPr>
          <a:xfrm>
            <a:off x="4828032" y="3493008"/>
            <a:ext cx="1682495" cy="749808"/>
          </a:xfrm>
          <a:prstGeom prst="rect">
            <a:avLst/>
          </a:prstGeom>
          <a:solidFill>
            <a:srgbClr val="E9E9E9"/>
          </a:solidFill>
          <a:ln>
            <a:noFill/>
          </a:ln>
        </p:spPr>
        <p:txBody>
          <a:bodyPr rtlCol="0" anchor="ctr"/>
          <a:lstStyle/>
          <a:p>
            <a:pPr algn="ctr"/>
          </a:p>
        </p:txBody>
      </p:sp>
      <p:sp>
        <p:nvSpPr>
          <p:cNvPr id="55" name="Oval 54"/>
          <p:cNvSpPr/>
          <p:nvPr/>
        </p:nvSpPr>
        <p:spPr>
          <a:xfrm>
            <a:off x="4892040" y="3575303"/>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56" name="TextBox 55"/>
          <p:cNvSpPr txBox="1"/>
          <p:nvPr/>
        </p:nvSpPr>
        <p:spPr>
          <a:xfrm>
            <a:off x="4846320" y="3822191"/>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Link lost</a:t>
            </a:r>
          </a:p>
        </p:txBody>
      </p:sp>
      <p:sp>
        <p:nvSpPr>
          <p:cNvPr id="57" name="Rectangle 56"/>
          <p:cNvSpPr/>
          <p:nvPr/>
        </p:nvSpPr>
        <p:spPr>
          <a:xfrm>
            <a:off x="6565392" y="3493008"/>
            <a:ext cx="1682495" cy="749808"/>
          </a:xfrm>
          <a:prstGeom prst="rect">
            <a:avLst/>
          </a:prstGeom>
          <a:solidFill>
            <a:srgbClr val="E9E9E9"/>
          </a:solidFill>
          <a:ln>
            <a:noFill/>
          </a:ln>
        </p:spPr>
        <p:txBody>
          <a:bodyPr rtlCol="0" anchor="ctr"/>
          <a:lstStyle/>
          <a:p>
            <a:pPr algn="ctr"/>
          </a:p>
        </p:txBody>
      </p:sp>
      <p:sp>
        <p:nvSpPr>
          <p:cNvPr id="58" name="Oval 57"/>
          <p:cNvSpPr/>
          <p:nvPr/>
        </p:nvSpPr>
        <p:spPr>
          <a:xfrm>
            <a:off x="6629400" y="3575303"/>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59" name="TextBox 58"/>
          <p:cNvSpPr txBox="1"/>
          <p:nvPr/>
        </p:nvSpPr>
        <p:spPr>
          <a:xfrm>
            <a:off x="6583680" y="3822191"/>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Alert can still be sent</a:t>
            </a:r>
          </a:p>
        </p:txBody>
      </p:sp>
      <p:sp>
        <p:nvSpPr>
          <p:cNvPr id="60" name="Rectangle 59"/>
          <p:cNvSpPr/>
          <p:nvPr/>
        </p:nvSpPr>
        <p:spPr>
          <a:xfrm>
            <a:off x="8302751" y="3493008"/>
            <a:ext cx="1682495" cy="749808"/>
          </a:xfrm>
          <a:prstGeom prst="rect">
            <a:avLst/>
          </a:prstGeom>
          <a:solidFill>
            <a:srgbClr val="E9E9E9"/>
          </a:solidFill>
          <a:ln>
            <a:noFill/>
          </a:ln>
        </p:spPr>
        <p:txBody>
          <a:bodyPr rtlCol="0" anchor="ctr"/>
          <a:lstStyle/>
          <a:p>
            <a:pPr algn="ctr"/>
          </a:p>
        </p:txBody>
      </p:sp>
      <p:sp>
        <p:nvSpPr>
          <p:cNvPr id="61" name="Oval 60"/>
          <p:cNvSpPr/>
          <p:nvPr/>
        </p:nvSpPr>
        <p:spPr>
          <a:xfrm>
            <a:off x="8366759" y="3575303"/>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62" name="TextBox 61"/>
          <p:cNvSpPr txBox="1"/>
          <p:nvPr/>
        </p:nvSpPr>
        <p:spPr>
          <a:xfrm>
            <a:off x="8321040" y="3822191"/>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Beam is lost</a:t>
            </a:r>
          </a:p>
        </p:txBody>
      </p:sp>
      <p:sp>
        <p:nvSpPr>
          <p:cNvPr id="63" name="Rectangle 62"/>
          <p:cNvSpPr/>
          <p:nvPr/>
        </p:nvSpPr>
        <p:spPr>
          <a:xfrm>
            <a:off x="10040111" y="3493008"/>
            <a:ext cx="1682495" cy="749808"/>
          </a:xfrm>
          <a:prstGeom prst="rect">
            <a:avLst/>
          </a:prstGeom>
          <a:solidFill>
            <a:srgbClr val="FBF3E3"/>
          </a:solidFill>
          <a:ln>
            <a:noFill/>
          </a:ln>
        </p:spPr>
        <p:txBody>
          <a:bodyPr rtlCol="0" anchor="ctr"/>
          <a:lstStyle/>
          <a:p>
            <a:pPr algn="ctr"/>
          </a:p>
        </p:txBody>
      </p:sp>
      <p:sp>
        <p:nvSpPr>
          <p:cNvPr id="64" name="Oval 63"/>
          <p:cNvSpPr/>
          <p:nvPr/>
        </p:nvSpPr>
        <p:spPr>
          <a:xfrm>
            <a:off x="10104119" y="3575303"/>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65" name="TextBox 64"/>
          <p:cNvSpPr txBox="1"/>
          <p:nvPr/>
        </p:nvSpPr>
        <p:spPr>
          <a:xfrm>
            <a:off x="10058400" y="3822191"/>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Alert stays. Beam reacquired</a:t>
            </a:r>
          </a:p>
        </p:txBody>
      </p:sp>
      <p:sp>
        <p:nvSpPr>
          <p:cNvPr id="66" name="Rectangle 65"/>
          <p:cNvSpPr/>
          <p:nvPr/>
        </p:nvSpPr>
        <p:spPr>
          <a:xfrm>
            <a:off x="457200" y="4297679"/>
            <a:ext cx="2551176" cy="749808"/>
          </a:xfrm>
          <a:prstGeom prst="rect">
            <a:avLst/>
          </a:prstGeom>
          <a:solidFill>
            <a:srgbClr val="E9E9E9"/>
          </a:solidFill>
          <a:ln>
            <a:noFill/>
          </a:ln>
        </p:spPr>
        <p:txBody>
          <a:bodyPr rtlCol="0" anchor="ctr"/>
          <a:lstStyle/>
          <a:p>
            <a:pPr algn="ctr"/>
          </a:p>
        </p:txBody>
      </p:sp>
      <p:sp>
        <p:nvSpPr>
          <p:cNvPr id="67" name="TextBox 66"/>
          <p:cNvSpPr txBox="1"/>
          <p:nvPr/>
        </p:nvSpPr>
        <p:spPr>
          <a:xfrm>
            <a:off x="548640" y="4297679"/>
            <a:ext cx="2331720" cy="749808"/>
          </a:xfrm>
          <a:prstGeom prst="rect">
            <a:avLst/>
          </a:prstGeom>
          <a:noFill/>
        </p:spPr>
        <p:txBody>
          <a:bodyPr wrap="square" lIns="45720" rIns="45720" tIns="27432" bIns="27432" anchor="ctr">
            <a:spAutoFit/>
          </a:bodyPr>
          <a:lstStyle/>
          <a:p>
            <a:pPr algn="l"/>
            <a:r>
              <a:rPr sz="1500" b="1" i="0">
                <a:solidFill>
                  <a:srgbClr val="1B3A4B"/>
                </a:solidFill>
                <a:latin typeface="Calibri"/>
              </a:rPr>
              <a:t>Fit for an Indian underground mine</a:t>
            </a:r>
          </a:p>
        </p:txBody>
      </p:sp>
      <p:sp>
        <p:nvSpPr>
          <p:cNvPr id="68" name="Rectangle 67"/>
          <p:cNvSpPr/>
          <p:nvPr/>
        </p:nvSpPr>
        <p:spPr>
          <a:xfrm>
            <a:off x="3090672" y="4297679"/>
            <a:ext cx="1682495" cy="749808"/>
          </a:xfrm>
          <a:prstGeom prst="rect">
            <a:avLst/>
          </a:prstGeom>
          <a:solidFill>
            <a:srgbClr val="E9E9E9"/>
          </a:solidFill>
          <a:ln>
            <a:noFill/>
          </a:ln>
        </p:spPr>
        <p:txBody>
          <a:bodyPr rtlCol="0" anchor="ctr"/>
          <a:lstStyle/>
          <a:p>
            <a:pPr algn="ctr"/>
          </a:p>
        </p:txBody>
      </p:sp>
      <p:sp>
        <p:nvSpPr>
          <p:cNvPr id="69" name="Oval 68"/>
          <p:cNvSpPr/>
          <p:nvPr/>
        </p:nvSpPr>
        <p:spPr>
          <a:xfrm>
            <a:off x="3154680" y="4379975"/>
            <a:ext cx="237744" cy="237744"/>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70" name="TextBox 69"/>
          <p:cNvSpPr txBox="1"/>
          <p:nvPr/>
        </p:nvSpPr>
        <p:spPr>
          <a:xfrm>
            <a:off x="3108960" y="462686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Often imported</a:t>
            </a:r>
          </a:p>
        </p:txBody>
      </p:sp>
      <p:sp>
        <p:nvSpPr>
          <p:cNvPr id="71" name="Rectangle 70"/>
          <p:cNvSpPr/>
          <p:nvPr/>
        </p:nvSpPr>
        <p:spPr>
          <a:xfrm>
            <a:off x="4828032" y="4297679"/>
            <a:ext cx="1682495" cy="749808"/>
          </a:xfrm>
          <a:prstGeom prst="rect">
            <a:avLst/>
          </a:prstGeom>
          <a:solidFill>
            <a:srgbClr val="E9E9E9"/>
          </a:solidFill>
          <a:ln>
            <a:noFill/>
          </a:ln>
        </p:spPr>
        <p:txBody>
          <a:bodyPr rtlCol="0" anchor="ctr"/>
          <a:lstStyle/>
          <a:p>
            <a:pPr algn="ctr"/>
          </a:p>
        </p:txBody>
      </p:sp>
      <p:sp>
        <p:nvSpPr>
          <p:cNvPr id="72" name="Oval 71"/>
          <p:cNvSpPr/>
          <p:nvPr/>
        </p:nvSpPr>
        <p:spPr>
          <a:xfrm>
            <a:off x="4892040" y="4379975"/>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73" name="TextBox 72"/>
          <p:cNvSpPr txBox="1"/>
          <p:nvPr/>
        </p:nvSpPr>
        <p:spPr>
          <a:xfrm>
            <a:off x="4846320" y="462686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Not an underground system</a:t>
            </a:r>
          </a:p>
        </p:txBody>
      </p:sp>
      <p:sp>
        <p:nvSpPr>
          <p:cNvPr id="74" name="Rectangle 73"/>
          <p:cNvSpPr/>
          <p:nvPr/>
        </p:nvSpPr>
        <p:spPr>
          <a:xfrm>
            <a:off x="6565392" y="4297679"/>
            <a:ext cx="1682495" cy="749808"/>
          </a:xfrm>
          <a:prstGeom prst="rect">
            <a:avLst/>
          </a:prstGeom>
          <a:solidFill>
            <a:srgbClr val="E9E9E9"/>
          </a:solidFill>
          <a:ln>
            <a:noFill/>
          </a:ln>
        </p:spPr>
        <p:txBody>
          <a:bodyPr rtlCol="0" anchor="ctr"/>
          <a:lstStyle/>
          <a:p>
            <a:pPr algn="ctr"/>
          </a:p>
        </p:txBody>
      </p:sp>
      <p:sp>
        <p:nvSpPr>
          <p:cNvPr id="75" name="Oval 74"/>
          <p:cNvSpPr/>
          <p:nvPr/>
        </p:nvSpPr>
        <p:spPr>
          <a:xfrm>
            <a:off x="6629400" y="4379975"/>
            <a:ext cx="237744" cy="237744"/>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76" name="TextBox 75"/>
          <p:cNvSpPr txBox="1"/>
          <p:nvPr/>
        </p:nvSpPr>
        <p:spPr>
          <a:xfrm>
            <a:off x="6583680" y="462686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Sensors, not video</a:t>
            </a:r>
          </a:p>
        </p:txBody>
      </p:sp>
      <p:sp>
        <p:nvSpPr>
          <p:cNvPr id="77" name="Rectangle 76"/>
          <p:cNvSpPr/>
          <p:nvPr/>
        </p:nvSpPr>
        <p:spPr>
          <a:xfrm>
            <a:off x="8302751" y="4297679"/>
            <a:ext cx="1682495" cy="749808"/>
          </a:xfrm>
          <a:prstGeom prst="rect">
            <a:avLst/>
          </a:prstGeom>
          <a:solidFill>
            <a:srgbClr val="E9E9E9"/>
          </a:solidFill>
          <a:ln>
            <a:noFill/>
          </a:ln>
        </p:spPr>
        <p:txBody>
          <a:bodyPr rtlCol="0" anchor="ctr"/>
          <a:lstStyle/>
          <a:p>
            <a:pPr algn="ctr"/>
          </a:p>
        </p:txBody>
      </p:sp>
      <p:sp>
        <p:nvSpPr>
          <p:cNvPr id="78" name="Oval 77"/>
          <p:cNvSpPr/>
          <p:nvPr/>
        </p:nvSpPr>
        <p:spPr>
          <a:xfrm>
            <a:off x="8366759" y="4379975"/>
            <a:ext cx="237744" cy="237744"/>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79" name="TextBox 78"/>
          <p:cNvSpPr txBox="1"/>
          <p:nvPr/>
        </p:nvSpPr>
        <p:spPr>
          <a:xfrm>
            <a:off x="8321040" y="462686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Mostly shown in lab</a:t>
            </a:r>
          </a:p>
        </p:txBody>
      </p:sp>
      <p:sp>
        <p:nvSpPr>
          <p:cNvPr id="80" name="Rectangle 79"/>
          <p:cNvSpPr/>
          <p:nvPr/>
        </p:nvSpPr>
        <p:spPr>
          <a:xfrm>
            <a:off x="10040111" y="4297679"/>
            <a:ext cx="1682495" cy="749808"/>
          </a:xfrm>
          <a:prstGeom prst="rect">
            <a:avLst/>
          </a:prstGeom>
          <a:solidFill>
            <a:srgbClr val="FBF3E3"/>
          </a:solidFill>
          <a:ln>
            <a:noFill/>
          </a:ln>
        </p:spPr>
        <p:txBody>
          <a:bodyPr rtlCol="0" anchor="ctr"/>
          <a:lstStyle/>
          <a:p>
            <a:pPr algn="ctr"/>
          </a:p>
        </p:txBody>
      </p:sp>
      <p:sp>
        <p:nvSpPr>
          <p:cNvPr id="81" name="Oval 80"/>
          <p:cNvSpPr/>
          <p:nvPr/>
        </p:nvSpPr>
        <p:spPr>
          <a:xfrm>
            <a:off x="10104119" y="4379975"/>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82" name="TextBox 81"/>
          <p:cNvSpPr txBox="1"/>
          <p:nvPr/>
        </p:nvSpPr>
        <p:spPr>
          <a:xfrm>
            <a:off x="10058400" y="462686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Indigenous node</a:t>
            </a:r>
          </a:p>
        </p:txBody>
      </p:sp>
      <p:sp>
        <p:nvSpPr>
          <p:cNvPr id="83" name="Oval 82"/>
          <p:cNvSpPr/>
          <p:nvPr/>
        </p:nvSpPr>
        <p:spPr>
          <a:xfrm>
            <a:off x="457200" y="5175504"/>
            <a:ext cx="182880" cy="182880"/>
          </a:xfrm>
          <a:prstGeom prst="ellipse">
            <a:avLst/>
          </a:prstGeom>
          <a:solidFill>
            <a:srgbClr val="2E7D5B"/>
          </a:solidFill>
          <a:ln>
            <a:noFill/>
          </a:ln>
        </p:spPr>
        <p:txBody>
          <a:bodyPr rtlCol="0" anchor="ctr"/>
          <a:lstStyle/>
          <a:p>
            <a:pPr algn="ctr"/>
          </a:p>
        </p:txBody>
      </p:sp>
      <p:sp>
        <p:nvSpPr>
          <p:cNvPr id="84" name="TextBox 83"/>
          <p:cNvSpPr txBox="1"/>
          <p:nvPr/>
        </p:nvSpPr>
        <p:spPr>
          <a:xfrm>
            <a:off x="685800" y="5120640"/>
            <a:ext cx="1097280" cy="292608"/>
          </a:xfrm>
          <a:prstGeom prst="rect">
            <a:avLst/>
          </a:prstGeom>
          <a:noFill/>
        </p:spPr>
        <p:txBody>
          <a:bodyPr wrap="square" lIns="45720" rIns="45720" tIns="27432" bIns="27432" anchor="t">
            <a:spAutoFit/>
          </a:bodyPr>
          <a:lstStyle/>
          <a:p>
            <a:pPr algn="l"/>
            <a:r>
              <a:rPr sz="1300" b="0" i="0">
                <a:solidFill>
                  <a:srgbClr val="5C6770"/>
                </a:solidFill>
                <a:latin typeface="Calibri"/>
              </a:rPr>
              <a:t>Works</a:t>
            </a:r>
          </a:p>
        </p:txBody>
      </p:sp>
      <p:sp>
        <p:nvSpPr>
          <p:cNvPr id="85" name="Oval 84"/>
          <p:cNvSpPr/>
          <p:nvPr/>
        </p:nvSpPr>
        <p:spPr>
          <a:xfrm>
            <a:off x="1828800" y="5175504"/>
            <a:ext cx="182880" cy="182880"/>
          </a:xfrm>
          <a:prstGeom prst="ellipse">
            <a:avLst/>
          </a:prstGeom>
          <a:solidFill>
            <a:srgbClr val="D99A2B"/>
          </a:solidFill>
          <a:ln>
            <a:noFill/>
          </a:ln>
        </p:spPr>
        <p:txBody>
          <a:bodyPr rtlCol="0" anchor="ctr"/>
          <a:lstStyle/>
          <a:p>
            <a:pPr algn="ctr"/>
          </a:p>
        </p:txBody>
      </p:sp>
      <p:sp>
        <p:nvSpPr>
          <p:cNvPr id="86" name="TextBox 85"/>
          <p:cNvSpPr txBox="1"/>
          <p:nvPr/>
        </p:nvSpPr>
        <p:spPr>
          <a:xfrm>
            <a:off x="2057400" y="5120640"/>
            <a:ext cx="1097280" cy="292608"/>
          </a:xfrm>
          <a:prstGeom prst="rect">
            <a:avLst/>
          </a:prstGeom>
          <a:noFill/>
        </p:spPr>
        <p:txBody>
          <a:bodyPr wrap="square" lIns="45720" rIns="45720" tIns="27432" bIns="27432" anchor="t">
            <a:spAutoFit/>
          </a:bodyPr>
          <a:lstStyle/>
          <a:p>
            <a:pPr algn="l"/>
            <a:r>
              <a:rPr sz="1300" b="0" i="0">
                <a:solidFill>
                  <a:srgbClr val="5C6770"/>
                </a:solidFill>
                <a:latin typeface="Calibri"/>
              </a:rPr>
              <a:t>Partly</a:t>
            </a:r>
          </a:p>
        </p:txBody>
      </p:sp>
      <p:sp>
        <p:nvSpPr>
          <p:cNvPr id="87" name="Oval 86"/>
          <p:cNvSpPr/>
          <p:nvPr/>
        </p:nvSpPr>
        <p:spPr>
          <a:xfrm>
            <a:off x="3200400" y="5175504"/>
            <a:ext cx="182880" cy="182880"/>
          </a:xfrm>
          <a:prstGeom prst="ellipse">
            <a:avLst/>
          </a:prstGeom>
          <a:solidFill>
            <a:srgbClr val="C8402A"/>
          </a:solidFill>
          <a:ln>
            <a:noFill/>
          </a:ln>
        </p:spPr>
        <p:txBody>
          <a:bodyPr rtlCol="0" anchor="ctr"/>
          <a:lstStyle/>
          <a:p>
            <a:pPr algn="ctr"/>
          </a:p>
        </p:txBody>
      </p:sp>
      <p:sp>
        <p:nvSpPr>
          <p:cNvPr id="88" name="TextBox 87"/>
          <p:cNvSpPr txBox="1"/>
          <p:nvPr/>
        </p:nvSpPr>
        <p:spPr>
          <a:xfrm>
            <a:off x="3429000" y="5120640"/>
            <a:ext cx="1097280" cy="292608"/>
          </a:xfrm>
          <a:prstGeom prst="rect">
            <a:avLst/>
          </a:prstGeom>
          <a:noFill/>
        </p:spPr>
        <p:txBody>
          <a:bodyPr wrap="square" lIns="45720" rIns="45720" tIns="27432" bIns="27432" anchor="t">
            <a:spAutoFit/>
          </a:bodyPr>
          <a:lstStyle/>
          <a:p>
            <a:pPr algn="l"/>
            <a:r>
              <a:rPr sz="1300" b="0" i="0">
                <a:solidFill>
                  <a:srgbClr val="5C6770"/>
                </a:solidFill>
                <a:latin typeface="Calibri"/>
              </a:rPr>
              <a:t>Does not</a:t>
            </a:r>
          </a:p>
        </p:txBody>
      </p:sp>
      <p:sp>
        <p:nvSpPr>
          <p:cNvPr id="89" name="Rounded Rectangle 88"/>
          <p:cNvSpPr/>
          <p:nvPr/>
        </p:nvSpPr>
        <p:spPr>
          <a:xfrm>
            <a:off x="457200" y="5532120"/>
            <a:ext cx="2715768" cy="868680"/>
          </a:xfrm>
          <a:prstGeom prst="roundRect">
            <a:avLst>
              <a:gd name="adj" fmla="val 8000"/>
            </a:avLst>
          </a:prstGeom>
          <a:solidFill>
            <a:srgbClr val="E9E9E9"/>
          </a:solidFill>
          <a:ln w="9525">
            <a:solidFill>
              <a:srgbClr val="9A9A9A"/>
            </a:solidFill>
          </a:ln>
        </p:spPr>
        <p:txBody>
          <a:bodyPr rtlCol="0" anchor="ctr"/>
          <a:lstStyle/>
          <a:p>
            <a:pPr algn="ctr"/>
          </a:p>
        </p:txBody>
      </p:sp>
      <p:sp>
        <p:nvSpPr>
          <p:cNvPr id="90" name="TextBox 89"/>
          <p:cNvSpPr txBox="1"/>
          <p:nvPr/>
        </p:nvSpPr>
        <p:spPr>
          <a:xfrm>
            <a:off x="548640" y="5550408"/>
            <a:ext cx="2560320" cy="320040"/>
          </a:xfrm>
          <a:prstGeom prst="rect">
            <a:avLst/>
          </a:prstGeom>
          <a:noFill/>
        </p:spPr>
        <p:txBody>
          <a:bodyPr wrap="square" lIns="45720" rIns="45720" tIns="27432" bIns="27432" anchor="t">
            <a:spAutoFit/>
          </a:bodyPr>
          <a:lstStyle/>
          <a:p>
            <a:pPr algn="l"/>
            <a:r>
              <a:rPr sz="1500" b="1" i="0">
                <a:solidFill>
                  <a:srgbClr val="C55A11"/>
                </a:solidFill>
                <a:latin typeface="Calibri"/>
              </a:rPr>
              <a:t>Safe</a:t>
            </a:r>
          </a:p>
        </p:txBody>
      </p:sp>
      <p:sp>
        <p:nvSpPr>
          <p:cNvPr id="91" name="TextBox 90"/>
          <p:cNvSpPr txBox="1"/>
          <p:nvPr/>
        </p:nvSpPr>
        <p:spPr>
          <a:xfrm>
            <a:off x="548640" y="5852160"/>
            <a:ext cx="2560320" cy="548640"/>
          </a:xfrm>
          <a:prstGeom prst="rect">
            <a:avLst/>
          </a:prstGeom>
          <a:noFill/>
        </p:spPr>
        <p:txBody>
          <a:bodyPr wrap="square" lIns="45720" rIns="45720" tIns="27432" bIns="27432" anchor="t">
            <a:spAutoFit/>
          </a:bodyPr>
          <a:lstStyle/>
          <a:p>
            <a:pPr algn="l"/>
            <a:r>
              <a:rPr sz="1250" b="0" i="0">
                <a:solidFill>
                  <a:srgbClr val="1C2430"/>
                </a:solidFill>
                <a:latin typeface="Calibri"/>
              </a:rPr>
              <a:t>Picture of the face, alert if it drops</a:t>
            </a:r>
          </a:p>
        </p:txBody>
      </p:sp>
      <p:sp>
        <p:nvSpPr>
          <p:cNvPr id="92" name="Rounded Rectangle 91"/>
          <p:cNvSpPr/>
          <p:nvPr/>
        </p:nvSpPr>
        <p:spPr>
          <a:xfrm>
            <a:off x="3310128" y="5532120"/>
            <a:ext cx="2715768" cy="868680"/>
          </a:xfrm>
          <a:prstGeom prst="roundRect">
            <a:avLst>
              <a:gd name="adj" fmla="val 8000"/>
            </a:avLst>
          </a:prstGeom>
          <a:solidFill>
            <a:srgbClr val="E9E9E9"/>
          </a:solidFill>
          <a:ln w="9525">
            <a:solidFill>
              <a:srgbClr val="9A9A9A"/>
            </a:solidFill>
          </a:ln>
        </p:spPr>
        <p:txBody>
          <a:bodyPr rtlCol="0" anchor="ctr"/>
          <a:lstStyle/>
          <a:p>
            <a:pPr algn="ctr"/>
          </a:p>
        </p:txBody>
      </p:sp>
      <p:sp>
        <p:nvSpPr>
          <p:cNvPr id="93" name="TextBox 92"/>
          <p:cNvSpPr txBox="1"/>
          <p:nvPr/>
        </p:nvSpPr>
        <p:spPr>
          <a:xfrm>
            <a:off x="3401568" y="5550408"/>
            <a:ext cx="2560320" cy="320040"/>
          </a:xfrm>
          <a:prstGeom prst="rect">
            <a:avLst/>
          </a:prstGeom>
          <a:noFill/>
        </p:spPr>
        <p:txBody>
          <a:bodyPr wrap="square" lIns="45720" rIns="45720" tIns="27432" bIns="27432" anchor="t">
            <a:spAutoFit/>
          </a:bodyPr>
          <a:lstStyle/>
          <a:p>
            <a:pPr algn="l"/>
            <a:r>
              <a:rPr sz="1500" b="1" i="0">
                <a:solidFill>
                  <a:srgbClr val="C55A11"/>
                </a:solidFill>
                <a:latin typeface="Calibri"/>
              </a:rPr>
              <a:t>Smart</a:t>
            </a:r>
          </a:p>
        </p:txBody>
      </p:sp>
      <p:sp>
        <p:nvSpPr>
          <p:cNvPr id="94" name="TextBox 93"/>
          <p:cNvSpPr txBox="1"/>
          <p:nvPr/>
        </p:nvSpPr>
        <p:spPr>
          <a:xfrm>
            <a:off x="3401568" y="5852160"/>
            <a:ext cx="2560320" cy="548640"/>
          </a:xfrm>
          <a:prstGeom prst="rect">
            <a:avLst/>
          </a:prstGeom>
          <a:noFill/>
        </p:spPr>
        <p:txBody>
          <a:bodyPr wrap="square" lIns="45720" rIns="45720" tIns="27432" bIns="27432" anchor="t">
            <a:spAutoFit/>
          </a:bodyPr>
          <a:lstStyle/>
          <a:p>
            <a:pPr algn="l"/>
            <a:r>
              <a:rPr sz="1250" b="0" i="0">
                <a:solidFill>
                  <a:srgbClr val="1C2430"/>
                </a:solidFill>
                <a:latin typeface="Calibri"/>
              </a:rPr>
              <a:t>Camera, IMU, radios and steering in one node</a:t>
            </a:r>
          </a:p>
        </p:txBody>
      </p:sp>
      <p:sp>
        <p:nvSpPr>
          <p:cNvPr id="95" name="Rounded Rectangle 94"/>
          <p:cNvSpPr/>
          <p:nvPr/>
        </p:nvSpPr>
        <p:spPr>
          <a:xfrm>
            <a:off x="6163056" y="5532120"/>
            <a:ext cx="2715768" cy="868680"/>
          </a:xfrm>
          <a:prstGeom prst="roundRect">
            <a:avLst>
              <a:gd name="adj" fmla="val 8000"/>
            </a:avLst>
          </a:prstGeom>
          <a:solidFill>
            <a:srgbClr val="E9E9E9"/>
          </a:solidFill>
          <a:ln w="9525">
            <a:solidFill>
              <a:srgbClr val="9A9A9A"/>
            </a:solidFill>
          </a:ln>
        </p:spPr>
        <p:txBody>
          <a:bodyPr rtlCol="0" anchor="ctr"/>
          <a:lstStyle/>
          <a:p>
            <a:pPr algn="ctr"/>
          </a:p>
        </p:txBody>
      </p:sp>
      <p:sp>
        <p:nvSpPr>
          <p:cNvPr id="96" name="TextBox 95"/>
          <p:cNvSpPr txBox="1"/>
          <p:nvPr/>
        </p:nvSpPr>
        <p:spPr>
          <a:xfrm>
            <a:off x="6254496" y="5550408"/>
            <a:ext cx="2560320" cy="320040"/>
          </a:xfrm>
          <a:prstGeom prst="rect">
            <a:avLst/>
          </a:prstGeom>
          <a:noFill/>
        </p:spPr>
        <p:txBody>
          <a:bodyPr wrap="square" lIns="45720" rIns="45720" tIns="27432" bIns="27432" anchor="t">
            <a:spAutoFit/>
          </a:bodyPr>
          <a:lstStyle/>
          <a:p>
            <a:pPr algn="l"/>
            <a:r>
              <a:rPr sz="1500" b="1" i="0">
                <a:solidFill>
                  <a:srgbClr val="C55A11"/>
                </a:solidFill>
                <a:latin typeface="Calibri"/>
              </a:rPr>
              <a:t>Sustainable</a:t>
            </a:r>
          </a:p>
        </p:txBody>
      </p:sp>
      <p:sp>
        <p:nvSpPr>
          <p:cNvPr id="97" name="TextBox 96"/>
          <p:cNvSpPr txBox="1"/>
          <p:nvPr/>
        </p:nvSpPr>
        <p:spPr>
          <a:xfrm>
            <a:off x="6254496" y="5852160"/>
            <a:ext cx="2560320" cy="548640"/>
          </a:xfrm>
          <a:prstGeom prst="rect">
            <a:avLst/>
          </a:prstGeom>
          <a:noFill/>
        </p:spPr>
        <p:txBody>
          <a:bodyPr wrap="square" lIns="45720" rIns="45720" tIns="27432" bIns="27432" anchor="t">
            <a:spAutoFit/>
          </a:bodyPr>
          <a:lstStyle/>
          <a:p>
            <a:pPr algn="l"/>
            <a:r>
              <a:rPr sz="1250" b="0" i="0">
                <a:solidFill>
                  <a:srgbClr val="1C2430"/>
                </a:solidFill>
                <a:latin typeface="Calibri"/>
              </a:rPr>
              <a:t>Heavy data on light, control on low-power radio</a:t>
            </a:r>
          </a:p>
        </p:txBody>
      </p:sp>
      <p:sp>
        <p:nvSpPr>
          <p:cNvPr id="98" name="Rounded Rectangle 97"/>
          <p:cNvSpPr/>
          <p:nvPr/>
        </p:nvSpPr>
        <p:spPr>
          <a:xfrm>
            <a:off x="9015984" y="5532120"/>
            <a:ext cx="2715768" cy="868680"/>
          </a:xfrm>
          <a:prstGeom prst="roundRect">
            <a:avLst>
              <a:gd name="adj" fmla="val 8000"/>
            </a:avLst>
          </a:prstGeom>
          <a:solidFill>
            <a:srgbClr val="E9E9E9"/>
          </a:solidFill>
          <a:ln w="9525">
            <a:solidFill>
              <a:srgbClr val="9A9A9A"/>
            </a:solidFill>
          </a:ln>
        </p:spPr>
        <p:txBody>
          <a:bodyPr rtlCol="0" anchor="ctr"/>
          <a:lstStyle/>
          <a:p>
            <a:pPr algn="ctr"/>
          </a:p>
        </p:txBody>
      </p:sp>
      <p:sp>
        <p:nvSpPr>
          <p:cNvPr id="99" name="TextBox 98"/>
          <p:cNvSpPr txBox="1"/>
          <p:nvPr/>
        </p:nvSpPr>
        <p:spPr>
          <a:xfrm>
            <a:off x="9107424" y="5550408"/>
            <a:ext cx="2560320" cy="320040"/>
          </a:xfrm>
          <a:prstGeom prst="rect">
            <a:avLst/>
          </a:prstGeom>
          <a:noFill/>
        </p:spPr>
        <p:txBody>
          <a:bodyPr wrap="square" lIns="45720" rIns="45720" tIns="27432" bIns="27432" anchor="t">
            <a:spAutoFit/>
          </a:bodyPr>
          <a:lstStyle/>
          <a:p>
            <a:pPr algn="l"/>
            <a:r>
              <a:rPr sz="1500" b="1" i="0">
                <a:solidFill>
                  <a:srgbClr val="C55A11"/>
                </a:solidFill>
                <a:latin typeface="Calibri"/>
              </a:rPr>
              <a:t>Social</a:t>
            </a:r>
          </a:p>
        </p:txBody>
      </p:sp>
      <p:sp>
        <p:nvSpPr>
          <p:cNvPr id="100" name="TextBox 99"/>
          <p:cNvSpPr txBox="1"/>
          <p:nvPr/>
        </p:nvSpPr>
        <p:spPr>
          <a:xfrm>
            <a:off x="9107424" y="5852160"/>
            <a:ext cx="2560320" cy="548640"/>
          </a:xfrm>
          <a:prstGeom prst="rect">
            <a:avLst/>
          </a:prstGeom>
          <a:noFill/>
        </p:spPr>
        <p:txBody>
          <a:bodyPr wrap="square" lIns="45720" rIns="45720" tIns="27432" bIns="27432" anchor="t">
            <a:spAutoFit/>
          </a:bodyPr>
          <a:lstStyle/>
          <a:p>
            <a:pPr algn="l"/>
            <a:r>
              <a:rPr sz="1250" b="0" i="0">
                <a:solidFill>
                  <a:srgbClr val="1C2430"/>
                </a:solidFill>
                <a:latin typeface="Calibri"/>
              </a:rPr>
              <a:t>Fewer people sent into a heading unseen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03     ·     INNOVATION AND UNIQUENESS</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What is different in the proposed system</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Innovation</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5  /  15</a:t>
            </a:r>
          </a:p>
        </p:txBody>
      </p:sp>
      <p:sp>
        <p:nvSpPr>
          <p:cNvPr id="9" name="Rounded Rectangle 8"/>
          <p:cNvSpPr/>
          <p:nvPr/>
        </p:nvSpPr>
        <p:spPr>
          <a:xfrm>
            <a:off x="457200" y="1143000"/>
            <a:ext cx="3657600" cy="2423160"/>
          </a:xfrm>
          <a:prstGeom prst="roundRect">
            <a:avLst>
              <a:gd name="adj" fmla="val 8000"/>
            </a:avLst>
          </a:prstGeom>
          <a:solidFill>
            <a:srgbClr val="E9E9E9"/>
          </a:solidFill>
          <a:ln w="9525">
            <a:solidFill>
              <a:srgbClr val="9A9A9A"/>
            </a:solidFill>
          </a:ln>
        </p:spPr>
        <p:txBody>
          <a:bodyPr rtlCol="0" anchor="ctr"/>
          <a:lstStyle/>
          <a:p>
            <a:pPr algn="ctr"/>
          </a:p>
        </p:txBody>
      </p:sp>
      <p:sp>
        <p:nvSpPr>
          <p:cNvPr id="10" name="Oval 9"/>
          <p:cNvSpPr/>
          <p:nvPr/>
        </p:nvSpPr>
        <p:spPr>
          <a:xfrm>
            <a:off x="640080" y="1325880"/>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1</a:t>
            </a:r>
          </a:p>
        </p:txBody>
      </p:sp>
      <p:sp>
        <p:nvSpPr>
          <p:cNvPr id="11" name="TextBox 10"/>
          <p:cNvSpPr txBox="1"/>
          <p:nvPr/>
        </p:nvSpPr>
        <p:spPr>
          <a:xfrm>
            <a:off x="640080" y="182880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Hybrid FSO and LoRa</a:t>
            </a:r>
          </a:p>
        </p:txBody>
      </p:sp>
      <p:sp>
        <p:nvSpPr>
          <p:cNvPr id="12" name="TextBox 11"/>
          <p:cNvSpPr txBox="1"/>
          <p:nvPr/>
        </p:nvSpPr>
        <p:spPr>
          <a:xfrm>
            <a:off x="640080" y="233172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FSO carries video. LoRa carries control, alerts and backup.</a:t>
            </a:r>
          </a:p>
        </p:txBody>
      </p:sp>
      <p:sp>
        <p:nvSpPr>
          <p:cNvPr id="13" name="Rounded Rectangle 12"/>
          <p:cNvSpPr/>
          <p:nvPr/>
        </p:nvSpPr>
        <p:spPr>
          <a:xfrm>
            <a:off x="4251960" y="1143000"/>
            <a:ext cx="3657600" cy="2423160"/>
          </a:xfrm>
          <a:prstGeom prst="roundRect">
            <a:avLst>
              <a:gd name="adj" fmla="val 8000"/>
            </a:avLst>
          </a:prstGeom>
          <a:solidFill>
            <a:srgbClr val="E9E9E9"/>
          </a:solidFill>
          <a:ln w="9525">
            <a:solidFill>
              <a:srgbClr val="9A9A9A"/>
            </a:solidFill>
          </a:ln>
        </p:spPr>
        <p:txBody>
          <a:bodyPr rtlCol="0" anchor="ctr"/>
          <a:lstStyle/>
          <a:p>
            <a:pPr algn="ctr"/>
          </a:p>
        </p:txBody>
      </p:sp>
      <p:sp>
        <p:nvSpPr>
          <p:cNvPr id="14" name="Oval 13"/>
          <p:cNvSpPr/>
          <p:nvPr/>
        </p:nvSpPr>
        <p:spPr>
          <a:xfrm>
            <a:off x="4434840" y="1325880"/>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2</a:t>
            </a:r>
          </a:p>
        </p:txBody>
      </p:sp>
      <p:sp>
        <p:nvSpPr>
          <p:cNvPr id="15" name="TextBox 14"/>
          <p:cNvSpPr txBox="1"/>
          <p:nvPr/>
        </p:nvSpPr>
        <p:spPr>
          <a:xfrm>
            <a:off x="4434840" y="182880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Multi-hop along the tunnel</a:t>
            </a:r>
          </a:p>
        </p:txBody>
      </p:sp>
      <p:sp>
        <p:nvSpPr>
          <p:cNvPr id="16" name="TextBox 15"/>
          <p:cNvSpPr txBox="1"/>
          <p:nvPr/>
        </p:nvSpPr>
        <p:spPr>
          <a:xfrm>
            <a:off x="4434840" y="233172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A node every 50–100 m on line of sight. A longer heading means more relays, not a stronger laser.</a:t>
            </a:r>
          </a:p>
        </p:txBody>
      </p:sp>
      <p:sp>
        <p:nvSpPr>
          <p:cNvPr id="17" name="Rounded Rectangle 16"/>
          <p:cNvSpPr/>
          <p:nvPr/>
        </p:nvSpPr>
        <p:spPr>
          <a:xfrm>
            <a:off x="8046720" y="1143000"/>
            <a:ext cx="3657600" cy="2423160"/>
          </a:xfrm>
          <a:prstGeom prst="roundRect">
            <a:avLst>
              <a:gd name="adj" fmla="val 8000"/>
            </a:avLst>
          </a:prstGeom>
          <a:solidFill>
            <a:srgbClr val="E9E9E9"/>
          </a:solidFill>
          <a:ln w="9525">
            <a:solidFill>
              <a:srgbClr val="9A9A9A"/>
            </a:solidFill>
          </a:ln>
        </p:spPr>
        <p:txBody>
          <a:bodyPr rtlCol="0" anchor="ctr"/>
          <a:lstStyle/>
          <a:p>
            <a:pPr algn="ctr"/>
          </a:p>
        </p:txBody>
      </p:sp>
      <p:sp>
        <p:nvSpPr>
          <p:cNvPr id="18" name="Oval 17"/>
          <p:cNvSpPr/>
          <p:nvPr/>
        </p:nvSpPr>
        <p:spPr>
          <a:xfrm>
            <a:off x="8229600" y="1325880"/>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3</a:t>
            </a:r>
          </a:p>
        </p:txBody>
      </p:sp>
      <p:sp>
        <p:nvSpPr>
          <p:cNvPr id="19" name="TextBox 18"/>
          <p:cNvSpPr txBox="1"/>
          <p:nvPr/>
        </p:nvSpPr>
        <p:spPr>
          <a:xfrm>
            <a:off x="8229600" y="182880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IMU auto-tracking</a:t>
            </a:r>
          </a:p>
        </p:txBody>
      </p:sp>
      <p:sp>
        <p:nvSpPr>
          <p:cNvPr id="20" name="TextBox 19"/>
          <p:cNvSpPr txBox="1"/>
          <p:nvPr/>
        </p:nvSpPr>
        <p:spPr>
          <a:xfrm>
            <a:off x="8229600" y="233172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IMU drives a motorized mount and corrects pointing. Prototype exists in the department.</a:t>
            </a:r>
          </a:p>
        </p:txBody>
      </p:sp>
      <p:sp>
        <p:nvSpPr>
          <p:cNvPr id="21" name="Rounded Rectangle 20"/>
          <p:cNvSpPr/>
          <p:nvPr/>
        </p:nvSpPr>
        <p:spPr>
          <a:xfrm>
            <a:off x="457200" y="3703320"/>
            <a:ext cx="3657600" cy="242316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2" name="Oval 21"/>
          <p:cNvSpPr/>
          <p:nvPr/>
        </p:nvSpPr>
        <p:spPr>
          <a:xfrm>
            <a:off x="640080" y="3886200"/>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4</a:t>
            </a:r>
          </a:p>
        </p:txBody>
      </p:sp>
      <p:sp>
        <p:nvSpPr>
          <p:cNvPr id="23" name="TextBox 22"/>
          <p:cNvSpPr txBox="1"/>
          <p:nvPr/>
        </p:nvSpPr>
        <p:spPr>
          <a:xfrm>
            <a:off x="640080" y="438912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Video as safety</a:t>
            </a:r>
          </a:p>
        </p:txBody>
      </p:sp>
      <p:sp>
        <p:nvSpPr>
          <p:cNvPr id="24" name="TextBox 23"/>
          <p:cNvSpPr txBox="1"/>
          <p:nvPr/>
        </p:nvSpPr>
        <p:spPr>
          <a:xfrm>
            <a:off x="640080" y="489204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A live view of the zone a team is about to enter.</a:t>
            </a:r>
          </a:p>
        </p:txBody>
      </p:sp>
      <p:sp>
        <p:nvSpPr>
          <p:cNvPr id="25" name="Rounded Rectangle 24"/>
          <p:cNvSpPr/>
          <p:nvPr/>
        </p:nvSpPr>
        <p:spPr>
          <a:xfrm>
            <a:off x="4251960" y="3703320"/>
            <a:ext cx="3657600" cy="242316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6" name="Oval 25"/>
          <p:cNvSpPr/>
          <p:nvPr/>
        </p:nvSpPr>
        <p:spPr>
          <a:xfrm>
            <a:off x="4434840" y="3886200"/>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5</a:t>
            </a:r>
          </a:p>
        </p:txBody>
      </p:sp>
      <p:sp>
        <p:nvSpPr>
          <p:cNvPr id="27" name="TextBox 26"/>
          <p:cNvSpPr txBox="1"/>
          <p:nvPr/>
        </p:nvSpPr>
        <p:spPr>
          <a:xfrm>
            <a:off x="4434840" y="438912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One cyber-physical node</a:t>
            </a:r>
          </a:p>
        </p:txBody>
      </p:sp>
      <p:sp>
        <p:nvSpPr>
          <p:cNvPr id="28" name="TextBox 27"/>
          <p:cNvSpPr txBox="1"/>
          <p:nvPr/>
        </p:nvSpPr>
        <p:spPr>
          <a:xfrm>
            <a:off x="4434840" y="489204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Senses (camera, IMU, gas, temperature, humidity), communicates, and steers the beam.</a:t>
            </a:r>
          </a:p>
        </p:txBody>
      </p:sp>
      <p:pic>
        <p:nvPicPr>
          <p:cNvPr id="29" name="Picture 28" descr="lora.png"/>
          <p:cNvPicPr>
            <a:picLocks noChangeAspect="1"/>
          </p:cNvPicPr>
          <p:nvPr/>
        </p:nvPicPr>
        <p:blipFill>
          <a:blip r:embed="rId2"/>
          <a:stretch>
            <a:fillRect/>
          </a:stretch>
        </p:blipFill>
        <p:spPr>
          <a:xfrm>
            <a:off x="3383280" y="1280160"/>
            <a:ext cx="716889" cy="640080"/>
          </a:xfrm>
          <a:prstGeom prst="rect">
            <a:avLst/>
          </a:prstGeom>
        </p:spPr>
      </p:pic>
      <p:pic>
        <p:nvPicPr>
          <p:cNvPr id="30" name="Picture 29" descr="tripodL.png"/>
          <p:cNvPicPr>
            <a:picLocks noChangeAspect="1"/>
          </p:cNvPicPr>
          <p:nvPr/>
        </p:nvPicPr>
        <p:blipFill>
          <a:blip r:embed="rId3"/>
          <a:stretch>
            <a:fillRect/>
          </a:stretch>
        </p:blipFill>
        <p:spPr>
          <a:xfrm>
            <a:off x="7269480" y="1234440"/>
            <a:ext cx="335226" cy="566928"/>
          </a:xfrm>
          <a:prstGeom prst="rect">
            <a:avLst/>
          </a:prstGeom>
        </p:spPr>
      </p:pic>
      <p:pic>
        <p:nvPicPr>
          <p:cNvPr id="31" name="Picture 30" descr="imu.png"/>
          <p:cNvPicPr>
            <a:picLocks noChangeAspect="1"/>
          </p:cNvPicPr>
          <p:nvPr/>
        </p:nvPicPr>
        <p:blipFill>
          <a:blip r:embed="rId4"/>
          <a:stretch>
            <a:fillRect/>
          </a:stretch>
        </p:blipFill>
        <p:spPr>
          <a:xfrm>
            <a:off x="10927080" y="1307592"/>
            <a:ext cx="594360" cy="435863"/>
          </a:xfrm>
          <a:prstGeom prst="rect">
            <a:avLst/>
          </a:prstGeom>
        </p:spPr>
      </p:pic>
      <p:pic>
        <p:nvPicPr>
          <p:cNvPr id="32" name="Picture 31" descr="monitor.png"/>
          <p:cNvPicPr>
            <a:picLocks noChangeAspect="1"/>
          </p:cNvPicPr>
          <p:nvPr/>
        </p:nvPicPr>
        <p:blipFill>
          <a:blip r:embed="rId5"/>
          <a:stretch>
            <a:fillRect/>
          </a:stretch>
        </p:blipFill>
        <p:spPr>
          <a:xfrm>
            <a:off x="3291840" y="3867911"/>
            <a:ext cx="640080" cy="515389"/>
          </a:xfrm>
          <a:prstGeom prst="rect">
            <a:avLst/>
          </a:prstGeom>
        </p:spPr>
      </p:pic>
      <p:pic>
        <p:nvPicPr>
          <p:cNvPr id="33" name="Picture 32" descr="motor.png"/>
          <p:cNvPicPr>
            <a:picLocks noChangeAspect="1"/>
          </p:cNvPicPr>
          <p:nvPr/>
        </p:nvPicPr>
        <p:blipFill>
          <a:blip r:embed="rId6"/>
          <a:stretch>
            <a:fillRect/>
          </a:stretch>
        </p:blipFill>
        <p:spPr>
          <a:xfrm>
            <a:off x="7132320" y="3867911"/>
            <a:ext cx="594360" cy="495299"/>
          </a:xfrm>
          <a:prstGeom prst="rect">
            <a:avLst/>
          </a:prstGeom>
        </p:spPr>
      </p:pic>
      <p:sp>
        <p:nvSpPr>
          <p:cNvPr id="34" name="Rounded Rectangle 33"/>
          <p:cNvSpPr/>
          <p:nvPr/>
        </p:nvSpPr>
        <p:spPr>
          <a:xfrm>
            <a:off x="8046720" y="3703320"/>
            <a:ext cx="3657600" cy="24231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35" name="TextBox 34"/>
          <p:cNvSpPr txBox="1"/>
          <p:nvPr/>
        </p:nvSpPr>
        <p:spPr>
          <a:xfrm>
            <a:off x="8229600" y="3767328"/>
            <a:ext cx="3291840" cy="411480"/>
          </a:xfrm>
          <a:prstGeom prst="rect">
            <a:avLst/>
          </a:prstGeom>
          <a:noFill/>
        </p:spPr>
        <p:txBody>
          <a:bodyPr wrap="square" lIns="45720" rIns="45720" tIns="27432" bIns="27432" anchor="t">
            <a:spAutoFit/>
          </a:bodyPr>
          <a:lstStyle/>
          <a:p>
            <a:pPr algn="l"/>
            <a:r>
              <a:rPr sz="1800" b="1" i="0">
                <a:solidFill>
                  <a:srgbClr val="FFD966"/>
                </a:solidFill>
                <a:latin typeface="Calibri"/>
              </a:rPr>
              <a:t>Why FSO works underground</a:t>
            </a:r>
          </a:p>
        </p:txBody>
      </p:sp>
      <p:pic>
        <p:nvPicPr>
          <p:cNvPr id="36" name="Picture 35" descr="rock2.jpg"/>
          <p:cNvPicPr>
            <a:picLocks noChangeAspect="1"/>
          </p:cNvPicPr>
          <p:nvPr/>
        </p:nvPicPr>
        <p:blipFill>
          <a:blip r:embed="rId7"/>
          <a:srcRect t="10035" b="32135"/>
          <a:stretch>
            <a:fillRect/>
          </a:stretch>
        </p:blipFill>
        <p:spPr>
          <a:xfrm>
            <a:off x="8229600" y="4297680"/>
            <a:ext cx="3291840" cy="320040"/>
          </a:xfrm>
          <a:prstGeom prst="rect">
            <a:avLst/>
          </a:prstGeom>
        </p:spPr>
      </p:pic>
      <p:sp>
        <p:nvSpPr>
          <p:cNvPr id="37" name="Rectangle 36"/>
          <p:cNvSpPr/>
          <p:nvPr/>
        </p:nvSpPr>
        <p:spPr>
          <a:xfrm>
            <a:off x="8229600" y="4617720"/>
            <a:ext cx="3291840" cy="868680"/>
          </a:xfrm>
          <a:prstGeom prst="rect">
            <a:avLst/>
          </a:prstGeom>
          <a:solidFill>
            <a:srgbClr val="F4F1EC"/>
          </a:solidFill>
          <a:ln>
            <a:noFill/>
          </a:ln>
        </p:spPr>
        <p:txBody>
          <a:bodyPr rtlCol="0" anchor="ctr"/>
          <a:lstStyle/>
          <a:p>
            <a:pPr algn="ctr"/>
          </a:p>
        </p:txBody>
      </p:sp>
      <p:sp>
        <p:nvSpPr>
          <p:cNvPr id="38" name="Rectangle 37"/>
          <p:cNvSpPr/>
          <p:nvPr/>
        </p:nvSpPr>
        <p:spPr>
          <a:xfrm>
            <a:off x="8229600" y="5404104"/>
            <a:ext cx="3291840" cy="82296"/>
          </a:xfrm>
          <a:prstGeom prst="rect">
            <a:avLst/>
          </a:prstGeom>
          <a:solidFill>
            <a:srgbClr val="D8D2C6"/>
          </a:solidFill>
          <a:ln>
            <a:noFill/>
          </a:ln>
        </p:spPr>
        <p:txBody>
          <a:bodyPr rtlCol="0" anchor="ctr"/>
          <a:lstStyle/>
          <a:p>
            <a:pPr algn="ctr"/>
          </a:p>
        </p:txBody>
      </p:sp>
      <p:sp>
        <p:nvSpPr>
          <p:cNvPr id="39" name="Rectangle 38"/>
          <p:cNvSpPr/>
          <p:nvPr/>
        </p:nvSpPr>
        <p:spPr>
          <a:xfrm>
            <a:off x="8229600" y="4617720"/>
            <a:ext cx="3291840" cy="36576"/>
          </a:xfrm>
          <a:prstGeom prst="rect">
            <a:avLst/>
          </a:prstGeom>
          <a:solidFill>
            <a:srgbClr val="7A6350"/>
          </a:solidFill>
          <a:ln>
            <a:noFill/>
          </a:ln>
        </p:spPr>
        <p:txBody>
          <a:bodyPr rtlCol="0" anchor="ctr"/>
          <a:lstStyle/>
          <a:p>
            <a:pPr algn="ctr"/>
          </a:p>
        </p:txBody>
      </p:sp>
      <p:pic>
        <p:nvPicPr>
          <p:cNvPr id="40" name="Picture 39" descr="rock2.jpg"/>
          <p:cNvPicPr>
            <a:picLocks noChangeAspect="1"/>
          </p:cNvPicPr>
          <p:nvPr/>
        </p:nvPicPr>
        <p:blipFill>
          <a:blip r:embed="rId7"/>
          <a:srcRect t="13306" b="45387"/>
          <a:stretch>
            <a:fillRect/>
          </a:stretch>
        </p:blipFill>
        <p:spPr>
          <a:xfrm>
            <a:off x="8229600" y="5486400"/>
            <a:ext cx="3291840" cy="228600"/>
          </a:xfrm>
          <a:prstGeom prst="rect">
            <a:avLst/>
          </a:prstGeom>
        </p:spPr>
      </p:pic>
      <p:pic>
        <p:nvPicPr>
          <p:cNvPr id="41" name="Picture 40" descr="tripodL.png"/>
          <p:cNvPicPr>
            <a:picLocks noChangeAspect="1"/>
          </p:cNvPicPr>
          <p:nvPr/>
        </p:nvPicPr>
        <p:blipFill>
          <a:blip r:embed="rId3"/>
          <a:stretch>
            <a:fillRect/>
          </a:stretch>
        </p:blipFill>
        <p:spPr>
          <a:xfrm>
            <a:off x="8457007" y="4645152"/>
            <a:ext cx="459585" cy="777240"/>
          </a:xfrm>
          <a:prstGeom prst="rect">
            <a:avLst/>
          </a:prstGeom>
        </p:spPr>
      </p:pic>
      <p:pic>
        <p:nvPicPr>
          <p:cNvPr id="42" name="Picture 41" descr="tripodR.png"/>
          <p:cNvPicPr>
            <a:picLocks noChangeAspect="1"/>
          </p:cNvPicPr>
          <p:nvPr/>
        </p:nvPicPr>
        <p:blipFill>
          <a:blip r:embed="rId8"/>
          <a:stretch>
            <a:fillRect/>
          </a:stretch>
        </p:blipFill>
        <p:spPr>
          <a:xfrm>
            <a:off x="10780378" y="4645152"/>
            <a:ext cx="567723" cy="777240"/>
          </a:xfrm>
          <a:prstGeom prst="rect">
            <a:avLst/>
          </a:prstGeom>
        </p:spPr>
      </p:pic>
      <p:sp>
        <p:nvSpPr>
          <p:cNvPr id="43" name="Rectangle 42"/>
          <p:cNvSpPr/>
          <p:nvPr/>
        </p:nvSpPr>
        <p:spPr>
          <a:xfrm>
            <a:off x="8916592" y="4652832"/>
            <a:ext cx="1863785" cy="146304"/>
          </a:xfrm>
          <a:prstGeom prst="rect">
            <a:avLst/>
          </a:prstGeom>
          <a:solidFill>
            <a:srgbClr val="ED7D31">
              <a:alpha val="28000"/>
            </a:srgbClr>
          </a:solidFill>
          <a:ln>
            <a:noFill/>
          </a:ln>
        </p:spPr>
        <p:txBody>
          <a:bodyPr rtlCol="0" anchor="ctr"/>
          <a:lstStyle/>
          <a:p>
            <a:pPr algn="ctr"/>
          </a:p>
        </p:txBody>
      </p:sp>
      <p:sp>
        <p:nvSpPr>
          <p:cNvPr id="44" name="Rectangle 43"/>
          <p:cNvSpPr/>
          <p:nvPr/>
        </p:nvSpPr>
        <p:spPr>
          <a:xfrm>
            <a:off x="8916592" y="4703124"/>
            <a:ext cx="1863785" cy="45720"/>
          </a:xfrm>
          <a:prstGeom prst="rect">
            <a:avLst/>
          </a:prstGeom>
          <a:solidFill>
            <a:srgbClr val="ED7D31"/>
          </a:solidFill>
          <a:ln>
            <a:noFill/>
          </a:ln>
        </p:spPr>
        <p:txBody>
          <a:bodyPr rtlCol="0" anchor="ctr"/>
          <a:lstStyle/>
          <a:p>
            <a:pPr algn="ctr"/>
          </a:p>
        </p:txBody>
      </p:sp>
      <p:sp>
        <p:nvSpPr>
          <p:cNvPr id="45" name="TextBox 44"/>
          <p:cNvSpPr txBox="1"/>
          <p:nvPr/>
        </p:nvSpPr>
        <p:spPr>
          <a:xfrm>
            <a:off x="8229600" y="5742432"/>
            <a:ext cx="3291840" cy="320040"/>
          </a:xfrm>
          <a:prstGeom prst="rect">
            <a:avLst/>
          </a:prstGeom>
          <a:noFill/>
        </p:spPr>
        <p:txBody>
          <a:bodyPr wrap="square" lIns="45720" rIns="45720" tIns="27432" bIns="27432" anchor="t">
            <a:spAutoFit/>
          </a:bodyPr>
          <a:lstStyle/>
          <a:p>
            <a:pPr algn="ctr"/>
            <a:r>
              <a:rPr sz="1300" b="1" i="0">
                <a:solidFill>
                  <a:srgbClr val="FFFFFF"/>
                </a:solidFill>
                <a:latin typeface="Calibri"/>
              </a:rPr>
              <a:t>Open tunnel, not rock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04     ·     TECHNICAL FEASIBILITY AND METHODOLOGY</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Proposed scheme</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Proposed scheme</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6  /  15</a:t>
            </a:r>
          </a:p>
        </p:txBody>
      </p:sp>
      <p:pic>
        <p:nvPicPr>
          <p:cNvPr id="9" name="Picture 8" descr="diagram.png"/>
          <p:cNvPicPr>
            <a:picLocks noChangeAspect="1"/>
          </p:cNvPicPr>
          <p:nvPr/>
        </p:nvPicPr>
        <p:blipFill>
          <a:blip r:embed="rId2"/>
          <a:stretch>
            <a:fillRect/>
          </a:stretch>
        </p:blipFill>
        <p:spPr>
          <a:xfrm>
            <a:off x="457200" y="1005840"/>
            <a:ext cx="8961120" cy="4469359"/>
          </a:xfrm>
          <a:prstGeom prst="rect">
            <a:avLst/>
          </a:prstGeom>
        </p:spPr>
      </p:pic>
      <p:sp>
        <p:nvSpPr>
          <p:cNvPr id="10" name="Rectangle 9"/>
          <p:cNvSpPr/>
          <p:nvPr/>
        </p:nvSpPr>
        <p:spPr>
          <a:xfrm>
            <a:off x="457200" y="1005840"/>
            <a:ext cx="8961120" cy="4469358"/>
          </a:xfrm>
          <a:prstGeom prst="rect">
            <a:avLst/>
          </a:prstGeom>
          <a:noFill/>
          <a:ln w="9525">
            <a:solidFill>
              <a:srgbClr val="9A9A9A"/>
            </a:solidFill>
          </a:ln>
        </p:spPr>
        <p:txBody>
          <a:bodyPr rtlCol="0" anchor="ctr"/>
          <a:lstStyle/>
          <a:p>
            <a:pPr algn="ctr"/>
          </a:p>
        </p:txBody>
      </p:sp>
      <p:sp>
        <p:nvSpPr>
          <p:cNvPr id="11" name="Rounded Rectangle 10"/>
          <p:cNvSpPr/>
          <p:nvPr/>
        </p:nvSpPr>
        <p:spPr>
          <a:xfrm>
            <a:off x="9601200" y="1005840"/>
            <a:ext cx="2148840" cy="1416634"/>
          </a:xfrm>
          <a:prstGeom prst="roundRect">
            <a:avLst>
              <a:gd name="adj" fmla="val 8000"/>
            </a:avLst>
          </a:prstGeom>
          <a:solidFill>
            <a:srgbClr val="E9E9E9"/>
          </a:solidFill>
          <a:ln w="9525">
            <a:solidFill>
              <a:srgbClr val="9A9A9A"/>
            </a:solidFill>
          </a:ln>
        </p:spPr>
        <p:txBody>
          <a:bodyPr rtlCol="0" anchor="ctr"/>
          <a:lstStyle/>
          <a:p>
            <a:pPr algn="ctr"/>
          </a:p>
        </p:txBody>
      </p:sp>
      <p:pic>
        <p:nvPicPr>
          <p:cNvPr id="12" name="Picture 11" descr="tripodL.png"/>
          <p:cNvPicPr>
            <a:picLocks noChangeAspect="1"/>
          </p:cNvPicPr>
          <p:nvPr/>
        </p:nvPicPr>
        <p:blipFill>
          <a:blip r:embed="rId3"/>
          <a:stretch>
            <a:fillRect/>
          </a:stretch>
        </p:blipFill>
        <p:spPr>
          <a:xfrm>
            <a:off x="9710928" y="1115568"/>
            <a:ext cx="389295" cy="658368"/>
          </a:xfrm>
          <a:prstGeom prst="rect">
            <a:avLst/>
          </a:prstGeom>
        </p:spPr>
      </p:pic>
      <p:sp>
        <p:nvSpPr>
          <p:cNvPr id="13" name="TextBox 12"/>
          <p:cNvSpPr txBox="1"/>
          <p:nvPr/>
        </p:nvSpPr>
        <p:spPr>
          <a:xfrm>
            <a:off x="10424160" y="1170432"/>
            <a:ext cx="1280160" cy="457200"/>
          </a:xfrm>
          <a:prstGeom prst="rect">
            <a:avLst/>
          </a:prstGeom>
          <a:noFill/>
        </p:spPr>
        <p:txBody>
          <a:bodyPr wrap="square" lIns="45720" rIns="45720" tIns="27432" bIns="27432" anchor="t">
            <a:spAutoFit/>
          </a:bodyPr>
          <a:lstStyle/>
          <a:p>
            <a:pPr algn="l"/>
            <a:r>
              <a:rPr sz="1900" b="1" i="0">
                <a:solidFill>
                  <a:srgbClr val="1B3A4B"/>
                </a:solidFill>
                <a:latin typeface="Calibri"/>
              </a:rPr>
              <a:t>FSO</a:t>
            </a:r>
          </a:p>
        </p:txBody>
      </p:sp>
      <p:sp>
        <p:nvSpPr>
          <p:cNvPr id="14" name="TextBox 13"/>
          <p:cNvSpPr txBox="1"/>
          <p:nvPr/>
        </p:nvSpPr>
        <p:spPr>
          <a:xfrm>
            <a:off x="9692640" y="1828800"/>
            <a:ext cx="1965960" cy="593674"/>
          </a:xfrm>
          <a:prstGeom prst="rect">
            <a:avLst/>
          </a:prstGeom>
          <a:noFill/>
        </p:spPr>
        <p:txBody>
          <a:bodyPr wrap="square" lIns="45720" rIns="45720" tIns="27432" bIns="27432" anchor="t">
            <a:spAutoFit/>
          </a:bodyPr>
          <a:lstStyle/>
          <a:p>
            <a:pPr algn="l"/>
            <a:r>
              <a:rPr sz="1400" b="0" i="0">
                <a:solidFill>
                  <a:srgbClr val="1C2430"/>
                </a:solidFill>
                <a:latin typeface="Calibri"/>
              </a:rPr>
              <a:t>Video on auto-tracked hops of 50–100 m.</a:t>
            </a:r>
          </a:p>
        </p:txBody>
      </p:sp>
      <p:sp>
        <p:nvSpPr>
          <p:cNvPr id="15" name="Rounded Rectangle 14"/>
          <p:cNvSpPr/>
          <p:nvPr/>
        </p:nvSpPr>
        <p:spPr>
          <a:xfrm>
            <a:off x="9601200" y="2532202"/>
            <a:ext cx="2148840" cy="1416634"/>
          </a:xfrm>
          <a:prstGeom prst="roundRect">
            <a:avLst>
              <a:gd name="adj" fmla="val 8000"/>
            </a:avLst>
          </a:prstGeom>
          <a:solidFill>
            <a:srgbClr val="E9E9E9"/>
          </a:solidFill>
          <a:ln w="9525">
            <a:solidFill>
              <a:srgbClr val="9A9A9A"/>
            </a:solidFill>
          </a:ln>
        </p:spPr>
        <p:txBody>
          <a:bodyPr rtlCol="0" anchor="ctr"/>
          <a:lstStyle/>
          <a:p>
            <a:pPr algn="ctr"/>
          </a:p>
        </p:txBody>
      </p:sp>
      <p:pic>
        <p:nvPicPr>
          <p:cNvPr id="16" name="Picture 15" descr="imu.png"/>
          <p:cNvPicPr>
            <a:picLocks noChangeAspect="1"/>
          </p:cNvPicPr>
          <p:nvPr/>
        </p:nvPicPr>
        <p:blipFill>
          <a:blip r:embed="rId4"/>
          <a:stretch>
            <a:fillRect/>
          </a:stretch>
        </p:blipFill>
        <p:spPr>
          <a:xfrm>
            <a:off x="9692640" y="2715082"/>
            <a:ext cx="548640" cy="402336"/>
          </a:xfrm>
          <a:prstGeom prst="rect">
            <a:avLst/>
          </a:prstGeom>
        </p:spPr>
      </p:pic>
      <p:sp>
        <p:nvSpPr>
          <p:cNvPr id="17" name="TextBox 16"/>
          <p:cNvSpPr txBox="1"/>
          <p:nvPr/>
        </p:nvSpPr>
        <p:spPr>
          <a:xfrm>
            <a:off x="10424160" y="2696794"/>
            <a:ext cx="1280160" cy="457200"/>
          </a:xfrm>
          <a:prstGeom prst="rect">
            <a:avLst/>
          </a:prstGeom>
          <a:noFill/>
        </p:spPr>
        <p:txBody>
          <a:bodyPr wrap="square" lIns="45720" rIns="45720" tIns="27432" bIns="27432" anchor="t">
            <a:spAutoFit/>
          </a:bodyPr>
          <a:lstStyle/>
          <a:p>
            <a:pPr algn="l"/>
            <a:r>
              <a:rPr sz="1900" b="1" i="0">
                <a:solidFill>
                  <a:srgbClr val="1B3A4B"/>
                </a:solidFill>
                <a:latin typeface="Calibri"/>
              </a:rPr>
              <a:t>IMU</a:t>
            </a:r>
          </a:p>
        </p:txBody>
      </p:sp>
      <p:sp>
        <p:nvSpPr>
          <p:cNvPr id="18" name="TextBox 17"/>
          <p:cNvSpPr txBox="1"/>
          <p:nvPr/>
        </p:nvSpPr>
        <p:spPr>
          <a:xfrm>
            <a:off x="9692640" y="3355162"/>
            <a:ext cx="1965960" cy="593674"/>
          </a:xfrm>
          <a:prstGeom prst="rect">
            <a:avLst/>
          </a:prstGeom>
          <a:noFill/>
        </p:spPr>
        <p:txBody>
          <a:bodyPr wrap="square" lIns="45720" rIns="45720" tIns="27432" bIns="27432" anchor="t">
            <a:spAutoFit/>
          </a:bodyPr>
          <a:lstStyle/>
          <a:p>
            <a:pPr algn="l"/>
            <a:r>
              <a:rPr sz="1400" b="0" i="0">
                <a:solidFill>
                  <a:srgbClr val="1C2430"/>
                </a:solidFill>
                <a:latin typeface="Calibri"/>
              </a:rPr>
              <a:t>Holds the beam on the next node.</a:t>
            </a:r>
          </a:p>
        </p:txBody>
      </p:sp>
      <p:sp>
        <p:nvSpPr>
          <p:cNvPr id="19" name="Rounded Rectangle 18"/>
          <p:cNvSpPr/>
          <p:nvPr/>
        </p:nvSpPr>
        <p:spPr>
          <a:xfrm>
            <a:off x="9601200" y="4058564"/>
            <a:ext cx="2148840" cy="1416634"/>
          </a:xfrm>
          <a:prstGeom prst="roundRect">
            <a:avLst>
              <a:gd name="adj" fmla="val 8000"/>
            </a:avLst>
          </a:prstGeom>
          <a:solidFill>
            <a:srgbClr val="E9E9E9"/>
          </a:solidFill>
          <a:ln w="9525">
            <a:solidFill>
              <a:srgbClr val="9A9A9A"/>
            </a:solidFill>
          </a:ln>
        </p:spPr>
        <p:txBody>
          <a:bodyPr rtlCol="0" anchor="ctr"/>
          <a:lstStyle/>
          <a:p>
            <a:pPr algn="ctr"/>
          </a:p>
        </p:txBody>
      </p:sp>
      <p:pic>
        <p:nvPicPr>
          <p:cNvPr id="20" name="Picture 19" descr="lora.png"/>
          <p:cNvPicPr>
            <a:picLocks noChangeAspect="1"/>
          </p:cNvPicPr>
          <p:nvPr/>
        </p:nvPicPr>
        <p:blipFill>
          <a:blip r:embed="rId5"/>
          <a:stretch>
            <a:fillRect/>
          </a:stretch>
        </p:blipFill>
        <p:spPr>
          <a:xfrm>
            <a:off x="9710928" y="4168292"/>
            <a:ext cx="614476" cy="548640"/>
          </a:xfrm>
          <a:prstGeom prst="rect">
            <a:avLst/>
          </a:prstGeom>
        </p:spPr>
      </p:pic>
      <p:sp>
        <p:nvSpPr>
          <p:cNvPr id="21" name="TextBox 20"/>
          <p:cNvSpPr txBox="1"/>
          <p:nvPr/>
        </p:nvSpPr>
        <p:spPr>
          <a:xfrm>
            <a:off x="10424160" y="4223156"/>
            <a:ext cx="1280160" cy="457200"/>
          </a:xfrm>
          <a:prstGeom prst="rect">
            <a:avLst/>
          </a:prstGeom>
          <a:noFill/>
        </p:spPr>
        <p:txBody>
          <a:bodyPr wrap="square" lIns="45720" rIns="45720" tIns="27432" bIns="27432" anchor="t">
            <a:spAutoFit/>
          </a:bodyPr>
          <a:lstStyle/>
          <a:p>
            <a:pPr algn="l"/>
            <a:r>
              <a:rPr sz="1900" b="1" i="0">
                <a:solidFill>
                  <a:srgbClr val="1B3A4B"/>
                </a:solidFill>
                <a:latin typeface="Calibri"/>
              </a:rPr>
              <a:t>LoRa</a:t>
            </a:r>
          </a:p>
        </p:txBody>
      </p:sp>
      <p:sp>
        <p:nvSpPr>
          <p:cNvPr id="22" name="TextBox 21"/>
          <p:cNvSpPr txBox="1"/>
          <p:nvPr/>
        </p:nvSpPr>
        <p:spPr>
          <a:xfrm>
            <a:off x="9692640" y="4881524"/>
            <a:ext cx="1965960" cy="593674"/>
          </a:xfrm>
          <a:prstGeom prst="rect">
            <a:avLst/>
          </a:prstGeom>
          <a:noFill/>
        </p:spPr>
        <p:txBody>
          <a:bodyPr wrap="square" lIns="45720" rIns="45720" tIns="27432" bIns="27432" anchor="t">
            <a:spAutoFit/>
          </a:bodyPr>
          <a:lstStyle/>
          <a:p>
            <a:pPr algn="l"/>
            <a:r>
              <a:rPr sz="1400" b="0" i="0">
                <a:solidFill>
                  <a:srgbClr val="1C2430"/>
                </a:solidFill>
                <a:latin typeface="Calibri"/>
              </a:rPr>
              <a:t>Control and alerts to the surface.</a:t>
            </a:r>
          </a:p>
        </p:txBody>
      </p:sp>
      <p:sp>
        <p:nvSpPr>
          <p:cNvPr id="23" name="Rectangle 22"/>
          <p:cNvSpPr/>
          <p:nvPr/>
        </p:nvSpPr>
        <p:spPr>
          <a:xfrm>
            <a:off x="640080" y="5786094"/>
            <a:ext cx="594360" cy="146304"/>
          </a:xfrm>
          <a:prstGeom prst="rect">
            <a:avLst/>
          </a:prstGeom>
          <a:solidFill>
            <a:srgbClr val="ED7D31">
              <a:alpha val="28000"/>
            </a:srgbClr>
          </a:solidFill>
          <a:ln>
            <a:noFill/>
          </a:ln>
        </p:spPr>
        <p:txBody>
          <a:bodyPr rtlCol="0" anchor="ctr"/>
          <a:lstStyle/>
          <a:p>
            <a:pPr algn="ctr"/>
          </a:p>
        </p:txBody>
      </p:sp>
      <p:sp>
        <p:nvSpPr>
          <p:cNvPr id="24" name="Rectangle 23"/>
          <p:cNvSpPr/>
          <p:nvPr/>
        </p:nvSpPr>
        <p:spPr>
          <a:xfrm>
            <a:off x="640080" y="5836386"/>
            <a:ext cx="594360" cy="45720"/>
          </a:xfrm>
          <a:prstGeom prst="rect">
            <a:avLst/>
          </a:prstGeom>
          <a:solidFill>
            <a:srgbClr val="ED7D31"/>
          </a:solidFill>
          <a:ln>
            <a:noFill/>
          </a:ln>
        </p:spPr>
        <p:txBody>
          <a:bodyPr rtlCol="0" anchor="ctr"/>
          <a:lstStyle/>
          <a:p>
            <a:pPr algn="ctr"/>
          </a:p>
        </p:txBody>
      </p:sp>
      <p:sp>
        <p:nvSpPr>
          <p:cNvPr id="25" name="TextBox 24"/>
          <p:cNvSpPr txBox="1"/>
          <p:nvPr/>
        </p:nvSpPr>
        <p:spPr>
          <a:xfrm>
            <a:off x="1325880" y="5703798"/>
            <a:ext cx="3108960" cy="310896"/>
          </a:xfrm>
          <a:prstGeom prst="rect">
            <a:avLst/>
          </a:prstGeom>
          <a:noFill/>
        </p:spPr>
        <p:txBody>
          <a:bodyPr wrap="square" lIns="45720" rIns="45720" tIns="27432" bIns="27432" anchor="t">
            <a:spAutoFit/>
          </a:bodyPr>
          <a:lstStyle/>
          <a:p>
            <a:pPr algn="l"/>
            <a:r>
              <a:rPr sz="1400" b="1" i="0">
                <a:solidFill>
                  <a:srgbClr val="C55A11"/>
                </a:solidFill>
                <a:latin typeface="Calibri"/>
              </a:rPr>
              <a:t>FSO beam: real-time video</a:t>
            </a:r>
          </a:p>
        </p:txBody>
      </p:sp>
      <p:cxnSp>
        <p:nvCxnSpPr>
          <p:cNvPr id="26" name="Connector 25"/>
          <p:cNvCxnSpPr/>
          <p:nvPr/>
        </p:nvCxnSpPr>
        <p:spPr>
          <a:xfrm>
            <a:off x="640080" y="6270726"/>
            <a:ext cx="594360" cy="0"/>
          </a:xfrm>
          <a:prstGeom prst="line">
            <a:avLst/>
          </a:prstGeom>
          <a:ln w="25400">
            <a:solidFill>
              <a:srgbClr val="404040"/>
            </a:solidFill>
            <a:prstDash val="sysDot"/>
          </a:ln>
        </p:spPr>
      </p:cxnSp>
      <p:sp>
        <p:nvSpPr>
          <p:cNvPr id="27" name="TextBox 26"/>
          <p:cNvSpPr txBox="1"/>
          <p:nvPr/>
        </p:nvSpPr>
        <p:spPr>
          <a:xfrm>
            <a:off x="1325880" y="6115278"/>
            <a:ext cx="3108960" cy="310896"/>
          </a:xfrm>
          <a:prstGeom prst="rect">
            <a:avLst/>
          </a:prstGeom>
          <a:noFill/>
        </p:spPr>
        <p:txBody>
          <a:bodyPr wrap="square" lIns="45720" rIns="45720" tIns="27432" bIns="27432" anchor="t">
            <a:spAutoFit/>
          </a:bodyPr>
          <a:lstStyle/>
          <a:p>
            <a:pPr algn="l"/>
            <a:r>
              <a:rPr sz="1400" b="1" i="0">
                <a:solidFill>
                  <a:srgbClr val="1B3A4B"/>
                </a:solidFill>
                <a:latin typeface="Calibri"/>
              </a:rPr>
              <a:t>LoRa link: control, alerts</a:t>
            </a:r>
          </a:p>
        </p:txBody>
      </p:sp>
      <p:sp>
        <p:nvSpPr>
          <p:cNvPr id="28" name="Rounded Rectangle 27"/>
          <p:cNvSpPr/>
          <p:nvPr/>
        </p:nvSpPr>
        <p:spPr>
          <a:xfrm>
            <a:off x="4663440" y="5658078"/>
            <a:ext cx="7086600" cy="86868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9" name="TextBox 28"/>
          <p:cNvSpPr txBox="1"/>
          <p:nvPr/>
        </p:nvSpPr>
        <p:spPr>
          <a:xfrm>
            <a:off x="4800600" y="5676366"/>
            <a:ext cx="6858000" cy="822960"/>
          </a:xfrm>
          <a:prstGeom prst="rect">
            <a:avLst/>
          </a:prstGeom>
          <a:noFill/>
        </p:spPr>
        <p:txBody>
          <a:bodyPr wrap="square" lIns="45720" rIns="45720" tIns="27432" bIns="27432" anchor="ctr">
            <a:spAutoFit/>
          </a:bodyPr>
          <a:lstStyle/>
          <a:p>
            <a:pPr algn="l"/>
            <a:r>
              <a:rPr sz="1500" b="1" i="0">
                <a:solidFill>
                  <a:srgbClr val="C55A11"/>
                </a:solidFill>
                <a:latin typeface="Calibri"/>
              </a:rPr>
              <a:t>Each node: </a:t>
            </a:r>
            <a:r>
              <a:rPr sz="1500" b="0" i="0">
                <a:solidFill>
                  <a:srgbClr val="1C2430"/>
                </a:solidFill>
                <a:latin typeface="Calibri"/>
              </a:rPr>
              <a:t>laser, IMU, motorized mount, LoRa.   </a:t>
            </a:r>
            <a:r>
              <a:rPr sz="1500" b="1" i="0">
                <a:solidFill>
                  <a:srgbClr val="C55A11"/>
                </a:solidFill>
                <a:latin typeface="Calibri"/>
              </a:rPr>
              <a:t>Surface: </a:t>
            </a:r>
            <a:r>
              <a:rPr sz="1500" b="0" i="0">
                <a:solidFill>
                  <a:srgbClr val="1C2430"/>
                </a:solidFill>
                <a:latin typeface="Calibri"/>
              </a:rPr>
              <a:t>dashboard, alerts, localization.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04     ·     TECHNICAL FEASIBILITY AND METHODOLOGY</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How one hop works</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How one hop works</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7  /  15</a:t>
            </a:r>
          </a:p>
        </p:txBody>
      </p:sp>
      <p:sp>
        <p:nvSpPr>
          <p:cNvPr id="9" name="TextBox 8"/>
          <p:cNvSpPr txBox="1"/>
          <p:nvPr/>
        </p:nvSpPr>
        <p:spPr>
          <a:xfrm>
            <a:off x="457200" y="960120"/>
            <a:ext cx="7315200" cy="365760"/>
          </a:xfrm>
          <a:prstGeom prst="rect">
            <a:avLst/>
          </a:prstGeom>
          <a:noFill/>
        </p:spPr>
        <p:txBody>
          <a:bodyPr wrap="square" lIns="45720" rIns="45720" tIns="27432" bIns="27432" anchor="t">
            <a:spAutoFit/>
          </a:bodyPr>
          <a:lstStyle/>
          <a:p>
            <a:pPr algn="l"/>
            <a:r>
              <a:rPr sz="1600" b="0" i="0">
                <a:solidFill>
                  <a:srgbClr val="5C6770"/>
                </a:solidFill>
                <a:latin typeface="Calibri"/>
              </a:rPr>
              <a:t>The picture travels only on light. Each node rebuilds it, checks it, and sends it on.</a:t>
            </a:r>
          </a:p>
        </p:txBody>
      </p:sp>
      <p:sp>
        <p:nvSpPr>
          <p:cNvPr id="10" name="TextBox 9"/>
          <p:cNvSpPr txBox="1"/>
          <p:nvPr/>
        </p:nvSpPr>
        <p:spPr>
          <a:xfrm>
            <a:off x="457200" y="1417320"/>
            <a:ext cx="2743200" cy="320040"/>
          </a:xfrm>
          <a:prstGeom prst="rect">
            <a:avLst/>
          </a:prstGeom>
          <a:noFill/>
        </p:spPr>
        <p:txBody>
          <a:bodyPr wrap="square" lIns="45720" rIns="45720" tIns="27432" bIns="27432" anchor="t">
            <a:spAutoFit/>
          </a:bodyPr>
          <a:lstStyle/>
          <a:p>
            <a:pPr algn="l"/>
            <a:r>
              <a:rPr sz="1600" b="1" i="0">
                <a:solidFill>
                  <a:srgbClr val="1B3A4B"/>
                </a:solidFill>
                <a:latin typeface="Calibri"/>
              </a:rPr>
              <a:t>Optical frame</a:t>
            </a:r>
          </a:p>
        </p:txBody>
      </p:sp>
      <p:sp>
        <p:nvSpPr>
          <p:cNvPr id="11" name="Rounded Rectangle 10"/>
          <p:cNvSpPr/>
          <p:nvPr/>
        </p:nvSpPr>
        <p:spPr>
          <a:xfrm>
            <a:off x="2286000" y="1389888"/>
            <a:ext cx="914400" cy="411480"/>
          </a:xfrm>
          <a:prstGeom prst="roundRect">
            <a:avLst>
              <a:gd name="adj" fmla="val 20000"/>
            </a:avLst>
          </a:prstGeom>
          <a:solidFill>
            <a:srgbClr val="0071C1"/>
          </a:solidFill>
          <a:ln>
            <a:noFill/>
          </a:ln>
        </p:spPr>
        <p:txBody>
          <a:bodyPr rtlCol="0" anchor="ctr" lIns="36576" rIns="36576" tIns="0" bIns="0" wrap="square"/>
          <a:lstStyle/>
          <a:p>
            <a:pPr algn="ctr"/>
            <a:r>
              <a:rPr sz="1500" b="1">
                <a:solidFill>
                  <a:srgbClr val="FFFFFF"/>
                </a:solidFill>
                <a:latin typeface="Calibri"/>
              </a:rPr>
              <a:t>AA55</a:t>
            </a:r>
          </a:p>
        </p:txBody>
      </p:sp>
      <p:sp>
        <p:nvSpPr>
          <p:cNvPr id="12" name="Rounded Rectangle 11"/>
          <p:cNvSpPr/>
          <p:nvPr/>
        </p:nvSpPr>
        <p:spPr>
          <a:xfrm>
            <a:off x="3291840" y="1389888"/>
            <a:ext cx="1188720" cy="411480"/>
          </a:xfrm>
          <a:prstGeom prst="roundRect">
            <a:avLst>
              <a:gd name="adj" fmla="val 20000"/>
            </a:avLst>
          </a:prstGeom>
          <a:solidFill>
            <a:srgbClr val="0071C1"/>
          </a:solidFill>
          <a:ln>
            <a:noFill/>
          </a:ln>
        </p:spPr>
        <p:txBody>
          <a:bodyPr rtlCol="0" anchor="ctr" lIns="36576" rIns="36576" tIns="0" bIns="0" wrap="square"/>
          <a:lstStyle/>
          <a:p>
            <a:pPr algn="ctr"/>
            <a:r>
              <a:rPr sz="1500" b="1">
                <a:solidFill>
                  <a:srgbClr val="FFFFFF"/>
                </a:solidFill>
                <a:latin typeface="Calibri"/>
              </a:rPr>
              <a:t>Length</a:t>
            </a:r>
          </a:p>
        </p:txBody>
      </p:sp>
      <p:sp>
        <p:nvSpPr>
          <p:cNvPr id="13" name="Rounded Rectangle 12"/>
          <p:cNvSpPr/>
          <p:nvPr/>
        </p:nvSpPr>
        <p:spPr>
          <a:xfrm>
            <a:off x="4572000" y="1389888"/>
            <a:ext cx="822960" cy="411480"/>
          </a:xfrm>
          <a:prstGeom prst="roundRect">
            <a:avLst>
              <a:gd name="adj" fmla="val 20000"/>
            </a:avLst>
          </a:prstGeom>
          <a:solidFill>
            <a:srgbClr val="0071C1"/>
          </a:solidFill>
          <a:ln>
            <a:noFill/>
          </a:ln>
        </p:spPr>
        <p:txBody>
          <a:bodyPr rtlCol="0" anchor="ctr" lIns="36576" rIns="36576" tIns="0" bIns="0" wrap="square"/>
          <a:lstStyle/>
          <a:p>
            <a:pPr algn="ctr"/>
            <a:r>
              <a:rPr sz="1500" b="1">
                <a:solidFill>
                  <a:srgbClr val="FFFFFF"/>
                </a:solidFill>
                <a:latin typeface="Calibri"/>
              </a:rPr>
              <a:t>Seq</a:t>
            </a:r>
          </a:p>
        </p:txBody>
      </p:sp>
      <p:sp>
        <p:nvSpPr>
          <p:cNvPr id="14" name="Rounded Rectangle 13"/>
          <p:cNvSpPr/>
          <p:nvPr/>
        </p:nvSpPr>
        <p:spPr>
          <a:xfrm>
            <a:off x="5486400" y="1389888"/>
            <a:ext cx="2651760" cy="411480"/>
          </a:xfrm>
          <a:prstGeom prst="roundRect">
            <a:avLst>
              <a:gd name="adj" fmla="val 20000"/>
            </a:avLst>
          </a:prstGeom>
          <a:solidFill>
            <a:srgbClr val="ED7D31"/>
          </a:solidFill>
          <a:ln>
            <a:noFill/>
          </a:ln>
        </p:spPr>
        <p:txBody>
          <a:bodyPr rtlCol="0" anchor="ctr" lIns="36576" rIns="36576" tIns="0" bIns="0" wrap="square"/>
          <a:lstStyle/>
          <a:p>
            <a:pPr algn="ctr"/>
            <a:r>
              <a:rPr sz="1500" b="1">
                <a:solidFill>
                  <a:srgbClr val="FFFFFF"/>
                </a:solidFill>
                <a:latin typeface="Calibri"/>
              </a:rPr>
              <a:t>JPEG</a:t>
            </a:r>
          </a:p>
        </p:txBody>
      </p:sp>
      <p:sp>
        <p:nvSpPr>
          <p:cNvPr id="15" name="Rounded Rectangle 14"/>
          <p:cNvSpPr/>
          <p:nvPr/>
        </p:nvSpPr>
        <p:spPr>
          <a:xfrm>
            <a:off x="8229600" y="1389888"/>
            <a:ext cx="1188720" cy="411480"/>
          </a:xfrm>
          <a:prstGeom prst="roundRect">
            <a:avLst>
              <a:gd name="adj" fmla="val 20000"/>
            </a:avLst>
          </a:prstGeom>
          <a:solidFill>
            <a:srgbClr val="0071C1"/>
          </a:solidFill>
          <a:ln>
            <a:noFill/>
          </a:ln>
        </p:spPr>
        <p:txBody>
          <a:bodyPr rtlCol="0" anchor="ctr" lIns="36576" rIns="36576" tIns="0" bIns="0" wrap="square"/>
          <a:lstStyle/>
          <a:p>
            <a:pPr algn="ctr"/>
            <a:r>
              <a:rPr sz="1500" b="1">
                <a:solidFill>
                  <a:srgbClr val="FFFFFF"/>
                </a:solidFill>
                <a:latin typeface="Calibri"/>
              </a:rPr>
              <a:t>CRC-16</a:t>
            </a:r>
          </a:p>
        </p:txBody>
      </p:sp>
      <p:sp>
        <p:nvSpPr>
          <p:cNvPr id="16" name="TextBox 15"/>
          <p:cNvSpPr txBox="1"/>
          <p:nvPr/>
        </p:nvSpPr>
        <p:spPr>
          <a:xfrm>
            <a:off x="9601200" y="1344168"/>
            <a:ext cx="2148839" cy="502920"/>
          </a:xfrm>
          <a:prstGeom prst="rect">
            <a:avLst/>
          </a:prstGeom>
          <a:noFill/>
        </p:spPr>
        <p:txBody>
          <a:bodyPr wrap="square" lIns="45720" rIns="45720" tIns="27432" bIns="27432" anchor="ctr">
            <a:spAutoFit/>
          </a:bodyPr>
          <a:lstStyle/>
          <a:p>
            <a:pPr algn="l"/>
            <a:r>
              <a:rPr sz="1300" b="0" i="0">
                <a:solidFill>
                  <a:srgbClr val="5C6770"/>
                </a:solidFill>
                <a:latin typeface="Calibri"/>
              </a:rPr>
              <a:t>UART 115200 8N1, one direction</a:t>
            </a:r>
          </a:p>
        </p:txBody>
      </p:sp>
      <p:sp>
        <p:nvSpPr>
          <p:cNvPr id="17" name="Rounded Rectangle 16"/>
          <p:cNvSpPr/>
          <p:nvPr/>
        </p:nvSpPr>
        <p:spPr>
          <a:xfrm>
            <a:off x="457200" y="2103120"/>
            <a:ext cx="3246120" cy="2148840"/>
          </a:xfrm>
          <a:prstGeom prst="roundRect">
            <a:avLst>
              <a:gd name="adj" fmla="val 8000"/>
            </a:avLst>
          </a:prstGeom>
          <a:solidFill>
            <a:srgbClr val="E9E9E9"/>
          </a:solidFill>
          <a:ln w="9525">
            <a:solidFill>
              <a:srgbClr val="9A9A9A"/>
            </a:solidFill>
          </a:ln>
        </p:spPr>
        <p:txBody>
          <a:bodyPr rtlCol="0" anchor="ctr"/>
          <a:lstStyle/>
          <a:p>
            <a:pPr algn="ctr"/>
          </a:p>
        </p:txBody>
      </p:sp>
      <p:sp>
        <p:nvSpPr>
          <p:cNvPr id="18" name="TextBox 17"/>
          <p:cNvSpPr txBox="1"/>
          <p:nvPr/>
        </p:nvSpPr>
        <p:spPr>
          <a:xfrm>
            <a:off x="640080" y="2176272"/>
            <a:ext cx="2194560" cy="411480"/>
          </a:xfrm>
          <a:prstGeom prst="rect">
            <a:avLst/>
          </a:prstGeom>
          <a:noFill/>
        </p:spPr>
        <p:txBody>
          <a:bodyPr wrap="square" lIns="45720" rIns="45720" tIns="27432" bIns="27432" anchor="t">
            <a:spAutoFit/>
          </a:bodyPr>
          <a:lstStyle/>
          <a:p>
            <a:pPr algn="l"/>
            <a:r>
              <a:rPr sz="1900" b="1" i="0">
                <a:solidFill>
                  <a:srgbClr val="1B3A4B"/>
                </a:solidFill>
                <a:latin typeface="Calibri"/>
              </a:rPr>
              <a:t>Camera node</a:t>
            </a:r>
          </a:p>
        </p:txBody>
      </p:sp>
      <p:sp>
        <p:nvSpPr>
          <p:cNvPr id="19" name="TextBox 18"/>
          <p:cNvSpPr txBox="1"/>
          <p:nvPr/>
        </p:nvSpPr>
        <p:spPr>
          <a:xfrm>
            <a:off x="640080" y="2651760"/>
            <a:ext cx="2926080" cy="1554480"/>
          </a:xfrm>
          <a:prstGeom prst="rect">
            <a:avLst/>
          </a:prstGeom>
          <a:noFill/>
        </p:spPr>
        <p:txBody>
          <a:bodyPr wrap="square" lIns="45720" rIns="45720" tIns="27432" bIns="27432" anchor="t">
            <a:spAutoFit/>
          </a:bodyPr>
          <a:lstStyle/>
          <a:p>
            <a:pPr algn="l">
              <a:spcAft>
                <a:spcPts val="600"/>
              </a:spcAft>
            </a:pPr>
            <a:r>
              <a:rPr sz="1500" b="0" i="0">
                <a:solidFill>
                  <a:srgbClr val="1C2430"/>
                </a:solidFill>
                <a:latin typeface="Calibri"/>
              </a:rPr>
              <a:t>•  Camera + Raspberry Pi</a:t>
            </a:r>
          </a:p>
          <a:p>
            <a:pPr algn="l">
              <a:spcAft>
                <a:spcPts val="600"/>
              </a:spcAft>
            </a:pPr>
            <a:r>
              <a:rPr sz="1500" b="0" i="0">
                <a:solidFill>
                  <a:srgbClr val="1C2430"/>
                </a:solidFill>
                <a:latin typeface="Calibri"/>
              </a:rPr>
              <a:t>•  Packet out of UART</a:t>
            </a:r>
          </a:p>
          <a:p>
            <a:pPr algn="l">
              <a:spcAft>
                <a:spcPts val="600"/>
              </a:spcAft>
            </a:pPr>
            <a:r>
              <a:rPr sz="1500" b="0" i="0">
                <a:solidFill>
                  <a:srgbClr val="1C2430"/>
                </a:solidFill>
                <a:latin typeface="Calibri"/>
              </a:rPr>
              <a:t>•  650 nm laser, on–off keying</a:t>
            </a:r>
          </a:p>
        </p:txBody>
      </p:sp>
      <p:pic>
        <p:nvPicPr>
          <p:cNvPr id="20" name="Picture 19" descr="tripodL.png"/>
          <p:cNvPicPr>
            <a:picLocks noChangeAspect="1"/>
          </p:cNvPicPr>
          <p:nvPr/>
        </p:nvPicPr>
        <p:blipFill>
          <a:blip r:embed="rId2"/>
          <a:stretch>
            <a:fillRect/>
          </a:stretch>
        </p:blipFill>
        <p:spPr>
          <a:xfrm>
            <a:off x="3063240" y="2176272"/>
            <a:ext cx="270344" cy="457200"/>
          </a:xfrm>
          <a:prstGeom prst="rect">
            <a:avLst/>
          </a:prstGeom>
        </p:spPr>
      </p:pic>
      <p:sp>
        <p:nvSpPr>
          <p:cNvPr id="21" name="Rectangle 20"/>
          <p:cNvSpPr/>
          <p:nvPr/>
        </p:nvSpPr>
        <p:spPr>
          <a:xfrm>
            <a:off x="3749039" y="3081528"/>
            <a:ext cx="594360" cy="146304"/>
          </a:xfrm>
          <a:prstGeom prst="rect">
            <a:avLst/>
          </a:prstGeom>
          <a:solidFill>
            <a:srgbClr val="ED7D31">
              <a:alpha val="28000"/>
            </a:srgbClr>
          </a:solidFill>
          <a:ln>
            <a:noFill/>
          </a:ln>
        </p:spPr>
        <p:txBody>
          <a:bodyPr rtlCol="0" anchor="ctr"/>
          <a:lstStyle/>
          <a:p>
            <a:pPr algn="ctr"/>
          </a:p>
        </p:txBody>
      </p:sp>
      <p:sp>
        <p:nvSpPr>
          <p:cNvPr id="22" name="Rectangle 21"/>
          <p:cNvSpPr/>
          <p:nvPr/>
        </p:nvSpPr>
        <p:spPr>
          <a:xfrm>
            <a:off x="3749039" y="3131820"/>
            <a:ext cx="594360" cy="45720"/>
          </a:xfrm>
          <a:prstGeom prst="rect">
            <a:avLst/>
          </a:prstGeom>
          <a:solidFill>
            <a:srgbClr val="ED7D31"/>
          </a:solidFill>
          <a:ln>
            <a:noFill/>
          </a:ln>
        </p:spPr>
        <p:txBody>
          <a:bodyPr rtlCol="0" anchor="ctr"/>
          <a:lstStyle/>
          <a:p>
            <a:pPr algn="ctr"/>
          </a:p>
        </p:txBody>
      </p:sp>
      <p:sp>
        <p:nvSpPr>
          <p:cNvPr id="23" name="TextBox 22"/>
          <p:cNvSpPr txBox="1"/>
          <p:nvPr/>
        </p:nvSpPr>
        <p:spPr>
          <a:xfrm>
            <a:off x="3611880" y="2743200"/>
            <a:ext cx="914400" cy="320040"/>
          </a:xfrm>
          <a:prstGeom prst="rect">
            <a:avLst/>
          </a:prstGeom>
          <a:noFill/>
        </p:spPr>
        <p:txBody>
          <a:bodyPr wrap="square" lIns="45720" rIns="45720" tIns="27432" bIns="27432" anchor="t">
            <a:spAutoFit/>
          </a:bodyPr>
          <a:lstStyle/>
          <a:p>
            <a:pPr algn="ctr"/>
            <a:r>
              <a:rPr sz="1300" b="1" i="0">
                <a:solidFill>
                  <a:srgbClr val="C55A11"/>
                </a:solidFill>
                <a:latin typeface="Calibri"/>
              </a:rPr>
              <a:t>light</a:t>
            </a:r>
          </a:p>
        </p:txBody>
      </p:sp>
      <p:sp>
        <p:nvSpPr>
          <p:cNvPr id="24" name="Rounded Rectangle 23"/>
          <p:cNvSpPr/>
          <p:nvPr/>
        </p:nvSpPr>
        <p:spPr>
          <a:xfrm>
            <a:off x="4389120" y="2103120"/>
            <a:ext cx="3246120" cy="2148840"/>
          </a:xfrm>
          <a:prstGeom prst="roundRect">
            <a:avLst>
              <a:gd name="adj" fmla="val 8000"/>
            </a:avLst>
          </a:prstGeom>
          <a:solidFill>
            <a:srgbClr val="0071C1"/>
          </a:solidFill>
          <a:ln w="9525">
            <a:solidFill>
              <a:srgbClr val="00548F"/>
            </a:solidFill>
          </a:ln>
        </p:spPr>
        <p:txBody>
          <a:bodyPr rtlCol="0" anchor="ctr"/>
          <a:lstStyle/>
          <a:p>
            <a:pPr algn="ctr"/>
          </a:p>
        </p:txBody>
      </p:sp>
      <p:sp>
        <p:nvSpPr>
          <p:cNvPr id="25" name="TextBox 24"/>
          <p:cNvSpPr txBox="1"/>
          <p:nvPr/>
        </p:nvSpPr>
        <p:spPr>
          <a:xfrm>
            <a:off x="4572000" y="2176272"/>
            <a:ext cx="2194560" cy="411480"/>
          </a:xfrm>
          <a:prstGeom prst="rect">
            <a:avLst/>
          </a:prstGeom>
          <a:noFill/>
        </p:spPr>
        <p:txBody>
          <a:bodyPr wrap="square" lIns="45720" rIns="45720" tIns="27432" bIns="27432" anchor="t">
            <a:spAutoFit/>
          </a:bodyPr>
          <a:lstStyle/>
          <a:p>
            <a:pPr algn="l"/>
            <a:r>
              <a:rPr sz="1900" b="1" i="0">
                <a:solidFill>
                  <a:srgbClr val="FFD966"/>
                </a:solidFill>
                <a:latin typeface="Calibri"/>
              </a:rPr>
              <a:t>Relay node</a:t>
            </a:r>
          </a:p>
        </p:txBody>
      </p:sp>
      <p:sp>
        <p:nvSpPr>
          <p:cNvPr id="26" name="TextBox 25"/>
          <p:cNvSpPr txBox="1"/>
          <p:nvPr/>
        </p:nvSpPr>
        <p:spPr>
          <a:xfrm>
            <a:off x="4572000" y="2651760"/>
            <a:ext cx="2926080" cy="1554480"/>
          </a:xfrm>
          <a:prstGeom prst="rect">
            <a:avLst/>
          </a:prstGeom>
          <a:noFill/>
        </p:spPr>
        <p:txBody>
          <a:bodyPr wrap="square" lIns="45720" rIns="45720" tIns="27432" bIns="27432" anchor="t">
            <a:spAutoFit/>
          </a:bodyPr>
          <a:lstStyle/>
          <a:p>
            <a:pPr algn="l">
              <a:spcAft>
                <a:spcPts val="600"/>
              </a:spcAft>
            </a:pPr>
            <a:r>
              <a:rPr sz="1500" b="0" i="0">
                <a:solidFill>
                  <a:srgbClr val="FFFFFF"/>
                </a:solidFill>
                <a:latin typeface="Calibri"/>
              </a:rPr>
              <a:t>•  Photodiode, amplifier, comparator</a:t>
            </a:r>
          </a:p>
          <a:p>
            <a:pPr algn="l">
              <a:spcAft>
                <a:spcPts val="600"/>
              </a:spcAft>
            </a:pPr>
            <a:r>
              <a:rPr sz="1500" b="0" i="0">
                <a:solidFill>
                  <a:srgbClr val="FFFFFF"/>
                </a:solidFill>
                <a:latin typeface="Calibri"/>
              </a:rPr>
              <a:t>•  Second Pi checks CRC, holds JPEG</a:t>
            </a:r>
          </a:p>
          <a:p>
            <a:pPr algn="l">
              <a:spcAft>
                <a:spcPts val="600"/>
              </a:spcAft>
            </a:pPr>
            <a:r>
              <a:rPr sz="1500" b="0" i="0">
                <a:solidFill>
                  <a:srgbClr val="FFFFFF"/>
                </a:solidFill>
                <a:latin typeface="Calibri"/>
              </a:rPr>
              <a:t>•  Sends the frame again on its own laser</a:t>
            </a:r>
          </a:p>
        </p:txBody>
      </p:sp>
      <p:pic>
        <p:nvPicPr>
          <p:cNvPr id="27" name="Picture 26" descr="tripodR.png"/>
          <p:cNvPicPr>
            <a:picLocks noChangeAspect="1"/>
          </p:cNvPicPr>
          <p:nvPr/>
        </p:nvPicPr>
        <p:blipFill>
          <a:blip r:embed="rId3"/>
          <a:stretch>
            <a:fillRect/>
          </a:stretch>
        </p:blipFill>
        <p:spPr>
          <a:xfrm>
            <a:off x="6629400" y="2176272"/>
            <a:ext cx="333954" cy="457200"/>
          </a:xfrm>
          <a:prstGeom prst="rect">
            <a:avLst/>
          </a:prstGeom>
        </p:spPr>
      </p:pic>
      <p:pic>
        <p:nvPicPr>
          <p:cNvPr id="28" name="Picture 27" descr="tripodL.png"/>
          <p:cNvPicPr>
            <a:picLocks noChangeAspect="1"/>
          </p:cNvPicPr>
          <p:nvPr/>
        </p:nvPicPr>
        <p:blipFill>
          <a:blip r:embed="rId2"/>
          <a:stretch>
            <a:fillRect/>
          </a:stretch>
        </p:blipFill>
        <p:spPr>
          <a:xfrm>
            <a:off x="7104888" y="2176272"/>
            <a:ext cx="270344" cy="457200"/>
          </a:xfrm>
          <a:prstGeom prst="rect">
            <a:avLst/>
          </a:prstGeom>
        </p:spPr>
      </p:pic>
      <p:sp>
        <p:nvSpPr>
          <p:cNvPr id="29" name="Rectangle 28"/>
          <p:cNvSpPr/>
          <p:nvPr/>
        </p:nvSpPr>
        <p:spPr>
          <a:xfrm>
            <a:off x="7680960" y="3081528"/>
            <a:ext cx="594360" cy="146304"/>
          </a:xfrm>
          <a:prstGeom prst="rect">
            <a:avLst/>
          </a:prstGeom>
          <a:solidFill>
            <a:srgbClr val="ED7D31">
              <a:alpha val="28000"/>
            </a:srgbClr>
          </a:solidFill>
          <a:ln>
            <a:noFill/>
          </a:ln>
        </p:spPr>
        <p:txBody>
          <a:bodyPr rtlCol="0" anchor="ctr"/>
          <a:lstStyle/>
          <a:p>
            <a:pPr algn="ctr"/>
          </a:p>
        </p:txBody>
      </p:sp>
      <p:sp>
        <p:nvSpPr>
          <p:cNvPr id="30" name="Rectangle 29"/>
          <p:cNvSpPr/>
          <p:nvPr/>
        </p:nvSpPr>
        <p:spPr>
          <a:xfrm>
            <a:off x="7680960" y="3131820"/>
            <a:ext cx="594360" cy="45720"/>
          </a:xfrm>
          <a:prstGeom prst="rect">
            <a:avLst/>
          </a:prstGeom>
          <a:solidFill>
            <a:srgbClr val="ED7D31"/>
          </a:solidFill>
          <a:ln>
            <a:noFill/>
          </a:ln>
        </p:spPr>
        <p:txBody>
          <a:bodyPr rtlCol="0" anchor="ctr"/>
          <a:lstStyle/>
          <a:p>
            <a:pPr algn="ctr"/>
          </a:p>
        </p:txBody>
      </p:sp>
      <p:sp>
        <p:nvSpPr>
          <p:cNvPr id="31" name="TextBox 30"/>
          <p:cNvSpPr txBox="1"/>
          <p:nvPr/>
        </p:nvSpPr>
        <p:spPr>
          <a:xfrm>
            <a:off x="7543800" y="2743200"/>
            <a:ext cx="914400" cy="320040"/>
          </a:xfrm>
          <a:prstGeom prst="rect">
            <a:avLst/>
          </a:prstGeom>
          <a:noFill/>
        </p:spPr>
        <p:txBody>
          <a:bodyPr wrap="square" lIns="45720" rIns="45720" tIns="27432" bIns="27432" anchor="t">
            <a:spAutoFit/>
          </a:bodyPr>
          <a:lstStyle/>
          <a:p>
            <a:pPr algn="ctr"/>
            <a:r>
              <a:rPr sz="1300" b="1" i="0">
                <a:solidFill>
                  <a:srgbClr val="C55A11"/>
                </a:solidFill>
                <a:latin typeface="Calibri"/>
              </a:rPr>
              <a:t>light</a:t>
            </a:r>
          </a:p>
        </p:txBody>
      </p:sp>
      <p:sp>
        <p:nvSpPr>
          <p:cNvPr id="32" name="Rounded Rectangle 31"/>
          <p:cNvSpPr/>
          <p:nvPr/>
        </p:nvSpPr>
        <p:spPr>
          <a:xfrm>
            <a:off x="8321040" y="2103120"/>
            <a:ext cx="3246120" cy="2148840"/>
          </a:xfrm>
          <a:prstGeom prst="roundRect">
            <a:avLst>
              <a:gd name="adj" fmla="val 8000"/>
            </a:avLst>
          </a:prstGeom>
          <a:solidFill>
            <a:srgbClr val="E9E9E9"/>
          </a:solidFill>
          <a:ln w="9525">
            <a:solidFill>
              <a:srgbClr val="9A9A9A"/>
            </a:solidFill>
          </a:ln>
        </p:spPr>
        <p:txBody>
          <a:bodyPr rtlCol="0" anchor="ctr"/>
          <a:lstStyle/>
          <a:p>
            <a:pPr algn="ctr"/>
          </a:p>
        </p:txBody>
      </p:sp>
      <p:sp>
        <p:nvSpPr>
          <p:cNvPr id="33" name="TextBox 32"/>
          <p:cNvSpPr txBox="1"/>
          <p:nvPr/>
        </p:nvSpPr>
        <p:spPr>
          <a:xfrm>
            <a:off x="8503919" y="2176272"/>
            <a:ext cx="2194560" cy="411480"/>
          </a:xfrm>
          <a:prstGeom prst="rect">
            <a:avLst/>
          </a:prstGeom>
          <a:noFill/>
        </p:spPr>
        <p:txBody>
          <a:bodyPr wrap="square" lIns="45720" rIns="45720" tIns="27432" bIns="27432" anchor="t">
            <a:spAutoFit/>
          </a:bodyPr>
          <a:lstStyle/>
          <a:p>
            <a:pPr algn="l"/>
            <a:r>
              <a:rPr sz="1900" b="1" i="0">
                <a:solidFill>
                  <a:srgbClr val="1B3A4B"/>
                </a:solidFill>
                <a:latin typeface="Calibri"/>
              </a:rPr>
              <a:t>Base station</a:t>
            </a:r>
          </a:p>
        </p:txBody>
      </p:sp>
      <p:sp>
        <p:nvSpPr>
          <p:cNvPr id="34" name="TextBox 33"/>
          <p:cNvSpPr txBox="1"/>
          <p:nvPr/>
        </p:nvSpPr>
        <p:spPr>
          <a:xfrm>
            <a:off x="8503919" y="2651760"/>
            <a:ext cx="2926080" cy="1554480"/>
          </a:xfrm>
          <a:prstGeom prst="rect">
            <a:avLst/>
          </a:prstGeom>
          <a:noFill/>
        </p:spPr>
        <p:txBody>
          <a:bodyPr wrap="square" lIns="45720" rIns="45720" tIns="27432" bIns="27432" anchor="t">
            <a:spAutoFit/>
          </a:bodyPr>
          <a:lstStyle/>
          <a:p>
            <a:pPr algn="l">
              <a:spcAft>
                <a:spcPts val="600"/>
              </a:spcAft>
            </a:pPr>
            <a:r>
              <a:rPr sz="1500" b="0" i="0">
                <a:solidFill>
                  <a:srgbClr val="1C2430"/>
                </a:solidFill>
                <a:latin typeface="Calibri"/>
              </a:rPr>
              <a:t>•  Same receiver chain</a:t>
            </a:r>
          </a:p>
          <a:p>
            <a:pPr algn="l">
              <a:spcAft>
                <a:spcPts val="600"/>
              </a:spcAft>
            </a:pPr>
            <a:r>
              <a:rPr sz="1500" b="0" i="0">
                <a:solidFill>
                  <a:srgbClr val="1C2430"/>
                </a:solidFill>
                <a:latin typeface="Calibri"/>
              </a:rPr>
              <a:t>•  Third Pi checks CRC</a:t>
            </a:r>
          </a:p>
          <a:p>
            <a:pPr algn="l">
              <a:spcAft>
                <a:spcPts val="600"/>
              </a:spcAft>
            </a:pPr>
            <a:r>
              <a:rPr sz="1500" b="0" i="0">
                <a:solidFill>
                  <a:srgbClr val="1C2430"/>
                </a:solidFill>
                <a:latin typeface="Calibri"/>
              </a:rPr>
              <a:t>•  JPEG on the HDMI screen</a:t>
            </a:r>
          </a:p>
        </p:txBody>
      </p:sp>
      <p:pic>
        <p:nvPicPr>
          <p:cNvPr id="35" name="Picture 34" descr="monitor.png"/>
          <p:cNvPicPr>
            <a:picLocks noChangeAspect="1"/>
          </p:cNvPicPr>
          <p:nvPr/>
        </p:nvPicPr>
        <p:blipFill>
          <a:blip r:embed="rId4"/>
          <a:stretch>
            <a:fillRect/>
          </a:stretch>
        </p:blipFill>
        <p:spPr>
          <a:xfrm>
            <a:off x="10835640" y="2194560"/>
            <a:ext cx="566928" cy="456487"/>
          </a:xfrm>
          <a:prstGeom prst="rect">
            <a:avLst/>
          </a:prstGeom>
        </p:spPr>
      </p:pic>
      <p:sp>
        <p:nvSpPr>
          <p:cNvPr id="36" name="TextBox 35"/>
          <p:cNvSpPr txBox="1"/>
          <p:nvPr/>
        </p:nvSpPr>
        <p:spPr>
          <a:xfrm>
            <a:off x="457200" y="4434840"/>
            <a:ext cx="5486400" cy="365760"/>
          </a:xfrm>
          <a:prstGeom prst="rect">
            <a:avLst/>
          </a:prstGeom>
          <a:noFill/>
        </p:spPr>
        <p:txBody>
          <a:bodyPr wrap="square" lIns="45720" rIns="45720" tIns="27432" bIns="27432" anchor="t">
            <a:spAutoFit/>
          </a:bodyPr>
          <a:lstStyle/>
          <a:p>
            <a:pPr algn="l"/>
            <a:r>
              <a:rPr sz="1800" b="1" i="0">
                <a:solidFill>
                  <a:srgbClr val="1B3A4B"/>
                </a:solidFill>
                <a:latin typeface="Calibri"/>
              </a:rPr>
              <a:t>Three different jobs</a:t>
            </a:r>
          </a:p>
        </p:txBody>
      </p:sp>
      <p:sp>
        <p:nvSpPr>
          <p:cNvPr id="37" name="Rounded Rectangle 36"/>
          <p:cNvSpPr/>
          <p:nvPr/>
        </p:nvSpPr>
        <p:spPr>
          <a:xfrm>
            <a:off x="457200" y="4846320"/>
            <a:ext cx="3703320" cy="1417320"/>
          </a:xfrm>
          <a:prstGeom prst="roundRect">
            <a:avLst>
              <a:gd name="adj" fmla="val 8000"/>
            </a:avLst>
          </a:prstGeom>
          <a:solidFill>
            <a:srgbClr val="E9E9E9"/>
          </a:solidFill>
          <a:ln w="9525">
            <a:solidFill>
              <a:srgbClr val="9A9A9A"/>
            </a:solidFill>
          </a:ln>
        </p:spPr>
        <p:txBody>
          <a:bodyPr rtlCol="0" anchor="ctr"/>
          <a:lstStyle/>
          <a:p>
            <a:pPr algn="ctr"/>
          </a:p>
        </p:txBody>
      </p:sp>
      <p:pic>
        <p:nvPicPr>
          <p:cNvPr id="38" name="Picture 37" descr="laser.png"/>
          <p:cNvPicPr>
            <a:picLocks noChangeAspect="1"/>
          </p:cNvPicPr>
          <p:nvPr/>
        </p:nvPicPr>
        <p:blipFill>
          <a:blip r:embed="rId5"/>
          <a:stretch>
            <a:fillRect/>
          </a:stretch>
        </p:blipFill>
        <p:spPr>
          <a:xfrm>
            <a:off x="640080" y="4956048"/>
            <a:ext cx="713232" cy="491884"/>
          </a:xfrm>
          <a:prstGeom prst="rect">
            <a:avLst/>
          </a:prstGeom>
        </p:spPr>
      </p:pic>
      <p:sp>
        <p:nvSpPr>
          <p:cNvPr id="39" name="TextBox 38"/>
          <p:cNvSpPr txBox="1"/>
          <p:nvPr/>
        </p:nvSpPr>
        <p:spPr>
          <a:xfrm>
            <a:off x="1508760" y="4956048"/>
            <a:ext cx="2560320" cy="548640"/>
          </a:xfrm>
          <a:prstGeom prst="rect">
            <a:avLst/>
          </a:prstGeom>
          <a:noFill/>
        </p:spPr>
        <p:txBody>
          <a:bodyPr wrap="square" lIns="45720" rIns="45720" tIns="27432" bIns="27432" anchor="ctr">
            <a:spAutoFit/>
          </a:bodyPr>
          <a:lstStyle/>
          <a:p>
            <a:pPr algn="l"/>
            <a:r>
              <a:rPr sz="2000" b="1" i="0">
                <a:solidFill>
                  <a:srgbClr val="1B3A4B"/>
                </a:solidFill>
                <a:latin typeface="Calibri"/>
              </a:rPr>
              <a:t>Laser</a:t>
            </a:r>
          </a:p>
        </p:txBody>
      </p:sp>
      <p:sp>
        <p:nvSpPr>
          <p:cNvPr id="40" name="TextBox 39"/>
          <p:cNvSpPr txBox="1"/>
          <p:nvPr/>
        </p:nvSpPr>
        <p:spPr>
          <a:xfrm>
            <a:off x="640080" y="5532120"/>
            <a:ext cx="3429000" cy="731520"/>
          </a:xfrm>
          <a:prstGeom prst="rect">
            <a:avLst/>
          </a:prstGeom>
          <a:noFill/>
        </p:spPr>
        <p:txBody>
          <a:bodyPr wrap="square" lIns="45720" rIns="45720" tIns="27432" bIns="27432" anchor="t">
            <a:spAutoFit/>
          </a:bodyPr>
          <a:lstStyle/>
          <a:p>
            <a:pPr algn="l"/>
            <a:r>
              <a:rPr sz="1500" b="0" i="0">
                <a:solidFill>
                  <a:srgbClr val="1C2430"/>
                </a:solidFill>
                <a:latin typeface="Calibri"/>
              </a:rPr>
              <a:t>Carries the JPEG, and nothing else.</a:t>
            </a:r>
          </a:p>
        </p:txBody>
      </p:sp>
      <p:sp>
        <p:nvSpPr>
          <p:cNvPr id="41" name="Rounded Rectangle 40"/>
          <p:cNvSpPr/>
          <p:nvPr/>
        </p:nvSpPr>
        <p:spPr>
          <a:xfrm>
            <a:off x="4251960" y="4846320"/>
            <a:ext cx="3703320" cy="1417320"/>
          </a:xfrm>
          <a:prstGeom prst="roundRect">
            <a:avLst>
              <a:gd name="adj" fmla="val 8000"/>
            </a:avLst>
          </a:prstGeom>
          <a:solidFill>
            <a:srgbClr val="E9E9E9"/>
          </a:solidFill>
          <a:ln w="9525">
            <a:solidFill>
              <a:srgbClr val="9A9A9A"/>
            </a:solidFill>
          </a:ln>
        </p:spPr>
        <p:txBody>
          <a:bodyPr rtlCol="0" anchor="ctr"/>
          <a:lstStyle/>
          <a:p>
            <a:pPr algn="ctr"/>
          </a:p>
        </p:txBody>
      </p:sp>
      <p:pic>
        <p:nvPicPr>
          <p:cNvPr id="42" name="Picture 41" descr="imu.png"/>
          <p:cNvPicPr>
            <a:picLocks noChangeAspect="1"/>
          </p:cNvPicPr>
          <p:nvPr/>
        </p:nvPicPr>
        <p:blipFill>
          <a:blip r:embed="rId6"/>
          <a:stretch>
            <a:fillRect/>
          </a:stretch>
        </p:blipFill>
        <p:spPr>
          <a:xfrm>
            <a:off x="4480560" y="4937760"/>
            <a:ext cx="594360" cy="435863"/>
          </a:xfrm>
          <a:prstGeom prst="rect">
            <a:avLst/>
          </a:prstGeom>
        </p:spPr>
      </p:pic>
      <p:sp>
        <p:nvSpPr>
          <p:cNvPr id="43" name="TextBox 42"/>
          <p:cNvSpPr txBox="1"/>
          <p:nvPr/>
        </p:nvSpPr>
        <p:spPr>
          <a:xfrm>
            <a:off x="5303520" y="4956048"/>
            <a:ext cx="2560320" cy="548640"/>
          </a:xfrm>
          <a:prstGeom prst="rect">
            <a:avLst/>
          </a:prstGeom>
          <a:noFill/>
        </p:spPr>
        <p:txBody>
          <a:bodyPr wrap="square" lIns="45720" rIns="45720" tIns="27432" bIns="27432" anchor="ctr">
            <a:spAutoFit/>
          </a:bodyPr>
          <a:lstStyle/>
          <a:p>
            <a:pPr algn="l"/>
            <a:r>
              <a:rPr sz="2000" b="1" i="0">
                <a:solidFill>
                  <a:srgbClr val="1B3A4B"/>
                </a:solidFill>
                <a:latin typeface="Calibri"/>
              </a:rPr>
              <a:t>IMU</a:t>
            </a:r>
          </a:p>
        </p:txBody>
      </p:sp>
      <p:sp>
        <p:nvSpPr>
          <p:cNvPr id="44" name="TextBox 43"/>
          <p:cNvSpPr txBox="1"/>
          <p:nvPr/>
        </p:nvSpPr>
        <p:spPr>
          <a:xfrm>
            <a:off x="4434840" y="5532120"/>
            <a:ext cx="3429000" cy="731520"/>
          </a:xfrm>
          <a:prstGeom prst="rect">
            <a:avLst/>
          </a:prstGeom>
          <a:noFill/>
        </p:spPr>
        <p:txBody>
          <a:bodyPr wrap="square" lIns="45720" rIns="45720" tIns="27432" bIns="27432" anchor="t">
            <a:spAutoFit/>
          </a:bodyPr>
          <a:lstStyle/>
          <a:p>
            <a:pPr algn="l"/>
            <a:r>
              <a:rPr sz="1500" b="0" i="0">
                <a:solidFill>
                  <a:srgbClr val="1C2430"/>
                </a:solidFill>
                <a:latin typeface="Calibri"/>
              </a:rPr>
              <a:t>Holds the camera head at its angle. It does not find the relay.</a:t>
            </a:r>
          </a:p>
        </p:txBody>
      </p:sp>
      <p:sp>
        <p:nvSpPr>
          <p:cNvPr id="45" name="Rounded Rectangle 44"/>
          <p:cNvSpPr/>
          <p:nvPr/>
        </p:nvSpPr>
        <p:spPr>
          <a:xfrm>
            <a:off x="8046720" y="4846320"/>
            <a:ext cx="3703320" cy="1417320"/>
          </a:xfrm>
          <a:prstGeom prst="roundRect">
            <a:avLst>
              <a:gd name="adj" fmla="val 8000"/>
            </a:avLst>
          </a:prstGeom>
          <a:solidFill>
            <a:srgbClr val="E9E9E9"/>
          </a:solidFill>
          <a:ln w="9525">
            <a:solidFill>
              <a:srgbClr val="9A9A9A"/>
            </a:solidFill>
          </a:ln>
        </p:spPr>
        <p:txBody>
          <a:bodyPr rtlCol="0" anchor="ctr"/>
          <a:lstStyle/>
          <a:p>
            <a:pPr algn="ctr"/>
          </a:p>
        </p:txBody>
      </p:sp>
      <p:pic>
        <p:nvPicPr>
          <p:cNvPr id="46" name="Picture 45" descr="lora.png"/>
          <p:cNvPicPr>
            <a:picLocks noChangeAspect="1"/>
          </p:cNvPicPr>
          <p:nvPr/>
        </p:nvPicPr>
        <p:blipFill>
          <a:blip r:embed="rId7"/>
          <a:stretch>
            <a:fillRect/>
          </a:stretch>
        </p:blipFill>
        <p:spPr>
          <a:xfrm>
            <a:off x="8321040" y="4919472"/>
            <a:ext cx="634959" cy="566928"/>
          </a:xfrm>
          <a:prstGeom prst="rect">
            <a:avLst/>
          </a:prstGeom>
        </p:spPr>
      </p:pic>
      <p:sp>
        <p:nvSpPr>
          <p:cNvPr id="47" name="TextBox 46"/>
          <p:cNvSpPr txBox="1"/>
          <p:nvPr/>
        </p:nvSpPr>
        <p:spPr>
          <a:xfrm>
            <a:off x="9098280" y="4956048"/>
            <a:ext cx="2560320" cy="548640"/>
          </a:xfrm>
          <a:prstGeom prst="rect">
            <a:avLst/>
          </a:prstGeom>
          <a:noFill/>
        </p:spPr>
        <p:txBody>
          <a:bodyPr wrap="square" lIns="45720" rIns="45720" tIns="27432" bIns="27432" anchor="ctr">
            <a:spAutoFit/>
          </a:bodyPr>
          <a:lstStyle/>
          <a:p>
            <a:pPr algn="l"/>
            <a:r>
              <a:rPr sz="2000" b="1" i="0">
                <a:solidFill>
                  <a:srgbClr val="1B3A4B"/>
                </a:solidFill>
                <a:latin typeface="Calibri"/>
              </a:rPr>
              <a:t>LoRa</a:t>
            </a:r>
          </a:p>
        </p:txBody>
      </p:sp>
      <p:sp>
        <p:nvSpPr>
          <p:cNvPr id="48" name="TextBox 47"/>
          <p:cNvSpPr txBox="1"/>
          <p:nvPr/>
        </p:nvSpPr>
        <p:spPr>
          <a:xfrm>
            <a:off x="8229600" y="5532120"/>
            <a:ext cx="3429000" cy="731520"/>
          </a:xfrm>
          <a:prstGeom prst="rect">
            <a:avLst/>
          </a:prstGeom>
          <a:noFill/>
        </p:spPr>
        <p:txBody>
          <a:bodyPr wrap="square" lIns="45720" rIns="45720" tIns="27432" bIns="27432" anchor="t">
            <a:spAutoFit/>
          </a:bodyPr>
          <a:lstStyle/>
          <a:p>
            <a:pPr algn="l"/>
            <a:r>
              <a:rPr sz="1500" b="0" i="0">
                <a:solidFill>
                  <a:srgbClr val="1C2430"/>
                </a:solidFill>
                <a:latin typeface="Calibri"/>
              </a:rPr>
              <a:t>Five bytes: lock or lost, alert, image OK. No JPEG.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04     ·     TECHNICAL FEASIBILITY AND METHODOLOGY</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600" b="1" i="0">
                <a:solidFill>
                  <a:srgbClr val="1B3A4B"/>
                </a:solidFill>
                <a:latin typeface="Calibri"/>
              </a:rPr>
              <a:t>Starting point: auto-tracking FSO already working</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Feasibility</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8  /  15</a:t>
            </a:r>
          </a:p>
        </p:txBody>
      </p:sp>
      <p:pic>
        <p:nvPicPr>
          <p:cNvPr id="9" name="Picture 8" descr="s7_6.png"/>
          <p:cNvPicPr>
            <a:picLocks noChangeAspect="1"/>
          </p:cNvPicPr>
          <p:nvPr/>
        </p:nvPicPr>
        <p:blipFill>
          <a:blip r:embed="rId2"/>
          <a:stretch>
            <a:fillRect/>
          </a:stretch>
        </p:blipFill>
        <p:spPr>
          <a:xfrm>
            <a:off x="457200" y="1097280"/>
            <a:ext cx="3108960" cy="2587752"/>
          </a:xfrm>
          <a:prstGeom prst="rect">
            <a:avLst/>
          </a:prstGeom>
        </p:spPr>
      </p:pic>
      <p:sp>
        <p:nvSpPr>
          <p:cNvPr id="10" name="TextBox 9"/>
          <p:cNvSpPr txBox="1"/>
          <p:nvPr/>
        </p:nvSpPr>
        <p:spPr>
          <a:xfrm>
            <a:off x="457200" y="3703320"/>
            <a:ext cx="3108960" cy="502920"/>
          </a:xfrm>
          <a:prstGeom prst="rect">
            <a:avLst/>
          </a:prstGeom>
          <a:noFill/>
        </p:spPr>
        <p:txBody>
          <a:bodyPr wrap="square" lIns="45720" rIns="45720" tIns="27432" bIns="27432" anchor="t">
            <a:spAutoFit/>
          </a:bodyPr>
          <a:lstStyle/>
          <a:p>
            <a:pPr algn="l"/>
            <a:r>
              <a:rPr sz="1250" b="0" i="0">
                <a:solidFill>
                  <a:srgbClr val="5C6770"/>
                </a:solidFill>
                <a:latin typeface="Calibri"/>
              </a:rPr>
              <a:t>Auto-tracking FSO prototype, department lab. It will be used, not rebuilt.</a:t>
            </a:r>
          </a:p>
        </p:txBody>
      </p:sp>
      <p:sp>
        <p:nvSpPr>
          <p:cNvPr id="11" name="TextBox 10"/>
          <p:cNvSpPr txBox="1"/>
          <p:nvPr/>
        </p:nvSpPr>
        <p:spPr>
          <a:xfrm>
            <a:off x="3840480" y="1051560"/>
            <a:ext cx="3657600" cy="365760"/>
          </a:xfrm>
          <a:prstGeom prst="rect">
            <a:avLst/>
          </a:prstGeom>
          <a:noFill/>
        </p:spPr>
        <p:txBody>
          <a:bodyPr wrap="square" lIns="45720" rIns="45720" tIns="27432" bIns="27432" anchor="t">
            <a:spAutoFit/>
          </a:bodyPr>
          <a:lstStyle/>
          <a:p>
            <a:pPr algn="l"/>
            <a:r>
              <a:rPr sz="1900" b="1" i="0">
                <a:solidFill>
                  <a:srgbClr val="1B3A4B"/>
                </a:solidFill>
                <a:latin typeface="Calibri"/>
              </a:rPr>
              <a:t>What this grant adds</a:t>
            </a:r>
          </a:p>
        </p:txBody>
      </p:sp>
      <p:sp>
        <p:nvSpPr>
          <p:cNvPr id="12" name="Rounded Rectangle 11"/>
          <p:cNvSpPr/>
          <p:nvPr/>
        </p:nvSpPr>
        <p:spPr>
          <a:xfrm>
            <a:off x="3840480" y="1508760"/>
            <a:ext cx="4023360" cy="475488"/>
          </a:xfrm>
          <a:prstGeom prst="roundRect">
            <a:avLst>
              <a:gd name="adj" fmla="val 8000"/>
            </a:avLst>
          </a:prstGeom>
          <a:solidFill>
            <a:srgbClr val="E9E9E9"/>
          </a:solidFill>
          <a:ln w="9525">
            <a:solidFill>
              <a:srgbClr val="9A9A9A"/>
            </a:solidFill>
          </a:ln>
        </p:spPr>
        <p:txBody>
          <a:bodyPr rtlCol="0" anchor="ctr"/>
          <a:lstStyle/>
          <a:p>
            <a:pPr algn="ctr"/>
          </a:p>
        </p:txBody>
      </p:sp>
      <p:sp>
        <p:nvSpPr>
          <p:cNvPr id="13" name="Oval 12"/>
          <p:cNvSpPr/>
          <p:nvPr/>
        </p:nvSpPr>
        <p:spPr>
          <a:xfrm>
            <a:off x="3913632" y="1563624"/>
            <a:ext cx="365760" cy="365760"/>
          </a:xfrm>
          <a:prstGeom prst="ellipse">
            <a:avLst/>
          </a:prstGeom>
          <a:solidFill>
            <a:srgbClr val="ED7D31"/>
          </a:solidFill>
          <a:ln>
            <a:noFill/>
          </a:ln>
        </p:spPr>
        <p:txBody>
          <a:bodyPr rtlCol="0" anchor="ctr" lIns="36576" rIns="36576" tIns="0" bIns="0" wrap="square"/>
          <a:lstStyle/>
          <a:p>
            <a:pPr algn="ctr"/>
            <a:r>
              <a:rPr sz="1800" b="1">
                <a:solidFill>
                  <a:srgbClr val="FFFFFF"/>
                </a:solidFill>
                <a:latin typeface="Calibri"/>
              </a:rPr>
              <a:t>+</a:t>
            </a:r>
          </a:p>
        </p:txBody>
      </p:sp>
      <p:sp>
        <p:nvSpPr>
          <p:cNvPr id="14" name="TextBox 13"/>
          <p:cNvSpPr txBox="1"/>
          <p:nvPr/>
        </p:nvSpPr>
        <p:spPr>
          <a:xfrm>
            <a:off x="4389120" y="1545336"/>
            <a:ext cx="3429000" cy="402336"/>
          </a:xfrm>
          <a:prstGeom prst="rect">
            <a:avLst/>
          </a:prstGeom>
          <a:noFill/>
        </p:spPr>
        <p:txBody>
          <a:bodyPr wrap="square" lIns="45720" rIns="45720" tIns="27432" bIns="27432" anchor="ctr">
            <a:spAutoFit/>
          </a:bodyPr>
          <a:lstStyle/>
          <a:p>
            <a:pPr algn="l"/>
            <a:r>
              <a:rPr sz="1500" b="0" i="0">
                <a:solidFill>
                  <a:srgbClr val="1C2430"/>
                </a:solidFill>
                <a:latin typeface="Calibri"/>
              </a:rPr>
              <a:t>Video on the optical hop</a:t>
            </a:r>
          </a:p>
        </p:txBody>
      </p:sp>
      <p:sp>
        <p:nvSpPr>
          <p:cNvPr id="15" name="Rounded Rectangle 14"/>
          <p:cNvSpPr/>
          <p:nvPr/>
        </p:nvSpPr>
        <p:spPr>
          <a:xfrm>
            <a:off x="3840480" y="2075688"/>
            <a:ext cx="4023360" cy="475488"/>
          </a:xfrm>
          <a:prstGeom prst="roundRect">
            <a:avLst>
              <a:gd name="adj" fmla="val 8000"/>
            </a:avLst>
          </a:prstGeom>
          <a:solidFill>
            <a:srgbClr val="E9E9E9"/>
          </a:solidFill>
          <a:ln w="9525">
            <a:solidFill>
              <a:srgbClr val="9A9A9A"/>
            </a:solidFill>
          </a:ln>
        </p:spPr>
        <p:txBody>
          <a:bodyPr rtlCol="0" anchor="ctr"/>
          <a:lstStyle/>
          <a:p>
            <a:pPr algn="ctr"/>
          </a:p>
        </p:txBody>
      </p:sp>
      <p:sp>
        <p:nvSpPr>
          <p:cNvPr id="16" name="Oval 15"/>
          <p:cNvSpPr/>
          <p:nvPr/>
        </p:nvSpPr>
        <p:spPr>
          <a:xfrm>
            <a:off x="3913632" y="2130552"/>
            <a:ext cx="365760" cy="365760"/>
          </a:xfrm>
          <a:prstGeom prst="ellipse">
            <a:avLst/>
          </a:prstGeom>
          <a:solidFill>
            <a:srgbClr val="ED7D31"/>
          </a:solidFill>
          <a:ln>
            <a:noFill/>
          </a:ln>
        </p:spPr>
        <p:txBody>
          <a:bodyPr rtlCol="0" anchor="ctr" lIns="36576" rIns="36576" tIns="0" bIns="0" wrap="square"/>
          <a:lstStyle/>
          <a:p>
            <a:pPr algn="ctr"/>
            <a:r>
              <a:rPr sz="1800" b="1">
                <a:solidFill>
                  <a:srgbClr val="FFFFFF"/>
                </a:solidFill>
                <a:latin typeface="Calibri"/>
              </a:rPr>
              <a:t>+</a:t>
            </a:r>
          </a:p>
        </p:txBody>
      </p:sp>
      <p:sp>
        <p:nvSpPr>
          <p:cNvPr id="17" name="TextBox 16"/>
          <p:cNvSpPr txBox="1"/>
          <p:nvPr/>
        </p:nvSpPr>
        <p:spPr>
          <a:xfrm>
            <a:off x="4389120" y="2112264"/>
            <a:ext cx="3429000" cy="402336"/>
          </a:xfrm>
          <a:prstGeom prst="rect">
            <a:avLst/>
          </a:prstGeom>
          <a:noFill/>
        </p:spPr>
        <p:txBody>
          <a:bodyPr wrap="square" lIns="45720" rIns="45720" tIns="27432" bIns="27432" anchor="ctr">
            <a:spAutoFit/>
          </a:bodyPr>
          <a:lstStyle/>
          <a:p>
            <a:pPr algn="l"/>
            <a:r>
              <a:rPr sz="1500" b="0" i="0">
                <a:solidFill>
                  <a:srgbClr val="1C2430"/>
                </a:solidFill>
                <a:latin typeface="Calibri"/>
              </a:rPr>
              <a:t>LoRa for alerts and fallback</a:t>
            </a:r>
          </a:p>
        </p:txBody>
      </p:sp>
      <p:sp>
        <p:nvSpPr>
          <p:cNvPr id="18" name="Rounded Rectangle 17"/>
          <p:cNvSpPr/>
          <p:nvPr/>
        </p:nvSpPr>
        <p:spPr>
          <a:xfrm>
            <a:off x="3840480" y="2642615"/>
            <a:ext cx="4023360" cy="475488"/>
          </a:xfrm>
          <a:prstGeom prst="roundRect">
            <a:avLst>
              <a:gd name="adj" fmla="val 8000"/>
            </a:avLst>
          </a:prstGeom>
          <a:solidFill>
            <a:srgbClr val="E9E9E9"/>
          </a:solidFill>
          <a:ln w="9525">
            <a:solidFill>
              <a:srgbClr val="9A9A9A"/>
            </a:solidFill>
          </a:ln>
        </p:spPr>
        <p:txBody>
          <a:bodyPr rtlCol="0" anchor="ctr"/>
          <a:lstStyle/>
          <a:p>
            <a:pPr algn="ctr"/>
          </a:p>
        </p:txBody>
      </p:sp>
      <p:sp>
        <p:nvSpPr>
          <p:cNvPr id="19" name="Oval 18"/>
          <p:cNvSpPr/>
          <p:nvPr/>
        </p:nvSpPr>
        <p:spPr>
          <a:xfrm>
            <a:off x="3913632" y="2697479"/>
            <a:ext cx="365760" cy="365760"/>
          </a:xfrm>
          <a:prstGeom prst="ellipse">
            <a:avLst/>
          </a:prstGeom>
          <a:solidFill>
            <a:srgbClr val="ED7D31"/>
          </a:solidFill>
          <a:ln>
            <a:noFill/>
          </a:ln>
        </p:spPr>
        <p:txBody>
          <a:bodyPr rtlCol="0" anchor="ctr" lIns="36576" rIns="36576" tIns="0" bIns="0" wrap="square"/>
          <a:lstStyle/>
          <a:p>
            <a:pPr algn="ctr"/>
            <a:r>
              <a:rPr sz="1800" b="1">
                <a:solidFill>
                  <a:srgbClr val="FFFFFF"/>
                </a:solidFill>
                <a:latin typeface="Calibri"/>
              </a:rPr>
              <a:t>+</a:t>
            </a:r>
          </a:p>
        </p:txBody>
      </p:sp>
      <p:sp>
        <p:nvSpPr>
          <p:cNvPr id="20" name="TextBox 19"/>
          <p:cNvSpPr txBox="1"/>
          <p:nvPr/>
        </p:nvSpPr>
        <p:spPr>
          <a:xfrm>
            <a:off x="4389120" y="2679191"/>
            <a:ext cx="3429000" cy="402336"/>
          </a:xfrm>
          <a:prstGeom prst="rect">
            <a:avLst/>
          </a:prstGeom>
          <a:noFill/>
        </p:spPr>
        <p:txBody>
          <a:bodyPr wrap="square" lIns="45720" rIns="45720" tIns="27432" bIns="27432" anchor="ctr">
            <a:spAutoFit/>
          </a:bodyPr>
          <a:lstStyle/>
          <a:p>
            <a:pPr algn="l"/>
            <a:r>
              <a:rPr sz="1500" b="0" i="0">
                <a:solidFill>
                  <a:srgbClr val="1C2430"/>
                </a:solidFill>
                <a:latin typeface="Calibri"/>
              </a:rPr>
              <a:t>Relay nodes along a heading</a:t>
            </a:r>
          </a:p>
        </p:txBody>
      </p:sp>
      <p:sp>
        <p:nvSpPr>
          <p:cNvPr id="21" name="Rounded Rectangle 20"/>
          <p:cNvSpPr/>
          <p:nvPr/>
        </p:nvSpPr>
        <p:spPr>
          <a:xfrm>
            <a:off x="3840480" y="3209544"/>
            <a:ext cx="4023360" cy="475488"/>
          </a:xfrm>
          <a:prstGeom prst="roundRect">
            <a:avLst>
              <a:gd name="adj" fmla="val 8000"/>
            </a:avLst>
          </a:prstGeom>
          <a:solidFill>
            <a:srgbClr val="E9E9E9"/>
          </a:solidFill>
          <a:ln w="9525">
            <a:solidFill>
              <a:srgbClr val="9A9A9A"/>
            </a:solidFill>
          </a:ln>
        </p:spPr>
        <p:txBody>
          <a:bodyPr rtlCol="0" anchor="ctr"/>
          <a:lstStyle/>
          <a:p>
            <a:pPr algn="ctr"/>
          </a:p>
        </p:txBody>
      </p:sp>
      <p:sp>
        <p:nvSpPr>
          <p:cNvPr id="22" name="Oval 21"/>
          <p:cNvSpPr/>
          <p:nvPr/>
        </p:nvSpPr>
        <p:spPr>
          <a:xfrm>
            <a:off x="3913632" y="3264408"/>
            <a:ext cx="365760" cy="365760"/>
          </a:xfrm>
          <a:prstGeom prst="ellipse">
            <a:avLst/>
          </a:prstGeom>
          <a:solidFill>
            <a:srgbClr val="ED7D31"/>
          </a:solidFill>
          <a:ln>
            <a:noFill/>
          </a:ln>
        </p:spPr>
        <p:txBody>
          <a:bodyPr rtlCol="0" anchor="ctr" lIns="36576" rIns="36576" tIns="0" bIns="0" wrap="square"/>
          <a:lstStyle/>
          <a:p>
            <a:pPr algn="ctr"/>
            <a:r>
              <a:rPr sz="1800" b="1">
                <a:solidFill>
                  <a:srgbClr val="FFFFFF"/>
                </a:solidFill>
                <a:latin typeface="Calibri"/>
              </a:rPr>
              <a:t>+</a:t>
            </a:r>
          </a:p>
        </p:txBody>
      </p:sp>
      <p:sp>
        <p:nvSpPr>
          <p:cNvPr id="23" name="TextBox 22"/>
          <p:cNvSpPr txBox="1"/>
          <p:nvPr/>
        </p:nvSpPr>
        <p:spPr>
          <a:xfrm>
            <a:off x="4389120" y="3246120"/>
            <a:ext cx="3429000" cy="402336"/>
          </a:xfrm>
          <a:prstGeom prst="rect">
            <a:avLst/>
          </a:prstGeom>
          <a:noFill/>
        </p:spPr>
        <p:txBody>
          <a:bodyPr wrap="square" lIns="45720" rIns="45720" tIns="27432" bIns="27432" anchor="ctr">
            <a:spAutoFit/>
          </a:bodyPr>
          <a:lstStyle/>
          <a:p>
            <a:pPr algn="l"/>
            <a:r>
              <a:rPr sz="1500" b="0" i="0">
                <a:solidFill>
                  <a:srgbClr val="1C2430"/>
                </a:solidFill>
                <a:latin typeface="Calibri"/>
              </a:rPr>
              <a:t>Surface station, underground enclosure</a:t>
            </a:r>
          </a:p>
        </p:txBody>
      </p:sp>
      <p:sp>
        <p:nvSpPr>
          <p:cNvPr id="24" name="TextBox 23"/>
          <p:cNvSpPr txBox="1"/>
          <p:nvPr/>
        </p:nvSpPr>
        <p:spPr>
          <a:xfrm>
            <a:off x="8183879" y="1051560"/>
            <a:ext cx="3657600" cy="365760"/>
          </a:xfrm>
          <a:prstGeom prst="rect">
            <a:avLst/>
          </a:prstGeom>
          <a:noFill/>
        </p:spPr>
        <p:txBody>
          <a:bodyPr wrap="square" lIns="45720" rIns="45720" tIns="27432" bIns="27432" anchor="t">
            <a:spAutoFit/>
          </a:bodyPr>
          <a:lstStyle/>
          <a:p>
            <a:pPr algn="l"/>
            <a:r>
              <a:rPr sz="1900" b="1" i="0">
                <a:solidFill>
                  <a:srgbClr val="1B3A4B"/>
                </a:solidFill>
                <a:latin typeface="Calibri"/>
              </a:rPr>
              <a:t>Why it can be built here</a:t>
            </a:r>
          </a:p>
        </p:txBody>
      </p:sp>
      <p:sp>
        <p:nvSpPr>
          <p:cNvPr id="25" name="Rounded Rectangle 24"/>
          <p:cNvSpPr/>
          <p:nvPr/>
        </p:nvSpPr>
        <p:spPr>
          <a:xfrm>
            <a:off x="8183879" y="1508760"/>
            <a:ext cx="3566160" cy="685800"/>
          </a:xfrm>
          <a:prstGeom prst="roundRect">
            <a:avLst>
              <a:gd name="adj" fmla="val 8000"/>
            </a:avLst>
          </a:prstGeom>
          <a:solidFill>
            <a:srgbClr val="0071C1"/>
          </a:solidFill>
          <a:ln w="9525">
            <a:solidFill>
              <a:srgbClr val="00548F"/>
            </a:solidFill>
          </a:ln>
        </p:spPr>
        <p:txBody>
          <a:bodyPr rtlCol="0" anchor="ctr"/>
          <a:lstStyle/>
          <a:p>
            <a:pPr algn="ctr"/>
          </a:p>
        </p:txBody>
      </p:sp>
      <p:sp>
        <p:nvSpPr>
          <p:cNvPr id="26" name="TextBox 25"/>
          <p:cNvSpPr txBox="1"/>
          <p:nvPr/>
        </p:nvSpPr>
        <p:spPr>
          <a:xfrm>
            <a:off x="8275320" y="1527048"/>
            <a:ext cx="1417320" cy="640080"/>
          </a:xfrm>
          <a:prstGeom prst="rect">
            <a:avLst/>
          </a:prstGeom>
          <a:noFill/>
        </p:spPr>
        <p:txBody>
          <a:bodyPr wrap="square" lIns="45720" rIns="45720" tIns="27432" bIns="27432" anchor="ctr">
            <a:spAutoFit/>
          </a:bodyPr>
          <a:lstStyle/>
          <a:p>
            <a:pPr algn="l"/>
            <a:r>
              <a:rPr sz="1600" b="1" i="0">
                <a:solidFill>
                  <a:srgbClr val="FFD966"/>
                </a:solidFill>
                <a:latin typeface="Calibri"/>
              </a:rPr>
              <a:t>50–100 m</a:t>
            </a:r>
          </a:p>
        </p:txBody>
      </p:sp>
      <p:sp>
        <p:nvSpPr>
          <p:cNvPr id="27" name="TextBox 26"/>
          <p:cNvSpPr txBox="1"/>
          <p:nvPr/>
        </p:nvSpPr>
        <p:spPr>
          <a:xfrm>
            <a:off x="9646920" y="1527048"/>
            <a:ext cx="2057400" cy="640080"/>
          </a:xfrm>
          <a:prstGeom prst="rect">
            <a:avLst/>
          </a:prstGeom>
          <a:noFill/>
        </p:spPr>
        <p:txBody>
          <a:bodyPr wrap="square" lIns="45720" rIns="45720" tIns="27432" bIns="27432" anchor="ctr">
            <a:spAutoFit/>
          </a:bodyPr>
          <a:lstStyle/>
          <a:p>
            <a:pPr algn="l"/>
            <a:r>
              <a:rPr sz="1250" b="0" i="0">
                <a:solidFill>
                  <a:srgbClr val="FFFFFF"/>
                </a:solidFill>
                <a:latin typeface="Calibri"/>
              </a:rPr>
              <a:t>hop within ordinary laser and photodiode modules</a:t>
            </a:r>
          </a:p>
        </p:txBody>
      </p:sp>
      <p:sp>
        <p:nvSpPr>
          <p:cNvPr id="28" name="Rounded Rectangle 27"/>
          <p:cNvSpPr/>
          <p:nvPr/>
        </p:nvSpPr>
        <p:spPr>
          <a:xfrm>
            <a:off x="8183879" y="2276856"/>
            <a:ext cx="3566160" cy="685800"/>
          </a:xfrm>
          <a:prstGeom prst="roundRect">
            <a:avLst>
              <a:gd name="adj" fmla="val 8000"/>
            </a:avLst>
          </a:prstGeom>
          <a:solidFill>
            <a:srgbClr val="0071C1"/>
          </a:solidFill>
          <a:ln w="9525">
            <a:solidFill>
              <a:srgbClr val="00548F"/>
            </a:solidFill>
          </a:ln>
        </p:spPr>
        <p:txBody>
          <a:bodyPr rtlCol="0" anchor="ctr"/>
          <a:lstStyle/>
          <a:p>
            <a:pPr algn="ctr"/>
          </a:p>
        </p:txBody>
      </p:sp>
      <p:sp>
        <p:nvSpPr>
          <p:cNvPr id="29" name="TextBox 28"/>
          <p:cNvSpPr txBox="1"/>
          <p:nvPr/>
        </p:nvSpPr>
        <p:spPr>
          <a:xfrm>
            <a:off x="8275320" y="2295144"/>
            <a:ext cx="1417320" cy="640080"/>
          </a:xfrm>
          <a:prstGeom prst="rect">
            <a:avLst/>
          </a:prstGeom>
          <a:noFill/>
        </p:spPr>
        <p:txBody>
          <a:bodyPr wrap="square" lIns="45720" rIns="45720" tIns="27432" bIns="27432" anchor="ctr">
            <a:spAutoFit/>
          </a:bodyPr>
          <a:lstStyle/>
          <a:p>
            <a:pPr algn="l"/>
            <a:r>
              <a:rPr sz="1600" b="1" i="0">
                <a:solidFill>
                  <a:srgbClr val="FFD966"/>
                </a:solidFill>
                <a:latin typeface="Calibri"/>
              </a:rPr>
              <a:t>In the lab</a:t>
            </a:r>
          </a:p>
        </p:txBody>
      </p:sp>
      <p:sp>
        <p:nvSpPr>
          <p:cNvPr id="30" name="TextBox 29"/>
          <p:cNvSpPr txBox="1"/>
          <p:nvPr/>
        </p:nvSpPr>
        <p:spPr>
          <a:xfrm>
            <a:off x="9646920" y="2295144"/>
            <a:ext cx="2057400" cy="640080"/>
          </a:xfrm>
          <a:prstGeom prst="rect">
            <a:avLst/>
          </a:prstGeom>
          <a:noFill/>
        </p:spPr>
        <p:txBody>
          <a:bodyPr wrap="square" lIns="45720" rIns="45720" tIns="27432" bIns="27432" anchor="ctr">
            <a:spAutoFit/>
          </a:bodyPr>
          <a:lstStyle/>
          <a:p>
            <a:pPr algn="l"/>
            <a:r>
              <a:rPr sz="1250" b="0" i="0">
                <a:solidFill>
                  <a:srgbClr val="FFFFFF"/>
                </a:solidFill>
                <a:latin typeface="Calibri"/>
              </a:rPr>
              <a:t>FSO transceivers, embedded benches, computing</a:t>
            </a:r>
          </a:p>
        </p:txBody>
      </p:sp>
      <p:sp>
        <p:nvSpPr>
          <p:cNvPr id="31" name="Rounded Rectangle 30"/>
          <p:cNvSpPr/>
          <p:nvPr/>
        </p:nvSpPr>
        <p:spPr>
          <a:xfrm>
            <a:off x="8183879" y="3044952"/>
            <a:ext cx="3566160" cy="685800"/>
          </a:xfrm>
          <a:prstGeom prst="roundRect">
            <a:avLst>
              <a:gd name="adj" fmla="val 8000"/>
            </a:avLst>
          </a:prstGeom>
          <a:solidFill>
            <a:srgbClr val="0071C1"/>
          </a:solidFill>
          <a:ln w="9525">
            <a:solidFill>
              <a:srgbClr val="00548F"/>
            </a:solidFill>
          </a:ln>
        </p:spPr>
        <p:txBody>
          <a:bodyPr rtlCol="0" anchor="ctr"/>
          <a:lstStyle/>
          <a:p>
            <a:pPr algn="ctr"/>
          </a:p>
        </p:txBody>
      </p:sp>
      <p:sp>
        <p:nvSpPr>
          <p:cNvPr id="32" name="TextBox 31"/>
          <p:cNvSpPr txBox="1"/>
          <p:nvPr/>
        </p:nvSpPr>
        <p:spPr>
          <a:xfrm>
            <a:off x="8275320" y="3063240"/>
            <a:ext cx="1417320" cy="640080"/>
          </a:xfrm>
          <a:prstGeom prst="rect">
            <a:avLst/>
          </a:prstGeom>
          <a:noFill/>
        </p:spPr>
        <p:txBody>
          <a:bodyPr wrap="square" lIns="45720" rIns="45720" tIns="27432" bIns="27432" anchor="ctr">
            <a:spAutoFit/>
          </a:bodyPr>
          <a:lstStyle/>
          <a:p>
            <a:pPr algn="l"/>
            <a:r>
              <a:rPr sz="1600" b="1" i="0">
                <a:solidFill>
                  <a:srgbClr val="FFD966"/>
                </a:solidFill>
                <a:latin typeface="Calibri"/>
              </a:rPr>
              <a:t>Designed loss</a:t>
            </a:r>
          </a:p>
        </p:txBody>
      </p:sp>
      <p:sp>
        <p:nvSpPr>
          <p:cNvPr id="33" name="TextBox 32"/>
          <p:cNvSpPr txBox="1"/>
          <p:nvPr/>
        </p:nvSpPr>
        <p:spPr>
          <a:xfrm>
            <a:off x="9646920" y="3063240"/>
            <a:ext cx="2057400" cy="640080"/>
          </a:xfrm>
          <a:prstGeom prst="rect">
            <a:avLst/>
          </a:prstGeom>
          <a:noFill/>
        </p:spPr>
        <p:txBody>
          <a:bodyPr wrap="square" lIns="45720" rIns="45720" tIns="27432" bIns="27432" anchor="ctr">
            <a:spAutoFit/>
          </a:bodyPr>
          <a:lstStyle/>
          <a:p>
            <a:pPr algn="l"/>
            <a:r>
              <a:rPr sz="1250" b="0" i="0">
                <a:solidFill>
                  <a:srgbClr val="FFFFFF"/>
                </a:solidFill>
                <a:latin typeface="Calibri"/>
              </a:rPr>
              <a:t>beam drops, alert goes on LoRa</a:t>
            </a:r>
          </a:p>
        </p:txBody>
      </p:sp>
      <p:sp>
        <p:nvSpPr>
          <p:cNvPr id="34" name="Rounded Rectangle 33"/>
          <p:cNvSpPr/>
          <p:nvPr/>
        </p:nvSpPr>
        <p:spPr>
          <a:xfrm>
            <a:off x="457200" y="4343400"/>
            <a:ext cx="11292840" cy="2011680"/>
          </a:xfrm>
          <a:prstGeom prst="roundRect">
            <a:avLst>
              <a:gd name="adj" fmla="val 8000"/>
            </a:avLst>
          </a:prstGeom>
          <a:solidFill>
            <a:srgbClr val="FFFFFF"/>
          </a:solidFill>
          <a:ln>
            <a:noFill/>
          </a:ln>
        </p:spPr>
        <p:txBody>
          <a:bodyPr rtlCol="0" anchor="ctr"/>
          <a:lstStyle/>
          <a:p>
            <a:pPr algn="ctr"/>
          </a:p>
        </p:txBody>
      </p:sp>
      <p:sp>
        <p:nvSpPr>
          <p:cNvPr id="35" name="Rounded Rectangle 34"/>
          <p:cNvSpPr/>
          <p:nvPr/>
        </p:nvSpPr>
        <p:spPr>
          <a:xfrm>
            <a:off x="640080" y="4251960"/>
            <a:ext cx="4206240" cy="384048"/>
          </a:xfrm>
          <a:prstGeom prst="roundRect">
            <a:avLst>
              <a:gd name="adj" fmla="val 30000"/>
            </a:avLst>
          </a:prstGeom>
          <a:solidFill>
            <a:srgbClr val="0071C1"/>
          </a:solidFill>
          <a:ln w="12700">
            <a:solidFill>
              <a:srgbClr val="00548F"/>
            </a:solidFill>
          </a:ln>
        </p:spPr>
        <p:txBody>
          <a:bodyPr rtlCol="0" anchor="ctr" lIns="36576" rIns="36576" tIns="0" bIns="0" wrap="square"/>
          <a:lstStyle/>
          <a:p>
            <a:pPr algn="ctr"/>
            <a:r>
              <a:rPr sz="1500" b="1">
                <a:solidFill>
                  <a:srgbClr val="FFFFFF"/>
                </a:solidFill>
                <a:latin typeface="Calibri"/>
              </a:rPr>
              <a:t>First milestone: laboratory bench, one relay</a:t>
            </a:r>
          </a:p>
        </p:txBody>
      </p:sp>
      <p:sp>
        <p:nvSpPr>
          <p:cNvPr id="36" name="TextBox 35"/>
          <p:cNvSpPr txBox="1"/>
          <p:nvPr/>
        </p:nvSpPr>
        <p:spPr>
          <a:xfrm>
            <a:off x="5669280" y="4370832"/>
            <a:ext cx="5943600" cy="365760"/>
          </a:xfrm>
          <a:prstGeom prst="rect">
            <a:avLst/>
          </a:prstGeom>
          <a:noFill/>
        </p:spPr>
        <p:txBody>
          <a:bodyPr wrap="square" lIns="45720" rIns="45720" tIns="27432" bIns="27432" anchor="t">
            <a:spAutoFit/>
          </a:bodyPr>
          <a:lstStyle/>
          <a:p>
            <a:pPr algn="r"/>
            <a:r>
              <a:rPr sz="1350" b="0" i="0">
                <a:solidFill>
                  <a:srgbClr val="5C6770"/>
                </a:solidFill>
                <a:latin typeface="Calibri"/>
              </a:rPr>
              <a:t>Relay laser hand-aimed. IMU loop off for the first JPEG.</a:t>
            </a:r>
          </a:p>
        </p:txBody>
      </p:sp>
      <p:sp>
        <p:nvSpPr>
          <p:cNvPr id="37" name="Rounded Rectangle 36"/>
          <p:cNvSpPr/>
          <p:nvPr/>
        </p:nvSpPr>
        <p:spPr>
          <a:xfrm>
            <a:off x="731520" y="4892040"/>
            <a:ext cx="3108960" cy="1371600"/>
          </a:xfrm>
          <a:prstGeom prst="roundRect">
            <a:avLst>
              <a:gd name="adj" fmla="val 8000"/>
            </a:avLst>
          </a:prstGeom>
          <a:solidFill>
            <a:srgbClr val="E9E9E9"/>
          </a:solidFill>
          <a:ln w="9525">
            <a:solidFill>
              <a:srgbClr val="9A9A9A"/>
            </a:solidFill>
          </a:ln>
        </p:spPr>
        <p:txBody>
          <a:bodyPr rtlCol="0" anchor="ctr"/>
          <a:lstStyle/>
          <a:p>
            <a:pPr algn="ctr"/>
          </a:p>
        </p:txBody>
      </p:sp>
      <p:sp>
        <p:nvSpPr>
          <p:cNvPr id="38" name="TextBox 37"/>
          <p:cNvSpPr txBox="1"/>
          <p:nvPr/>
        </p:nvSpPr>
        <p:spPr>
          <a:xfrm>
            <a:off x="868680" y="4937760"/>
            <a:ext cx="1828800" cy="365760"/>
          </a:xfrm>
          <a:prstGeom prst="rect">
            <a:avLst/>
          </a:prstGeom>
          <a:noFill/>
        </p:spPr>
        <p:txBody>
          <a:bodyPr wrap="square" lIns="45720" rIns="45720" tIns="27432" bIns="27432" anchor="t">
            <a:spAutoFit/>
          </a:bodyPr>
          <a:lstStyle/>
          <a:p>
            <a:pPr algn="l"/>
            <a:r>
              <a:rPr sz="1800" b="1" i="0">
                <a:solidFill>
                  <a:srgbClr val="1B3A4B"/>
                </a:solidFill>
                <a:latin typeface="Calibri"/>
              </a:rPr>
              <a:t>Camera node</a:t>
            </a:r>
          </a:p>
        </p:txBody>
      </p:sp>
      <p:sp>
        <p:nvSpPr>
          <p:cNvPr id="39" name="TextBox 38"/>
          <p:cNvSpPr txBox="1"/>
          <p:nvPr/>
        </p:nvSpPr>
        <p:spPr>
          <a:xfrm>
            <a:off x="868680" y="5349240"/>
            <a:ext cx="1828800" cy="868680"/>
          </a:xfrm>
          <a:prstGeom prst="rect">
            <a:avLst/>
          </a:prstGeom>
          <a:noFill/>
        </p:spPr>
        <p:txBody>
          <a:bodyPr wrap="square" lIns="45720" rIns="45720" tIns="27432" bIns="27432" anchor="t">
            <a:spAutoFit/>
          </a:bodyPr>
          <a:lstStyle/>
          <a:p>
            <a:pPr algn="l"/>
            <a:r>
              <a:rPr sz="1350" b="0" i="0">
                <a:solidFill>
                  <a:srgbClr val="1C2430"/>
                </a:solidFill>
                <a:latin typeface="Calibri"/>
              </a:rPr>
              <a:t>existing gimbal, camera, Pi, laser</a:t>
            </a:r>
          </a:p>
        </p:txBody>
      </p:sp>
      <p:pic>
        <p:nvPicPr>
          <p:cNvPr id="40" name="Picture 39" descr="tripodL.png"/>
          <p:cNvPicPr>
            <a:picLocks noChangeAspect="1"/>
          </p:cNvPicPr>
          <p:nvPr/>
        </p:nvPicPr>
        <p:blipFill>
          <a:blip r:embed="rId3"/>
          <a:stretch>
            <a:fillRect/>
          </a:stretch>
        </p:blipFill>
        <p:spPr>
          <a:xfrm>
            <a:off x="2921706" y="5074920"/>
            <a:ext cx="648826" cy="1097280"/>
          </a:xfrm>
          <a:prstGeom prst="rect">
            <a:avLst/>
          </a:prstGeom>
        </p:spPr>
      </p:pic>
      <p:sp>
        <p:nvSpPr>
          <p:cNvPr id="41" name="Rounded Rectangle 40"/>
          <p:cNvSpPr/>
          <p:nvPr/>
        </p:nvSpPr>
        <p:spPr>
          <a:xfrm>
            <a:off x="4572000" y="4892040"/>
            <a:ext cx="3108960" cy="1371600"/>
          </a:xfrm>
          <a:prstGeom prst="roundRect">
            <a:avLst>
              <a:gd name="adj" fmla="val 8000"/>
            </a:avLst>
          </a:prstGeom>
          <a:solidFill>
            <a:srgbClr val="E9E9E9"/>
          </a:solidFill>
          <a:ln w="9525">
            <a:solidFill>
              <a:srgbClr val="9A9A9A"/>
            </a:solidFill>
          </a:ln>
        </p:spPr>
        <p:txBody>
          <a:bodyPr rtlCol="0" anchor="ctr"/>
          <a:lstStyle/>
          <a:p>
            <a:pPr algn="ctr"/>
          </a:p>
        </p:txBody>
      </p:sp>
      <p:sp>
        <p:nvSpPr>
          <p:cNvPr id="42" name="TextBox 41"/>
          <p:cNvSpPr txBox="1"/>
          <p:nvPr/>
        </p:nvSpPr>
        <p:spPr>
          <a:xfrm>
            <a:off x="4709160" y="4937760"/>
            <a:ext cx="1828800" cy="365760"/>
          </a:xfrm>
          <a:prstGeom prst="rect">
            <a:avLst/>
          </a:prstGeom>
          <a:noFill/>
        </p:spPr>
        <p:txBody>
          <a:bodyPr wrap="square" lIns="45720" rIns="45720" tIns="27432" bIns="27432" anchor="t">
            <a:spAutoFit/>
          </a:bodyPr>
          <a:lstStyle/>
          <a:p>
            <a:pPr algn="l"/>
            <a:r>
              <a:rPr sz="1800" b="1" i="0">
                <a:solidFill>
                  <a:srgbClr val="C55A11"/>
                </a:solidFill>
                <a:latin typeface="Calibri"/>
              </a:rPr>
              <a:t>Relay</a:t>
            </a:r>
          </a:p>
        </p:txBody>
      </p:sp>
      <p:sp>
        <p:nvSpPr>
          <p:cNvPr id="43" name="TextBox 42"/>
          <p:cNvSpPr txBox="1"/>
          <p:nvPr/>
        </p:nvSpPr>
        <p:spPr>
          <a:xfrm>
            <a:off x="4709160" y="5349240"/>
            <a:ext cx="1828800" cy="868680"/>
          </a:xfrm>
          <a:prstGeom prst="rect">
            <a:avLst/>
          </a:prstGeom>
          <a:noFill/>
        </p:spPr>
        <p:txBody>
          <a:bodyPr wrap="square" lIns="45720" rIns="45720" tIns="27432" bIns="27432" anchor="t">
            <a:spAutoFit/>
          </a:bodyPr>
          <a:lstStyle/>
          <a:p>
            <a:pPr algn="l"/>
            <a:r>
              <a:rPr sz="1350" b="0" i="0">
                <a:solidFill>
                  <a:srgbClr val="1C2430"/>
                </a:solidFill>
                <a:latin typeface="Calibri"/>
              </a:rPr>
              <a:t>the one new node</a:t>
            </a:r>
          </a:p>
        </p:txBody>
      </p:sp>
      <p:pic>
        <p:nvPicPr>
          <p:cNvPr id="44" name="Picture 43" descr="tripodR.png"/>
          <p:cNvPicPr>
            <a:picLocks noChangeAspect="1"/>
          </p:cNvPicPr>
          <p:nvPr/>
        </p:nvPicPr>
        <p:blipFill>
          <a:blip r:embed="rId4"/>
          <a:stretch>
            <a:fillRect/>
          </a:stretch>
        </p:blipFill>
        <p:spPr>
          <a:xfrm>
            <a:off x="6018541" y="5074920"/>
            <a:ext cx="801491" cy="1097280"/>
          </a:xfrm>
          <a:prstGeom prst="rect">
            <a:avLst/>
          </a:prstGeom>
        </p:spPr>
      </p:pic>
      <p:pic>
        <p:nvPicPr>
          <p:cNvPr id="45" name="Picture 44" descr="tripodL.png"/>
          <p:cNvPicPr>
            <a:picLocks noChangeAspect="1"/>
          </p:cNvPicPr>
          <p:nvPr/>
        </p:nvPicPr>
        <p:blipFill>
          <a:blip r:embed="rId3"/>
          <a:stretch>
            <a:fillRect/>
          </a:stretch>
        </p:blipFill>
        <p:spPr>
          <a:xfrm>
            <a:off x="6865752" y="5074920"/>
            <a:ext cx="648826" cy="1097280"/>
          </a:xfrm>
          <a:prstGeom prst="rect">
            <a:avLst/>
          </a:prstGeom>
        </p:spPr>
      </p:pic>
      <p:sp>
        <p:nvSpPr>
          <p:cNvPr id="46" name="Rounded Rectangle 45"/>
          <p:cNvSpPr/>
          <p:nvPr/>
        </p:nvSpPr>
        <p:spPr>
          <a:xfrm>
            <a:off x="8412480" y="4892040"/>
            <a:ext cx="3108960" cy="1371600"/>
          </a:xfrm>
          <a:prstGeom prst="roundRect">
            <a:avLst>
              <a:gd name="adj" fmla="val 8000"/>
            </a:avLst>
          </a:prstGeom>
          <a:solidFill>
            <a:srgbClr val="E9E9E9"/>
          </a:solidFill>
          <a:ln w="9525">
            <a:solidFill>
              <a:srgbClr val="9A9A9A"/>
            </a:solidFill>
          </a:ln>
        </p:spPr>
        <p:txBody>
          <a:bodyPr rtlCol="0" anchor="ctr"/>
          <a:lstStyle/>
          <a:p>
            <a:pPr algn="ctr"/>
          </a:p>
        </p:txBody>
      </p:sp>
      <p:sp>
        <p:nvSpPr>
          <p:cNvPr id="47" name="TextBox 46"/>
          <p:cNvSpPr txBox="1"/>
          <p:nvPr/>
        </p:nvSpPr>
        <p:spPr>
          <a:xfrm>
            <a:off x="8549640" y="4937760"/>
            <a:ext cx="1828800" cy="365760"/>
          </a:xfrm>
          <a:prstGeom prst="rect">
            <a:avLst/>
          </a:prstGeom>
          <a:noFill/>
        </p:spPr>
        <p:txBody>
          <a:bodyPr wrap="square" lIns="45720" rIns="45720" tIns="27432" bIns="27432" anchor="t">
            <a:spAutoFit/>
          </a:bodyPr>
          <a:lstStyle/>
          <a:p>
            <a:pPr algn="l"/>
            <a:r>
              <a:rPr sz="1800" b="1" i="0">
                <a:solidFill>
                  <a:srgbClr val="1B3A4B"/>
                </a:solidFill>
                <a:latin typeface="Calibri"/>
              </a:rPr>
              <a:t>Base</a:t>
            </a:r>
          </a:p>
        </p:txBody>
      </p:sp>
      <p:sp>
        <p:nvSpPr>
          <p:cNvPr id="48" name="TextBox 47"/>
          <p:cNvSpPr txBox="1"/>
          <p:nvPr/>
        </p:nvSpPr>
        <p:spPr>
          <a:xfrm>
            <a:off x="8549640" y="5349240"/>
            <a:ext cx="1828800" cy="868680"/>
          </a:xfrm>
          <a:prstGeom prst="rect">
            <a:avLst/>
          </a:prstGeom>
          <a:noFill/>
        </p:spPr>
        <p:txBody>
          <a:bodyPr wrap="square" lIns="45720" rIns="45720" tIns="27432" bIns="27432" anchor="t">
            <a:spAutoFit/>
          </a:bodyPr>
          <a:lstStyle/>
          <a:p>
            <a:pPr algn="l"/>
            <a:r>
              <a:rPr sz="1350" b="0" i="0">
                <a:solidFill>
                  <a:srgbClr val="1C2430"/>
                </a:solidFill>
                <a:latin typeface="Calibri"/>
              </a:rPr>
              <a:t>receiver, Pi, HDMI screen</a:t>
            </a:r>
          </a:p>
        </p:txBody>
      </p:sp>
      <p:pic>
        <p:nvPicPr>
          <p:cNvPr id="49" name="Picture 48" descr="monitor.png"/>
          <p:cNvPicPr>
            <a:picLocks noChangeAspect="1"/>
          </p:cNvPicPr>
          <p:nvPr/>
        </p:nvPicPr>
        <p:blipFill>
          <a:blip r:embed="rId5"/>
          <a:stretch>
            <a:fillRect/>
          </a:stretch>
        </p:blipFill>
        <p:spPr>
          <a:xfrm>
            <a:off x="10561319" y="5212080"/>
            <a:ext cx="868680" cy="699456"/>
          </a:xfrm>
          <a:prstGeom prst="rect">
            <a:avLst/>
          </a:prstGeom>
        </p:spPr>
      </p:pic>
      <p:sp>
        <p:nvSpPr>
          <p:cNvPr id="50" name="Rectangle 49"/>
          <p:cNvSpPr/>
          <p:nvPr/>
        </p:nvSpPr>
        <p:spPr>
          <a:xfrm>
            <a:off x="3858768" y="5504688"/>
            <a:ext cx="694944" cy="146304"/>
          </a:xfrm>
          <a:prstGeom prst="rect">
            <a:avLst/>
          </a:prstGeom>
          <a:solidFill>
            <a:srgbClr val="ED7D31">
              <a:alpha val="28000"/>
            </a:srgbClr>
          </a:solidFill>
          <a:ln>
            <a:noFill/>
          </a:ln>
        </p:spPr>
        <p:txBody>
          <a:bodyPr rtlCol="0" anchor="ctr"/>
          <a:lstStyle/>
          <a:p>
            <a:pPr algn="ctr"/>
          </a:p>
        </p:txBody>
      </p:sp>
      <p:sp>
        <p:nvSpPr>
          <p:cNvPr id="51" name="Rectangle 50"/>
          <p:cNvSpPr/>
          <p:nvPr/>
        </p:nvSpPr>
        <p:spPr>
          <a:xfrm>
            <a:off x="3858768" y="5554979"/>
            <a:ext cx="694944" cy="45720"/>
          </a:xfrm>
          <a:prstGeom prst="rect">
            <a:avLst/>
          </a:prstGeom>
          <a:solidFill>
            <a:srgbClr val="ED7D31"/>
          </a:solidFill>
          <a:ln>
            <a:noFill/>
          </a:ln>
        </p:spPr>
        <p:txBody>
          <a:bodyPr rtlCol="0" anchor="ctr"/>
          <a:lstStyle/>
          <a:p>
            <a:pPr algn="ctr"/>
          </a:p>
        </p:txBody>
      </p:sp>
      <p:sp>
        <p:nvSpPr>
          <p:cNvPr id="52" name="TextBox 51"/>
          <p:cNvSpPr txBox="1"/>
          <p:nvPr/>
        </p:nvSpPr>
        <p:spPr>
          <a:xfrm>
            <a:off x="3749040" y="5230368"/>
            <a:ext cx="914400" cy="274320"/>
          </a:xfrm>
          <a:prstGeom prst="rect">
            <a:avLst/>
          </a:prstGeom>
          <a:noFill/>
        </p:spPr>
        <p:txBody>
          <a:bodyPr wrap="square" lIns="45720" rIns="45720" tIns="27432" bIns="27432" anchor="t">
            <a:spAutoFit/>
          </a:bodyPr>
          <a:lstStyle/>
          <a:p>
            <a:pPr algn="ctr"/>
            <a:r>
              <a:rPr sz="1300" b="1" i="0">
                <a:solidFill>
                  <a:srgbClr val="C55A11"/>
                </a:solidFill>
                <a:latin typeface="Calibri"/>
              </a:rPr>
              <a:t>2–5 m</a:t>
            </a:r>
          </a:p>
        </p:txBody>
      </p:sp>
      <p:sp>
        <p:nvSpPr>
          <p:cNvPr id="53" name="Rectangle 52"/>
          <p:cNvSpPr/>
          <p:nvPr/>
        </p:nvSpPr>
        <p:spPr>
          <a:xfrm>
            <a:off x="7699248" y="5504688"/>
            <a:ext cx="694943" cy="146304"/>
          </a:xfrm>
          <a:prstGeom prst="rect">
            <a:avLst/>
          </a:prstGeom>
          <a:solidFill>
            <a:srgbClr val="ED7D31">
              <a:alpha val="28000"/>
            </a:srgbClr>
          </a:solidFill>
          <a:ln>
            <a:noFill/>
          </a:ln>
        </p:spPr>
        <p:txBody>
          <a:bodyPr rtlCol="0" anchor="ctr"/>
          <a:lstStyle/>
          <a:p>
            <a:pPr algn="ctr"/>
          </a:p>
        </p:txBody>
      </p:sp>
      <p:sp>
        <p:nvSpPr>
          <p:cNvPr id="54" name="Rectangle 53"/>
          <p:cNvSpPr/>
          <p:nvPr/>
        </p:nvSpPr>
        <p:spPr>
          <a:xfrm>
            <a:off x="7699248" y="5554979"/>
            <a:ext cx="694943" cy="45720"/>
          </a:xfrm>
          <a:prstGeom prst="rect">
            <a:avLst/>
          </a:prstGeom>
          <a:solidFill>
            <a:srgbClr val="ED7D31"/>
          </a:solidFill>
          <a:ln>
            <a:noFill/>
          </a:ln>
        </p:spPr>
        <p:txBody>
          <a:bodyPr rtlCol="0" anchor="ctr"/>
          <a:lstStyle/>
          <a:p>
            <a:pPr algn="ctr"/>
          </a:p>
        </p:txBody>
      </p:sp>
      <p:sp>
        <p:nvSpPr>
          <p:cNvPr id="55" name="TextBox 54"/>
          <p:cNvSpPr txBox="1"/>
          <p:nvPr/>
        </p:nvSpPr>
        <p:spPr>
          <a:xfrm>
            <a:off x="7589520" y="5230368"/>
            <a:ext cx="914400" cy="274320"/>
          </a:xfrm>
          <a:prstGeom prst="rect">
            <a:avLst/>
          </a:prstGeom>
          <a:noFill/>
        </p:spPr>
        <p:txBody>
          <a:bodyPr wrap="square" lIns="45720" rIns="45720" tIns="27432" bIns="27432" anchor="t">
            <a:spAutoFit/>
          </a:bodyPr>
          <a:lstStyle/>
          <a:p>
            <a:pPr algn="ctr"/>
            <a:r>
              <a:rPr sz="1300" b="1" i="0">
                <a:solidFill>
                  <a:srgbClr val="C55A11"/>
                </a:solidFill>
                <a:latin typeface="Calibri"/>
              </a:rPr>
              <a:t>2–5 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04     ·     TECHNICAL FEASIBILITY AND METHODOLOGY</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Work plan — 24 months</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Work plan</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9  /  15</a:t>
            </a:r>
          </a:p>
        </p:txBody>
      </p:sp>
      <p:sp>
        <p:nvSpPr>
          <p:cNvPr id="9" name="Rectangle 8"/>
          <p:cNvSpPr/>
          <p:nvPr/>
        </p:nvSpPr>
        <p:spPr>
          <a:xfrm>
            <a:off x="4389120" y="1051560"/>
            <a:ext cx="3653028" cy="274320"/>
          </a:xfrm>
          <a:prstGeom prst="rect">
            <a:avLst/>
          </a:prstGeom>
          <a:solidFill>
            <a:srgbClr val="0071C1"/>
          </a:solidFill>
          <a:ln>
            <a:noFill/>
          </a:ln>
        </p:spPr>
        <p:txBody>
          <a:bodyPr rtlCol="0" anchor="ctr"/>
          <a:lstStyle/>
          <a:p>
            <a:pPr algn="ctr"/>
          </a:p>
        </p:txBody>
      </p:sp>
      <p:sp>
        <p:nvSpPr>
          <p:cNvPr id="10" name="Rectangle 9"/>
          <p:cNvSpPr/>
          <p:nvPr/>
        </p:nvSpPr>
        <p:spPr>
          <a:xfrm>
            <a:off x="8069579" y="1051560"/>
            <a:ext cx="3680460" cy="274320"/>
          </a:xfrm>
          <a:prstGeom prst="rect">
            <a:avLst/>
          </a:prstGeom>
          <a:solidFill>
            <a:srgbClr val="ED7D31"/>
          </a:solidFill>
          <a:ln>
            <a:noFill/>
          </a:ln>
        </p:spPr>
        <p:txBody>
          <a:bodyPr rtlCol="0" anchor="ctr"/>
          <a:lstStyle/>
          <a:p>
            <a:pPr algn="ctr"/>
          </a:p>
        </p:txBody>
      </p:sp>
      <p:sp>
        <p:nvSpPr>
          <p:cNvPr id="11" name="TextBox 10"/>
          <p:cNvSpPr txBox="1"/>
          <p:nvPr/>
        </p:nvSpPr>
        <p:spPr>
          <a:xfrm>
            <a:off x="4389120" y="1051560"/>
            <a:ext cx="3680460" cy="274320"/>
          </a:xfrm>
          <a:prstGeom prst="rect">
            <a:avLst/>
          </a:prstGeom>
          <a:noFill/>
        </p:spPr>
        <p:txBody>
          <a:bodyPr wrap="square" lIns="45720" rIns="45720" tIns="27432" bIns="27432" anchor="ctr">
            <a:spAutoFit/>
          </a:bodyPr>
          <a:lstStyle/>
          <a:p>
            <a:pPr algn="ctr"/>
            <a:r>
              <a:rPr sz="1300" b="1" i="0">
                <a:solidFill>
                  <a:srgbClr val="FFFFFF"/>
                </a:solidFill>
                <a:latin typeface="Calibri"/>
              </a:rPr>
              <a:t>Year 1</a:t>
            </a:r>
          </a:p>
        </p:txBody>
      </p:sp>
      <p:sp>
        <p:nvSpPr>
          <p:cNvPr id="12" name="TextBox 11"/>
          <p:cNvSpPr txBox="1"/>
          <p:nvPr/>
        </p:nvSpPr>
        <p:spPr>
          <a:xfrm>
            <a:off x="8069579" y="1051560"/>
            <a:ext cx="3680460" cy="274320"/>
          </a:xfrm>
          <a:prstGeom prst="rect">
            <a:avLst/>
          </a:prstGeom>
          <a:noFill/>
        </p:spPr>
        <p:txBody>
          <a:bodyPr wrap="square" lIns="45720" rIns="45720" tIns="27432" bIns="27432" anchor="ctr">
            <a:spAutoFit/>
          </a:bodyPr>
          <a:lstStyle/>
          <a:p>
            <a:pPr algn="ctr"/>
            <a:r>
              <a:rPr sz="1300" b="1" i="0">
                <a:solidFill>
                  <a:srgbClr val="FFFFFF"/>
                </a:solidFill>
                <a:latin typeface="Calibri"/>
              </a:rPr>
              <a:t>Year 2</a:t>
            </a:r>
          </a:p>
        </p:txBody>
      </p:sp>
      <p:sp>
        <p:nvSpPr>
          <p:cNvPr id="13" name="TextBox 12"/>
          <p:cNvSpPr txBox="1"/>
          <p:nvPr/>
        </p:nvSpPr>
        <p:spPr>
          <a:xfrm>
            <a:off x="437083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a:t>
            </a:r>
          </a:p>
        </p:txBody>
      </p:sp>
      <p:sp>
        <p:nvSpPr>
          <p:cNvPr id="14" name="TextBox 13"/>
          <p:cNvSpPr txBox="1"/>
          <p:nvPr/>
        </p:nvSpPr>
        <p:spPr>
          <a:xfrm>
            <a:off x="467753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a:t>
            </a:r>
          </a:p>
        </p:txBody>
      </p:sp>
      <p:sp>
        <p:nvSpPr>
          <p:cNvPr id="15" name="TextBox 14"/>
          <p:cNvSpPr txBox="1"/>
          <p:nvPr/>
        </p:nvSpPr>
        <p:spPr>
          <a:xfrm>
            <a:off x="498424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3</a:t>
            </a:r>
          </a:p>
        </p:txBody>
      </p:sp>
      <p:sp>
        <p:nvSpPr>
          <p:cNvPr id="16" name="TextBox 15"/>
          <p:cNvSpPr txBox="1"/>
          <p:nvPr/>
        </p:nvSpPr>
        <p:spPr>
          <a:xfrm>
            <a:off x="529094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4</a:t>
            </a:r>
          </a:p>
        </p:txBody>
      </p:sp>
      <p:sp>
        <p:nvSpPr>
          <p:cNvPr id="17" name="TextBox 16"/>
          <p:cNvSpPr txBox="1"/>
          <p:nvPr/>
        </p:nvSpPr>
        <p:spPr>
          <a:xfrm>
            <a:off x="559765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5</a:t>
            </a:r>
          </a:p>
        </p:txBody>
      </p:sp>
      <p:sp>
        <p:nvSpPr>
          <p:cNvPr id="18" name="TextBox 17"/>
          <p:cNvSpPr txBox="1"/>
          <p:nvPr/>
        </p:nvSpPr>
        <p:spPr>
          <a:xfrm>
            <a:off x="590435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6</a:t>
            </a:r>
          </a:p>
        </p:txBody>
      </p:sp>
      <p:sp>
        <p:nvSpPr>
          <p:cNvPr id="19" name="TextBox 18"/>
          <p:cNvSpPr txBox="1"/>
          <p:nvPr/>
        </p:nvSpPr>
        <p:spPr>
          <a:xfrm>
            <a:off x="621106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7</a:t>
            </a:r>
          </a:p>
        </p:txBody>
      </p:sp>
      <p:sp>
        <p:nvSpPr>
          <p:cNvPr id="20" name="TextBox 19"/>
          <p:cNvSpPr txBox="1"/>
          <p:nvPr/>
        </p:nvSpPr>
        <p:spPr>
          <a:xfrm>
            <a:off x="651776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8</a:t>
            </a:r>
          </a:p>
        </p:txBody>
      </p:sp>
      <p:sp>
        <p:nvSpPr>
          <p:cNvPr id="21" name="TextBox 20"/>
          <p:cNvSpPr txBox="1"/>
          <p:nvPr/>
        </p:nvSpPr>
        <p:spPr>
          <a:xfrm>
            <a:off x="682447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9</a:t>
            </a:r>
          </a:p>
        </p:txBody>
      </p:sp>
      <p:sp>
        <p:nvSpPr>
          <p:cNvPr id="22" name="TextBox 21"/>
          <p:cNvSpPr txBox="1"/>
          <p:nvPr/>
        </p:nvSpPr>
        <p:spPr>
          <a:xfrm>
            <a:off x="713117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10</a:t>
            </a:r>
          </a:p>
        </p:txBody>
      </p:sp>
      <p:sp>
        <p:nvSpPr>
          <p:cNvPr id="23" name="TextBox 22"/>
          <p:cNvSpPr txBox="1"/>
          <p:nvPr/>
        </p:nvSpPr>
        <p:spPr>
          <a:xfrm>
            <a:off x="743788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11</a:t>
            </a:r>
          </a:p>
        </p:txBody>
      </p:sp>
      <p:sp>
        <p:nvSpPr>
          <p:cNvPr id="24" name="TextBox 23"/>
          <p:cNvSpPr txBox="1"/>
          <p:nvPr/>
        </p:nvSpPr>
        <p:spPr>
          <a:xfrm>
            <a:off x="774458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12</a:t>
            </a:r>
          </a:p>
        </p:txBody>
      </p:sp>
      <p:sp>
        <p:nvSpPr>
          <p:cNvPr id="25" name="TextBox 24"/>
          <p:cNvSpPr txBox="1"/>
          <p:nvPr/>
        </p:nvSpPr>
        <p:spPr>
          <a:xfrm>
            <a:off x="805129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13</a:t>
            </a:r>
          </a:p>
        </p:txBody>
      </p:sp>
      <p:sp>
        <p:nvSpPr>
          <p:cNvPr id="26" name="TextBox 25"/>
          <p:cNvSpPr txBox="1"/>
          <p:nvPr/>
        </p:nvSpPr>
        <p:spPr>
          <a:xfrm>
            <a:off x="835799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14</a:t>
            </a:r>
          </a:p>
        </p:txBody>
      </p:sp>
      <p:sp>
        <p:nvSpPr>
          <p:cNvPr id="27" name="TextBox 26"/>
          <p:cNvSpPr txBox="1"/>
          <p:nvPr/>
        </p:nvSpPr>
        <p:spPr>
          <a:xfrm>
            <a:off x="866470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15</a:t>
            </a:r>
          </a:p>
        </p:txBody>
      </p:sp>
      <p:sp>
        <p:nvSpPr>
          <p:cNvPr id="28" name="TextBox 27"/>
          <p:cNvSpPr txBox="1"/>
          <p:nvPr/>
        </p:nvSpPr>
        <p:spPr>
          <a:xfrm>
            <a:off x="897140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16</a:t>
            </a:r>
          </a:p>
        </p:txBody>
      </p:sp>
      <p:sp>
        <p:nvSpPr>
          <p:cNvPr id="29" name="TextBox 28"/>
          <p:cNvSpPr txBox="1"/>
          <p:nvPr/>
        </p:nvSpPr>
        <p:spPr>
          <a:xfrm>
            <a:off x="927811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17</a:t>
            </a:r>
          </a:p>
        </p:txBody>
      </p:sp>
      <p:sp>
        <p:nvSpPr>
          <p:cNvPr id="30" name="TextBox 29"/>
          <p:cNvSpPr txBox="1"/>
          <p:nvPr/>
        </p:nvSpPr>
        <p:spPr>
          <a:xfrm>
            <a:off x="958481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18</a:t>
            </a:r>
          </a:p>
        </p:txBody>
      </p:sp>
      <p:sp>
        <p:nvSpPr>
          <p:cNvPr id="31" name="TextBox 30"/>
          <p:cNvSpPr txBox="1"/>
          <p:nvPr/>
        </p:nvSpPr>
        <p:spPr>
          <a:xfrm>
            <a:off x="989152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19</a:t>
            </a:r>
          </a:p>
        </p:txBody>
      </p:sp>
      <p:sp>
        <p:nvSpPr>
          <p:cNvPr id="32" name="TextBox 31"/>
          <p:cNvSpPr txBox="1"/>
          <p:nvPr/>
        </p:nvSpPr>
        <p:spPr>
          <a:xfrm>
            <a:off x="1019822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20</a:t>
            </a:r>
          </a:p>
        </p:txBody>
      </p:sp>
      <p:sp>
        <p:nvSpPr>
          <p:cNvPr id="33" name="TextBox 32"/>
          <p:cNvSpPr txBox="1"/>
          <p:nvPr/>
        </p:nvSpPr>
        <p:spPr>
          <a:xfrm>
            <a:off x="1050493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21</a:t>
            </a:r>
          </a:p>
        </p:txBody>
      </p:sp>
      <p:sp>
        <p:nvSpPr>
          <p:cNvPr id="34" name="TextBox 33"/>
          <p:cNvSpPr txBox="1"/>
          <p:nvPr/>
        </p:nvSpPr>
        <p:spPr>
          <a:xfrm>
            <a:off x="1081163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22</a:t>
            </a:r>
          </a:p>
        </p:txBody>
      </p:sp>
      <p:sp>
        <p:nvSpPr>
          <p:cNvPr id="35" name="TextBox 34"/>
          <p:cNvSpPr txBox="1"/>
          <p:nvPr/>
        </p:nvSpPr>
        <p:spPr>
          <a:xfrm>
            <a:off x="1111834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23</a:t>
            </a:r>
          </a:p>
        </p:txBody>
      </p:sp>
      <p:sp>
        <p:nvSpPr>
          <p:cNvPr id="36" name="TextBox 35"/>
          <p:cNvSpPr txBox="1"/>
          <p:nvPr/>
        </p:nvSpPr>
        <p:spPr>
          <a:xfrm>
            <a:off x="1142504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24</a:t>
            </a:r>
          </a:p>
        </p:txBody>
      </p:sp>
      <p:sp>
        <p:nvSpPr>
          <p:cNvPr id="37" name="Rectangle 36"/>
          <p:cNvSpPr/>
          <p:nvPr/>
        </p:nvSpPr>
        <p:spPr>
          <a:xfrm>
            <a:off x="457200" y="1673352"/>
            <a:ext cx="11292840" cy="420624"/>
          </a:xfrm>
          <a:prstGeom prst="rect">
            <a:avLst/>
          </a:prstGeom>
          <a:solidFill>
            <a:srgbClr val="E9E9E9"/>
          </a:solidFill>
          <a:ln>
            <a:noFill/>
          </a:ln>
        </p:spPr>
        <p:txBody>
          <a:bodyPr rtlCol="0" anchor="ctr"/>
          <a:lstStyle/>
          <a:p>
            <a:pPr algn="ctr"/>
          </a:p>
        </p:txBody>
      </p:sp>
      <p:sp>
        <p:nvSpPr>
          <p:cNvPr id="38" name="Oval 37"/>
          <p:cNvSpPr/>
          <p:nvPr/>
        </p:nvSpPr>
        <p:spPr>
          <a:xfrm>
            <a:off x="530352" y="1719072"/>
            <a:ext cx="329184" cy="329184"/>
          </a:xfrm>
          <a:prstGeom prst="ellipse">
            <a:avLst/>
          </a:prstGeom>
          <a:solidFill>
            <a:srgbClr val="0071C1"/>
          </a:solidFill>
          <a:ln>
            <a:noFill/>
          </a:ln>
        </p:spPr>
        <p:txBody>
          <a:bodyPr rtlCol="0" anchor="ctr" lIns="36576" rIns="36576" tIns="0" bIns="0" wrap="square"/>
          <a:lstStyle/>
          <a:p>
            <a:pPr algn="ctr"/>
            <a:r>
              <a:rPr sz="1300" b="1">
                <a:solidFill>
                  <a:srgbClr val="FFFFFF"/>
                </a:solidFill>
                <a:latin typeface="Calibri"/>
              </a:rPr>
              <a:t>1</a:t>
            </a:r>
          </a:p>
        </p:txBody>
      </p:sp>
      <p:sp>
        <p:nvSpPr>
          <p:cNvPr id="39" name="TextBox 38"/>
          <p:cNvSpPr txBox="1"/>
          <p:nvPr/>
        </p:nvSpPr>
        <p:spPr>
          <a:xfrm>
            <a:off x="987552" y="1673352"/>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Procure FSO, IMU, LoRa, cameras, mounts</a:t>
            </a:r>
          </a:p>
        </p:txBody>
      </p:sp>
      <p:sp>
        <p:nvSpPr>
          <p:cNvPr id="40" name="Rounded Rectangle 39"/>
          <p:cNvSpPr/>
          <p:nvPr/>
        </p:nvSpPr>
        <p:spPr>
          <a:xfrm>
            <a:off x="4407407" y="1764792"/>
            <a:ext cx="883539" cy="237744"/>
          </a:xfrm>
          <a:prstGeom prst="roundRect">
            <a:avLst>
              <a:gd name="adj" fmla="val 40000"/>
            </a:avLst>
          </a:prstGeom>
          <a:solidFill>
            <a:srgbClr val="0071C1"/>
          </a:solidFill>
          <a:ln>
            <a:noFill/>
          </a:ln>
        </p:spPr>
        <p:txBody>
          <a:bodyPr rtlCol="0" anchor="ctr"/>
          <a:lstStyle/>
          <a:p>
            <a:pPr algn="ctr"/>
          </a:p>
        </p:txBody>
      </p:sp>
      <p:sp>
        <p:nvSpPr>
          <p:cNvPr id="41" name="Diamond 40"/>
          <p:cNvSpPr/>
          <p:nvPr/>
        </p:nvSpPr>
        <p:spPr>
          <a:xfrm>
            <a:off x="5034915" y="1755648"/>
            <a:ext cx="256032" cy="256032"/>
          </a:xfrm>
          <a:prstGeom prst="diamond">
            <a:avLst/>
          </a:prstGeom>
          <a:solidFill>
            <a:srgbClr val="FFFFFF"/>
          </a:solidFill>
          <a:ln w="25400">
            <a:solidFill>
              <a:srgbClr val="ED7D31"/>
            </a:solidFill>
          </a:ln>
        </p:spPr>
        <p:txBody>
          <a:bodyPr rtlCol="0" anchor="ctr"/>
          <a:lstStyle/>
          <a:p>
            <a:pPr algn="ctr"/>
          </a:p>
        </p:txBody>
      </p:sp>
      <p:sp>
        <p:nvSpPr>
          <p:cNvPr id="42" name="Oval 41"/>
          <p:cNvSpPr/>
          <p:nvPr/>
        </p:nvSpPr>
        <p:spPr>
          <a:xfrm>
            <a:off x="530352" y="2139696"/>
            <a:ext cx="329184" cy="329184"/>
          </a:xfrm>
          <a:prstGeom prst="ellipse">
            <a:avLst/>
          </a:prstGeom>
          <a:solidFill>
            <a:srgbClr val="0071C1"/>
          </a:solidFill>
          <a:ln>
            <a:noFill/>
          </a:ln>
        </p:spPr>
        <p:txBody>
          <a:bodyPr rtlCol="0" anchor="ctr" lIns="36576" rIns="36576" tIns="0" bIns="0" wrap="square"/>
          <a:lstStyle/>
          <a:p>
            <a:pPr algn="ctr"/>
            <a:r>
              <a:rPr sz="1300" b="1">
                <a:solidFill>
                  <a:srgbClr val="FFFFFF"/>
                </a:solidFill>
                <a:latin typeface="Calibri"/>
              </a:rPr>
              <a:t>2</a:t>
            </a:r>
          </a:p>
        </p:txBody>
      </p:sp>
      <p:sp>
        <p:nvSpPr>
          <p:cNvPr id="43" name="TextBox 42"/>
          <p:cNvSpPr txBox="1"/>
          <p:nvPr/>
        </p:nvSpPr>
        <p:spPr>
          <a:xfrm>
            <a:off x="987552" y="2093976"/>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Architecture and communication framework</a:t>
            </a:r>
          </a:p>
        </p:txBody>
      </p:sp>
      <p:sp>
        <p:nvSpPr>
          <p:cNvPr id="44" name="Rounded Rectangle 43"/>
          <p:cNvSpPr/>
          <p:nvPr/>
        </p:nvSpPr>
        <p:spPr>
          <a:xfrm>
            <a:off x="5327523" y="2185416"/>
            <a:ext cx="1496949" cy="237744"/>
          </a:xfrm>
          <a:prstGeom prst="roundRect">
            <a:avLst>
              <a:gd name="adj" fmla="val 40000"/>
            </a:avLst>
          </a:prstGeom>
          <a:solidFill>
            <a:srgbClr val="0071C1"/>
          </a:solidFill>
          <a:ln>
            <a:noFill/>
          </a:ln>
        </p:spPr>
        <p:txBody>
          <a:bodyPr rtlCol="0" anchor="ctr"/>
          <a:lstStyle/>
          <a:p>
            <a:pPr algn="ctr"/>
          </a:p>
        </p:txBody>
      </p:sp>
      <p:sp>
        <p:nvSpPr>
          <p:cNvPr id="45" name="Diamond 44"/>
          <p:cNvSpPr/>
          <p:nvPr/>
        </p:nvSpPr>
        <p:spPr>
          <a:xfrm>
            <a:off x="6568440" y="2176272"/>
            <a:ext cx="256032" cy="256032"/>
          </a:xfrm>
          <a:prstGeom prst="diamond">
            <a:avLst/>
          </a:prstGeom>
          <a:solidFill>
            <a:srgbClr val="FFFFFF"/>
          </a:solidFill>
          <a:ln w="25400">
            <a:solidFill>
              <a:srgbClr val="ED7D31"/>
            </a:solidFill>
          </a:ln>
        </p:spPr>
        <p:txBody>
          <a:bodyPr rtlCol="0" anchor="ctr"/>
          <a:lstStyle/>
          <a:p>
            <a:pPr algn="ctr"/>
          </a:p>
        </p:txBody>
      </p:sp>
      <p:sp>
        <p:nvSpPr>
          <p:cNvPr id="46" name="Rectangle 45"/>
          <p:cNvSpPr/>
          <p:nvPr/>
        </p:nvSpPr>
        <p:spPr>
          <a:xfrm>
            <a:off x="457200" y="2514600"/>
            <a:ext cx="11292840" cy="420624"/>
          </a:xfrm>
          <a:prstGeom prst="rect">
            <a:avLst/>
          </a:prstGeom>
          <a:solidFill>
            <a:srgbClr val="E9E9E9"/>
          </a:solidFill>
          <a:ln>
            <a:noFill/>
          </a:ln>
        </p:spPr>
        <p:txBody>
          <a:bodyPr rtlCol="0" anchor="ctr"/>
          <a:lstStyle/>
          <a:p>
            <a:pPr algn="ctr"/>
          </a:p>
        </p:txBody>
      </p:sp>
      <p:sp>
        <p:nvSpPr>
          <p:cNvPr id="47" name="Oval 46"/>
          <p:cNvSpPr/>
          <p:nvPr/>
        </p:nvSpPr>
        <p:spPr>
          <a:xfrm>
            <a:off x="530352" y="2560320"/>
            <a:ext cx="329184" cy="329184"/>
          </a:xfrm>
          <a:prstGeom prst="ellipse">
            <a:avLst/>
          </a:prstGeom>
          <a:solidFill>
            <a:srgbClr val="0071C1"/>
          </a:solidFill>
          <a:ln>
            <a:noFill/>
          </a:ln>
        </p:spPr>
        <p:txBody>
          <a:bodyPr rtlCol="0" anchor="ctr" lIns="36576" rIns="36576" tIns="0" bIns="0" wrap="square"/>
          <a:lstStyle/>
          <a:p>
            <a:pPr algn="ctr"/>
            <a:r>
              <a:rPr sz="1300" b="1">
                <a:solidFill>
                  <a:srgbClr val="FFFFFF"/>
                </a:solidFill>
                <a:latin typeface="Calibri"/>
              </a:rPr>
              <a:t>3</a:t>
            </a:r>
          </a:p>
        </p:txBody>
      </p:sp>
      <p:sp>
        <p:nvSpPr>
          <p:cNvPr id="48" name="TextBox 47"/>
          <p:cNvSpPr txBox="1"/>
          <p:nvPr/>
        </p:nvSpPr>
        <p:spPr>
          <a:xfrm>
            <a:off x="987552" y="2514600"/>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Auto-tracking on the mine node</a:t>
            </a:r>
          </a:p>
        </p:txBody>
      </p:sp>
      <p:sp>
        <p:nvSpPr>
          <p:cNvPr id="49" name="Rounded Rectangle 48"/>
          <p:cNvSpPr/>
          <p:nvPr/>
        </p:nvSpPr>
        <p:spPr>
          <a:xfrm>
            <a:off x="6554343" y="2606040"/>
            <a:ext cx="1190244" cy="237744"/>
          </a:xfrm>
          <a:prstGeom prst="roundRect">
            <a:avLst>
              <a:gd name="adj" fmla="val 40000"/>
            </a:avLst>
          </a:prstGeom>
          <a:solidFill>
            <a:srgbClr val="0071C1"/>
          </a:solidFill>
          <a:ln>
            <a:noFill/>
          </a:ln>
        </p:spPr>
        <p:txBody>
          <a:bodyPr rtlCol="0" anchor="ctr"/>
          <a:lstStyle/>
          <a:p>
            <a:pPr algn="ctr"/>
          </a:p>
        </p:txBody>
      </p:sp>
      <p:sp>
        <p:nvSpPr>
          <p:cNvPr id="50" name="Diamond 49"/>
          <p:cNvSpPr/>
          <p:nvPr/>
        </p:nvSpPr>
        <p:spPr>
          <a:xfrm>
            <a:off x="7488555" y="2596896"/>
            <a:ext cx="256032" cy="256032"/>
          </a:xfrm>
          <a:prstGeom prst="diamond">
            <a:avLst/>
          </a:prstGeom>
          <a:solidFill>
            <a:srgbClr val="FFFFFF"/>
          </a:solidFill>
          <a:ln w="25400">
            <a:solidFill>
              <a:srgbClr val="ED7D31"/>
            </a:solidFill>
          </a:ln>
        </p:spPr>
        <p:txBody>
          <a:bodyPr rtlCol="0" anchor="ctr"/>
          <a:lstStyle/>
          <a:p>
            <a:pPr algn="ctr"/>
          </a:p>
        </p:txBody>
      </p:sp>
      <p:sp>
        <p:nvSpPr>
          <p:cNvPr id="51" name="Oval 50"/>
          <p:cNvSpPr/>
          <p:nvPr/>
        </p:nvSpPr>
        <p:spPr>
          <a:xfrm>
            <a:off x="530352" y="2980944"/>
            <a:ext cx="329184" cy="329184"/>
          </a:xfrm>
          <a:prstGeom prst="ellipse">
            <a:avLst/>
          </a:prstGeom>
          <a:solidFill>
            <a:srgbClr val="0071C1"/>
          </a:solidFill>
          <a:ln>
            <a:noFill/>
          </a:ln>
        </p:spPr>
        <p:txBody>
          <a:bodyPr rtlCol="0" anchor="ctr" lIns="36576" rIns="36576" tIns="0" bIns="0" wrap="square"/>
          <a:lstStyle/>
          <a:p>
            <a:pPr algn="ctr"/>
            <a:r>
              <a:rPr sz="1300" b="1">
                <a:solidFill>
                  <a:srgbClr val="FFFFFF"/>
                </a:solidFill>
                <a:latin typeface="Calibri"/>
              </a:rPr>
              <a:t>4</a:t>
            </a:r>
          </a:p>
        </p:txBody>
      </p:sp>
      <p:sp>
        <p:nvSpPr>
          <p:cNvPr id="52" name="TextBox 51"/>
          <p:cNvSpPr txBox="1"/>
          <p:nvPr/>
        </p:nvSpPr>
        <p:spPr>
          <a:xfrm>
            <a:off x="987552" y="2935224"/>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Integrate transmitter, relays, base</a:t>
            </a:r>
          </a:p>
        </p:txBody>
      </p:sp>
      <p:sp>
        <p:nvSpPr>
          <p:cNvPr id="53" name="Rounded Rectangle 52"/>
          <p:cNvSpPr/>
          <p:nvPr/>
        </p:nvSpPr>
        <p:spPr>
          <a:xfrm>
            <a:off x="7781163" y="3026664"/>
            <a:ext cx="1496949" cy="237744"/>
          </a:xfrm>
          <a:prstGeom prst="roundRect">
            <a:avLst>
              <a:gd name="adj" fmla="val 40000"/>
            </a:avLst>
          </a:prstGeom>
          <a:solidFill>
            <a:srgbClr val="0071C1"/>
          </a:solidFill>
          <a:ln>
            <a:noFill/>
          </a:ln>
        </p:spPr>
        <p:txBody>
          <a:bodyPr rtlCol="0" anchor="ctr"/>
          <a:lstStyle/>
          <a:p>
            <a:pPr algn="ctr"/>
          </a:p>
        </p:txBody>
      </p:sp>
      <p:sp>
        <p:nvSpPr>
          <p:cNvPr id="54" name="Diamond 53"/>
          <p:cNvSpPr/>
          <p:nvPr/>
        </p:nvSpPr>
        <p:spPr>
          <a:xfrm>
            <a:off x="9022080" y="3017520"/>
            <a:ext cx="256032" cy="256032"/>
          </a:xfrm>
          <a:prstGeom prst="diamond">
            <a:avLst/>
          </a:prstGeom>
          <a:solidFill>
            <a:srgbClr val="FFFFFF"/>
          </a:solidFill>
          <a:ln w="25400">
            <a:solidFill>
              <a:srgbClr val="ED7D31"/>
            </a:solidFill>
          </a:ln>
        </p:spPr>
        <p:txBody>
          <a:bodyPr rtlCol="0" anchor="ctr"/>
          <a:lstStyle/>
          <a:p>
            <a:pPr algn="ctr"/>
          </a:p>
        </p:txBody>
      </p:sp>
      <p:sp>
        <p:nvSpPr>
          <p:cNvPr id="55" name="Rectangle 54"/>
          <p:cNvSpPr/>
          <p:nvPr/>
        </p:nvSpPr>
        <p:spPr>
          <a:xfrm>
            <a:off x="457200" y="3355848"/>
            <a:ext cx="11292840" cy="420624"/>
          </a:xfrm>
          <a:prstGeom prst="rect">
            <a:avLst/>
          </a:prstGeom>
          <a:solidFill>
            <a:srgbClr val="E9E9E9"/>
          </a:solidFill>
          <a:ln>
            <a:noFill/>
          </a:ln>
        </p:spPr>
        <p:txBody>
          <a:bodyPr rtlCol="0" anchor="ctr"/>
          <a:lstStyle/>
          <a:p>
            <a:pPr algn="ctr"/>
          </a:p>
        </p:txBody>
      </p:sp>
      <p:sp>
        <p:nvSpPr>
          <p:cNvPr id="56" name="Oval 55"/>
          <p:cNvSpPr/>
          <p:nvPr/>
        </p:nvSpPr>
        <p:spPr>
          <a:xfrm>
            <a:off x="530352" y="3401568"/>
            <a:ext cx="329184" cy="329184"/>
          </a:xfrm>
          <a:prstGeom prst="ellipse">
            <a:avLst/>
          </a:prstGeom>
          <a:solidFill>
            <a:srgbClr val="0071C1"/>
          </a:solidFill>
          <a:ln>
            <a:noFill/>
          </a:ln>
        </p:spPr>
        <p:txBody>
          <a:bodyPr rtlCol="0" anchor="ctr" lIns="36576" rIns="36576" tIns="0" bIns="0" wrap="square"/>
          <a:lstStyle/>
          <a:p>
            <a:pPr algn="ctr"/>
            <a:r>
              <a:rPr sz="1300" b="1">
                <a:solidFill>
                  <a:srgbClr val="FFFFFF"/>
                </a:solidFill>
                <a:latin typeface="Calibri"/>
              </a:rPr>
              <a:t>5</a:t>
            </a:r>
          </a:p>
        </p:txBody>
      </p:sp>
      <p:sp>
        <p:nvSpPr>
          <p:cNvPr id="57" name="TextBox 56"/>
          <p:cNvSpPr txBox="1"/>
          <p:nvPr/>
        </p:nvSpPr>
        <p:spPr>
          <a:xfrm>
            <a:off x="987552" y="3355848"/>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Laboratory tests</a:t>
            </a:r>
          </a:p>
        </p:txBody>
      </p:sp>
      <p:sp>
        <p:nvSpPr>
          <p:cNvPr id="58" name="Rounded Rectangle 57"/>
          <p:cNvSpPr/>
          <p:nvPr/>
        </p:nvSpPr>
        <p:spPr>
          <a:xfrm>
            <a:off x="9314688" y="3447288"/>
            <a:ext cx="883539" cy="237744"/>
          </a:xfrm>
          <a:prstGeom prst="roundRect">
            <a:avLst>
              <a:gd name="adj" fmla="val 40000"/>
            </a:avLst>
          </a:prstGeom>
          <a:solidFill>
            <a:srgbClr val="0071C1"/>
          </a:solidFill>
          <a:ln>
            <a:noFill/>
          </a:ln>
        </p:spPr>
        <p:txBody>
          <a:bodyPr rtlCol="0" anchor="ctr"/>
          <a:lstStyle/>
          <a:p>
            <a:pPr algn="ctr"/>
          </a:p>
        </p:txBody>
      </p:sp>
      <p:sp>
        <p:nvSpPr>
          <p:cNvPr id="59" name="Diamond 58"/>
          <p:cNvSpPr/>
          <p:nvPr/>
        </p:nvSpPr>
        <p:spPr>
          <a:xfrm>
            <a:off x="9942195" y="3438144"/>
            <a:ext cx="256032" cy="256032"/>
          </a:xfrm>
          <a:prstGeom prst="diamond">
            <a:avLst/>
          </a:prstGeom>
          <a:solidFill>
            <a:srgbClr val="FFFFFF"/>
          </a:solidFill>
          <a:ln w="25400">
            <a:solidFill>
              <a:srgbClr val="ED7D31"/>
            </a:solidFill>
          </a:ln>
        </p:spPr>
        <p:txBody>
          <a:bodyPr rtlCol="0" anchor="ctr"/>
          <a:lstStyle/>
          <a:p>
            <a:pPr algn="ctr"/>
          </a:p>
        </p:txBody>
      </p:sp>
      <p:sp>
        <p:nvSpPr>
          <p:cNvPr id="60" name="Oval 59"/>
          <p:cNvSpPr/>
          <p:nvPr/>
        </p:nvSpPr>
        <p:spPr>
          <a:xfrm>
            <a:off x="530352" y="3822192"/>
            <a:ext cx="329184" cy="329184"/>
          </a:xfrm>
          <a:prstGeom prst="ellipse">
            <a:avLst/>
          </a:prstGeom>
          <a:solidFill>
            <a:srgbClr val="0071C1"/>
          </a:solidFill>
          <a:ln>
            <a:noFill/>
          </a:ln>
        </p:spPr>
        <p:txBody>
          <a:bodyPr rtlCol="0" anchor="ctr" lIns="36576" rIns="36576" tIns="0" bIns="0" wrap="square"/>
          <a:lstStyle/>
          <a:p>
            <a:pPr algn="ctr"/>
            <a:r>
              <a:rPr sz="1300" b="1">
                <a:solidFill>
                  <a:srgbClr val="FFFFFF"/>
                </a:solidFill>
                <a:latin typeface="Calibri"/>
              </a:rPr>
              <a:t>6</a:t>
            </a:r>
          </a:p>
        </p:txBody>
      </p:sp>
      <p:sp>
        <p:nvSpPr>
          <p:cNvPr id="61" name="TextBox 60"/>
          <p:cNvSpPr txBox="1"/>
          <p:nvPr/>
        </p:nvSpPr>
        <p:spPr>
          <a:xfrm>
            <a:off x="987552" y="3776472"/>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Tunnel-like / underground test</a:t>
            </a:r>
          </a:p>
        </p:txBody>
      </p:sp>
      <p:sp>
        <p:nvSpPr>
          <p:cNvPr id="62" name="Rounded Rectangle 61"/>
          <p:cNvSpPr/>
          <p:nvPr/>
        </p:nvSpPr>
        <p:spPr>
          <a:xfrm>
            <a:off x="10234802" y="3867912"/>
            <a:ext cx="883539" cy="237744"/>
          </a:xfrm>
          <a:prstGeom prst="roundRect">
            <a:avLst>
              <a:gd name="adj" fmla="val 40000"/>
            </a:avLst>
          </a:prstGeom>
          <a:solidFill>
            <a:srgbClr val="ED7D31"/>
          </a:solidFill>
          <a:ln>
            <a:noFill/>
          </a:ln>
        </p:spPr>
        <p:txBody>
          <a:bodyPr rtlCol="0" anchor="ctr"/>
          <a:lstStyle/>
          <a:p>
            <a:pPr algn="ctr"/>
          </a:p>
        </p:txBody>
      </p:sp>
      <p:sp>
        <p:nvSpPr>
          <p:cNvPr id="63" name="Diamond 62"/>
          <p:cNvSpPr/>
          <p:nvPr/>
        </p:nvSpPr>
        <p:spPr>
          <a:xfrm>
            <a:off x="10862309" y="3858768"/>
            <a:ext cx="256032" cy="256032"/>
          </a:xfrm>
          <a:prstGeom prst="diamond">
            <a:avLst/>
          </a:prstGeom>
          <a:solidFill>
            <a:srgbClr val="FFFFFF"/>
          </a:solidFill>
          <a:ln w="25400">
            <a:solidFill>
              <a:srgbClr val="ED7D31"/>
            </a:solidFill>
          </a:ln>
        </p:spPr>
        <p:txBody>
          <a:bodyPr rtlCol="0" anchor="ctr"/>
          <a:lstStyle/>
          <a:p>
            <a:pPr algn="ctr"/>
          </a:p>
        </p:txBody>
      </p:sp>
      <p:sp>
        <p:nvSpPr>
          <p:cNvPr id="64" name="Rectangle 63"/>
          <p:cNvSpPr/>
          <p:nvPr/>
        </p:nvSpPr>
        <p:spPr>
          <a:xfrm>
            <a:off x="457200" y="4197096"/>
            <a:ext cx="11292840" cy="420624"/>
          </a:xfrm>
          <a:prstGeom prst="rect">
            <a:avLst/>
          </a:prstGeom>
          <a:solidFill>
            <a:srgbClr val="E9E9E9"/>
          </a:solidFill>
          <a:ln>
            <a:noFill/>
          </a:ln>
        </p:spPr>
        <p:txBody>
          <a:bodyPr rtlCol="0" anchor="ctr"/>
          <a:lstStyle/>
          <a:p>
            <a:pPr algn="ctr"/>
          </a:p>
        </p:txBody>
      </p:sp>
      <p:sp>
        <p:nvSpPr>
          <p:cNvPr id="65" name="Oval 64"/>
          <p:cNvSpPr/>
          <p:nvPr/>
        </p:nvSpPr>
        <p:spPr>
          <a:xfrm>
            <a:off x="530352" y="4242816"/>
            <a:ext cx="329184" cy="329184"/>
          </a:xfrm>
          <a:prstGeom prst="ellipse">
            <a:avLst/>
          </a:prstGeom>
          <a:solidFill>
            <a:srgbClr val="0071C1"/>
          </a:solidFill>
          <a:ln>
            <a:noFill/>
          </a:ln>
        </p:spPr>
        <p:txBody>
          <a:bodyPr rtlCol="0" anchor="ctr" lIns="36576" rIns="36576" tIns="0" bIns="0" wrap="square"/>
          <a:lstStyle/>
          <a:p>
            <a:pPr algn="ctr"/>
            <a:r>
              <a:rPr sz="1300" b="1">
                <a:solidFill>
                  <a:srgbClr val="FFFFFF"/>
                </a:solidFill>
                <a:latin typeface="Calibri"/>
              </a:rPr>
              <a:t>7</a:t>
            </a:r>
          </a:p>
        </p:txBody>
      </p:sp>
      <p:sp>
        <p:nvSpPr>
          <p:cNvPr id="66" name="TextBox 65"/>
          <p:cNvSpPr txBox="1"/>
          <p:nvPr/>
        </p:nvSpPr>
        <p:spPr>
          <a:xfrm>
            <a:off x="987552" y="4197096"/>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Documentation, patent, commercial plan</a:t>
            </a:r>
          </a:p>
        </p:txBody>
      </p:sp>
      <p:sp>
        <p:nvSpPr>
          <p:cNvPr id="67" name="Rounded Rectangle 66"/>
          <p:cNvSpPr/>
          <p:nvPr/>
        </p:nvSpPr>
        <p:spPr>
          <a:xfrm>
            <a:off x="11154918" y="4288536"/>
            <a:ext cx="576834" cy="237744"/>
          </a:xfrm>
          <a:prstGeom prst="roundRect">
            <a:avLst>
              <a:gd name="adj" fmla="val 40000"/>
            </a:avLst>
          </a:prstGeom>
          <a:solidFill>
            <a:srgbClr val="0071C1"/>
          </a:solidFill>
          <a:ln>
            <a:noFill/>
          </a:ln>
        </p:spPr>
        <p:txBody>
          <a:bodyPr rtlCol="0" anchor="ctr"/>
          <a:lstStyle/>
          <a:p>
            <a:pPr algn="ctr"/>
          </a:p>
        </p:txBody>
      </p:sp>
      <p:sp>
        <p:nvSpPr>
          <p:cNvPr id="68" name="Diamond 67"/>
          <p:cNvSpPr/>
          <p:nvPr/>
        </p:nvSpPr>
        <p:spPr>
          <a:xfrm>
            <a:off x="11475720" y="4279392"/>
            <a:ext cx="256032" cy="256032"/>
          </a:xfrm>
          <a:prstGeom prst="diamond">
            <a:avLst/>
          </a:prstGeom>
          <a:solidFill>
            <a:srgbClr val="FFFFFF"/>
          </a:solidFill>
          <a:ln w="25400">
            <a:solidFill>
              <a:srgbClr val="ED7D31"/>
            </a:solidFill>
          </a:ln>
        </p:spPr>
        <p:txBody>
          <a:bodyPr rtlCol="0" anchor="ctr"/>
          <a:lstStyle/>
          <a:p>
            <a:pPr algn="ctr"/>
          </a:p>
        </p:txBody>
      </p:sp>
      <p:cxnSp>
        <p:nvCxnSpPr>
          <p:cNvPr id="69" name="Connector 68"/>
          <p:cNvCxnSpPr/>
          <p:nvPr/>
        </p:nvCxnSpPr>
        <p:spPr>
          <a:xfrm>
            <a:off x="4389120" y="1673352"/>
            <a:ext cx="0" cy="2944368"/>
          </a:xfrm>
          <a:prstGeom prst="line">
            <a:avLst/>
          </a:prstGeom>
          <a:ln w="6350">
            <a:solidFill>
              <a:srgbClr val="D0D0D0"/>
            </a:solidFill>
          </a:ln>
        </p:spPr>
      </p:cxnSp>
      <p:cxnSp>
        <p:nvCxnSpPr>
          <p:cNvPr id="70" name="Connector 69"/>
          <p:cNvCxnSpPr/>
          <p:nvPr/>
        </p:nvCxnSpPr>
        <p:spPr>
          <a:xfrm>
            <a:off x="4695824" y="1673352"/>
            <a:ext cx="0" cy="2944368"/>
          </a:xfrm>
          <a:prstGeom prst="line">
            <a:avLst/>
          </a:prstGeom>
          <a:ln w="6350">
            <a:solidFill>
              <a:srgbClr val="D0D0D0"/>
            </a:solidFill>
          </a:ln>
        </p:spPr>
      </p:cxnSp>
      <p:cxnSp>
        <p:nvCxnSpPr>
          <p:cNvPr id="71" name="Connector 70"/>
          <p:cNvCxnSpPr/>
          <p:nvPr/>
        </p:nvCxnSpPr>
        <p:spPr>
          <a:xfrm>
            <a:off x="5002530" y="1673352"/>
            <a:ext cx="0" cy="2944368"/>
          </a:xfrm>
          <a:prstGeom prst="line">
            <a:avLst/>
          </a:prstGeom>
          <a:ln w="6350">
            <a:solidFill>
              <a:srgbClr val="D0D0D0"/>
            </a:solidFill>
          </a:ln>
        </p:spPr>
      </p:cxnSp>
      <p:cxnSp>
        <p:nvCxnSpPr>
          <p:cNvPr id="72" name="Connector 71"/>
          <p:cNvCxnSpPr/>
          <p:nvPr/>
        </p:nvCxnSpPr>
        <p:spPr>
          <a:xfrm>
            <a:off x="5309235" y="1673352"/>
            <a:ext cx="0" cy="2944368"/>
          </a:xfrm>
          <a:prstGeom prst="line">
            <a:avLst/>
          </a:prstGeom>
          <a:ln w="6350">
            <a:solidFill>
              <a:srgbClr val="D0D0D0"/>
            </a:solidFill>
          </a:ln>
        </p:spPr>
      </p:cxnSp>
      <p:cxnSp>
        <p:nvCxnSpPr>
          <p:cNvPr id="73" name="Connector 72"/>
          <p:cNvCxnSpPr/>
          <p:nvPr/>
        </p:nvCxnSpPr>
        <p:spPr>
          <a:xfrm>
            <a:off x="5615940" y="1673352"/>
            <a:ext cx="0" cy="2944368"/>
          </a:xfrm>
          <a:prstGeom prst="line">
            <a:avLst/>
          </a:prstGeom>
          <a:ln w="6350">
            <a:solidFill>
              <a:srgbClr val="D0D0D0"/>
            </a:solidFill>
          </a:ln>
        </p:spPr>
      </p:cxnSp>
      <p:cxnSp>
        <p:nvCxnSpPr>
          <p:cNvPr id="74" name="Connector 73"/>
          <p:cNvCxnSpPr/>
          <p:nvPr/>
        </p:nvCxnSpPr>
        <p:spPr>
          <a:xfrm>
            <a:off x="5922645" y="1673352"/>
            <a:ext cx="0" cy="2944368"/>
          </a:xfrm>
          <a:prstGeom prst="line">
            <a:avLst/>
          </a:prstGeom>
          <a:ln w="6350">
            <a:solidFill>
              <a:srgbClr val="D0D0D0"/>
            </a:solidFill>
          </a:ln>
        </p:spPr>
      </p:cxnSp>
      <p:cxnSp>
        <p:nvCxnSpPr>
          <p:cNvPr id="75" name="Connector 74"/>
          <p:cNvCxnSpPr/>
          <p:nvPr/>
        </p:nvCxnSpPr>
        <p:spPr>
          <a:xfrm>
            <a:off x="6229350" y="1673352"/>
            <a:ext cx="0" cy="2944368"/>
          </a:xfrm>
          <a:prstGeom prst="line">
            <a:avLst/>
          </a:prstGeom>
          <a:ln w="6350">
            <a:solidFill>
              <a:srgbClr val="D0D0D0"/>
            </a:solidFill>
          </a:ln>
        </p:spPr>
      </p:cxnSp>
      <p:cxnSp>
        <p:nvCxnSpPr>
          <p:cNvPr id="76" name="Connector 75"/>
          <p:cNvCxnSpPr/>
          <p:nvPr/>
        </p:nvCxnSpPr>
        <p:spPr>
          <a:xfrm>
            <a:off x="6536055" y="1673352"/>
            <a:ext cx="0" cy="2944368"/>
          </a:xfrm>
          <a:prstGeom prst="line">
            <a:avLst/>
          </a:prstGeom>
          <a:ln w="6350">
            <a:solidFill>
              <a:srgbClr val="D0D0D0"/>
            </a:solidFill>
          </a:ln>
        </p:spPr>
      </p:cxnSp>
      <p:cxnSp>
        <p:nvCxnSpPr>
          <p:cNvPr id="77" name="Connector 76"/>
          <p:cNvCxnSpPr/>
          <p:nvPr/>
        </p:nvCxnSpPr>
        <p:spPr>
          <a:xfrm>
            <a:off x="6842760" y="1673352"/>
            <a:ext cx="0" cy="2944368"/>
          </a:xfrm>
          <a:prstGeom prst="line">
            <a:avLst/>
          </a:prstGeom>
          <a:ln w="6350">
            <a:solidFill>
              <a:srgbClr val="D0D0D0"/>
            </a:solidFill>
          </a:ln>
        </p:spPr>
      </p:cxnSp>
      <p:cxnSp>
        <p:nvCxnSpPr>
          <p:cNvPr id="78" name="Connector 77"/>
          <p:cNvCxnSpPr/>
          <p:nvPr/>
        </p:nvCxnSpPr>
        <p:spPr>
          <a:xfrm>
            <a:off x="7149465" y="1673352"/>
            <a:ext cx="0" cy="2944368"/>
          </a:xfrm>
          <a:prstGeom prst="line">
            <a:avLst/>
          </a:prstGeom>
          <a:ln w="6350">
            <a:solidFill>
              <a:srgbClr val="D0D0D0"/>
            </a:solidFill>
          </a:ln>
        </p:spPr>
      </p:cxnSp>
      <p:cxnSp>
        <p:nvCxnSpPr>
          <p:cNvPr id="79" name="Connector 78"/>
          <p:cNvCxnSpPr/>
          <p:nvPr/>
        </p:nvCxnSpPr>
        <p:spPr>
          <a:xfrm>
            <a:off x="7456170" y="1673352"/>
            <a:ext cx="0" cy="2944368"/>
          </a:xfrm>
          <a:prstGeom prst="line">
            <a:avLst/>
          </a:prstGeom>
          <a:ln w="6350">
            <a:solidFill>
              <a:srgbClr val="D0D0D0"/>
            </a:solidFill>
          </a:ln>
        </p:spPr>
      </p:cxnSp>
      <p:cxnSp>
        <p:nvCxnSpPr>
          <p:cNvPr id="80" name="Connector 79"/>
          <p:cNvCxnSpPr/>
          <p:nvPr/>
        </p:nvCxnSpPr>
        <p:spPr>
          <a:xfrm>
            <a:off x="7762875" y="1673352"/>
            <a:ext cx="0" cy="2944368"/>
          </a:xfrm>
          <a:prstGeom prst="line">
            <a:avLst/>
          </a:prstGeom>
          <a:ln w="6350">
            <a:solidFill>
              <a:srgbClr val="D0D0D0"/>
            </a:solidFill>
          </a:ln>
        </p:spPr>
      </p:cxnSp>
      <p:cxnSp>
        <p:nvCxnSpPr>
          <p:cNvPr id="81" name="Connector 80"/>
          <p:cNvCxnSpPr/>
          <p:nvPr/>
        </p:nvCxnSpPr>
        <p:spPr>
          <a:xfrm>
            <a:off x="8069579" y="1673352"/>
            <a:ext cx="0" cy="2944368"/>
          </a:xfrm>
          <a:prstGeom prst="line">
            <a:avLst/>
          </a:prstGeom>
          <a:ln w="6350">
            <a:solidFill>
              <a:srgbClr val="D0D0D0"/>
            </a:solidFill>
          </a:ln>
        </p:spPr>
      </p:cxnSp>
      <p:cxnSp>
        <p:nvCxnSpPr>
          <p:cNvPr id="82" name="Connector 81"/>
          <p:cNvCxnSpPr/>
          <p:nvPr/>
        </p:nvCxnSpPr>
        <p:spPr>
          <a:xfrm>
            <a:off x="8376285" y="1673352"/>
            <a:ext cx="0" cy="2944368"/>
          </a:xfrm>
          <a:prstGeom prst="line">
            <a:avLst/>
          </a:prstGeom>
          <a:ln w="6350">
            <a:solidFill>
              <a:srgbClr val="D0D0D0"/>
            </a:solidFill>
          </a:ln>
        </p:spPr>
      </p:cxnSp>
      <p:cxnSp>
        <p:nvCxnSpPr>
          <p:cNvPr id="83" name="Connector 82"/>
          <p:cNvCxnSpPr/>
          <p:nvPr/>
        </p:nvCxnSpPr>
        <p:spPr>
          <a:xfrm>
            <a:off x="8682990" y="1673352"/>
            <a:ext cx="0" cy="2944368"/>
          </a:xfrm>
          <a:prstGeom prst="line">
            <a:avLst/>
          </a:prstGeom>
          <a:ln w="6350">
            <a:solidFill>
              <a:srgbClr val="D0D0D0"/>
            </a:solidFill>
          </a:ln>
        </p:spPr>
      </p:cxnSp>
      <p:cxnSp>
        <p:nvCxnSpPr>
          <p:cNvPr id="84" name="Connector 83"/>
          <p:cNvCxnSpPr/>
          <p:nvPr/>
        </p:nvCxnSpPr>
        <p:spPr>
          <a:xfrm>
            <a:off x="8989695" y="1673352"/>
            <a:ext cx="0" cy="2944368"/>
          </a:xfrm>
          <a:prstGeom prst="line">
            <a:avLst/>
          </a:prstGeom>
          <a:ln w="6350">
            <a:solidFill>
              <a:srgbClr val="D0D0D0"/>
            </a:solidFill>
          </a:ln>
        </p:spPr>
      </p:cxnSp>
      <p:cxnSp>
        <p:nvCxnSpPr>
          <p:cNvPr id="85" name="Connector 84"/>
          <p:cNvCxnSpPr/>
          <p:nvPr/>
        </p:nvCxnSpPr>
        <p:spPr>
          <a:xfrm>
            <a:off x="9296400" y="1673352"/>
            <a:ext cx="0" cy="2944368"/>
          </a:xfrm>
          <a:prstGeom prst="line">
            <a:avLst/>
          </a:prstGeom>
          <a:ln w="6350">
            <a:solidFill>
              <a:srgbClr val="D0D0D0"/>
            </a:solidFill>
          </a:ln>
        </p:spPr>
      </p:cxnSp>
      <p:cxnSp>
        <p:nvCxnSpPr>
          <p:cNvPr id="86" name="Connector 85"/>
          <p:cNvCxnSpPr/>
          <p:nvPr/>
        </p:nvCxnSpPr>
        <p:spPr>
          <a:xfrm>
            <a:off x="9603105" y="1673352"/>
            <a:ext cx="0" cy="2944368"/>
          </a:xfrm>
          <a:prstGeom prst="line">
            <a:avLst/>
          </a:prstGeom>
          <a:ln w="6350">
            <a:solidFill>
              <a:srgbClr val="D0D0D0"/>
            </a:solidFill>
          </a:ln>
        </p:spPr>
      </p:cxnSp>
      <p:cxnSp>
        <p:nvCxnSpPr>
          <p:cNvPr id="87" name="Connector 86"/>
          <p:cNvCxnSpPr/>
          <p:nvPr/>
        </p:nvCxnSpPr>
        <p:spPr>
          <a:xfrm>
            <a:off x="9909810" y="1673352"/>
            <a:ext cx="0" cy="2944368"/>
          </a:xfrm>
          <a:prstGeom prst="line">
            <a:avLst/>
          </a:prstGeom>
          <a:ln w="6350">
            <a:solidFill>
              <a:srgbClr val="D0D0D0"/>
            </a:solidFill>
          </a:ln>
        </p:spPr>
      </p:cxnSp>
      <p:cxnSp>
        <p:nvCxnSpPr>
          <p:cNvPr id="88" name="Connector 87"/>
          <p:cNvCxnSpPr/>
          <p:nvPr/>
        </p:nvCxnSpPr>
        <p:spPr>
          <a:xfrm>
            <a:off x="10216515" y="1673352"/>
            <a:ext cx="0" cy="2944368"/>
          </a:xfrm>
          <a:prstGeom prst="line">
            <a:avLst/>
          </a:prstGeom>
          <a:ln w="6350">
            <a:solidFill>
              <a:srgbClr val="D0D0D0"/>
            </a:solidFill>
          </a:ln>
        </p:spPr>
      </p:cxnSp>
      <p:cxnSp>
        <p:nvCxnSpPr>
          <p:cNvPr id="89" name="Connector 88"/>
          <p:cNvCxnSpPr/>
          <p:nvPr/>
        </p:nvCxnSpPr>
        <p:spPr>
          <a:xfrm>
            <a:off x="10523220" y="1673352"/>
            <a:ext cx="0" cy="2944368"/>
          </a:xfrm>
          <a:prstGeom prst="line">
            <a:avLst/>
          </a:prstGeom>
          <a:ln w="6350">
            <a:solidFill>
              <a:srgbClr val="D0D0D0"/>
            </a:solidFill>
          </a:ln>
        </p:spPr>
      </p:cxnSp>
      <p:cxnSp>
        <p:nvCxnSpPr>
          <p:cNvPr id="90" name="Connector 89"/>
          <p:cNvCxnSpPr/>
          <p:nvPr/>
        </p:nvCxnSpPr>
        <p:spPr>
          <a:xfrm>
            <a:off x="10829925" y="1673352"/>
            <a:ext cx="0" cy="2944368"/>
          </a:xfrm>
          <a:prstGeom prst="line">
            <a:avLst/>
          </a:prstGeom>
          <a:ln w="6350">
            <a:solidFill>
              <a:srgbClr val="D0D0D0"/>
            </a:solidFill>
          </a:ln>
        </p:spPr>
      </p:cxnSp>
      <p:cxnSp>
        <p:nvCxnSpPr>
          <p:cNvPr id="91" name="Connector 90"/>
          <p:cNvCxnSpPr/>
          <p:nvPr/>
        </p:nvCxnSpPr>
        <p:spPr>
          <a:xfrm>
            <a:off x="11136630" y="1673352"/>
            <a:ext cx="0" cy="2944368"/>
          </a:xfrm>
          <a:prstGeom prst="line">
            <a:avLst/>
          </a:prstGeom>
          <a:ln w="6350">
            <a:solidFill>
              <a:srgbClr val="D0D0D0"/>
            </a:solidFill>
          </a:ln>
        </p:spPr>
      </p:cxnSp>
      <p:cxnSp>
        <p:nvCxnSpPr>
          <p:cNvPr id="92" name="Connector 91"/>
          <p:cNvCxnSpPr/>
          <p:nvPr/>
        </p:nvCxnSpPr>
        <p:spPr>
          <a:xfrm>
            <a:off x="11443335" y="1673352"/>
            <a:ext cx="0" cy="2944368"/>
          </a:xfrm>
          <a:prstGeom prst="line">
            <a:avLst/>
          </a:prstGeom>
          <a:ln w="6350">
            <a:solidFill>
              <a:srgbClr val="D0D0D0"/>
            </a:solidFill>
          </a:ln>
        </p:spPr>
      </p:cxnSp>
      <p:cxnSp>
        <p:nvCxnSpPr>
          <p:cNvPr id="93" name="Connector 92"/>
          <p:cNvCxnSpPr/>
          <p:nvPr/>
        </p:nvCxnSpPr>
        <p:spPr>
          <a:xfrm>
            <a:off x="11750040" y="1673352"/>
            <a:ext cx="0" cy="2944368"/>
          </a:xfrm>
          <a:prstGeom prst="line">
            <a:avLst/>
          </a:prstGeom>
          <a:ln w="6350">
            <a:solidFill>
              <a:srgbClr val="D0D0D0"/>
            </a:solidFill>
          </a:ln>
        </p:spPr>
      </p:cxnSp>
      <p:sp>
        <p:nvSpPr>
          <p:cNvPr id="94" name="Diamond 93"/>
          <p:cNvSpPr/>
          <p:nvPr/>
        </p:nvSpPr>
        <p:spPr>
          <a:xfrm>
            <a:off x="457200" y="4754880"/>
            <a:ext cx="201168" cy="201168"/>
          </a:xfrm>
          <a:prstGeom prst="diamond">
            <a:avLst/>
          </a:prstGeom>
          <a:solidFill>
            <a:srgbClr val="FFFFFF"/>
          </a:solidFill>
          <a:ln w="25400">
            <a:solidFill>
              <a:srgbClr val="ED7D31"/>
            </a:solidFill>
          </a:ln>
        </p:spPr>
        <p:txBody>
          <a:bodyPr rtlCol="0" anchor="ctr"/>
          <a:lstStyle/>
          <a:p>
            <a:pPr algn="ctr"/>
          </a:p>
        </p:txBody>
      </p:sp>
      <p:sp>
        <p:nvSpPr>
          <p:cNvPr id="95" name="TextBox 94"/>
          <p:cNvSpPr txBox="1"/>
          <p:nvPr/>
        </p:nvSpPr>
        <p:spPr>
          <a:xfrm>
            <a:off x="731520" y="4709160"/>
            <a:ext cx="10972800" cy="310896"/>
          </a:xfrm>
          <a:prstGeom prst="rect">
            <a:avLst/>
          </a:prstGeom>
          <a:noFill/>
        </p:spPr>
        <p:txBody>
          <a:bodyPr wrap="square" lIns="45720" rIns="45720" tIns="27432" bIns="27432" anchor="t">
            <a:spAutoFit/>
          </a:bodyPr>
          <a:lstStyle/>
          <a:p>
            <a:pPr algn="l"/>
            <a:r>
              <a:rPr sz="1300" b="0" i="0">
                <a:solidFill>
                  <a:srgbClr val="5C6770"/>
                </a:solidFill>
                <a:latin typeface="Calibri"/>
              </a:rPr>
              <a:t>Milestones:  M3 hardware  ·  M7 architecture  ·  M11 tracking  ·  M16 integrated  ·  M19 lab  ·  M22 field  ·  M24 report</a:t>
            </a:r>
          </a:p>
        </p:txBody>
      </p:sp>
      <p:sp>
        <p:nvSpPr>
          <p:cNvPr id="96" name="TextBox 95"/>
          <p:cNvSpPr txBox="1"/>
          <p:nvPr/>
        </p:nvSpPr>
        <p:spPr>
          <a:xfrm>
            <a:off x="457200" y="5111496"/>
            <a:ext cx="3657600" cy="347472"/>
          </a:xfrm>
          <a:prstGeom prst="rect">
            <a:avLst/>
          </a:prstGeom>
          <a:noFill/>
        </p:spPr>
        <p:txBody>
          <a:bodyPr wrap="square" lIns="45720" rIns="45720" tIns="27432" bIns="27432" anchor="t">
            <a:spAutoFit/>
          </a:bodyPr>
          <a:lstStyle/>
          <a:p>
            <a:pPr algn="l"/>
            <a:r>
              <a:rPr sz="1700" b="1" i="0">
                <a:solidFill>
                  <a:srgbClr val="1B3A4B"/>
                </a:solidFill>
                <a:latin typeface="Calibri"/>
              </a:rPr>
              <a:t>Risk management</a:t>
            </a:r>
          </a:p>
        </p:txBody>
      </p:sp>
      <p:sp>
        <p:nvSpPr>
          <p:cNvPr id="97" name="Rounded Rectangle 96"/>
          <p:cNvSpPr/>
          <p:nvPr/>
        </p:nvSpPr>
        <p:spPr>
          <a:xfrm>
            <a:off x="457200" y="5504688"/>
            <a:ext cx="3703320" cy="658368"/>
          </a:xfrm>
          <a:prstGeom prst="roundRect">
            <a:avLst>
              <a:gd name="adj" fmla="val 8000"/>
            </a:avLst>
          </a:prstGeom>
          <a:solidFill>
            <a:srgbClr val="E9E9E9"/>
          </a:solidFill>
          <a:ln w="9525">
            <a:solidFill>
              <a:srgbClr val="9A9A9A"/>
            </a:solidFill>
          </a:ln>
        </p:spPr>
        <p:txBody>
          <a:bodyPr rtlCol="0" anchor="ctr"/>
          <a:lstStyle/>
          <a:p>
            <a:pPr algn="ctr"/>
          </a:p>
        </p:txBody>
      </p:sp>
      <p:sp>
        <p:nvSpPr>
          <p:cNvPr id="98" name="TextBox 97"/>
          <p:cNvSpPr txBox="1"/>
          <p:nvPr/>
        </p:nvSpPr>
        <p:spPr>
          <a:xfrm>
            <a:off x="566928" y="5522976"/>
            <a:ext cx="1280160" cy="621792"/>
          </a:xfrm>
          <a:prstGeom prst="rect">
            <a:avLst/>
          </a:prstGeom>
          <a:noFill/>
        </p:spPr>
        <p:txBody>
          <a:bodyPr wrap="square" lIns="45720" rIns="45720" tIns="27432" bIns="27432" anchor="ctr">
            <a:spAutoFit/>
          </a:bodyPr>
          <a:lstStyle/>
          <a:p>
            <a:pPr algn="l"/>
            <a:r>
              <a:rPr sz="1450" b="1" i="0">
                <a:solidFill>
                  <a:srgbClr val="C55A11"/>
                </a:solidFill>
                <a:latin typeface="Calibri"/>
              </a:rPr>
              <a:t>Technical</a:t>
            </a:r>
          </a:p>
        </p:txBody>
      </p:sp>
      <p:sp>
        <p:nvSpPr>
          <p:cNvPr id="99" name="TextBox 98"/>
          <p:cNvSpPr txBox="1"/>
          <p:nvPr/>
        </p:nvSpPr>
        <p:spPr>
          <a:xfrm>
            <a:off x="1783080" y="5522976"/>
            <a:ext cx="2331720" cy="621792"/>
          </a:xfrm>
          <a:prstGeom prst="rect">
            <a:avLst/>
          </a:prstGeom>
          <a:noFill/>
        </p:spPr>
        <p:txBody>
          <a:bodyPr wrap="square" lIns="45720" rIns="45720" tIns="27432" bIns="27432" anchor="ctr">
            <a:spAutoFit/>
          </a:bodyPr>
          <a:lstStyle/>
          <a:p>
            <a:pPr algn="l"/>
            <a:r>
              <a:rPr sz="1350" b="0" i="0">
                <a:solidFill>
                  <a:srgbClr val="1C2430"/>
                </a:solidFill>
                <a:latin typeface="Calibri"/>
              </a:rPr>
              <a:t>LoRa backup and modular hardware</a:t>
            </a:r>
          </a:p>
        </p:txBody>
      </p:sp>
      <p:sp>
        <p:nvSpPr>
          <p:cNvPr id="100" name="Rounded Rectangle 99"/>
          <p:cNvSpPr/>
          <p:nvPr/>
        </p:nvSpPr>
        <p:spPr>
          <a:xfrm>
            <a:off x="4251960" y="5504688"/>
            <a:ext cx="3703320" cy="658368"/>
          </a:xfrm>
          <a:prstGeom prst="roundRect">
            <a:avLst>
              <a:gd name="adj" fmla="val 8000"/>
            </a:avLst>
          </a:prstGeom>
          <a:solidFill>
            <a:srgbClr val="E9E9E9"/>
          </a:solidFill>
          <a:ln w="9525">
            <a:solidFill>
              <a:srgbClr val="9A9A9A"/>
            </a:solidFill>
          </a:ln>
        </p:spPr>
        <p:txBody>
          <a:bodyPr rtlCol="0" anchor="ctr"/>
          <a:lstStyle/>
          <a:p>
            <a:pPr algn="ctr"/>
          </a:p>
        </p:txBody>
      </p:sp>
      <p:sp>
        <p:nvSpPr>
          <p:cNvPr id="101" name="TextBox 100"/>
          <p:cNvSpPr txBox="1"/>
          <p:nvPr/>
        </p:nvSpPr>
        <p:spPr>
          <a:xfrm>
            <a:off x="4361688" y="5522976"/>
            <a:ext cx="1280160" cy="621792"/>
          </a:xfrm>
          <a:prstGeom prst="rect">
            <a:avLst/>
          </a:prstGeom>
          <a:noFill/>
        </p:spPr>
        <p:txBody>
          <a:bodyPr wrap="square" lIns="45720" rIns="45720" tIns="27432" bIns="27432" anchor="ctr">
            <a:spAutoFit/>
          </a:bodyPr>
          <a:lstStyle/>
          <a:p>
            <a:pPr algn="l"/>
            <a:r>
              <a:rPr sz="1450" b="1" i="0">
                <a:solidFill>
                  <a:srgbClr val="C55A11"/>
                </a:solidFill>
                <a:latin typeface="Calibri"/>
              </a:rPr>
              <a:t>Operational</a:t>
            </a:r>
          </a:p>
        </p:txBody>
      </p:sp>
      <p:sp>
        <p:nvSpPr>
          <p:cNvPr id="102" name="TextBox 101"/>
          <p:cNvSpPr txBox="1"/>
          <p:nvPr/>
        </p:nvSpPr>
        <p:spPr>
          <a:xfrm>
            <a:off x="5577840" y="5522976"/>
            <a:ext cx="2331720" cy="621792"/>
          </a:xfrm>
          <a:prstGeom prst="rect">
            <a:avLst/>
          </a:prstGeom>
          <a:noFill/>
        </p:spPr>
        <p:txBody>
          <a:bodyPr wrap="square" lIns="45720" rIns="45720" tIns="27432" bIns="27432" anchor="ctr">
            <a:spAutoFit/>
          </a:bodyPr>
          <a:lstStyle/>
          <a:p>
            <a:pPr algn="l"/>
            <a:r>
              <a:rPr sz="1350" b="0" i="0">
                <a:solidFill>
                  <a:srgbClr val="1C2430"/>
                </a:solidFill>
                <a:latin typeface="Calibri"/>
              </a:rPr>
              <a:t>Phased build with test checkpoints</a:t>
            </a:r>
          </a:p>
        </p:txBody>
      </p:sp>
      <p:sp>
        <p:nvSpPr>
          <p:cNvPr id="103" name="Rounded Rectangle 102"/>
          <p:cNvSpPr/>
          <p:nvPr/>
        </p:nvSpPr>
        <p:spPr>
          <a:xfrm>
            <a:off x="8046720" y="5504688"/>
            <a:ext cx="3703320" cy="658368"/>
          </a:xfrm>
          <a:prstGeom prst="roundRect">
            <a:avLst>
              <a:gd name="adj" fmla="val 8000"/>
            </a:avLst>
          </a:prstGeom>
          <a:solidFill>
            <a:srgbClr val="E9E9E9"/>
          </a:solidFill>
          <a:ln w="9525">
            <a:solidFill>
              <a:srgbClr val="9A9A9A"/>
            </a:solidFill>
          </a:ln>
        </p:spPr>
        <p:txBody>
          <a:bodyPr rtlCol="0" anchor="ctr"/>
          <a:lstStyle/>
          <a:p>
            <a:pPr algn="ctr"/>
          </a:p>
        </p:txBody>
      </p:sp>
      <p:sp>
        <p:nvSpPr>
          <p:cNvPr id="104" name="TextBox 103"/>
          <p:cNvSpPr txBox="1"/>
          <p:nvPr/>
        </p:nvSpPr>
        <p:spPr>
          <a:xfrm>
            <a:off x="8156448" y="5522976"/>
            <a:ext cx="1280160" cy="621792"/>
          </a:xfrm>
          <a:prstGeom prst="rect">
            <a:avLst/>
          </a:prstGeom>
          <a:noFill/>
        </p:spPr>
        <p:txBody>
          <a:bodyPr wrap="square" lIns="45720" rIns="45720" tIns="27432" bIns="27432" anchor="ctr">
            <a:spAutoFit/>
          </a:bodyPr>
          <a:lstStyle/>
          <a:p>
            <a:pPr algn="l"/>
            <a:r>
              <a:rPr sz="1450" b="1" i="0">
                <a:solidFill>
                  <a:srgbClr val="C55A11"/>
                </a:solidFill>
                <a:latin typeface="Calibri"/>
              </a:rPr>
              <a:t>Financial</a:t>
            </a:r>
          </a:p>
        </p:txBody>
      </p:sp>
      <p:sp>
        <p:nvSpPr>
          <p:cNvPr id="105" name="TextBox 104"/>
          <p:cNvSpPr txBox="1"/>
          <p:nvPr/>
        </p:nvSpPr>
        <p:spPr>
          <a:xfrm>
            <a:off x="9372600" y="5522976"/>
            <a:ext cx="2331720" cy="621792"/>
          </a:xfrm>
          <a:prstGeom prst="rect">
            <a:avLst/>
          </a:prstGeom>
          <a:noFill/>
        </p:spPr>
        <p:txBody>
          <a:bodyPr wrap="square" lIns="45720" rIns="45720" tIns="27432" bIns="27432" anchor="ctr">
            <a:spAutoFit/>
          </a:bodyPr>
          <a:lstStyle/>
          <a:p>
            <a:pPr algn="l"/>
            <a:r>
              <a:rPr sz="1350" b="0" i="0">
                <a:solidFill>
                  <a:srgbClr val="1C2430"/>
                </a:solidFill>
                <a:latin typeface="Calibri"/>
              </a:rPr>
              <a:t>Conservative budget margins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05     ·     EXPECTED OUTCOMES AND TECHNOLOGY READINESS LEVEL</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Outcomes and readiness</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Outcomes and TRL</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10  /  15</a:t>
            </a:r>
          </a:p>
        </p:txBody>
      </p:sp>
      <p:sp>
        <p:nvSpPr>
          <p:cNvPr id="9" name="TextBox 8"/>
          <p:cNvSpPr txBox="1"/>
          <p:nvPr/>
        </p:nvSpPr>
        <p:spPr>
          <a:xfrm>
            <a:off x="457200" y="100584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Readiness</a:t>
            </a:r>
          </a:p>
        </p:txBody>
      </p:sp>
      <p:sp>
        <p:nvSpPr>
          <p:cNvPr id="10" name="Rectangle 9"/>
          <p:cNvSpPr/>
          <p:nvPr/>
        </p:nvSpPr>
        <p:spPr>
          <a:xfrm>
            <a:off x="457200" y="1481328"/>
            <a:ext cx="1188720" cy="548640"/>
          </a:xfrm>
          <a:prstGeom prst="rect">
            <a:avLst/>
          </a:prstGeom>
          <a:solidFill>
            <a:srgbClr val="E9E9E9"/>
          </a:solidFill>
          <a:ln>
            <a:noFill/>
          </a:ln>
        </p:spPr>
        <p:txBody>
          <a:bodyPr rtlCol="0" anchor="ctr" lIns="36576" rIns="36576" tIns="0" bIns="0" wrap="square"/>
          <a:lstStyle/>
          <a:p>
            <a:pPr algn="ctr"/>
            <a:r>
              <a:rPr sz="1500" b="1">
                <a:solidFill>
                  <a:srgbClr val="5C6770"/>
                </a:solidFill>
                <a:latin typeface="Calibri"/>
              </a:rPr>
              <a:t>TRL 1</a:t>
            </a:r>
          </a:p>
        </p:txBody>
      </p:sp>
      <p:sp>
        <p:nvSpPr>
          <p:cNvPr id="11" name="Rectangle 10"/>
          <p:cNvSpPr/>
          <p:nvPr/>
        </p:nvSpPr>
        <p:spPr>
          <a:xfrm>
            <a:off x="1700784" y="1481328"/>
            <a:ext cx="1188720" cy="548640"/>
          </a:xfrm>
          <a:prstGeom prst="rect">
            <a:avLst/>
          </a:prstGeom>
          <a:solidFill>
            <a:srgbClr val="ED7D31"/>
          </a:solidFill>
          <a:ln>
            <a:noFill/>
          </a:ln>
        </p:spPr>
        <p:txBody>
          <a:bodyPr rtlCol="0" anchor="ctr" lIns="36576" rIns="36576" tIns="0" bIns="0" wrap="square"/>
          <a:lstStyle/>
          <a:p>
            <a:pPr algn="ctr"/>
            <a:r>
              <a:rPr sz="1500" b="1">
                <a:solidFill>
                  <a:srgbClr val="FFFFFF"/>
                </a:solidFill>
                <a:latin typeface="Calibri"/>
              </a:rPr>
              <a:t>TRL 2</a:t>
            </a:r>
          </a:p>
        </p:txBody>
      </p:sp>
      <p:sp>
        <p:nvSpPr>
          <p:cNvPr id="12" name="Rectangle 11"/>
          <p:cNvSpPr/>
          <p:nvPr/>
        </p:nvSpPr>
        <p:spPr>
          <a:xfrm>
            <a:off x="2944368" y="1481328"/>
            <a:ext cx="1188720" cy="548640"/>
          </a:xfrm>
          <a:prstGeom prst="rect">
            <a:avLst/>
          </a:prstGeom>
          <a:solidFill>
            <a:srgbClr val="E9E9E9"/>
          </a:solidFill>
          <a:ln>
            <a:noFill/>
          </a:ln>
        </p:spPr>
        <p:txBody>
          <a:bodyPr rtlCol="0" anchor="ctr" lIns="36576" rIns="36576" tIns="0" bIns="0" wrap="square"/>
          <a:lstStyle/>
          <a:p>
            <a:pPr algn="ctr"/>
            <a:r>
              <a:rPr sz="1500" b="1">
                <a:solidFill>
                  <a:srgbClr val="5C6770"/>
                </a:solidFill>
                <a:latin typeface="Calibri"/>
              </a:rPr>
              <a:t>TRL 3</a:t>
            </a:r>
          </a:p>
        </p:txBody>
      </p:sp>
      <p:sp>
        <p:nvSpPr>
          <p:cNvPr id="13" name="Rectangle 12"/>
          <p:cNvSpPr/>
          <p:nvPr/>
        </p:nvSpPr>
        <p:spPr>
          <a:xfrm>
            <a:off x="4187952" y="1481328"/>
            <a:ext cx="1188720" cy="548640"/>
          </a:xfrm>
          <a:prstGeom prst="rect">
            <a:avLst/>
          </a:prstGeom>
          <a:solidFill>
            <a:srgbClr val="E9E9E9"/>
          </a:solidFill>
          <a:ln>
            <a:noFill/>
          </a:ln>
        </p:spPr>
        <p:txBody>
          <a:bodyPr rtlCol="0" anchor="ctr" lIns="36576" rIns="36576" tIns="0" bIns="0" wrap="square"/>
          <a:lstStyle/>
          <a:p>
            <a:pPr algn="ctr"/>
            <a:r>
              <a:rPr sz="1500" b="1">
                <a:solidFill>
                  <a:srgbClr val="5C6770"/>
                </a:solidFill>
                <a:latin typeface="Calibri"/>
              </a:rPr>
              <a:t>TRL 4</a:t>
            </a:r>
          </a:p>
        </p:txBody>
      </p:sp>
      <p:sp>
        <p:nvSpPr>
          <p:cNvPr id="14" name="Rectangle 13"/>
          <p:cNvSpPr/>
          <p:nvPr/>
        </p:nvSpPr>
        <p:spPr>
          <a:xfrm>
            <a:off x="5431536" y="1481328"/>
            <a:ext cx="1188720" cy="548640"/>
          </a:xfrm>
          <a:prstGeom prst="rect">
            <a:avLst/>
          </a:prstGeom>
          <a:solidFill>
            <a:srgbClr val="0071C1"/>
          </a:solidFill>
          <a:ln>
            <a:noFill/>
          </a:ln>
        </p:spPr>
        <p:txBody>
          <a:bodyPr rtlCol="0" anchor="ctr" lIns="36576" rIns="36576" tIns="0" bIns="0" wrap="square"/>
          <a:lstStyle/>
          <a:p>
            <a:pPr algn="ctr"/>
            <a:r>
              <a:rPr sz="1500" b="1">
                <a:solidFill>
                  <a:srgbClr val="FFFFFF"/>
                </a:solidFill>
                <a:latin typeface="Calibri"/>
              </a:rPr>
              <a:t>TRL 5</a:t>
            </a:r>
          </a:p>
        </p:txBody>
      </p:sp>
      <p:sp>
        <p:nvSpPr>
          <p:cNvPr id="15" name="Rectangle 14"/>
          <p:cNvSpPr/>
          <p:nvPr/>
        </p:nvSpPr>
        <p:spPr>
          <a:xfrm>
            <a:off x="6675120" y="1481328"/>
            <a:ext cx="1188720" cy="548640"/>
          </a:xfrm>
          <a:prstGeom prst="rect">
            <a:avLst/>
          </a:prstGeom>
          <a:solidFill>
            <a:srgbClr val="E9E9E9"/>
          </a:solidFill>
          <a:ln>
            <a:noFill/>
          </a:ln>
        </p:spPr>
        <p:txBody>
          <a:bodyPr rtlCol="0" anchor="ctr" lIns="36576" rIns="36576" tIns="0" bIns="0" wrap="square"/>
          <a:lstStyle/>
          <a:p>
            <a:pPr algn="ctr"/>
            <a:r>
              <a:rPr sz="1500" b="1">
                <a:solidFill>
                  <a:srgbClr val="5C6770"/>
                </a:solidFill>
                <a:latin typeface="Calibri"/>
              </a:rPr>
              <a:t>TRL 6</a:t>
            </a:r>
          </a:p>
        </p:txBody>
      </p:sp>
      <p:sp>
        <p:nvSpPr>
          <p:cNvPr id="16" name="Rectangle 15"/>
          <p:cNvSpPr/>
          <p:nvPr/>
        </p:nvSpPr>
        <p:spPr>
          <a:xfrm>
            <a:off x="7918704" y="1481328"/>
            <a:ext cx="1188720" cy="548640"/>
          </a:xfrm>
          <a:prstGeom prst="rect">
            <a:avLst/>
          </a:prstGeom>
          <a:solidFill>
            <a:srgbClr val="E9E9E9"/>
          </a:solidFill>
          <a:ln>
            <a:noFill/>
          </a:ln>
        </p:spPr>
        <p:txBody>
          <a:bodyPr rtlCol="0" anchor="ctr" lIns="36576" rIns="36576" tIns="0" bIns="0" wrap="square"/>
          <a:lstStyle/>
          <a:p>
            <a:pPr algn="ctr"/>
            <a:r>
              <a:rPr sz="1500" b="1">
                <a:solidFill>
                  <a:srgbClr val="5C6770"/>
                </a:solidFill>
                <a:latin typeface="Calibri"/>
              </a:rPr>
              <a:t>TRL 7</a:t>
            </a:r>
          </a:p>
        </p:txBody>
      </p:sp>
      <p:sp>
        <p:nvSpPr>
          <p:cNvPr id="17" name="Rectangle 16"/>
          <p:cNvSpPr/>
          <p:nvPr/>
        </p:nvSpPr>
        <p:spPr>
          <a:xfrm>
            <a:off x="9162288" y="1481328"/>
            <a:ext cx="1188720" cy="548640"/>
          </a:xfrm>
          <a:prstGeom prst="rect">
            <a:avLst/>
          </a:prstGeom>
          <a:solidFill>
            <a:srgbClr val="E9E9E9"/>
          </a:solidFill>
          <a:ln>
            <a:noFill/>
          </a:ln>
        </p:spPr>
        <p:txBody>
          <a:bodyPr rtlCol="0" anchor="ctr" lIns="36576" rIns="36576" tIns="0" bIns="0" wrap="square"/>
          <a:lstStyle/>
          <a:p>
            <a:pPr algn="ctr"/>
            <a:r>
              <a:rPr sz="1500" b="1">
                <a:solidFill>
                  <a:srgbClr val="5C6770"/>
                </a:solidFill>
                <a:latin typeface="Calibri"/>
              </a:rPr>
              <a:t>TRL 8</a:t>
            </a:r>
          </a:p>
        </p:txBody>
      </p:sp>
      <p:sp>
        <p:nvSpPr>
          <p:cNvPr id="18" name="Rectangle 17"/>
          <p:cNvSpPr/>
          <p:nvPr/>
        </p:nvSpPr>
        <p:spPr>
          <a:xfrm>
            <a:off x="10405872" y="1481328"/>
            <a:ext cx="1188720" cy="548640"/>
          </a:xfrm>
          <a:prstGeom prst="rect">
            <a:avLst/>
          </a:prstGeom>
          <a:solidFill>
            <a:srgbClr val="E9E9E9"/>
          </a:solidFill>
          <a:ln>
            <a:noFill/>
          </a:ln>
        </p:spPr>
        <p:txBody>
          <a:bodyPr rtlCol="0" anchor="ctr" lIns="36576" rIns="36576" tIns="0" bIns="0" wrap="square"/>
          <a:lstStyle/>
          <a:p>
            <a:pPr algn="ctr"/>
            <a:r>
              <a:rPr sz="1500" b="1">
                <a:solidFill>
                  <a:srgbClr val="5C6770"/>
                </a:solidFill>
                <a:latin typeface="Calibri"/>
              </a:rPr>
              <a:t>TRL 9</a:t>
            </a:r>
          </a:p>
        </p:txBody>
      </p:sp>
      <p:sp>
        <p:nvSpPr>
          <p:cNvPr id="19" name="TextBox 18"/>
          <p:cNvSpPr txBox="1"/>
          <p:nvPr/>
        </p:nvSpPr>
        <p:spPr>
          <a:xfrm>
            <a:off x="1289304" y="2075688"/>
            <a:ext cx="2011680" cy="594360"/>
          </a:xfrm>
          <a:prstGeom prst="rect">
            <a:avLst/>
          </a:prstGeom>
          <a:noFill/>
        </p:spPr>
        <p:txBody>
          <a:bodyPr wrap="square" lIns="45720" rIns="45720" tIns="27432" bIns="27432" anchor="t">
            <a:spAutoFit/>
          </a:bodyPr>
          <a:lstStyle/>
          <a:p>
            <a:pPr algn="ctr"/>
            <a:r>
              <a:rPr sz="1600" b="1" i="0">
                <a:solidFill>
                  <a:srgbClr val="ED7D31"/>
                </a:solidFill>
                <a:latin typeface="Calibri"/>
              </a:rPr>
              <a:t>Today</a:t>
            </a:r>
          </a:p>
          <a:p>
            <a:pPr algn="ctr"/>
            <a:r>
              <a:rPr sz="1300" b="0" i="0">
                <a:solidFill>
                  <a:srgbClr val="5C6770"/>
                </a:solidFill>
                <a:latin typeface="Calibri"/>
              </a:rPr>
              <a:t>integrated system</a:t>
            </a:r>
          </a:p>
        </p:txBody>
      </p:sp>
      <p:sp>
        <p:nvSpPr>
          <p:cNvPr id="20" name="TextBox 19"/>
          <p:cNvSpPr txBox="1"/>
          <p:nvPr/>
        </p:nvSpPr>
        <p:spPr>
          <a:xfrm>
            <a:off x="5020056" y="2075688"/>
            <a:ext cx="2011680" cy="594360"/>
          </a:xfrm>
          <a:prstGeom prst="rect">
            <a:avLst/>
          </a:prstGeom>
          <a:noFill/>
        </p:spPr>
        <p:txBody>
          <a:bodyPr wrap="square" lIns="45720" rIns="45720" tIns="27432" bIns="27432" anchor="t">
            <a:spAutoFit/>
          </a:bodyPr>
          <a:lstStyle/>
          <a:p>
            <a:pPr algn="ctr"/>
            <a:r>
              <a:rPr sz="1600" b="1" i="0">
                <a:solidFill>
                  <a:srgbClr val="1B3A4B"/>
                </a:solidFill>
                <a:latin typeface="Calibri"/>
              </a:rPr>
              <a:t>Month 24</a:t>
            </a:r>
          </a:p>
          <a:p>
            <a:pPr algn="ctr"/>
            <a:r>
              <a:rPr sz="1300" b="0" i="0">
                <a:solidFill>
                  <a:srgbClr val="5C6770"/>
                </a:solidFill>
                <a:latin typeface="Calibri"/>
              </a:rPr>
              <a:t>tunnel-like test</a:t>
            </a:r>
          </a:p>
        </p:txBody>
      </p:sp>
      <p:sp>
        <p:nvSpPr>
          <p:cNvPr id="21" name="TextBox 20"/>
          <p:cNvSpPr txBox="1"/>
          <p:nvPr/>
        </p:nvSpPr>
        <p:spPr>
          <a:xfrm>
            <a:off x="7324344" y="2075688"/>
            <a:ext cx="2377440" cy="594360"/>
          </a:xfrm>
          <a:prstGeom prst="rect">
            <a:avLst/>
          </a:prstGeom>
          <a:noFill/>
        </p:spPr>
        <p:txBody>
          <a:bodyPr wrap="square" lIns="45720" rIns="45720" tIns="27432" bIns="27432" anchor="t">
            <a:spAutoFit/>
          </a:bodyPr>
          <a:lstStyle/>
          <a:p>
            <a:pPr algn="ctr"/>
            <a:r>
              <a:rPr sz="1600" b="1" i="0">
                <a:solidFill>
                  <a:srgbClr val="5C6770"/>
                </a:solidFill>
                <a:latin typeface="Calibri"/>
              </a:rPr>
              <a:t>After this grant</a:t>
            </a:r>
          </a:p>
          <a:p>
            <a:pPr algn="ctr"/>
            <a:r>
              <a:rPr sz="1300" b="0" i="0">
                <a:solidFill>
                  <a:srgbClr val="5C6770"/>
                </a:solidFill>
                <a:latin typeface="Calibri"/>
              </a:rPr>
              <a:t>needs a test mine</a:t>
            </a:r>
          </a:p>
        </p:txBody>
      </p:sp>
      <p:sp>
        <p:nvSpPr>
          <p:cNvPr id="22" name="TextBox 21"/>
          <p:cNvSpPr txBox="1"/>
          <p:nvPr/>
        </p:nvSpPr>
        <p:spPr>
          <a:xfrm>
            <a:off x="457200" y="310896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Deliverables</a:t>
            </a:r>
          </a:p>
        </p:txBody>
      </p:sp>
      <p:sp>
        <p:nvSpPr>
          <p:cNvPr id="23" name="Rounded Rectangle 22"/>
          <p:cNvSpPr/>
          <p:nvPr/>
        </p:nvSpPr>
        <p:spPr>
          <a:xfrm>
            <a:off x="457200" y="3566160"/>
            <a:ext cx="5577840" cy="77724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4" name="Oval 23"/>
          <p:cNvSpPr/>
          <p:nvPr/>
        </p:nvSpPr>
        <p:spPr>
          <a:xfrm>
            <a:off x="594360" y="3758184"/>
            <a:ext cx="384048" cy="384048"/>
          </a:xfrm>
          <a:prstGeom prst="ellipse">
            <a:avLst/>
          </a:prstGeom>
          <a:solidFill>
            <a:srgbClr val="0071C1"/>
          </a:solidFill>
          <a:ln>
            <a:noFill/>
          </a:ln>
        </p:spPr>
        <p:txBody>
          <a:bodyPr rtlCol="0" anchor="ctr" lIns="36576" rIns="36576" tIns="0" bIns="0" wrap="square"/>
          <a:lstStyle/>
          <a:p>
            <a:pPr algn="ctr"/>
            <a:r>
              <a:rPr sz="1600" b="1">
                <a:solidFill>
                  <a:srgbClr val="FFFFFF"/>
                </a:solidFill>
                <a:latin typeface="Calibri"/>
              </a:rPr>
              <a:t>1</a:t>
            </a:r>
          </a:p>
        </p:txBody>
      </p:sp>
      <p:sp>
        <p:nvSpPr>
          <p:cNvPr id="25" name="TextBox 24"/>
          <p:cNvSpPr txBox="1"/>
          <p:nvPr/>
        </p:nvSpPr>
        <p:spPr>
          <a:xfrm>
            <a:off x="1097280" y="3602736"/>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Hybrid FSO–LoRa prototype: transmitter, relays, surface base station</a:t>
            </a:r>
          </a:p>
        </p:txBody>
      </p:sp>
      <p:sp>
        <p:nvSpPr>
          <p:cNvPr id="26" name="Rounded Rectangle 25"/>
          <p:cNvSpPr/>
          <p:nvPr/>
        </p:nvSpPr>
        <p:spPr>
          <a:xfrm>
            <a:off x="6172200" y="3566160"/>
            <a:ext cx="5577840" cy="77724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7" name="Oval 26"/>
          <p:cNvSpPr/>
          <p:nvPr/>
        </p:nvSpPr>
        <p:spPr>
          <a:xfrm>
            <a:off x="6309360" y="3758184"/>
            <a:ext cx="384048" cy="384048"/>
          </a:xfrm>
          <a:prstGeom prst="ellipse">
            <a:avLst/>
          </a:prstGeom>
          <a:solidFill>
            <a:srgbClr val="0071C1"/>
          </a:solidFill>
          <a:ln>
            <a:noFill/>
          </a:ln>
        </p:spPr>
        <p:txBody>
          <a:bodyPr rtlCol="0" anchor="ctr" lIns="36576" rIns="36576" tIns="0" bIns="0" wrap="square"/>
          <a:lstStyle/>
          <a:p>
            <a:pPr algn="ctr"/>
            <a:r>
              <a:rPr sz="1600" b="1">
                <a:solidFill>
                  <a:srgbClr val="FFFFFF"/>
                </a:solidFill>
                <a:latin typeface="Calibri"/>
              </a:rPr>
              <a:t>2</a:t>
            </a:r>
          </a:p>
        </p:txBody>
      </p:sp>
      <p:sp>
        <p:nvSpPr>
          <p:cNvPr id="28" name="TextBox 27"/>
          <p:cNvSpPr txBox="1"/>
          <p:nvPr/>
        </p:nvSpPr>
        <p:spPr>
          <a:xfrm>
            <a:off x="6812280" y="3602736"/>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Real-time video over more than one optical hop</a:t>
            </a:r>
          </a:p>
        </p:txBody>
      </p:sp>
      <p:sp>
        <p:nvSpPr>
          <p:cNvPr id="29" name="Rounded Rectangle 28"/>
          <p:cNvSpPr/>
          <p:nvPr/>
        </p:nvSpPr>
        <p:spPr>
          <a:xfrm>
            <a:off x="457200" y="4462272"/>
            <a:ext cx="5577840" cy="777240"/>
          </a:xfrm>
          <a:prstGeom prst="roundRect">
            <a:avLst>
              <a:gd name="adj" fmla="val 8000"/>
            </a:avLst>
          </a:prstGeom>
          <a:solidFill>
            <a:srgbClr val="E9E9E9"/>
          </a:solidFill>
          <a:ln w="9525">
            <a:solidFill>
              <a:srgbClr val="9A9A9A"/>
            </a:solidFill>
          </a:ln>
        </p:spPr>
        <p:txBody>
          <a:bodyPr rtlCol="0" anchor="ctr"/>
          <a:lstStyle/>
          <a:p>
            <a:pPr algn="ctr"/>
          </a:p>
        </p:txBody>
      </p:sp>
      <p:sp>
        <p:nvSpPr>
          <p:cNvPr id="30" name="Oval 29"/>
          <p:cNvSpPr/>
          <p:nvPr/>
        </p:nvSpPr>
        <p:spPr>
          <a:xfrm>
            <a:off x="594360" y="4654296"/>
            <a:ext cx="384048" cy="384048"/>
          </a:xfrm>
          <a:prstGeom prst="ellipse">
            <a:avLst/>
          </a:prstGeom>
          <a:solidFill>
            <a:srgbClr val="0071C1"/>
          </a:solidFill>
          <a:ln>
            <a:noFill/>
          </a:ln>
        </p:spPr>
        <p:txBody>
          <a:bodyPr rtlCol="0" anchor="ctr" lIns="36576" rIns="36576" tIns="0" bIns="0" wrap="square"/>
          <a:lstStyle/>
          <a:p>
            <a:pPr algn="ctr"/>
            <a:r>
              <a:rPr sz="1600" b="1">
                <a:solidFill>
                  <a:srgbClr val="FFFFFF"/>
                </a:solidFill>
                <a:latin typeface="Calibri"/>
              </a:rPr>
              <a:t>3</a:t>
            </a:r>
          </a:p>
        </p:txBody>
      </p:sp>
      <p:sp>
        <p:nvSpPr>
          <p:cNvPr id="31" name="TextBox 30"/>
          <p:cNvSpPr txBox="1"/>
          <p:nvPr/>
        </p:nvSpPr>
        <p:spPr>
          <a:xfrm>
            <a:off x="1097280" y="4498848"/>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Auto-tracking recovering from deliberate misalignment</a:t>
            </a:r>
          </a:p>
        </p:txBody>
      </p:sp>
      <p:sp>
        <p:nvSpPr>
          <p:cNvPr id="32" name="Rounded Rectangle 31"/>
          <p:cNvSpPr/>
          <p:nvPr/>
        </p:nvSpPr>
        <p:spPr>
          <a:xfrm>
            <a:off x="6172200" y="4462272"/>
            <a:ext cx="5577840" cy="777240"/>
          </a:xfrm>
          <a:prstGeom prst="roundRect">
            <a:avLst>
              <a:gd name="adj" fmla="val 8000"/>
            </a:avLst>
          </a:prstGeom>
          <a:solidFill>
            <a:srgbClr val="E9E9E9"/>
          </a:solidFill>
          <a:ln w="9525">
            <a:solidFill>
              <a:srgbClr val="9A9A9A"/>
            </a:solidFill>
          </a:ln>
        </p:spPr>
        <p:txBody>
          <a:bodyPr rtlCol="0" anchor="ctr"/>
          <a:lstStyle/>
          <a:p>
            <a:pPr algn="ctr"/>
          </a:p>
        </p:txBody>
      </p:sp>
      <p:sp>
        <p:nvSpPr>
          <p:cNvPr id="33" name="Oval 32"/>
          <p:cNvSpPr/>
          <p:nvPr/>
        </p:nvSpPr>
        <p:spPr>
          <a:xfrm>
            <a:off x="6309360" y="4654296"/>
            <a:ext cx="384048" cy="384048"/>
          </a:xfrm>
          <a:prstGeom prst="ellipse">
            <a:avLst/>
          </a:prstGeom>
          <a:solidFill>
            <a:srgbClr val="0071C1"/>
          </a:solidFill>
          <a:ln>
            <a:noFill/>
          </a:ln>
        </p:spPr>
        <p:txBody>
          <a:bodyPr rtlCol="0" anchor="ctr" lIns="36576" rIns="36576" tIns="0" bIns="0" wrap="square"/>
          <a:lstStyle/>
          <a:p>
            <a:pPr algn="ctr"/>
            <a:r>
              <a:rPr sz="1600" b="1">
                <a:solidFill>
                  <a:srgbClr val="FFFFFF"/>
                </a:solidFill>
                <a:latin typeface="Calibri"/>
              </a:rPr>
              <a:t>4</a:t>
            </a:r>
          </a:p>
        </p:txBody>
      </p:sp>
      <p:sp>
        <p:nvSpPr>
          <p:cNvPr id="34" name="TextBox 33"/>
          <p:cNvSpPr txBox="1"/>
          <p:nvPr/>
        </p:nvSpPr>
        <p:spPr>
          <a:xfrm>
            <a:off x="6812280" y="4498848"/>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LoRa alert delivered when a hop is interrupted</a:t>
            </a:r>
          </a:p>
        </p:txBody>
      </p:sp>
      <p:sp>
        <p:nvSpPr>
          <p:cNvPr id="35" name="Rounded Rectangle 34"/>
          <p:cNvSpPr/>
          <p:nvPr/>
        </p:nvSpPr>
        <p:spPr>
          <a:xfrm>
            <a:off x="457200" y="5358383"/>
            <a:ext cx="11292840" cy="777240"/>
          </a:xfrm>
          <a:prstGeom prst="roundRect">
            <a:avLst>
              <a:gd name="adj" fmla="val 8000"/>
            </a:avLst>
          </a:prstGeom>
          <a:solidFill>
            <a:srgbClr val="E9E9E9"/>
          </a:solidFill>
          <a:ln w="9525">
            <a:solidFill>
              <a:srgbClr val="9A9A9A"/>
            </a:solidFill>
          </a:ln>
        </p:spPr>
        <p:txBody>
          <a:bodyPr rtlCol="0" anchor="ctr"/>
          <a:lstStyle/>
          <a:p>
            <a:pPr algn="ctr"/>
          </a:p>
        </p:txBody>
      </p:sp>
      <p:sp>
        <p:nvSpPr>
          <p:cNvPr id="36" name="Oval 35"/>
          <p:cNvSpPr/>
          <p:nvPr/>
        </p:nvSpPr>
        <p:spPr>
          <a:xfrm>
            <a:off x="594360" y="5550407"/>
            <a:ext cx="384048" cy="384048"/>
          </a:xfrm>
          <a:prstGeom prst="ellipse">
            <a:avLst/>
          </a:prstGeom>
          <a:solidFill>
            <a:srgbClr val="0071C1"/>
          </a:solidFill>
          <a:ln>
            <a:noFill/>
          </a:ln>
        </p:spPr>
        <p:txBody>
          <a:bodyPr rtlCol="0" anchor="ctr" lIns="36576" rIns="36576" tIns="0" bIns="0" wrap="square"/>
          <a:lstStyle/>
          <a:p>
            <a:pPr algn="ctr"/>
            <a:r>
              <a:rPr sz="1600" b="1">
                <a:solidFill>
                  <a:srgbClr val="FFFFFF"/>
                </a:solidFill>
                <a:latin typeface="Calibri"/>
              </a:rPr>
              <a:t>5</a:t>
            </a:r>
          </a:p>
        </p:txBody>
      </p:sp>
      <p:sp>
        <p:nvSpPr>
          <p:cNvPr id="37" name="TextBox 36"/>
          <p:cNvSpPr txBox="1"/>
          <p:nvPr/>
        </p:nvSpPr>
        <p:spPr>
          <a:xfrm>
            <a:off x="1097280" y="5394959"/>
            <a:ext cx="10515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Validation report, deployment guidelines, commercialization plan, patent filing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06     ·     INDUSTRY READINESS AND COLLABORATION</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Industry engagement</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Industry</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11  /  15</a:t>
            </a:r>
          </a:p>
        </p:txBody>
      </p:sp>
      <p:sp>
        <p:nvSpPr>
          <p:cNvPr id="9" name="Rounded Rectangle 8"/>
          <p:cNvSpPr/>
          <p:nvPr/>
        </p:nvSpPr>
        <p:spPr>
          <a:xfrm>
            <a:off x="457200" y="1051560"/>
            <a:ext cx="11292840" cy="68580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0" name="TextBox 9"/>
          <p:cNvSpPr txBox="1"/>
          <p:nvPr/>
        </p:nvSpPr>
        <p:spPr>
          <a:xfrm>
            <a:off x="640080" y="1069848"/>
            <a:ext cx="10881360" cy="640080"/>
          </a:xfrm>
          <a:prstGeom prst="rect">
            <a:avLst/>
          </a:prstGeom>
          <a:noFill/>
        </p:spPr>
        <p:txBody>
          <a:bodyPr wrap="square" lIns="45720" rIns="45720" tIns="27432" bIns="27432" anchor="ctr">
            <a:spAutoFit/>
          </a:bodyPr>
          <a:lstStyle/>
          <a:p>
            <a:pPr algn="l"/>
            <a:r>
              <a:rPr sz="1700" b="1" i="0">
                <a:solidFill>
                  <a:srgbClr val="FFFFFF"/>
                </a:solidFill>
                <a:latin typeface="Calibri"/>
              </a:rPr>
              <a:t>No industry letter is attached. It is to be earned from an operator or manufacturer who has seen a supervised trial.</a:t>
            </a:r>
          </a:p>
        </p:txBody>
      </p:sp>
      <p:sp>
        <p:nvSpPr>
          <p:cNvPr id="11" name="Oval 10"/>
          <p:cNvSpPr/>
          <p:nvPr/>
        </p:nvSpPr>
        <p:spPr>
          <a:xfrm>
            <a:off x="502920" y="2011680"/>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1</a:t>
            </a:r>
          </a:p>
        </p:txBody>
      </p:sp>
      <p:sp>
        <p:nvSpPr>
          <p:cNvPr id="12" name="TextBox 11"/>
          <p:cNvSpPr txBox="1"/>
          <p:nvPr/>
        </p:nvSpPr>
        <p:spPr>
          <a:xfrm>
            <a:off x="960120" y="2029968"/>
            <a:ext cx="2194560" cy="365760"/>
          </a:xfrm>
          <a:prstGeom prst="rect">
            <a:avLst/>
          </a:prstGeom>
          <a:noFill/>
        </p:spPr>
        <p:txBody>
          <a:bodyPr wrap="square" lIns="45720" rIns="45720" tIns="27432" bIns="27432" anchor="t">
            <a:spAutoFit/>
          </a:bodyPr>
          <a:lstStyle/>
          <a:p>
            <a:pPr algn="l"/>
            <a:r>
              <a:rPr sz="1500" b="1" i="0">
                <a:solidFill>
                  <a:srgbClr val="C55A11"/>
                </a:solidFill>
                <a:latin typeface="Calibri"/>
              </a:rPr>
              <a:t>Months 1–6</a:t>
            </a:r>
          </a:p>
        </p:txBody>
      </p:sp>
      <p:sp>
        <p:nvSpPr>
          <p:cNvPr id="13" name="TextBox 12"/>
          <p:cNvSpPr txBox="1"/>
          <p:nvPr/>
        </p:nvSpPr>
        <p:spPr>
          <a:xfrm>
            <a:off x="457200" y="2560320"/>
            <a:ext cx="2697480" cy="411480"/>
          </a:xfrm>
          <a:prstGeom prst="rect">
            <a:avLst/>
          </a:prstGeom>
          <a:noFill/>
        </p:spPr>
        <p:txBody>
          <a:bodyPr wrap="square" lIns="45720" rIns="45720" tIns="27432" bIns="27432" anchor="t">
            <a:spAutoFit/>
          </a:bodyPr>
          <a:lstStyle/>
          <a:p>
            <a:pPr algn="l"/>
            <a:r>
              <a:rPr sz="2000" b="1" i="0">
                <a:solidFill>
                  <a:srgbClr val="1B3A4B"/>
                </a:solidFill>
                <a:latin typeface="Calibri"/>
              </a:rPr>
              <a:t>Find partners</a:t>
            </a:r>
          </a:p>
        </p:txBody>
      </p:sp>
      <p:sp>
        <p:nvSpPr>
          <p:cNvPr id="14" name="TextBox 13"/>
          <p:cNvSpPr txBox="1"/>
          <p:nvPr/>
        </p:nvSpPr>
        <p:spPr>
          <a:xfrm>
            <a:off x="457200" y="3017520"/>
            <a:ext cx="2697480" cy="1554480"/>
          </a:xfrm>
          <a:prstGeom prst="rect">
            <a:avLst/>
          </a:prstGeom>
          <a:noFill/>
        </p:spPr>
        <p:txBody>
          <a:bodyPr wrap="square" lIns="45720" rIns="45720" tIns="27432" bIns="27432" anchor="t">
            <a:spAutoFit/>
          </a:bodyPr>
          <a:lstStyle/>
          <a:p>
            <a:pPr algn="l"/>
            <a:r>
              <a:rPr sz="1550" b="0" i="0">
                <a:solidFill>
                  <a:srgbClr val="1C2430"/>
                </a:solidFill>
                <a:latin typeface="Calibri"/>
              </a:rPr>
              <a:t>Identify an underground operator and a mine-communications maker with TEXMiN and the industry cell. Ask for a letter of interest.</a:t>
            </a:r>
          </a:p>
        </p:txBody>
      </p:sp>
      <p:sp>
        <p:nvSpPr>
          <p:cNvPr id="15" name="Oval 14"/>
          <p:cNvSpPr/>
          <p:nvPr/>
        </p:nvSpPr>
        <p:spPr>
          <a:xfrm>
            <a:off x="3355848" y="2011680"/>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2</a:t>
            </a:r>
          </a:p>
        </p:txBody>
      </p:sp>
      <p:sp>
        <p:nvSpPr>
          <p:cNvPr id="16" name="TextBox 15"/>
          <p:cNvSpPr txBox="1"/>
          <p:nvPr/>
        </p:nvSpPr>
        <p:spPr>
          <a:xfrm>
            <a:off x="3813048" y="2029968"/>
            <a:ext cx="2194560" cy="365760"/>
          </a:xfrm>
          <a:prstGeom prst="rect">
            <a:avLst/>
          </a:prstGeom>
          <a:noFill/>
        </p:spPr>
        <p:txBody>
          <a:bodyPr wrap="square" lIns="45720" rIns="45720" tIns="27432" bIns="27432" anchor="t">
            <a:spAutoFit/>
          </a:bodyPr>
          <a:lstStyle/>
          <a:p>
            <a:pPr algn="l"/>
            <a:r>
              <a:rPr sz="1500" b="1" i="0">
                <a:solidFill>
                  <a:srgbClr val="C55A11"/>
                </a:solidFill>
                <a:latin typeface="Calibri"/>
              </a:rPr>
              <a:t>Months 6–12</a:t>
            </a:r>
          </a:p>
        </p:txBody>
      </p:sp>
      <p:sp>
        <p:nvSpPr>
          <p:cNvPr id="17" name="TextBox 16"/>
          <p:cNvSpPr txBox="1"/>
          <p:nvPr/>
        </p:nvSpPr>
        <p:spPr>
          <a:xfrm>
            <a:off x="3310128" y="2560320"/>
            <a:ext cx="2697480" cy="411480"/>
          </a:xfrm>
          <a:prstGeom prst="rect">
            <a:avLst/>
          </a:prstGeom>
          <a:noFill/>
        </p:spPr>
        <p:txBody>
          <a:bodyPr wrap="square" lIns="45720" rIns="45720" tIns="27432" bIns="27432" anchor="t">
            <a:spAutoFit/>
          </a:bodyPr>
          <a:lstStyle/>
          <a:p>
            <a:pPr algn="l"/>
            <a:r>
              <a:rPr sz="2000" b="1" i="0">
                <a:solidFill>
                  <a:srgbClr val="1B3A4B"/>
                </a:solidFill>
                <a:latin typeface="Calibri"/>
              </a:rPr>
              <a:t>Workshop</a:t>
            </a:r>
          </a:p>
        </p:txBody>
      </p:sp>
      <p:sp>
        <p:nvSpPr>
          <p:cNvPr id="18" name="TextBox 17"/>
          <p:cNvSpPr txBox="1"/>
          <p:nvPr/>
        </p:nvSpPr>
        <p:spPr>
          <a:xfrm>
            <a:off x="3310128" y="3017520"/>
            <a:ext cx="2697480" cy="1554480"/>
          </a:xfrm>
          <a:prstGeom prst="rect">
            <a:avLst/>
          </a:prstGeom>
          <a:noFill/>
        </p:spPr>
        <p:txBody>
          <a:bodyPr wrap="square" lIns="45720" rIns="45720" tIns="27432" bIns="27432" anchor="t">
            <a:spAutoFit/>
          </a:bodyPr>
          <a:lstStyle/>
          <a:p>
            <a:pPr algn="l"/>
            <a:r>
              <a:rPr sz="1550" b="0" i="0">
                <a:solidFill>
                  <a:srgbClr val="1C2430"/>
                </a:solidFill>
                <a:latin typeface="Calibri"/>
              </a:rPr>
              <a:t>Their engineer on mounting, power, dust, gas zones. Constraints frozen before the enclosure closes.</a:t>
            </a:r>
          </a:p>
        </p:txBody>
      </p:sp>
      <p:sp>
        <p:nvSpPr>
          <p:cNvPr id="19" name="Oval 18"/>
          <p:cNvSpPr/>
          <p:nvPr/>
        </p:nvSpPr>
        <p:spPr>
          <a:xfrm>
            <a:off x="6208776" y="2011680"/>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3</a:t>
            </a:r>
          </a:p>
        </p:txBody>
      </p:sp>
      <p:sp>
        <p:nvSpPr>
          <p:cNvPr id="20" name="TextBox 19"/>
          <p:cNvSpPr txBox="1"/>
          <p:nvPr/>
        </p:nvSpPr>
        <p:spPr>
          <a:xfrm>
            <a:off x="6665976" y="2029968"/>
            <a:ext cx="2194560" cy="365760"/>
          </a:xfrm>
          <a:prstGeom prst="rect">
            <a:avLst/>
          </a:prstGeom>
          <a:noFill/>
        </p:spPr>
        <p:txBody>
          <a:bodyPr wrap="square" lIns="45720" rIns="45720" tIns="27432" bIns="27432" anchor="t">
            <a:spAutoFit/>
          </a:bodyPr>
          <a:lstStyle/>
          <a:p>
            <a:pPr algn="l"/>
            <a:r>
              <a:rPr sz="1500" b="1" i="0">
                <a:solidFill>
                  <a:srgbClr val="C55A11"/>
                </a:solidFill>
                <a:latin typeface="Calibri"/>
              </a:rPr>
              <a:t>Months 18–22</a:t>
            </a:r>
          </a:p>
        </p:txBody>
      </p:sp>
      <p:sp>
        <p:nvSpPr>
          <p:cNvPr id="21" name="TextBox 20"/>
          <p:cNvSpPr txBox="1"/>
          <p:nvPr/>
        </p:nvSpPr>
        <p:spPr>
          <a:xfrm>
            <a:off x="6163056" y="2560320"/>
            <a:ext cx="2697480" cy="411480"/>
          </a:xfrm>
          <a:prstGeom prst="rect">
            <a:avLst/>
          </a:prstGeom>
          <a:noFill/>
        </p:spPr>
        <p:txBody>
          <a:bodyPr wrap="square" lIns="45720" rIns="45720" tIns="27432" bIns="27432" anchor="t">
            <a:spAutoFit/>
          </a:bodyPr>
          <a:lstStyle/>
          <a:p>
            <a:pPr algn="l"/>
            <a:r>
              <a:rPr sz="2000" b="1" i="0">
                <a:solidFill>
                  <a:srgbClr val="1B3A4B"/>
                </a:solidFill>
                <a:latin typeface="Calibri"/>
              </a:rPr>
              <a:t>Trial</a:t>
            </a:r>
          </a:p>
        </p:txBody>
      </p:sp>
      <p:sp>
        <p:nvSpPr>
          <p:cNvPr id="22" name="TextBox 21"/>
          <p:cNvSpPr txBox="1"/>
          <p:nvPr/>
        </p:nvSpPr>
        <p:spPr>
          <a:xfrm>
            <a:off x="6163056" y="3017520"/>
            <a:ext cx="2697480" cy="1554480"/>
          </a:xfrm>
          <a:prstGeom prst="rect">
            <a:avLst/>
          </a:prstGeom>
          <a:noFill/>
        </p:spPr>
        <p:txBody>
          <a:bodyPr wrap="square" lIns="45720" rIns="45720" tIns="27432" bIns="27432" anchor="t">
            <a:spAutoFit/>
          </a:bodyPr>
          <a:lstStyle/>
          <a:p>
            <a:pPr algn="l"/>
            <a:r>
              <a:rPr sz="1550" b="0" i="0">
                <a:solidFill>
                  <a:srgbClr val="1C2430"/>
                </a:solidFill>
                <a:latin typeface="Calibri"/>
              </a:rPr>
              <a:t>TEXMiN test mine or partner drift, engineer present. Report video, realignment, alert delivery.</a:t>
            </a:r>
          </a:p>
        </p:txBody>
      </p:sp>
      <p:sp>
        <p:nvSpPr>
          <p:cNvPr id="23" name="Oval 22"/>
          <p:cNvSpPr/>
          <p:nvPr/>
        </p:nvSpPr>
        <p:spPr>
          <a:xfrm>
            <a:off x="9061704" y="2011680"/>
            <a:ext cx="384048" cy="384048"/>
          </a:xfrm>
          <a:prstGeom prst="ellipse">
            <a:avLst/>
          </a:prstGeom>
          <a:solidFill>
            <a:srgbClr val="0071C1"/>
          </a:solidFill>
          <a:ln>
            <a:noFill/>
          </a:ln>
        </p:spPr>
        <p:txBody>
          <a:bodyPr rtlCol="0" anchor="ctr" lIns="36576" rIns="36576" tIns="0" bIns="0" wrap="square"/>
          <a:lstStyle/>
          <a:p>
            <a:pPr algn="ctr"/>
            <a:r>
              <a:rPr sz="1600" b="1">
                <a:solidFill>
                  <a:srgbClr val="FFFFFF"/>
                </a:solidFill>
                <a:latin typeface="Calibri"/>
              </a:rPr>
              <a:t>4</a:t>
            </a:r>
          </a:p>
        </p:txBody>
      </p:sp>
      <p:sp>
        <p:nvSpPr>
          <p:cNvPr id="24" name="TextBox 23"/>
          <p:cNvSpPr txBox="1"/>
          <p:nvPr/>
        </p:nvSpPr>
        <p:spPr>
          <a:xfrm>
            <a:off x="9518904" y="2029968"/>
            <a:ext cx="2194560" cy="365760"/>
          </a:xfrm>
          <a:prstGeom prst="rect">
            <a:avLst/>
          </a:prstGeom>
          <a:noFill/>
        </p:spPr>
        <p:txBody>
          <a:bodyPr wrap="square" lIns="45720" rIns="45720" tIns="27432" bIns="27432" anchor="t">
            <a:spAutoFit/>
          </a:bodyPr>
          <a:lstStyle/>
          <a:p>
            <a:pPr algn="l"/>
            <a:r>
              <a:rPr sz="1500" b="1" i="0">
                <a:solidFill>
                  <a:srgbClr val="C55A11"/>
                </a:solidFill>
                <a:latin typeface="Calibri"/>
              </a:rPr>
              <a:t>Months 22–24</a:t>
            </a:r>
          </a:p>
        </p:txBody>
      </p:sp>
      <p:sp>
        <p:nvSpPr>
          <p:cNvPr id="25" name="TextBox 24"/>
          <p:cNvSpPr txBox="1"/>
          <p:nvPr/>
        </p:nvSpPr>
        <p:spPr>
          <a:xfrm>
            <a:off x="9015984" y="2560320"/>
            <a:ext cx="2697480" cy="411480"/>
          </a:xfrm>
          <a:prstGeom prst="rect">
            <a:avLst/>
          </a:prstGeom>
          <a:noFill/>
        </p:spPr>
        <p:txBody>
          <a:bodyPr wrap="square" lIns="45720" rIns="45720" tIns="27432" bIns="27432" anchor="t">
            <a:spAutoFit/>
          </a:bodyPr>
          <a:lstStyle/>
          <a:p>
            <a:pPr algn="l"/>
            <a:r>
              <a:rPr sz="2000" b="1" i="0">
                <a:solidFill>
                  <a:srgbClr val="1B3A4B"/>
                </a:solidFill>
                <a:latin typeface="Calibri"/>
              </a:rPr>
              <a:t>Next step</a:t>
            </a:r>
          </a:p>
        </p:txBody>
      </p:sp>
      <p:sp>
        <p:nvSpPr>
          <p:cNvPr id="26" name="TextBox 25"/>
          <p:cNvSpPr txBox="1"/>
          <p:nvPr/>
        </p:nvSpPr>
        <p:spPr>
          <a:xfrm>
            <a:off x="9015984" y="3017520"/>
            <a:ext cx="2697480" cy="1554480"/>
          </a:xfrm>
          <a:prstGeom prst="rect">
            <a:avLst/>
          </a:prstGeom>
          <a:noFill/>
        </p:spPr>
        <p:txBody>
          <a:bodyPr wrap="square" lIns="45720" rIns="45720" tIns="27432" bIns="27432" anchor="t">
            <a:spAutoFit/>
          </a:bodyPr>
          <a:lstStyle/>
          <a:p>
            <a:pPr algn="l"/>
            <a:r>
              <a:rPr sz="1550" b="0" i="0">
                <a:solidFill>
                  <a:srgbClr val="1C2430"/>
                </a:solidFill>
                <a:latin typeface="Calibri"/>
              </a:rPr>
              <a:t>Licence or pilot talk. FTBI incubation if it becomes a venture.</a:t>
            </a:r>
          </a:p>
        </p:txBody>
      </p:sp>
      <p:sp>
        <p:nvSpPr>
          <p:cNvPr id="27" name="Rounded Rectangle 26"/>
          <p:cNvSpPr/>
          <p:nvPr/>
        </p:nvSpPr>
        <p:spPr>
          <a:xfrm>
            <a:off x="457200" y="4663440"/>
            <a:ext cx="5577840" cy="160020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8" name="TextBox 27"/>
          <p:cNvSpPr txBox="1"/>
          <p:nvPr/>
        </p:nvSpPr>
        <p:spPr>
          <a:xfrm>
            <a:off x="640080" y="4754880"/>
            <a:ext cx="5212080" cy="365760"/>
          </a:xfrm>
          <a:prstGeom prst="rect">
            <a:avLst/>
          </a:prstGeom>
          <a:noFill/>
        </p:spPr>
        <p:txBody>
          <a:bodyPr wrap="square" lIns="45720" rIns="45720" tIns="27432" bIns="27432" anchor="t">
            <a:spAutoFit/>
          </a:bodyPr>
          <a:lstStyle/>
          <a:p>
            <a:pPr algn="l"/>
            <a:r>
              <a:rPr sz="1800" b="1" i="0">
                <a:solidFill>
                  <a:srgbClr val="1B3A4B"/>
                </a:solidFill>
                <a:latin typeface="Calibri"/>
              </a:rPr>
              <a:t>Users</a:t>
            </a:r>
          </a:p>
        </p:txBody>
      </p:sp>
      <p:sp>
        <p:nvSpPr>
          <p:cNvPr id="29" name="TextBox 28"/>
          <p:cNvSpPr txBox="1"/>
          <p:nvPr/>
        </p:nvSpPr>
        <p:spPr>
          <a:xfrm>
            <a:off x="640080" y="5166360"/>
            <a:ext cx="5212080" cy="1005840"/>
          </a:xfrm>
          <a:prstGeom prst="rect">
            <a:avLst/>
          </a:prstGeom>
          <a:noFill/>
        </p:spPr>
        <p:txBody>
          <a:bodyPr wrap="square" lIns="45720" rIns="45720" tIns="27432" bIns="27432" anchor="t">
            <a:spAutoFit/>
          </a:bodyPr>
          <a:lstStyle/>
          <a:p>
            <a:pPr algn="l"/>
            <a:r>
              <a:rPr sz="1500" b="0" i="0">
                <a:solidFill>
                  <a:srgbClr val="1C2430"/>
                </a:solidFill>
                <a:latin typeface="Calibri"/>
              </a:rPr>
              <a:t>Underground coal and metal mines (managers, safety officers, rescue rooms) and mine-communication equipment makers.</a:t>
            </a:r>
          </a:p>
        </p:txBody>
      </p:sp>
      <p:sp>
        <p:nvSpPr>
          <p:cNvPr id="30" name="Rounded Rectangle 29"/>
          <p:cNvSpPr/>
          <p:nvPr/>
        </p:nvSpPr>
        <p:spPr>
          <a:xfrm>
            <a:off x="6172200" y="4663440"/>
            <a:ext cx="5577840" cy="1600200"/>
          </a:xfrm>
          <a:prstGeom prst="roundRect">
            <a:avLst>
              <a:gd name="adj" fmla="val 8000"/>
            </a:avLst>
          </a:prstGeom>
          <a:solidFill>
            <a:srgbClr val="E9E9E9"/>
          </a:solidFill>
          <a:ln w="9525">
            <a:solidFill>
              <a:srgbClr val="9A9A9A"/>
            </a:solidFill>
          </a:ln>
        </p:spPr>
        <p:txBody>
          <a:bodyPr rtlCol="0" anchor="ctr"/>
          <a:lstStyle/>
          <a:p>
            <a:pPr algn="ctr"/>
          </a:p>
        </p:txBody>
      </p:sp>
      <p:sp>
        <p:nvSpPr>
          <p:cNvPr id="31" name="TextBox 30"/>
          <p:cNvSpPr txBox="1"/>
          <p:nvPr/>
        </p:nvSpPr>
        <p:spPr>
          <a:xfrm>
            <a:off x="6355080" y="4754880"/>
            <a:ext cx="5212080" cy="365760"/>
          </a:xfrm>
          <a:prstGeom prst="rect">
            <a:avLst/>
          </a:prstGeom>
          <a:noFill/>
        </p:spPr>
        <p:txBody>
          <a:bodyPr wrap="square" lIns="45720" rIns="45720" tIns="27432" bIns="27432" anchor="t">
            <a:spAutoFit/>
          </a:bodyPr>
          <a:lstStyle/>
          <a:p>
            <a:pPr algn="l"/>
            <a:r>
              <a:rPr sz="1800" b="1" i="0">
                <a:solidFill>
                  <a:srgbClr val="1B3A4B"/>
                </a:solidFill>
                <a:latin typeface="Calibri"/>
              </a:rPr>
              <a:t>Asked of TEXMiN, non-financial</a:t>
            </a:r>
          </a:p>
        </p:txBody>
      </p:sp>
      <p:sp>
        <p:nvSpPr>
          <p:cNvPr id="32" name="TextBox 31"/>
          <p:cNvSpPr txBox="1"/>
          <p:nvPr/>
        </p:nvSpPr>
        <p:spPr>
          <a:xfrm>
            <a:off x="6355080" y="5166360"/>
            <a:ext cx="5212080" cy="1005840"/>
          </a:xfrm>
          <a:prstGeom prst="rect">
            <a:avLst/>
          </a:prstGeom>
          <a:noFill/>
        </p:spPr>
        <p:txBody>
          <a:bodyPr wrap="square" lIns="45720" rIns="45720" tIns="27432" bIns="27432" anchor="t">
            <a:spAutoFit/>
          </a:bodyPr>
          <a:lstStyle/>
          <a:p>
            <a:pPr algn="l"/>
            <a:r>
              <a:rPr sz="1500" b="0" i="0">
                <a:solidFill>
                  <a:srgbClr val="1C2430"/>
                </a:solidFill>
                <a:latin typeface="Calibri"/>
              </a:rPr>
              <a:t>Mentorship on mining standards, commercialization guidance, and test-mine access if it can be arranged.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07     ·     IMPACT AND COMMERCIALIZATION PLAN</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Impact, and how it would be deployed</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Impact and commercialization</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12  /  15</a:t>
            </a:r>
          </a:p>
        </p:txBody>
      </p:sp>
      <p:sp>
        <p:nvSpPr>
          <p:cNvPr id="9" name="TextBox 8"/>
          <p:cNvSpPr txBox="1"/>
          <p:nvPr/>
        </p:nvSpPr>
        <p:spPr>
          <a:xfrm>
            <a:off x="457200" y="100584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What the tunnel trial will measure</a:t>
            </a:r>
          </a:p>
        </p:txBody>
      </p:sp>
      <p:sp>
        <p:nvSpPr>
          <p:cNvPr id="10" name="Rounded Rectangle 9"/>
          <p:cNvSpPr/>
          <p:nvPr/>
        </p:nvSpPr>
        <p:spPr>
          <a:xfrm>
            <a:off x="457200" y="1463040"/>
            <a:ext cx="2697480" cy="12801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1" name="TextBox 10"/>
          <p:cNvSpPr txBox="1"/>
          <p:nvPr/>
        </p:nvSpPr>
        <p:spPr>
          <a:xfrm>
            <a:off x="594360" y="1572768"/>
            <a:ext cx="1920240" cy="457200"/>
          </a:xfrm>
          <a:prstGeom prst="rect">
            <a:avLst/>
          </a:prstGeom>
          <a:noFill/>
        </p:spPr>
        <p:txBody>
          <a:bodyPr wrap="square" lIns="45720" rIns="45720" tIns="27432" bIns="27432" anchor="t">
            <a:spAutoFit/>
          </a:bodyPr>
          <a:lstStyle/>
          <a:p>
            <a:pPr algn="l"/>
            <a:r>
              <a:rPr sz="1900" b="1" i="0">
                <a:solidFill>
                  <a:srgbClr val="FFD966"/>
                </a:solidFill>
                <a:latin typeface="Calibri"/>
              </a:rPr>
              <a:t>Video continuity</a:t>
            </a:r>
          </a:p>
        </p:txBody>
      </p:sp>
      <p:sp>
        <p:nvSpPr>
          <p:cNvPr id="12" name="TextBox 11"/>
          <p:cNvSpPr txBox="1"/>
          <p:nvPr/>
        </p:nvSpPr>
        <p:spPr>
          <a:xfrm>
            <a:off x="594360" y="210312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on a 50–100 m hop</a:t>
            </a:r>
          </a:p>
        </p:txBody>
      </p:sp>
      <p:pic>
        <p:nvPicPr>
          <p:cNvPr id="13" name="Picture 12" descr="monitor.png"/>
          <p:cNvPicPr>
            <a:picLocks noChangeAspect="1"/>
          </p:cNvPicPr>
          <p:nvPr/>
        </p:nvPicPr>
        <p:blipFill>
          <a:blip r:embed="rId2"/>
          <a:stretch>
            <a:fillRect/>
          </a:stretch>
        </p:blipFill>
        <p:spPr>
          <a:xfrm>
            <a:off x="2468880" y="1591056"/>
            <a:ext cx="530352" cy="427036"/>
          </a:xfrm>
          <a:prstGeom prst="rect">
            <a:avLst/>
          </a:prstGeom>
        </p:spPr>
      </p:pic>
      <p:sp>
        <p:nvSpPr>
          <p:cNvPr id="14" name="Rounded Rectangle 13"/>
          <p:cNvSpPr/>
          <p:nvPr/>
        </p:nvSpPr>
        <p:spPr>
          <a:xfrm>
            <a:off x="3291840" y="1463040"/>
            <a:ext cx="2697480" cy="12801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5" name="TextBox 14"/>
          <p:cNvSpPr txBox="1"/>
          <p:nvPr/>
        </p:nvSpPr>
        <p:spPr>
          <a:xfrm>
            <a:off x="3429000" y="1572768"/>
            <a:ext cx="1920240" cy="457200"/>
          </a:xfrm>
          <a:prstGeom prst="rect">
            <a:avLst/>
          </a:prstGeom>
          <a:noFill/>
        </p:spPr>
        <p:txBody>
          <a:bodyPr wrap="square" lIns="45720" rIns="45720" tIns="27432" bIns="27432" anchor="t">
            <a:spAutoFit/>
          </a:bodyPr>
          <a:lstStyle/>
          <a:p>
            <a:pPr algn="l"/>
            <a:r>
              <a:rPr sz="1900" b="1" i="0">
                <a:solidFill>
                  <a:srgbClr val="FFD966"/>
                </a:solidFill>
                <a:latin typeface="Calibri"/>
              </a:rPr>
              <a:t>Alert delivery</a:t>
            </a:r>
          </a:p>
        </p:txBody>
      </p:sp>
      <p:sp>
        <p:nvSpPr>
          <p:cNvPr id="16" name="TextBox 15"/>
          <p:cNvSpPr txBox="1"/>
          <p:nvPr/>
        </p:nvSpPr>
        <p:spPr>
          <a:xfrm>
            <a:off x="3429000" y="210312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when the hop is interrupted</a:t>
            </a:r>
          </a:p>
        </p:txBody>
      </p:sp>
      <p:pic>
        <p:nvPicPr>
          <p:cNvPr id="17" name="Picture 16" descr="envelope.png"/>
          <p:cNvPicPr>
            <a:picLocks noChangeAspect="1"/>
          </p:cNvPicPr>
          <p:nvPr/>
        </p:nvPicPr>
        <p:blipFill>
          <a:blip r:embed="rId3"/>
          <a:stretch>
            <a:fillRect/>
          </a:stretch>
        </p:blipFill>
        <p:spPr>
          <a:xfrm>
            <a:off x="5257800" y="1591056"/>
            <a:ext cx="621792" cy="353017"/>
          </a:xfrm>
          <a:prstGeom prst="rect">
            <a:avLst/>
          </a:prstGeom>
        </p:spPr>
      </p:pic>
      <p:sp>
        <p:nvSpPr>
          <p:cNvPr id="18" name="Rounded Rectangle 17"/>
          <p:cNvSpPr/>
          <p:nvPr/>
        </p:nvSpPr>
        <p:spPr>
          <a:xfrm>
            <a:off x="457200" y="2880360"/>
            <a:ext cx="2697480" cy="12801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9" name="TextBox 18"/>
          <p:cNvSpPr txBox="1"/>
          <p:nvPr/>
        </p:nvSpPr>
        <p:spPr>
          <a:xfrm>
            <a:off x="594360" y="2990088"/>
            <a:ext cx="1920240" cy="457200"/>
          </a:xfrm>
          <a:prstGeom prst="rect">
            <a:avLst/>
          </a:prstGeom>
          <a:noFill/>
        </p:spPr>
        <p:txBody>
          <a:bodyPr wrap="square" lIns="45720" rIns="45720" tIns="27432" bIns="27432" anchor="t">
            <a:spAutoFit/>
          </a:bodyPr>
          <a:lstStyle/>
          <a:p>
            <a:pPr algn="l"/>
            <a:r>
              <a:rPr sz="1900" b="1" i="0">
                <a:solidFill>
                  <a:srgbClr val="FFD966"/>
                </a:solidFill>
                <a:latin typeface="Calibri"/>
              </a:rPr>
              <a:t>Realignment time</a:t>
            </a:r>
          </a:p>
        </p:txBody>
      </p:sp>
      <p:sp>
        <p:nvSpPr>
          <p:cNvPr id="20" name="TextBox 19"/>
          <p:cNvSpPr txBox="1"/>
          <p:nvPr/>
        </p:nvSpPr>
        <p:spPr>
          <a:xfrm>
            <a:off x="594360" y="352044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after a deliberate disturbance</a:t>
            </a:r>
          </a:p>
        </p:txBody>
      </p:sp>
      <p:pic>
        <p:nvPicPr>
          <p:cNvPr id="21" name="Picture 20" descr="imu.png"/>
          <p:cNvPicPr>
            <a:picLocks noChangeAspect="1"/>
          </p:cNvPicPr>
          <p:nvPr/>
        </p:nvPicPr>
        <p:blipFill>
          <a:blip r:embed="rId4"/>
          <a:stretch>
            <a:fillRect/>
          </a:stretch>
        </p:blipFill>
        <p:spPr>
          <a:xfrm>
            <a:off x="2542032" y="2990088"/>
            <a:ext cx="457200" cy="335280"/>
          </a:xfrm>
          <a:prstGeom prst="rect">
            <a:avLst/>
          </a:prstGeom>
        </p:spPr>
      </p:pic>
      <p:sp>
        <p:nvSpPr>
          <p:cNvPr id="22" name="Rounded Rectangle 21"/>
          <p:cNvSpPr/>
          <p:nvPr/>
        </p:nvSpPr>
        <p:spPr>
          <a:xfrm>
            <a:off x="3291840" y="2880360"/>
            <a:ext cx="2697480" cy="12801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23" name="TextBox 22"/>
          <p:cNvSpPr txBox="1"/>
          <p:nvPr/>
        </p:nvSpPr>
        <p:spPr>
          <a:xfrm>
            <a:off x="3429000" y="2990088"/>
            <a:ext cx="1920240" cy="457200"/>
          </a:xfrm>
          <a:prstGeom prst="rect">
            <a:avLst/>
          </a:prstGeom>
          <a:noFill/>
        </p:spPr>
        <p:txBody>
          <a:bodyPr wrap="square" lIns="45720" rIns="45720" tIns="27432" bIns="27432" anchor="t">
            <a:spAutoFit/>
          </a:bodyPr>
          <a:lstStyle/>
          <a:p>
            <a:pPr algn="l"/>
            <a:r>
              <a:rPr sz="1900" b="1" i="0">
                <a:solidFill>
                  <a:srgbClr val="FFD966"/>
                </a:solidFill>
                <a:latin typeface="Calibri"/>
              </a:rPr>
              <a:t>Energy per node</a:t>
            </a:r>
          </a:p>
        </p:txBody>
      </p:sp>
      <p:sp>
        <p:nvSpPr>
          <p:cNvPr id="24" name="TextBox 23"/>
          <p:cNvSpPr txBox="1"/>
          <p:nvPr/>
        </p:nvSpPr>
        <p:spPr>
          <a:xfrm>
            <a:off x="3429000" y="352044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and bill of materials</a:t>
            </a:r>
          </a:p>
        </p:txBody>
      </p:sp>
      <p:pic>
        <p:nvPicPr>
          <p:cNvPr id="25" name="Picture 24" descr="motor.png"/>
          <p:cNvPicPr>
            <a:picLocks noChangeAspect="1"/>
          </p:cNvPicPr>
          <p:nvPr/>
        </p:nvPicPr>
        <p:blipFill>
          <a:blip r:embed="rId5"/>
          <a:stretch>
            <a:fillRect/>
          </a:stretch>
        </p:blipFill>
        <p:spPr>
          <a:xfrm>
            <a:off x="5349240" y="3008376"/>
            <a:ext cx="502920" cy="419100"/>
          </a:xfrm>
          <a:prstGeom prst="rect">
            <a:avLst/>
          </a:prstGeom>
        </p:spPr>
      </p:pic>
      <p:sp>
        <p:nvSpPr>
          <p:cNvPr id="26" name="TextBox 25"/>
          <p:cNvSpPr txBox="1"/>
          <p:nvPr/>
        </p:nvSpPr>
        <p:spPr>
          <a:xfrm>
            <a:off x="6355080" y="100584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What it changes for a mine</a:t>
            </a:r>
          </a:p>
        </p:txBody>
      </p:sp>
      <p:sp>
        <p:nvSpPr>
          <p:cNvPr id="27" name="Rounded Rectangle 26"/>
          <p:cNvSpPr/>
          <p:nvPr/>
        </p:nvSpPr>
        <p:spPr>
          <a:xfrm>
            <a:off x="6355080" y="1463040"/>
            <a:ext cx="5394960" cy="77724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8" name="Oval 27"/>
          <p:cNvSpPr/>
          <p:nvPr/>
        </p:nvSpPr>
        <p:spPr>
          <a:xfrm>
            <a:off x="6492240" y="1655064"/>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1</a:t>
            </a:r>
          </a:p>
        </p:txBody>
      </p:sp>
      <p:sp>
        <p:nvSpPr>
          <p:cNvPr id="29" name="TextBox 28"/>
          <p:cNvSpPr txBox="1"/>
          <p:nvPr/>
        </p:nvSpPr>
        <p:spPr>
          <a:xfrm>
            <a:off x="7040880" y="1508760"/>
            <a:ext cx="4617720" cy="685800"/>
          </a:xfrm>
          <a:prstGeom prst="rect">
            <a:avLst/>
          </a:prstGeom>
          <a:noFill/>
        </p:spPr>
        <p:txBody>
          <a:bodyPr wrap="square" lIns="45720" rIns="45720" tIns="27432" bIns="27432" anchor="ctr">
            <a:spAutoFit/>
          </a:bodyPr>
          <a:lstStyle/>
          <a:p>
            <a:pPr algn="l"/>
            <a:r>
              <a:rPr sz="1550" b="0" i="0">
                <a:solidFill>
                  <a:srgbClr val="1C2430"/>
                </a:solidFill>
                <a:latin typeface="Calibri"/>
              </a:rPr>
              <a:t>Re-entry decisions taken with a current picture of the face</a:t>
            </a:r>
          </a:p>
        </p:txBody>
      </p:sp>
      <p:sp>
        <p:nvSpPr>
          <p:cNvPr id="30" name="Rounded Rectangle 29"/>
          <p:cNvSpPr/>
          <p:nvPr/>
        </p:nvSpPr>
        <p:spPr>
          <a:xfrm>
            <a:off x="6355080" y="2359152"/>
            <a:ext cx="5394960" cy="777240"/>
          </a:xfrm>
          <a:prstGeom prst="roundRect">
            <a:avLst>
              <a:gd name="adj" fmla="val 8000"/>
            </a:avLst>
          </a:prstGeom>
          <a:solidFill>
            <a:srgbClr val="E9E9E9"/>
          </a:solidFill>
          <a:ln w="9525">
            <a:solidFill>
              <a:srgbClr val="9A9A9A"/>
            </a:solidFill>
          </a:ln>
        </p:spPr>
        <p:txBody>
          <a:bodyPr rtlCol="0" anchor="ctr"/>
          <a:lstStyle/>
          <a:p>
            <a:pPr algn="ctr"/>
          </a:p>
        </p:txBody>
      </p:sp>
      <p:sp>
        <p:nvSpPr>
          <p:cNvPr id="31" name="Oval 30"/>
          <p:cNvSpPr/>
          <p:nvPr/>
        </p:nvSpPr>
        <p:spPr>
          <a:xfrm>
            <a:off x="6492240" y="2551176"/>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2</a:t>
            </a:r>
          </a:p>
        </p:txBody>
      </p:sp>
      <p:sp>
        <p:nvSpPr>
          <p:cNvPr id="32" name="TextBox 31"/>
          <p:cNvSpPr txBox="1"/>
          <p:nvPr/>
        </p:nvSpPr>
        <p:spPr>
          <a:xfrm>
            <a:off x="7040880" y="2404872"/>
            <a:ext cx="4617720" cy="685800"/>
          </a:xfrm>
          <a:prstGeom prst="rect">
            <a:avLst/>
          </a:prstGeom>
          <a:noFill/>
        </p:spPr>
        <p:txBody>
          <a:bodyPr wrap="square" lIns="45720" rIns="45720" tIns="27432" bIns="27432" anchor="ctr">
            <a:spAutoFit/>
          </a:bodyPr>
          <a:lstStyle/>
          <a:p>
            <a:pPr algn="l"/>
            <a:r>
              <a:rPr sz="1550" b="0" i="0">
                <a:solidFill>
                  <a:srgbClr val="1C2430"/>
                </a:solidFill>
                <a:latin typeface="Calibri"/>
              </a:rPr>
              <a:t>The alert does not depend on a single cable</a:t>
            </a:r>
          </a:p>
        </p:txBody>
      </p:sp>
      <p:sp>
        <p:nvSpPr>
          <p:cNvPr id="33" name="Rounded Rectangle 32"/>
          <p:cNvSpPr/>
          <p:nvPr/>
        </p:nvSpPr>
        <p:spPr>
          <a:xfrm>
            <a:off x="6355080" y="3255264"/>
            <a:ext cx="5394960" cy="777240"/>
          </a:xfrm>
          <a:prstGeom prst="roundRect">
            <a:avLst>
              <a:gd name="adj" fmla="val 8000"/>
            </a:avLst>
          </a:prstGeom>
          <a:solidFill>
            <a:srgbClr val="E9E9E9"/>
          </a:solidFill>
          <a:ln w="9525">
            <a:solidFill>
              <a:srgbClr val="9A9A9A"/>
            </a:solidFill>
          </a:ln>
        </p:spPr>
        <p:txBody>
          <a:bodyPr rtlCol="0" anchor="ctr"/>
          <a:lstStyle/>
          <a:p>
            <a:pPr algn="ctr"/>
          </a:p>
        </p:txBody>
      </p:sp>
      <p:sp>
        <p:nvSpPr>
          <p:cNvPr id="34" name="Oval 33"/>
          <p:cNvSpPr/>
          <p:nvPr/>
        </p:nvSpPr>
        <p:spPr>
          <a:xfrm>
            <a:off x="6492240" y="3447288"/>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3</a:t>
            </a:r>
          </a:p>
        </p:txBody>
      </p:sp>
      <p:sp>
        <p:nvSpPr>
          <p:cNvPr id="35" name="TextBox 34"/>
          <p:cNvSpPr txBox="1"/>
          <p:nvPr/>
        </p:nvSpPr>
        <p:spPr>
          <a:xfrm>
            <a:off x="7040880" y="3300984"/>
            <a:ext cx="4617720" cy="685800"/>
          </a:xfrm>
          <a:prstGeom prst="rect">
            <a:avLst/>
          </a:prstGeom>
          <a:noFill/>
        </p:spPr>
        <p:txBody>
          <a:bodyPr wrap="square" lIns="45720" rIns="45720" tIns="27432" bIns="27432" anchor="ctr">
            <a:spAutoFit/>
          </a:bodyPr>
          <a:lstStyle/>
          <a:p>
            <a:pPr algn="l"/>
            <a:r>
              <a:rPr sz="1550" b="0" i="0">
                <a:solidFill>
                  <a:srgbClr val="1C2430"/>
                </a:solidFill>
                <a:latin typeface="Calibri"/>
              </a:rPr>
              <a:t>An indigenous node, where this class is largely imported</a:t>
            </a:r>
          </a:p>
        </p:txBody>
      </p:sp>
      <p:sp>
        <p:nvSpPr>
          <p:cNvPr id="36" name="TextBox 35"/>
          <p:cNvSpPr txBox="1"/>
          <p:nvPr/>
        </p:nvSpPr>
        <p:spPr>
          <a:xfrm>
            <a:off x="457200" y="434340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Commercial path</a:t>
            </a:r>
          </a:p>
        </p:txBody>
      </p:sp>
      <p:sp>
        <p:nvSpPr>
          <p:cNvPr id="37" name="Pentagon 36"/>
          <p:cNvSpPr/>
          <p:nvPr/>
        </p:nvSpPr>
        <p:spPr>
          <a:xfrm>
            <a:off x="457200" y="4754880"/>
            <a:ext cx="2788920" cy="1097280"/>
          </a:xfrm>
          <a:prstGeom prst="homePlate">
            <a:avLst/>
          </a:prstGeom>
          <a:solidFill>
            <a:srgbClr val="0071C1"/>
          </a:solidFill>
          <a:ln w="9525">
            <a:solidFill>
              <a:srgbClr val="00548F"/>
            </a:solidFill>
          </a:ln>
        </p:spPr>
        <p:txBody>
          <a:bodyPr rtlCol="0" anchor="ctr"/>
          <a:lstStyle/>
          <a:p>
            <a:pPr algn="ctr"/>
          </a:p>
        </p:txBody>
      </p:sp>
      <p:sp>
        <p:nvSpPr>
          <p:cNvPr id="38" name="TextBox 37"/>
          <p:cNvSpPr txBox="1"/>
          <p:nvPr/>
        </p:nvSpPr>
        <p:spPr>
          <a:xfrm>
            <a:off x="640080" y="4800600"/>
            <a:ext cx="2194560" cy="365760"/>
          </a:xfrm>
          <a:prstGeom prst="rect">
            <a:avLst/>
          </a:prstGeom>
          <a:noFill/>
        </p:spPr>
        <p:txBody>
          <a:bodyPr wrap="square" lIns="45720" rIns="45720" tIns="27432" bIns="27432" anchor="t">
            <a:spAutoFit/>
          </a:bodyPr>
          <a:lstStyle/>
          <a:p>
            <a:pPr algn="l"/>
            <a:r>
              <a:rPr sz="1800" b="1" i="0">
                <a:solidFill>
                  <a:srgbClr val="FFD966"/>
                </a:solidFill>
                <a:latin typeface="Calibri"/>
              </a:rPr>
              <a:t>This grant</a:t>
            </a:r>
          </a:p>
        </p:txBody>
      </p:sp>
      <p:sp>
        <p:nvSpPr>
          <p:cNvPr id="39" name="TextBox 38"/>
          <p:cNvSpPr txBox="1"/>
          <p:nvPr/>
        </p:nvSpPr>
        <p:spPr>
          <a:xfrm>
            <a:off x="640080" y="5166360"/>
            <a:ext cx="2103120" cy="685800"/>
          </a:xfrm>
          <a:prstGeom prst="rect">
            <a:avLst/>
          </a:prstGeom>
          <a:noFill/>
        </p:spPr>
        <p:txBody>
          <a:bodyPr wrap="square" lIns="45720" rIns="45720" tIns="27432" bIns="27432" anchor="t">
            <a:spAutoFit/>
          </a:bodyPr>
          <a:lstStyle/>
          <a:p>
            <a:pPr algn="l"/>
            <a:r>
              <a:rPr sz="1400" b="0" i="0">
                <a:solidFill>
                  <a:srgbClr val="FFFFFF"/>
                </a:solidFill>
                <a:latin typeface="Calibri"/>
              </a:rPr>
              <a:t>Proves one heading</a:t>
            </a:r>
          </a:p>
        </p:txBody>
      </p:sp>
      <p:sp>
        <p:nvSpPr>
          <p:cNvPr id="40" name="Pentagon 39"/>
          <p:cNvSpPr/>
          <p:nvPr/>
        </p:nvSpPr>
        <p:spPr>
          <a:xfrm>
            <a:off x="3310128" y="4754880"/>
            <a:ext cx="2788920" cy="1097280"/>
          </a:xfrm>
          <a:prstGeom prst="homePlate">
            <a:avLst/>
          </a:prstGeom>
          <a:solidFill>
            <a:srgbClr val="E9E9E9"/>
          </a:solidFill>
          <a:ln w="9525">
            <a:solidFill>
              <a:srgbClr val="9A9A9A"/>
            </a:solidFill>
          </a:ln>
        </p:spPr>
        <p:txBody>
          <a:bodyPr rtlCol="0" anchor="ctr"/>
          <a:lstStyle/>
          <a:p>
            <a:pPr algn="ctr"/>
          </a:p>
        </p:txBody>
      </p:sp>
      <p:sp>
        <p:nvSpPr>
          <p:cNvPr id="41" name="TextBox 40"/>
          <p:cNvSpPr txBox="1"/>
          <p:nvPr/>
        </p:nvSpPr>
        <p:spPr>
          <a:xfrm>
            <a:off x="3493008" y="4800600"/>
            <a:ext cx="2194560" cy="365760"/>
          </a:xfrm>
          <a:prstGeom prst="rect">
            <a:avLst/>
          </a:prstGeom>
          <a:noFill/>
        </p:spPr>
        <p:txBody>
          <a:bodyPr wrap="square" lIns="45720" rIns="45720" tIns="27432" bIns="27432" anchor="t">
            <a:spAutoFit/>
          </a:bodyPr>
          <a:lstStyle/>
          <a:p>
            <a:pPr algn="l"/>
            <a:r>
              <a:rPr sz="1800" b="1" i="0">
                <a:solidFill>
                  <a:srgbClr val="1B3A4B"/>
                </a:solidFill>
                <a:latin typeface="Calibri"/>
              </a:rPr>
              <a:t>Pilot</a:t>
            </a:r>
          </a:p>
        </p:txBody>
      </p:sp>
      <p:sp>
        <p:nvSpPr>
          <p:cNvPr id="42" name="TextBox 41"/>
          <p:cNvSpPr txBox="1"/>
          <p:nvPr/>
        </p:nvSpPr>
        <p:spPr>
          <a:xfrm>
            <a:off x="3493008" y="5166360"/>
            <a:ext cx="2103120" cy="685800"/>
          </a:xfrm>
          <a:prstGeom prst="rect">
            <a:avLst/>
          </a:prstGeom>
          <a:noFill/>
        </p:spPr>
        <p:txBody>
          <a:bodyPr wrap="square" lIns="45720" rIns="45720" tIns="27432" bIns="27432" anchor="t">
            <a:spAutoFit/>
          </a:bodyPr>
          <a:lstStyle/>
          <a:p>
            <a:pPr algn="l"/>
            <a:r>
              <a:rPr sz="1400" b="0" i="0">
                <a:solidFill>
                  <a:srgbClr val="1C2430"/>
                </a:solidFill>
                <a:latin typeface="Calibri"/>
              </a:rPr>
              <a:t>Supervised, with the partner who signs the letter</a:t>
            </a:r>
          </a:p>
        </p:txBody>
      </p:sp>
      <p:sp>
        <p:nvSpPr>
          <p:cNvPr id="43" name="Pentagon 42"/>
          <p:cNvSpPr/>
          <p:nvPr/>
        </p:nvSpPr>
        <p:spPr>
          <a:xfrm>
            <a:off x="6163056" y="4754880"/>
            <a:ext cx="2788920" cy="1097280"/>
          </a:xfrm>
          <a:prstGeom prst="homePlate">
            <a:avLst/>
          </a:prstGeom>
          <a:solidFill>
            <a:srgbClr val="E9E9E9"/>
          </a:solidFill>
          <a:ln w="9525">
            <a:solidFill>
              <a:srgbClr val="9A9A9A"/>
            </a:solidFill>
          </a:ln>
        </p:spPr>
        <p:txBody>
          <a:bodyPr rtlCol="0" anchor="ctr"/>
          <a:lstStyle/>
          <a:p>
            <a:pPr algn="ctr"/>
          </a:p>
        </p:txBody>
      </p:sp>
      <p:sp>
        <p:nvSpPr>
          <p:cNvPr id="44" name="TextBox 43"/>
          <p:cNvSpPr txBox="1"/>
          <p:nvPr/>
        </p:nvSpPr>
        <p:spPr>
          <a:xfrm>
            <a:off x="6345936" y="4800600"/>
            <a:ext cx="2194560" cy="365760"/>
          </a:xfrm>
          <a:prstGeom prst="rect">
            <a:avLst/>
          </a:prstGeom>
          <a:noFill/>
        </p:spPr>
        <p:txBody>
          <a:bodyPr wrap="square" lIns="45720" rIns="45720" tIns="27432" bIns="27432" anchor="t">
            <a:spAutoFit/>
          </a:bodyPr>
          <a:lstStyle/>
          <a:p>
            <a:pPr algn="l"/>
            <a:r>
              <a:rPr sz="1800" b="1" i="0">
                <a:solidFill>
                  <a:srgbClr val="1B3A4B"/>
                </a:solidFill>
                <a:latin typeface="Calibri"/>
              </a:rPr>
              <a:t>Licence or FTBI</a:t>
            </a:r>
          </a:p>
        </p:txBody>
      </p:sp>
      <p:sp>
        <p:nvSpPr>
          <p:cNvPr id="45" name="TextBox 44"/>
          <p:cNvSpPr txBox="1"/>
          <p:nvPr/>
        </p:nvSpPr>
        <p:spPr>
          <a:xfrm>
            <a:off x="6345936" y="5166360"/>
            <a:ext cx="2103120" cy="685800"/>
          </a:xfrm>
          <a:prstGeom prst="rect">
            <a:avLst/>
          </a:prstGeom>
          <a:noFill/>
        </p:spPr>
        <p:txBody>
          <a:bodyPr wrap="square" lIns="45720" rIns="45720" tIns="27432" bIns="27432" anchor="t">
            <a:spAutoFit/>
          </a:bodyPr>
          <a:lstStyle/>
          <a:p>
            <a:pPr algn="l"/>
            <a:r>
              <a:rPr sz="1400" b="0" i="0">
                <a:solidFill>
                  <a:srgbClr val="1C2430"/>
                </a:solidFill>
                <a:latin typeface="Calibri"/>
              </a:rPr>
              <a:t>Manufacturer licence, or incubated venture</a:t>
            </a:r>
          </a:p>
        </p:txBody>
      </p:sp>
      <p:sp>
        <p:nvSpPr>
          <p:cNvPr id="46" name="Pentagon 45"/>
          <p:cNvSpPr/>
          <p:nvPr/>
        </p:nvSpPr>
        <p:spPr>
          <a:xfrm>
            <a:off x="9015984" y="4754880"/>
            <a:ext cx="2788920" cy="1097280"/>
          </a:xfrm>
          <a:prstGeom prst="homePlate">
            <a:avLst/>
          </a:prstGeom>
          <a:solidFill>
            <a:srgbClr val="E9E9E9"/>
          </a:solidFill>
          <a:ln w="9525">
            <a:solidFill>
              <a:srgbClr val="9A9A9A"/>
            </a:solidFill>
          </a:ln>
        </p:spPr>
        <p:txBody>
          <a:bodyPr rtlCol="0" anchor="ctr"/>
          <a:lstStyle/>
          <a:p>
            <a:pPr algn="ctr"/>
          </a:p>
        </p:txBody>
      </p:sp>
      <p:sp>
        <p:nvSpPr>
          <p:cNvPr id="47" name="TextBox 46"/>
          <p:cNvSpPr txBox="1"/>
          <p:nvPr/>
        </p:nvSpPr>
        <p:spPr>
          <a:xfrm>
            <a:off x="9198863" y="4800600"/>
            <a:ext cx="2194560" cy="365760"/>
          </a:xfrm>
          <a:prstGeom prst="rect">
            <a:avLst/>
          </a:prstGeom>
          <a:noFill/>
        </p:spPr>
        <p:txBody>
          <a:bodyPr wrap="square" lIns="45720" rIns="45720" tIns="27432" bIns="27432" anchor="t">
            <a:spAutoFit/>
          </a:bodyPr>
          <a:lstStyle/>
          <a:p>
            <a:pPr algn="l"/>
            <a:r>
              <a:rPr sz="1800" b="1" i="0">
                <a:solidFill>
                  <a:srgbClr val="1B3A4B"/>
                </a:solidFill>
                <a:latin typeface="Calibri"/>
              </a:rPr>
              <a:t>Scale</a:t>
            </a:r>
          </a:p>
        </p:txBody>
      </p:sp>
      <p:sp>
        <p:nvSpPr>
          <p:cNvPr id="48" name="TextBox 47"/>
          <p:cNvSpPr txBox="1"/>
          <p:nvPr/>
        </p:nvSpPr>
        <p:spPr>
          <a:xfrm>
            <a:off x="9198863" y="5166360"/>
            <a:ext cx="2103120" cy="685800"/>
          </a:xfrm>
          <a:prstGeom prst="rect">
            <a:avLst/>
          </a:prstGeom>
          <a:noFill/>
        </p:spPr>
        <p:txBody>
          <a:bodyPr wrap="square" lIns="45720" rIns="45720" tIns="27432" bIns="27432" anchor="t">
            <a:spAutoFit/>
          </a:bodyPr>
          <a:lstStyle/>
          <a:p>
            <a:pPr algn="l"/>
            <a:r>
              <a:rPr sz="1400" b="0" i="0">
                <a:solidFill>
                  <a:srgbClr val="1C2430"/>
                </a:solidFill>
                <a:latin typeface="Calibri"/>
              </a:rPr>
              <a:t>Coverage grows by adding hops</a:t>
            </a:r>
          </a:p>
        </p:txBody>
      </p:sp>
      <p:sp>
        <p:nvSpPr>
          <p:cNvPr id="49" name="TextBox 48"/>
          <p:cNvSpPr txBox="1"/>
          <p:nvPr/>
        </p:nvSpPr>
        <p:spPr>
          <a:xfrm>
            <a:off x="457200" y="5989320"/>
            <a:ext cx="1554480" cy="365760"/>
          </a:xfrm>
          <a:prstGeom prst="rect">
            <a:avLst/>
          </a:prstGeom>
          <a:noFill/>
        </p:spPr>
        <p:txBody>
          <a:bodyPr wrap="square" lIns="45720" rIns="45720" tIns="27432" bIns="27432" anchor="ctr">
            <a:spAutoFit/>
          </a:bodyPr>
          <a:lstStyle/>
          <a:p>
            <a:pPr algn="l"/>
            <a:r>
              <a:rPr sz="1400" b="1" i="0">
                <a:solidFill>
                  <a:srgbClr val="5C6770"/>
                </a:solidFill>
                <a:latin typeface="Calibri"/>
              </a:rPr>
              <a:t>Also fits</a:t>
            </a:r>
          </a:p>
        </p:txBody>
      </p:sp>
      <p:sp>
        <p:nvSpPr>
          <p:cNvPr id="50" name="Rounded Rectangle 49"/>
          <p:cNvSpPr/>
          <p:nvPr/>
        </p:nvSpPr>
        <p:spPr>
          <a:xfrm>
            <a:off x="1463040" y="6016752"/>
            <a:ext cx="2057400" cy="329184"/>
          </a:xfrm>
          <a:prstGeom prst="roundRect">
            <a:avLst>
              <a:gd name="adj" fmla="val 40000"/>
            </a:avLst>
          </a:prstGeom>
          <a:solidFill>
            <a:srgbClr val="E9E9E9"/>
          </a:solidFill>
          <a:ln>
            <a:noFill/>
          </a:ln>
        </p:spPr>
        <p:txBody>
          <a:bodyPr rtlCol="0" anchor="ctr" lIns="36576" rIns="36576" tIns="0" bIns="0" wrap="square"/>
          <a:lstStyle/>
          <a:p>
            <a:pPr algn="ctr"/>
            <a:r>
              <a:rPr sz="1300" b="0">
                <a:solidFill>
                  <a:srgbClr val="1C2430"/>
                </a:solidFill>
                <a:latin typeface="Calibri"/>
              </a:rPr>
              <a:t>Tunnel monitoring</a:t>
            </a:r>
          </a:p>
        </p:txBody>
      </p:sp>
      <p:sp>
        <p:nvSpPr>
          <p:cNvPr id="51" name="Rounded Rectangle 50"/>
          <p:cNvSpPr/>
          <p:nvPr/>
        </p:nvSpPr>
        <p:spPr>
          <a:xfrm>
            <a:off x="3611880" y="6016752"/>
            <a:ext cx="2057400" cy="329184"/>
          </a:xfrm>
          <a:prstGeom prst="roundRect">
            <a:avLst>
              <a:gd name="adj" fmla="val 40000"/>
            </a:avLst>
          </a:prstGeom>
          <a:solidFill>
            <a:srgbClr val="E9E9E9"/>
          </a:solidFill>
          <a:ln>
            <a:noFill/>
          </a:ln>
        </p:spPr>
        <p:txBody>
          <a:bodyPr rtlCol="0" anchor="ctr" lIns="36576" rIns="36576" tIns="0" bIns="0" wrap="square"/>
          <a:lstStyle/>
          <a:p>
            <a:pPr algn="ctr"/>
            <a:r>
              <a:rPr sz="1300" b="0">
                <a:solidFill>
                  <a:srgbClr val="1C2430"/>
                </a:solidFill>
                <a:latin typeface="Calibri"/>
              </a:rPr>
              <a:t>Underground transport</a:t>
            </a:r>
          </a:p>
        </p:txBody>
      </p:sp>
      <p:sp>
        <p:nvSpPr>
          <p:cNvPr id="52" name="Rounded Rectangle 51"/>
          <p:cNvSpPr/>
          <p:nvPr/>
        </p:nvSpPr>
        <p:spPr>
          <a:xfrm>
            <a:off x="5760720" y="6016752"/>
            <a:ext cx="2057400" cy="329184"/>
          </a:xfrm>
          <a:prstGeom prst="roundRect">
            <a:avLst>
              <a:gd name="adj" fmla="val 40000"/>
            </a:avLst>
          </a:prstGeom>
          <a:solidFill>
            <a:srgbClr val="E9E9E9"/>
          </a:solidFill>
          <a:ln>
            <a:noFill/>
          </a:ln>
        </p:spPr>
        <p:txBody>
          <a:bodyPr rtlCol="0" anchor="ctr" lIns="36576" rIns="36576" tIns="0" bIns="0" wrap="square"/>
          <a:lstStyle/>
          <a:p>
            <a:pPr algn="ctr"/>
            <a:r>
              <a:rPr sz="1300" b="0">
                <a:solidFill>
                  <a:srgbClr val="1C2430"/>
                </a:solidFill>
                <a:latin typeface="Calibri"/>
              </a:rPr>
              <a:t>Oil and gas sites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08     ·     TEAM DETAILS AND BUDGET SUMMARY</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Team</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Team</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13  /  15</a:t>
            </a:r>
          </a:p>
        </p:txBody>
      </p:sp>
      <p:sp>
        <p:nvSpPr>
          <p:cNvPr id="9" name="Rounded Rectangle 8"/>
          <p:cNvSpPr/>
          <p:nvPr/>
        </p:nvSpPr>
        <p:spPr>
          <a:xfrm>
            <a:off x="457200" y="1097280"/>
            <a:ext cx="4206240" cy="51663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0" name="TextBox 9"/>
          <p:cNvSpPr txBox="1"/>
          <p:nvPr/>
        </p:nvSpPr>
        <p:spPr>
          <a:xfrm>
            <a:off x="685800" y="1280160"/>
            <a:ext cx="3749039" cy="365760"/>
          </a:xfrm>
          <a:prstGeom prst="rect">
            <a:avLst/>
          </a:prstGeom>
          <a:noFill/>
        </p:spPr>
        <p:txBody>
          <a:bodyPr wrap="square" lIns="45720" rIns="45720" tIns="27432" bIns="27432" anchor="t">
            <a:spAutoFit/>
          </a:bodyPr>
          <a:lstStyle/>
          <a:p>
            <a:pPr algn="l"/>
            <a:r>
              <a:rPr sz="1400" b="1" i="0">
                <a:solidFill>
                  <a:srgbClr val="FFD966"/>
                </a:solidFill>
                <a:latin typeface="Calibri"/>
              </a:rPr>
              <a:t>Principal Investigator</a:t>
            </a:r>
          </a:p>
        </p:txBody>
      </p:sp>
      <p:sp>
        <p:nvSpPr>
          <p:cNvPr id="11" name="TextBox 10"/>
          <p:cNvSpPr txBox="1"/>
          <p:nvPr/>
        </p:nvSpPr>
        <p:spPr>
          <a:xfrm>
            <a:off x="685800" y="1691640"/>
            <a:ext cx="3749039" cy="914400"/>
          </a:xfrm>
          <a:prstGeom prst="rect">
            <a:avLst/>
          </a:prstGeom>
          <a:noFill/>
        </p:spPr>
        <p:txBody>
          <a:bodyPr wrap="square" lIns="45720" rIns="45720" tIns="27432" bIns="27432" anchor="t">
            <a:spAutoFit/>
          </a:bodyPr>
          <a:lstStyle/>
          <a:p>
            <a:pPr algn="l"/>
            <a:r>
              <a:rPr sz="2500" b="1" i="0">
                <a:solidFill>
                  <a:srgbClr val="FFFFFF"/>
                </a:solidFill>
                <a:latin typeface="Calibri"/>
              </a:rPr>
              <a:t>Prof. Sadananda Behera</a:t>
            </a:r>
          </a:p>
        </p:txBody>
      </p:sp>
      <p:sp>
        <p:nvSpPr>
          <p:cNvPr id="12" name="TextBox 11"/>
          <p:cNvSpPr txBox="1"/>
          <p:nvPr/>
        </p:nvSpPr>
        <p:spPr>
          <a:xfrm>
            <a:off x="685800" y="2514600"/>
            <a:ext cx="3749039" cy="640080"/>
          </a:xfrm>
          <a:prstGeom prst="rect">
            <a:avLst/>
          </a:prstGeom>
          <a:noFill/>
        </p:spPr>
        <p:txBody>
          <a:bodyPr wrap="square" lIns="45720" rIns="45720" tIns="27432" bIns="27432" anchor="t">
            <a:spAutoFit/>
          </a:bodyPr>
          <a:lstStyle/>
          <a:p>
            <a:pPr algn="l"/>
            <a:r>
              <a:rPr sz="1700" b="0" i="0">
                <a:solidFill>
                  <a:srgbClr val="FFFFFF"/>
                </a:solidFill>
                <a:latin typeface="Calibri"/>
              </a:rPr>
              <a:t>Assistant Professor</a:t>
            </a:r>
          </a:p>
          <a:p>
            <a:pPr algn="l"/>
            <a:r>
              <a:rPr sz="1700" b="0" i="0">
                <a:solidFill>
                  <a:srgbClr val="FFFFFF"/>
                </a:solidFill>
                <a:latin typeface="Calibri"/>
              </a:rPr>
              <a:t>NIT Rourkela</a:t>
            </a:r>
          </a:p>
        </p:txBody>
      </p:sp>
      <p:sp>
        <p:nvSpPr>
          <p:cNvPr id="13" name="TextBox 12"/>
          <p:cNvSpPr txBox="1"/>
          <p:nvPr/>
        </p:nvSpPr>
        <p:spPr>
          <a:xfrm>
            <a:off x="685800" y="3246120"/>
            <a:ext cx="3749039" cy="365760"/>
          </a:xfrm>
          <a:prstGeom prst="rect">
            <a:avLst/>
          </a:prstGeom>
          <a:noFill/>
        </p:spPr>
        <p:txBody>
          <a:bodyPr wrap="square" lIns="45720" rIns="45720" tIns="27432" bIns="27432" anchor="t">
            <a:spAutoFit/>
          </a:bodyPr>
          <a:lstStyle/>
          <a:p>
            <a:pPr algn="l"/>
            <a:r>
              <a:rPr sz="1700" b="0" i="0">
                <a:solidFill>
                  <a:srgbClr val="FFFFFF"/>
                </a:solidFill>
                <a:latin typeface="Calibri"/>
              </a:rPr>
              <a:t>98610 77539</a:t>
            </a:r>
          </a:p>
        </p:txBody>
      </p:sp>
      <p:sp>
        <p:nvSpPr>
          <p:cNvPr id="14" name="Rectangle 13"/>
          <p:cNvSpPr/>
          <p:nvPr/>
        </p:nvSpPr>
        <p:spPr>
          <a:xfrm>
            <a:off x="685800" y="3840480"/>
            <a:ext cx="3291840" cy="9144"/>
          </a:xfrm>
          <a:prstGeom prst="rect">
            <a:avLst/>
          </a:prstGeom>
          <a:solidFill>
            <a:srgbClr val="7FB4DD"/>
          </a:solidFill>
          <a:ln>
            <a:noFill/>
          </a:ln>
        </p:spPr>
        <p:txBody>
          <a:bodyPr rtlCol="0" anchor="ctr"/>
          <a:lstStyle/>
          <a:p>
            <a:pPr algn="ctr"/>
          </a:p>
        </p:txBody>
      </p:sp>
      <p:sp>
        <p:nvSpPr>
          <p:cNvPr id="15" name="TextBox 14"/>
          <p:cNvSpPr txBox="1"/>
          <p:nvPr/>
        </p:nvSpPr>
        <p:spPr>
          <a:xfrm>
            <a:off x="685800" y="3977639"/>
            <a:ext cx="3749039" cy="2103120"/>
          </a:xfrm>
          <a:prstGeom prst="rect">
            <a:avLst/>
          </a:prstGeom>
          <a:noFill/>
        </p:spPr>
        <p:txBody>
          <a:bodyPr wrap="square" lIns="45720" rIns="45720" tIns="27432" bIns="27432" anchor="t">
            <a:spAutoFit/>
          </a:bodyPr>
          <a:lstStyle/>
          <a:p>
            <a:pPr algn="l"/>
            <a:r>
              <a:rPr sz="1550" b="1" i="0">
                <a:solidFill>
                  <a:srgbClr val="FFD966"/>
                </a:solidFill>
                <a:latin typeface="Calibri"/>
              </a:rPr>
              <a:t>No co-PI. </a:t>
            </a:r>
            <a:r>
              <a:rPr sz="1550" b="0" i="0">
                <a:solidFill>
                  <a:srgbClr val="FFFFFF"/>
                </a:solidFill>
                <a:latin typeface="Calibri"/>
              </a:rPr>
              <a:t>Two project assistants for 24 months. The PI leads every work package.</a:t>
            </a:r>
          </a:p>
          <a:p>
            <a:pPr algn="l"/>
            <a:r>
              <a:rPr sz="1550" b="0" i="0">
                <a:solidFill>
                  <a:srgbClr val="FFFFFF"/>
                </a:solidFill>
                <a:latin typeface="Calibri"/>
              </a:rPr>
              <a:t/>
            </a:r>
          </a:p>
          <a:p>
            <a:pPr algn="l"/>
            <a:r>
              <a:rPr sz="1550" b="0" i="0">
                <a:solidFill>
                  <a:srgbClr val="FFFFFF"/>
                </a:solidFill>
                <a:latin typeface="Calibri"/>
              </a:rPr>
              <a:t>Mining practice comes from TEXMiN mentors and the industry engineer, before the enclosure is frozen.</a:t>
            </a:r>
          </a:p>
        </p:txBody>
      </p:sp>
      <p:sp>
        <p:nvSpPr>
          <p:cNvPr id="16" name="TextBox 15"/>
          <p:cNvSpPr txBox="1"/>
          <p:nvPr/>
        </p:nvSpPr>
        <p:spPr>
          <a:xfrm>
            <a:off x="4937760" y="1097280"/>
            <a:ext cx="6400800" cy="365760"/>
          </a:xfrm>
          <a:prstGeom prst="rect">
            <a:avLst/>
          </a:prstGeom>
          <a:noFill/>
        </p:spPr>
        <p:txBody>
          <a:bodyPr wrap="square" lIns="45720" rIns="45720" tIns="27432" bIns="27432" anchor="t">
            <a:spAutoFit/>
          </a:bodyPr>
          <a:lstStyle/>
          <a:p>
            <a:pPr algn="l"/>
            <a:r>
              <a:rPr sz="2000" b="1" i="0">
                <a:solidFill>
                  <a:srgbClr val="1B3A4B"/>
                </a:solidFill>
                <a:latin typeface="Calibri"/>
              </a:rPr>
              <a:t>Relevant experience</a:t>
            </a:r>
          </a:p>
        </p:txBody>
      </p:sp>
      <p:sp>
        <p:nvSpPr>
          <p:cNvPr id="17" name="Rounded Rectangle 16"/>
          <p:cNvSpPr/>
          <p:nvPr/>
        </p:nvSpPr>
        <p:spPr>
          <a:xfrm>
            <a:off x="4937760" y="1554480"/>
            <a:ext cx="2194560" cy="1965960"/>
          </a:xfrm>
          <a:prstGeom prst="roundRect">
            <a:avLst>
              <a:gd name="adj" fmla="val 8000"/>
            </a:avLst>
          </a:prstGeom>
          <a:solidFill>
            <a:srgbClr val="E9E9E9"/>
          </a:solidFill>
          <a:ln w="9525">
            <a:solidFill>
              <a:srgbClr val="9A9A9A"/>
            </a:solidFill>
          </a:ln>
        </p:spPr>
        <p:txBody>
          <a:bodyPr rtlCol="0" anchor="ctr"/>
          <a:lstStyle/>
          <a:p>
            <a:pPr algn="ctr"/>
          </a:p>
        </p:txBody>
      </p:sp>
      <p:sp>
        <p:nvSpPr>
          <p:cNvPr id="18" name="TextBox 17"/>
          <p:cNvSpPr txBox="1"/>
          <p:nvPr/>
        </p:nvSpPr>
        <p:spPr>
          <a:xfrm>
            <a:off x="5047488" y="1627632"/>
            <a:ext cx="2011680" cy="640080"/>
          </a:xfrm>
          <a:prstGeom prst="rect">
            <a:avLst/>
          </a:prstGeom>
          <a:noFill/>
        </p:spPr>
        <p:txBody>
          <a:bodyPr wrap="square" lIns="45720" rIns="45720" tIns="27432" bIns="27432" anchor="t">
            <a:spAutoFit/>
          </a:bodyPr>
          <a:lstStyle/>
          <a:p>
            <a:pPr algn="l"/>
            <a:r>
              <a:rPr sz="1700" b="1" i="0">
                <a:solidFill>
                  <a:srgbClr val="C55A11"/>
                </a:solidFill>
                <a:latin typeface="Calibri"/>
              </a:rPr>
              <a:t>JLT, JOCN</a:t>
            </a:r>
          </a:p>
        </p:txBody>
      </p:sp>
      <p:sp>
        <p:nvSpPr>
          <p:cNvPr id="19" name="TextBox 18"/>
          <p:cNvSpPr txBox="1"/>
          <p:nvPr/>
        </p:nvSpPr>
        <p:spPr>
          <a:xfrm>
            <a:off x="5047488" y="2286000"/>
            <a:ext cx="2011680" cy="1188720"/>
          </a:xfrm>
          <a:prstGeom prst="rect">
            <a:avLst/>
          </a:prstGeom>
          <a:noFill/>
        </p:spPr>
        <p:txBody>
          <a:bodyPr wrap="square" lIns="45720" rIns="45720" tIns="27432" bIns="27432" anchor="t">
            <a:spAutoFit/>
          </a:bodyPr>
          <a:lstStyle/>
          <a:p>
            <a:pPr algn="l"/>
            <a:r>
              <a:rPr sz="1350" b="0" i="0">
                <a:solidFill>
                  <a:srgbClr val="1C2430"/>
                </a:solidFill>
                <a:latin typeface="Calibri"/>
              </a:rPr>
              <a:t>Optical links under impairment: soft-failure detection and localization</a:t>
            </a:r>
          </a:p>
        </p:txBody>
      </p:sp>
      <p:sp>
        <p:nvSpPr>
          <p:cNvPr id="20" name="Rounded Rectangle 19"/>
          <p:cNvSpPr/>
          <p:nvPr/>
        </p:nvSpPr>
        <p:spPr>
          <a:xfrm>
            <a:off x="7223760" y="1554480"/>
            <a:ext cx="2194560" cy="196596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1" name="TextBox 20"/>
          <p:cNvSpPr txBox="1"/>
          <p:nvPr/>
        </p:nvSpPr>
        <p:spPr>
          <a:xfrm>
            <a:off x="7333488" y="1627632"/>
            <a:ext cx="2011680" cy="640080"/>
          </a:xfrm>
          <a:prstGeom prst="rect">
            <a:avLst/>
          </a:prstGeom>
          <a:noFill/>
        </p:spPr>
        <p:txBody>
          <a:bodyPr wrap="square" lIns="45720" rIns="45720" tIns="27432" bIns="27432" anchor="t">
            <a:spAutoFit/>
          </a:bodyPr>
          <a:lstStyle/>
          <a:p>
            <a:pPr algn="l"/>
            <a:r>
              <a:rPr sz="1700" b="1" i="0">
                <a:solidFill>
                  <a:srgbClr val="C55A11"/>
                </a:solidFill>
                <a:latin typeface="Calibri"/>
              </a:rPr>
              <a:t>Indian patent</a:t>
            </a:r>
          </a:p>
        </p:txBody>
      </p:sp>
      <p:sp>
        <p:nvSpPr>
          <p:cNvPr id="22" name="TextBox 21"/>
          <p:cNvSpPr txBox="1"/>
          <p:nvPr/>
        </p:nvSpPr>
        <p:spPr>
          <a:xfrm>
            <a:off x="7333488" y="2286000"/>
            <a:ext cx="2011680" cy="1188720"/>
          </a:xfrm>
          <a:prstGeom prst="rect">
            <a:avLst/>
          </a:prstGeom>
          <a:noFill/>
        </p:spPr>
        <p:txBody>
          <a:bodyPr wrap="square" lIns="45720" rIns="45720" tIns="27432" bIns="27432" anchor="t">
            <a:spAutoFit/>
          </a:bodyPr>
          <a:lstStyle/>
          <a:p>
            <a:pPr algn="l"/>
            <a:r>
              <a:rPr sz="1350" b="0" i="0">
                <a:solidFill>
                  <a:srgbClr val="1C2430"/>
                </a:solidFill>
                <a:latin typeface="Calibri"/>
              </a:rPr>
              <a:t>Published application for a deployable hardware testbed</a:t>
            </a:r>
          </a:p>
        </p:txBody>
      </p:sp>
      <p:sp>
        <p:nvSpPr>
          <p:cNvPr id="23" name="Rounded Rectangle 22"/>
          <p:cNvSpPr/>
          <p:nvPr/>
        </p:nvSpPr>
        <p:spPr>
          <a:xfrm>
            <a:off x="9509760" y="1554480"/>
            <a:ext cx="2194560" cy="196596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4" name="TextBox 23"/>
          <p:cNvSpPr txBox="1"/>
          <p:nvPr/>
        </p:nvSpPr>
        <p:spPr>
          <a:xfrm>
            <a:off x="9619488" y="1627632"/>
            <a:ext cx="2011680" cy="640080"/>
          </a:xfrm>
          <a:prstGeom prst="rect">
            <a:avLst/>
          </a:prstGeom>
          <a:noFill/>
        </p:spPr>
        <p:txBody>
          <a:bodyPr wrap="square" lIns="45720" rIns="45720" tIns="27432" bIns="27432" anchor="t">
            <a:spAutoFit/>
          </a:bodyPr>
          <a:lstStyle/>
          <a:p>
            <a:pPr algn="l"/>
            <a:r>
              <a:rPr sz="1700" b="1" i="0">
                <a:solidFill>
                  <a:srgbClr val="C55A11"/>
                </a:solidFill>
                <a:latin typeface="Calibri"/>
              </a:rPr>
              <a:t>2 DoT / TCoE projects</a:t>
            </a:r>
          </a:p>
        </p:txBody>
      </p:sp>
      <p:sp>
        <p:nvSpPr>
          <p:cNvPr id="25" name="TextBox 24"/>
          <p:cNvSpPr txBox="1"/>
          <p:nvPr/>
        </p:nvSpPr>
        <p:spPr>
          <a:xfrm>
            <a:off x="9619488" y="2286000"/>
            <a:ext cx="2011680" cy="1188720"/>
          </a:xfrm>
          <a:prstGeom prst="rect">
            <a:avLst/>
          </a:prstGeom>
          <a:noFill/>
        </p:spPr>
        <p:txBody>
          <a:bodyPr wrap="square" lIns="45720" rIns="45720" tIns="27432" bIns="27432" anchor="t">
            <a:spAutoFit/>
          </a:bodyPr>
          <a:lstStyle/>
          <a:p>
            <a:pPr algn="l"/>
            <a:r>
              <a:rPr sz="1350" b="0" i="0">
                <a:solidFill>
                  <a:srgbClr val="1C2430"/>
                </a:solidFill>
                <a:latin typeface="Calibri"/>
              </a:rPr>
              <a:t>Co-PI on 6G projects, about ₹80 lakh and ₹82.4 lakh. One is a hybrid transceiver</a:t>
            </a:r>
          </a:p>
        </p:txBody>
      </p:sp>
      <p:sp>
        <p:nvSpPr>
          <p:cNvPr id="26" name="TextBox 25"/>
          <p:cNvSpPr txBox="1"/>
          <p:nvPr/>
        </p:nvSpPr>
        <p:spPr>
          <a:xfrm>
            <a:off x="4937760" y="3749039"/>
            <a:ext cx="6400800" cy="365760"/>
          </a:xfrm>
          <a:prstGeom prst="rect">
            <a:avLst/>
          </a:prstGeom>
          <a:noFill/>
        </p:spPr>
        <p:txBody>
          <a:bodyPr wrap="square" lIns="45720" rIns="45720" tIns="27432" bIns="27432" anchor="t">
            <a:spAutoFit/>
          </a:bodyPr>
          <a:lstStyle/>
          <a:p>
            <a:pPr algn="l"/>
            <a:r>
              <a:rPr sz="2000" b="1" i="0">
                <a:solidFill>
                  <a:srgbClr val="1B3A4B"/>
                </a:solidFill>
                <a:latin typeface="Calibri"/>
              </a:rPr>
              <a:t>Division of the work</a:t>
            </a:r>
          </a:p>
        </p:txBody>
      </p:sp>
      <p:sp>
        <p:nvSpPr>
          <p:cNvPr id="27" name="Rounded Rectangle 26"/>
          <p:cNvSpPr/>
          <p:nvPr/>
        </p:nvSpPr>
        <p:spPr>
          <a:xfrm>
            <a:off x="4937760" y="4206240"/>
            <a:ext cx="3291840" cy="205740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8" name="TextBox 27"/>
          <p:cNvSpPr txBox="1"/>
          <p:nvPr/>
        </p:nvSpPr>
        <p:spPr>
          <a:xfrm>
            <a:off x="5074920" y="4279392"/>
            <a:ext cx="3017520" cy="365760"/>
          </a:xfrm>
          <a:prstGeom prst="rect">
            <a:avLst/>
          </a:prstGeom>
          <a:noFill/>
        </p:spPr>
        <p:txBody>
          <a:bodyPr wrap="square" lIns="45720" rIns="45720" tIns="27432" bIns="27432" anchor="t">
            <a:spAutoFit/>
          </a:bodyPr>
          <a:lstStyle/>
          <a:p>
            <a:pPr algn="l"/>
            <a:r>
              <a:rPr sz="1700" b="1" i="0">
                <a:solidFill>
                  <a:srgbClr val="1B3A4B"/>
                </a:solidFill>
                <a:latin typeface="Calibri"/>
              </a:rPr>
              <a:t>Project assistant 1</a:t>
            </a:r>
          </a:p>
        </p:txBody>
      </p:sp>
      <p:sp>
        <p:nvSpPr>
          <p:cNvPr id="29" name="TextBox 28"/>
          <p:cNvSpPr txBox="1"/>
          <p:nvPr/>
        </p:nvSpPr>
        <p:spPr>
          <a:xfrm>
            <a:off x="5074920" y="4681728"/>
            <a:ext cx="3017520" cy="1051560"/>
          </a:xfrm>
          <a:prstGeom prst="rect">
            <a:avLst/>
          </a:prstGeom>
          <a:noFill/>
        </p:spPr>
        <p:txBody>
          <a:bodyPr wrap="square" lIns="45720" rIns="45720" tIns="27432" bIns="27432" anchor="t">
            <a:spAutoFit/>
          </a:bodyPr>
          <a:lstStyle/>
          <a:p>
            <a:pPr algn="l"/>
            <a:r>
              <a:rPr sz="1450" b="0" i="0">
                <a:solidFill>
                  <a:srgbClr val="1C2430"/>
                </a:solidFill>
                <a:latin typeface="Calibri"/>
              </a:rPr>
              <a:t>Hardware: FSO, IMU, pan-tilt, LoRa, PCB, enclosure</a:t>
            </a:r>
          </a:p>
        </p:txBody>
      </p:sp>
      <p:sp>
        <p:nvSpPr>
          <p:cNvPr id="30" name="TextBox 29"/>
          <p:cNvSpPr txBox="1"/>
          <p:nvPr/>
        </p:nvSpPr>
        <p:spPr>
          <a:xfrm>
            <a:off x="5074920" y="5806440"/>
            <a:ext cx="3017520" cy="365760"/>
          </a:xfrm>
          <a:prstGeom prst="rect">
            <a:avLst/>
          </a:prstGeom>
          <a:noFill/>
        </p:spPr>
        <p:txBody>
          <a:bodyPr wrap="square" lIns="45720" rIns="45720" tIns="27432" bIns="27432" anchor="t">
            <a:spAutoFit/>
          </a:bodyPr>
          <a:lstStyle/>
          <a:p>
            <a:pPr algn="l"/>
            <a:r>
              <a:rPr sz="1450" b="1" i="0">
                <a:solidFill>
                  <a:srgbClr val="C55A11"/>
                </a:solidFill>
                <a:latin typeface="Calibri"/>
              </a:rPr>
              <a:t>₹15,000 / month</a:t>
            </a:r>
          </a:p>
        </p:txBody>
      </p:sp>
      <p:sp>
        <p:nvSpPr>
          <p:cNvPr id="31" name="Rounded Rectangle 30"/>
          <p:cNvSpPr/>
          <p:nvPr/>
        </p:nvSpPr>
        <p:spPr>
          <a:xfrm>
            <a:off x="8366760" y="4206240"/>
            <a:ext cx="3291840" cy="2057400"/>
          </a:xfrm>
          <a:prstGeom prst="roundRect">
            <a:avLst>
              <a:gd name="adj" fmla="val 8000"/>
            </a:avLst>
          </a:prstGeom>
          <a:solidFill>
            <a:srgbClr val="E9E9E9"/>
          </a:solidFill>
          <a:ln w="9525">
            <a:solidFill>
              <a:srgbClr val="9A9A9A"/>
            </a:solidFill>
          </a:ln>
        </p:spPr>
        <p:txBody>
          <a:bodyPr rtlCol="0" anchor="ctr"/>
          <a:lstStyle/>
          <a:p>
            <a:pPr algn="ctr"/>
          </a:p>
        </p:txBody>
      </p:sp>
      <p:sp>
        <p:nvSpPr>
          <p:cNvPr id="32" name="TextBox 31"/>
          <p:cNvSpPr txBox="1"/>
          <p:nvPr/>
        </p:nvSpPr>
        <p:spPr>
          <a:xfrm>
            <a:off x="8503920" y="4279392"/>
            <a:ext cx="3017520" cy="365760"/>
          </a:xfrm>
          <a:prstGeom prst="rect">
            <a:avLst/>
          </a:prstGeom>
          <a:noFill/>
        </p:spPr>
        <p:txBody>
          <a:bodyPr wrap="square" lIns="45720" rIns="45720" tIns="27432" bIns="27432" anchor="t">
            <a:spAutoFit/>
          </a:bodyPr>
          <a:lstStyle/>
          <a:p>
            <a:pPr algn="l"/>
            <a:r>
              <a:rPr sz="1700" b="1" i="0">
                <a:solidFill>
                  <a:srgbClr val="1B3A4B"/>
                </a:solidFill>
                <a:latin typeface="Calibri"/>
              </a:rPr>
              <a:t>Project assistant 2</a:t>
            </a:r>
          </a:p>
        </p:txBody>
      </p:sp>
      <p:sp>
        <p:nvSpPr>
          <p:cNvPr id="33" name="TextBox 32"/>
          <p:cNvSpPr txBox="1"/>
          <p:nvPr/>
        </p:nvSpPr>
        <p:spPr>
          <a:xfrm>
            <a:off x="8503920" y="4681728"/>
            <a:ext cx="3017520" cy="1051560"/>
          </a:xfrm>
          <a:prstGeom prst="rect">
            <a:avLst/>
          </a:prstGeom>
          <a:noFill/>
        </p:spPr>
        <p:txBody>
          <a:bodyPr wrap="square" lIns="45720" rIns="45720" tIns="27432" bIns="27432" anchor="t">
            <a:spAutoFit/>
          </a:bodyPr>
          <a:lstStyle/>
          <a:p>
            <a:pPr algn="l"/>
            <a:r>
              <a:rPr sz="1450" b="0" i="0">
                <a:solidFill>
                  <a:srgbClr val="1C2430"/>
                </a:solidFill>
                <a:latin typeface="Calibri"/>
              </a:rPr>
              <a:t>Software: multi-hop forwarding, video, tracking loop, surface display</a:t>
            </a:r>
          </a:p>
        </p:txBody>
      </p:sp>
      <p:sp>
        <p:nvSpPr>
          <p:cNvPr id="34" name="TextBox 33"/>
          <p:cNvSpPr txBox="1"/>
          <p:nvPr/>
        </p:nvSpPr>
        <p:spPr>
          <a:xfrm>
            <a:off x="8503920" y="5806440"/>
            <a:ext cx="3017520" cy="365760"/>
          </a:xfrm>
          <a:prstGeom prst="rect">
            <a:avLst/>
          </a:prstGeom>
          <a:noFill/>
        </p:spPr>
        <p:txBody>
          <a:bodyPr wrap="square" lIns="45720" rIns="45720" tIns="27432" bIns="27432" anchor="t">
            <a:spAutoFit/>
          </a:bodyPr>
          <a:lstStyle/>
          <a:p>
            <a:pPr algn="l"/>
            <a:r>
              <a:rPr sz="1450" b="1" i="0">
                <a:solidFill>
                  <a:srgbClr val="C55A11"/>
                </a:solidFill>
                <a:latin typeface="Calibri"/>
              </a:rPr>
              <a:t>₹15,000 / month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08     ·     TEAM DETAILS AND BUDGET SUMMARY</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Budget — ₹15.00 lakh</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Budget</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14  /  15</a:t>
            </a:r>
          </a:p>
        </p:txBody>
      </p:sp>
      <p:sp>
        <p:nvSpPr>
          <p:cNvPr id="9" name="TextBox 8"/>
          <p:cNvSpPr txBox="1"/>
          <p:nvPr/>
        </p:nvSpPr>
        <p:spPr>
          <a:xfrm>
            <a:off x="457200" y="960120"/>
            <a:ext cx="11247120" cy="365760"/>
          </a:xfrm>
          <a:prstGeom prst="rect">
            <a:avLst/>
          </a:prstGeom>
          <a:noFill/>
        </p:spPr>
        <p:txBody>
          <a:bodyPr wrap="square" lIns="45720" rIns="45720" tIns="27432" bIns="27432" anchor="t">
            <a:spAutoFit/>
          </a:bodyPr>
          <a:lstStyle/>
          <a:p>
            <a:pPr algn="l"/>
            <a:r>
              <a:rPr sz="1500" b="0" i="0">
                <a:solidFill>
                  <a:srgbClr val="5C6770"/>
                </a:solidFill>
                <a:latin typeface="Calibri"/>
              </a:rPr>
              <a:t>In ₹ lakh. Institute overhead is zero. Year 1 is ₹7.60 lakh and Year 2 is ₹7.40 lakh.</a:t>
            </a:r>
          </a:p>
        </p:txBody>
      </p:sp>
      <p:graphicFrame>
        <p:nvGraphicFramePr>
          <p:cNvPr id="10" name="Chart 9"/>
          <p:cNvGraphicFramePr>
            <a:graphicFrameLocks noGrp="1"/>
          </p:cNvGraphicFramePr>
          <p:nvPr/>
        </p:nvGraphicFramePr>
        <p:xfrm>
          <a:off x="365760" y="1371600"/>
          <a:ext cx="4297680" cy="4114800"/>
        </p:xfrm>
        <a:graphic>
          <a:graphicData uri="http://schemas.openxmlformats.org/drawingml/2006/chart">
            <c:chart xmlns:c="http://schemas.openxmlformats.org/drawingml/2006/chart" r:id="rId2"/>
          </a:graphicData>
        </a:graphic>
      </p:graphicFrame>
      <p:sp>
        <p:nvSpPr>
          <p:cNvPr id="11" name="TextBox 10"/>
          <p:cNvSpPr txBox="1"/>
          <p:nvPr/>
        </p:nvSpPr>
        <p:spPr>
          <a:xfrm>
            <a:off x="1417320" y="3017520"/>
            <a:ext cx="2194560" cy="502920"/>
          </a:xfrm>
          <a:prstGeom prst="rect">
            <a:avLst/>
          </a:prstGeom>
          <a:noFill/>
        </p:spPr>
        <p:txBody>
          <a:bodyPr wrap="square" lIns="45720" rIns="45720" tIns="27432" bIns="27432" anchor="t">
            <a:spAutoFit/>
          </a:bodyPr>
          <a:lstStyle/>
          <a:p>
            <a:pPr algn="ctr"/>
            <a:r>
              <a:rPr sz="3000" b="1" i="0">
                <a:solidFill>
                  <a:srgbClr val="1B3A4B"/>
                </a:solidFill>
                <a:latin typeface="Calibri"/>
              </a:rPr>
              <a:t>₹15.00</a:t>
            </a:r>
          </a:p>
        </p:txBody>
      </p:sp>
      <p:sp>
        <p:nvSpPr>
          <p:cNvPr id="12" name="TextBox 11"/>
          <p:cNvSpPr txBox="1"/>
          <p:nvPr/>
        </p:nvSpPr>
        <p:spPr>
          <a:xfrm>
            <a:off x="1417320" y="3520440"/>
            <a:ext cx="2194560" cy="365760"/>
          </a:xfrm>
          <a:prstGeom prst="rect">
            <a:avLst/>
          </a:prstGeom>
          <a:noFill/>
        </p:spPr>
        <p:txBody>
          <a:bodyPr wrap="square" lIns="45720" rIns="45720" tIns="27432" bIns="27432" anchor="t">
            <a:spAutoFit/>
          </a:bodyPr>
          <a:lstStyle/>
          <a:p>
            <a:pPr algn="ctr"/>
            <a:r>
              <a:rPr sz="1400" b="0" i="0">
                <a:solidFill>
                  <a:srgbClr val="5C6770"/>
                </a:solidFill>
                <a:latin typeface="Calibri"/>
              </a:rPr>
              <a:t>lakh · 24 months</a:t>
            </a:r>
          </a:p>
        </p:txBody>
      </p:sp>
      <p:graphicFrame>
        <p:nvGraphicFramePr>
          <p:cNvPr id="13" name="Table 12"/>
          <p:cNvGraphicFramePr>
            <a:graphicFrameLocks noGrp="1"/>
          </p:cNvGraphicFramePr>
          <p:nvPr/>
        </p:nvGraphicFramePr>
        <p:xfrm>
          <a:off x="4937760" y="1371600"/>
          <a:ext cx="6492240" cy="3657600"/>
        </p:xfrm>
        <a:graphic>
          <a:graphicData uri="http://schemas.openxmlformats.org/drawingml/2006/table">
            <a:tbl>
              <a:tblPr firstRow="0" bandRow="0">
                <a:tableStyleId>{2D5ABB26-0587-4C30-8999-92F81FD0307C}</a:tableStyleId>
              </a:tblPr>
              <a:tblGrid>
                <a:gridCol w="2468880"/>
                <a:gridCol w="1005840"/>
                <a:gridCol w="1005840"/>
                <a:gridCol w="1005840"/>
                <a:gridCol w="1005840"/>
              </a:tblGrid>
              <a:tr h="457200">
                <a:tc>
                  <a:txBody>
                    <a:bodyPr/>
                    <a:lstStyle/>
                    <a:p>
                      <a:pPr algn="l"/>
                      <a:r>
                        <a:rPr sz="1500" b="1">
                          <a:solidFill>
                            <a:srgbClr val="FFFFFF"/>
                          </a:solidFill>
                          <a:latin typeface="Calibri"/>
                        </a:rPr>
                        <a:t>Head</a:t>
                      </a:r>
                    </a:p>
                  </a:txBody>
                  <a:tcPr marL="365760" marR="91440" anchor="ctr">
                    <a:solidFill>
                      <a:srgbClr val="0071C1"/>
                    </a:solidFill>
                  </a:tcPr>
                </a:tc>
                <a:tc>
                  <a:txBody>
                    <a:bodyPr/>
                    <a:lstStyle/>
                    <a:p>
                      <a:pPr algn="r"/>
                      <a:r>
                        <a:rPr sz="1500" b="1">
                          <a:solidFill>
                            <a:srgbClr val="FFFFFF"/>
                          </a:solidFill>
                          <a:latin typeface="Calibri"/>
                        </a:rPr>
                        <a:t>Year 1</a:t>
                      </a:r>
                    </a:p>
                  </a:txBody>
                  <a:tcPr marL="109728" marR="91440" anchor="ctr">
                    <a:solidFill>
                      <a:srgbClr val="0071C1"/>
                    </a:solidFill>
                  </a:tcPr>
                </a:tc>
                <a:tc>
                  <a:txBody>
                    <a:bodyPr/>
                    <a:lstStyle/>
                    <a:p>
                      <a:pPr algn="r"/>
                      <a:r>
                        <a:rPr sz="1500" b="1">
                          <a:solidFill>
                            <a:srgbClr val="FFFFFF"/>
                          </a:solidFill>
                          <a:latin typeface="Calibri"/>
                        </a:rPr>
                        <a:t>Year 2</a:t>
                      </a:r>
                    </a:p>
                  </a:txBody>
                  <a:tcPr marL="109728" marR="91440" anchor="ctr">
                    <a:solidFill>
                      <a:srgbClr val="0071C1"/>
                    </a:solidFill>
                  </a:tcPr>
                </a:tc>
                <a:tc>
                  <a:txBody>
                    <a:bodyPr/>
                    <a:lstStyle/>
                    <a:p>
                      <a:pPr algn="r"/>
                      <a:r>
                        <a:rPr sz="1500" b="1">
                          <a:solidFill>
                            <a:srgbClr val="FFFFFF"/>
                          </a:solidFill>
                          <a:latin typeface="Calibri"/>
                        </a:rPr>
                        <a:t>Total</a:t>
                      </a:r>
                    </a:p>
                  </a:txBody>
                  <a:tcPr marL="109728" marR="91440" anchor="ctr">
                    <a:solidFill>
                      <a:srgbClr val="0071C1"/>
                    </a:solidFill>
                  </a:tcPr>
                </a:tc>
                <a:tc>
                  <a:txBody>
                    <a:bodyPr/>
                    <a:lstStyle/>
                    <a:p>
                      <a:pPr algn="r"/>
                      <a:r>
                        <a:rPr sz="1500" b="1">
                          <a:solidFill>
                            <a:srgbClr val="FFFFFF"/>
                          </a:solidFill>
                          <a:latin typeface="Calibri"/>
                        </a:rPr>
                        <a:t>Share</a:t>
                      </a:r>
                    </a:p>
                  </a:txBody>
                  <a:tcPr marL="109728" marR="91440" anchor="ctr">
                    <a:solidFill>
                      <a:srgbClr val="0071C1"/>
                    </a:solidFill>
                  </a:tcPr>
                </a:tc>
              </a:tr>
              <a:tr h="457200">
                <a:tc>
                  <a:txBody>
                    <a:bodyPr/>
                    <a:lstStyle/>
                    <a:p>
                      <a:pPr algn="l"/>
                      <a:r>
                        <a:rPr sz="1500" b="0">
                          <a:solidFill>
                            <a:srgbClr val="1C2430"/>
                          </a:solidFill>
                          <a:latin typeface="Calibri"/>
                        </a:rPr>
                        <a:t>Project assistants (2)</a:t>
                      </a:r>
                    </a:p>
                  </a:txBody>
                  <a:tcPr marL="365760" marR="91440" anchor="ctr">
                    <a:solidFill>
                      <a:srgbClr val="E9E9E9"/>
                    </a:solidFill>
                  </a:tcPr>
                </a:tc>
                <a:tc>
                  <a:txBody>
                    <a:bodyPr/>
                    <a:lstStyle/>
                    <a:p>
                      <a:pPr algn="r"/>
                      <a:r>
                        <a:rPr sz="1500" b="0">
                          <a:solidFill>
                            <a:srgbClr val="1C2430"/>
                          </a:solidFill>
                          <a:latin typeface="Calibri"/>
                        </a:rPr>
                        <a:t>3.60</a:t>
                      </a:r>
                    </a:p>
                  </a:txBody>
                  <a:tcPr marL="109728" marR="91440" anchor="ctr">
                    <a:solidFill>
                      <a:srgbClr val="E9E9E9"/>
                    </a:solidFill>
                  </a:tcPr>
                </a:tc>
                <a:tc>
                  <a:txBody>
                    <a:bodyPr/>
                    <a:lstStyle/>
                    <a:p>
                      <a:pPr algn="r"/>
                      <a:r>
                        <a:rPr sz="1500" b="0">
                          <a:solidFill>
                            <a:srgbClr val="1C2430"/>
                          </a:solidFill>
                          <a:latin typeface="Calibri"/>
                        </a:rPr>
                        <a:t>3.60</a:t>
                      </a:r>
                    </a:p>
                  </a:txBody>
                  <a:tcPr marL="109728" marR="91440" anchor="ctr">
                    <a:solidFill>
                      <a:srgbClr val="E9E9E9"/>
                    </a:solidFill>
                  </a:tcPr>
                </a:tc>
                <a:tc>
                  <a:txBody>
                    <a:bodyPr/>
                    <a:lstStyle/>
                    <a:p>
                      <a:pPr algn="r"/>
                      <a:r>
                        <a:rPr sz="1500" b="1">
                          <a:solidFill>
                            <a:srgbClr val="1C2430"/>
                          </a:solidFill>
                          <a:latin typeface="Calibri"/>
                        </a:rPr>
                        <a:t>7.20</a:t>
                      </a:r>
                    </a:p>
                  </a:txBody>
                  <a:tcPr marL="109728" marR="91440" anchor="ctr">
                    <a:solidFill>
                      <a:srgbClr val="E9E9E9"/>
                    </a:solidFill>
                  </a:tcPr>
                </a:tc>
                <a:tc>
                  <a:txBody>
                    <a:bodyPr/>
                    <a:lstStyle/>
                    <a:p>
                      <a:pPr algn="r"/>
                      <a:r>
                        <a:rPr sz="1500" b="0">
                          <a:solidFill>
                            <a:srgbClr val="1C2430"/>
                          </a:solidFill>
                          <a:latin typeface="Calibri"/>
                        </a:rPr>
                        <a:t>48%</a:t>
                      </a:r>
                    </a:p>
                  </a:txBody>
                  <a:tcPr marL="109728" marR="91440" anchor="ctr">
                    <a:solidFill>
                      <a:srgbClr val="E9E9E9"/>
                    </a:solidFill>
                  </a:tcPr>
                </a:tc>
              </a:tr>
              <a:tr h="457200">
                <a:tc>
                  <a:txBody>
                    <a:bodyPr/>
                    <a:lstStyle/>
                    <a:p>
                      <a:pPr algn="l"/>
                      <a:r>
                        <a:rPr sz="1500" b="0">
                          <a:solidFill>
                            <a:srgbClr val="1C2430"/>
                          </a:solidFill>
                          <a:latin typeface="Calibri"/>
                        </a:rPr>
                        <a:t>Equipment</a:t>
                      </a:r>
                    </a:p>
                  </a:txBody>
                  <a:tcPr marL="365760" marR="91440" anchor="ctr">
                    <a:solidFill>
                      <a:srgbClr val="FFFFFF"/>
                    </a:solidFill>
                  </a:tcPr>
                </a:tc>
                <a:tc>
                  <a:txBody>
                    <a:bodyPr/>
                    <a:lstStyle/>
                    <a:p>
                      <a:pPr algn="r"/>
                      <a:r>
                        <a:rPr sz="1500" b="0">
                          <a:solidFill>
                            <a:srgbClr val="1C2430"/>
                          </a:solidFill>
                          <a:latin typeface="Calibri"/>
                        </a:rPr>
                        <a:t>2.00</a:t>
                      </a:r>
                    </a:p>
                  </a:txBody>
                  <a:tcPr marL="109728" marR="91440" anchor="ctr">
                    <a:solidFill>
                      <a:srgbClr val="FFFFFF"/>
                    </a:solidFill>
                  </a:tcPr>
                </a:tc>
                <a:tc>
                  <a:txBody>
                    <a:bodyPr/>
                    <a:lstStyle/>
                    <a:p>
                      <a:pPr algn="r"/>
                      <a:r>
                        <a:rPr sz="1500" b="0">
                          <a:solidFill>
                            <a:srgbClr val="1C2430"/>
                          </a:solidFill>
                          <a:latin typeface="Calibri"/>
                        </a:rPr>
                        <a:t>1.50</a:t>
                      </a:r>
                    </a:p>
                  </a:txBody>
                  <a:tcPr marL="109728" marR="91440" anchor="ctr">
                    <a:solidFill>
                      <a:srgbClr val="FFFFFF"/>
                    </a:solidFill>
                  </a:tcPr>
                </a:tc>
                <a:tc>
                  <a:txBody>
                    <a:bodyPr/>
                    <a:lstStyle/>
                    <a:p>
                      <a:pPr algn="r"/>
                      <a:r>
                        <a:rPr sz="1500" b="1">
                          <a:solidFill>
                            <a:srgbClr val="1C2430"/>
                          </a:solidFill>
                          <a:latin typeface="Calibri"/>
                        </a:rPr>
                        <a:t>3.50</a:t>
                      </a:r>
                    </a:p>
                  </a:txBody>
                  <a:tcPr marL="109728" marR="91440" anchor="ctr">
                    <a:solidFill>
                      <a:srgbClr val="FFFFFF"/>
                    </a:solidFill>
                  </a:tcPr>
                </a:tc>
                <a:tc>
                  <a:txBody>
                    <a:bodyPr/>
                    <a:lstStyle/>
                    <a:p>
                      <a:pPr algn="r"/>
                      <a:r>
                        <a:rPr sz="1500" b="0">
                          <a:solidFill>
                            <a:srgbClr val="1C2430"/>
                          </a:solidFill>
                          <a:latin typeface="Calibri"/>
                        </a:rPr>
                        <a:t>23%</a:t>
                      </a:r>
                    </a:p>
                  </a:txBody>
                  <a:tcPr marL="109728" marR="91440" anchor="ctr">
                    <a:solidFill>
                      <a:srgbClr val="FFFFFF"/>
                    </a:solidFill>
                  </a:tcPr>
                </a:tc>
              </a:tr>
              <a:tr h="457200">
                <a:tc>
                  <a:txBody>
                    <a:bodyPr/>
                    <a:lstStyle/>
                    <a:p>
                      <a:pPr algn="l"/>
                      <a:r>
                        <a:rPr sz="1500" b="0">
                          <a:solidFill>
                            <a:srgbClr val="1C2430"/>
                          </a:solidFill>
                          <a:latin typeface="Calibri"/>
                        </a:rPr>
                        <a:t>Consumables</a:t>
                      </a:r>
                    </a:p>
                  </a:txBody>
                  <a:tcPr marL="365760" marR="91440" anchor="ctr">
                    <a:solidFill>
                      <a:srgbClr val="E9E9E9"/>
                    </a:solidFill>
                  </a:tcPr>
                </a:tc>
                <a:tc>
                  <a:txBody>
                    <a:bodyPr/>
                    <a:lstStyle/>
                    <a:p>
                      <a:pPr algn="r"/>
                      <a:r>
                        <a:rPr sz="1500" b="0">
                          <a:solidFill>
                            <a:srgbClr val="1C2430"/>
                          </a:solidFill>
                          <a:latin typeface="Calibri"/>
                        </a:rPr>
                        <a:t>0.75</a:t>
                      </a:r>
                    </a:p>
                  </a:txBody>
                  <a:tcPr marL="109728" marR="91440" anchor="ctr">
                    <a:solidFill>
                      <a:srgbClr val="E9E9E9"/>
                    </a:solidFill>
                  </a:tcPr>
                </a:tc>
                <a:tc>
                  <a:txBody>
                    <a:bodyPr/>
                    <a:lstStyle/>
                    <a:p>
                      <a:pPr algn="r"/>
                      <a:r>
                        <a:rPr sz="1500" b="0">
                          <a:solidFill>
                            <a:srgbClr val="1C2430"/>
                          </a:solidFill>
                          <a:latin typeface="Calibri"/>
                        </a:rPr>
                        <a:t>0.75</a:t>
                      </a:r>
                    </a:p>
                  </a:txBody>
                  <a:tcPr marL="109728" marR="91440" anchor="ctr">
                    <a:solidFill>
                      <a:srgbClr val="E9E9E9"/>
                    </a:solidFill>
                  </a:tcPr>
                </a:tc>
                <a:tc>
                  <a:txBody>
                    <a:bodyPr/>
                    <a:lstStyle/>
                    <a:p>
                      <a:pPr algn="r"/>
                      <a:r>
                        <a:rPr sz="1500" b="1">
                          <a:solidFill>
                            <a:srgbClr val="1C2430"/>
                          </a:solidFill>
                          <a:latin typeface="Calibri"/>
                        </a:rPr>
                        <a:t>1.50</a:t>
                      </a:r>
                    </a:p>
                  </a:txBody>
                  <a:tcPr marL="109728" marR="91440" anchor="ctr">
                    <a:solidFill>
                      <a:srgbClr val="E9E9E9"/>
                    </a:solidFill>
                  </a:tcPr>
                </a:tc>
                <a:tc>
                  <a:txBody>
                    <a:bodyPr/>
                    <a:lstStyle/>
                    <a:p>
                      <a:pPr algn="r"/>
                      <a:r>
                        <a:rPr sz="1500" b="0">
                          <a:solidFill>
                            <a:srgbClr val="1C2430"/>
                          </a:solidFill>
                          <a:latin typeface="Calibri"/>
                        </a:rPr>
                        <a:t>10%</a:t>
                      </a:r>
                    </a:p>
                  </a:txBody>
                  <a:tcPr marL="109728" marR="91440" anchor="ctr">
                    <a:solidFill>
                      <a:srgbClr val="E9E9E9"/>
                    </a:solidFill>
                  </a:tcPr>
                </a:tc>
              </a:tr>
              <a:tr h="457200">
                <a:tc>
                  <a:txBody>
                    <a:bodyPr/>
                    <a:lstStyle/>
                    <a:p>
                      <a:pPr algn="l"/>
                      <a:r>
                        <a:rPr sz="1500" b="0">
                          <a:solidFill>
                            <a:srgbClr val="1C2430"/>
                          </a:solidFill>
                          <a:latin typeface="Calibri"/>
                        </a:rPr>
                        <a:t>Contingency</a:t>
                      </a:r>
                    </a:p>
                  </a:txBody>
                  <a:tcPr marL="365760" marR="91440" anchor="ctr">
                    <a:solidFill>
                      <a:srgbClr val="FFFFFF"/>
                    </a:solidFill>
                  </a:tcPr>
                </a:tc>
                <a:tc>
                  <a:txBody>
                    <a:bodyPr/>
                    <a:lstStyle/>
                    <a:p>
                      <a:pPr algn="r"/>
                      <a:r>
                        <a:rPr sz="1500" b="0">
                          <a:solidFill>
                            <a:srgbClr val="1C2430"/>
                          </a:solidFill>
                          <a:latin typeface="Calibri"/>
                        </a:rPr>
                        <a:t>0.75</a:t>
                      </a:r>
                    </a:p>
                  </a:txBody>
                  <a:tcPr marL="109728" marR="91440" anchor="ctr">
                    <a:solidFill>
                      <a:srgbClr val="FFFFFF"/>
                    </a:solidFill>
                  </a:tcPr>
                </a:tc>
                <a:tc>
                  <a:txBody>
                    <a:bodyPr/>
                    <a:lstStyle/>
                    <a:p>
                      <a:pPr algn="r"/>
                      <a:r>
                        <a:rPr sz="1500" b="0">
                          <a:solidFill>
                            <a:srgbClr val="1C2430"/>
                          </a:solidFill>
                          <a:latin typeface="Calibri"/>
                        </a:rPr>
                        <a:t>0.75</a:t>
                      </a:r>
                    </a:p>
                  </a:txBody>
                  <a:tcPr marL="109728" marR="91440" anchor="ctr">
                    <a:solidFill>
                      <a:srgbClr val="FFFFFF"/>
                    </a:solidFill>
                  </a:tcPr>
                </a:tc>
                <a:tc>
                  <a:txBody>
                    <a:bodyPr/>
                    <a:lstStyle/>
                    <a:p>
                      <a:pPr algn="r"/>
                      <a:r>
                        <a:rPr sz="1500" b="1">
                          <a:solidFill>
                            <a:srgbClr val="1C2430"/>
                          </a:solidFill>
                          <a:latin typeface="Calibri"/>
                        </a:rPr>
                        <a:t>1.50</a:t>
                      </a:r>
                    </a:p>
                  </a:txBody>
                  <a:tcPr marL="109728" marR="91440" anchor="ctr">
                    <a:solidFill>
                      <a:srgbClr val="FFFFFF"/>
                    </a:solidFill>
                  </a:tcPr>
                </a:tc>
                <a:tc>
                  <a:txBody>
                    <a:bodyPr/>
                    <a:lstStyle/>
                    <a:p>
                      <a:pPr algn="r"/>
                      <a:r>
                        <a:rPr sz="1500" b="0">
                          <a:solidFill>
                            <a:srgbClr val="1C2430"/>
                          </a:solidFill>
                          <a:latin typeface="Calibri"/>
                        </a:rPr>
                        <a:t>10%</a:t>
                      </a:r>
                    </a:p>
                  </a:txBody>
                  <a:tcPr marL="109728" marR="91440" anchor="ctr">
                    <a:solidFill>
                      <a:srgbClr val="FFFFFF"/>
                    </a:solidFill>
                  </a:tcPr>
                </a:tc>
              </a:tr>
              <a:tr h="457200">
                <a:tc>
                  <a:txBody>
                    <a:bodyPr/>
                    <a:lstStyle/>
                    <a:p>
                      <a:pPr algn="l"/>
                      <a:r>
                        <a:rPr sz="1500" b="0">
                          <a:solidFill>
                            <a:srgbClr val="1C2430"/>
                          </a:solidFill>
                          <a:latin typeface="Calibri"/>
                        </a:rPr>
                        <a:t>Travel</a:t>
                      </a:r>
                    </a:p>
                  </a:txBody>
                  <a:tcPr marL="365760" marR="91440" anchor="ctr">
                    <a:solidFill>
                      <a:srgbClr val="E9E9E9"/>
                    </a:solidFill>
                  </a:tcPr>
                </a:tc>
                <a:tc>
                  <a:txBody>
                    <a:bodyPr/>
                    <a:lstStyle/>
                    <a:p>
                      <a:pPr algn="r"/>
                      <a:r>
                        <a:rPr sz="1500" b="0">
                          <a:solidFill>
                            <a:srgbClr val="1C2430"/>
                          </a:solidFill>
                          <a:latin typeface="Calibri"/>
                        </a:rPr>
                        <a:t>0.50</a:t>
                      </a:r>
                    </a:p>
                  </a:txBody>
                  <a:tcPr marL="109728" marR="91440" anchor="ctr">
                    <a:solidFill>
                      <a:srgbClr val="E9E9E9"/>
                    </a:solidFill>
                  </a:tcPr>
                </a:tc>
                <a:tc>
                  <a:txBody>
                    <a:bodyPr/>
                    <a:lstStyle/>
                    <a:p>
                      <a:pPr algn="r"/>
                      <a:r>
                        <a:rPr sz="1500" b="0">
                          <a:solidFill>
                            <a:srgbClr val="1C2430"/>
                          </a:solidFill>
                          <a:latin typeface="Calibri"/>
                        </a:rPr>
                        <a:t>0.80</a:t>
                      </a:r>
                    </a:p>
                  </a:txBody>
                  <a:tcPr marL="109728" marR="91440" anchor="ctr">
                    <a:solidFill>
                      <a:srgbClr val="E9E9E9"/>
                    </a:solidFill>
                  </a:tcPr>
                </a:tc>
                <a:tc>
                  <a:txBody>
                    <a:bodyPr/>
                    <a:lstStyle/>
                    <a:p>
                      <a:pPr algn="r"/>
                      <a:r>
                        <a:rPr sz="1500" b="1">
                          <a:solidFill>
                            <a:srgbClr val="1C2430"/>
                          </a:solidFill>
                          <a:latin typeface="Calibri"/>
                        </a:rPr>
                        <a:t>1.30</a:t>
                      </a:r>
                    </a:p>
                  </a:txBody>
                  <a:tcPr marL="109728" marR="91440" anchor="ctr">
                    <a:solidFill>
                      <a:srgbClr val="E9E9E9"/>
                    </a:solidFill>
                  </a:tcPr>
                </a:tc>
                <a:tc>
                  <a:txBody>
                    <a:bodyPr/>
                    <a:lstStyle/>
                    <a:p>
                      <a:pPr algn="r"/>
                      <a:r>
                        <a:rPr sz="1500" b="0">
                          <a:solidFill>
                            <a:srgbClr val="1C2430"/>
                          </a:solidFill>
                          <a:latin typeface="Calibri"/>
                        </a:rPr>
                        <a:t>9%</a:t>
                      </a:r>
                    </a:p>
                  </a:txBody>
                  <a:tcPr marL="109728" marR="91440" anchor="ctr">
                    <a:solidFill>
                      <a:srgbClr val="E9E9E9"/>
                    </a:solidFill>
                  </a:tcPr>
                </a:tc>
              </a:tr>
              <a:tr h="457200">
                <a:tc>
                  <a:txBody>
                    <a:bodyPr/>
                    <a:lstStyle/>
                    <a:p>
                      <a:pPr algn="l"/>
                      <a:r>
                        <a:rPr sz="1500" b="0">
                          <a:solidFill>
                            <a:srgbClr val="1C2430"/>
                          </a:solidFill>
                          <a:latin typeface="Calibri"/>
                        </a:rPr>
                        <a:t>Overhead</a:t>
                      </a:r>
                    </a:p>
                  </a:txBody>
                  <a:tcPr marL="365760" marR="91440" anchor="ctr">
                    <a:solidFill>
                      <a:srgbClr val="FFFFFF"/>
                    </a:solidFill>
                  </a:tcPr>
                </a:tc>
                <a:tc>
                  <a:txBody>
                    <a:bodyPr/>
                    <a:lstStyle/>
                    <a:p>
                      <a:pPr algn="r"/>
                      <a:r>
                        <a:rPr sz="1500" b="0">
                          <a:solidFill>
                            <a:srgbClr val="1C2430"/>
                          </a:solidFill>
                          <a:latin typeface="Calibri"/>
                        </a:rPr>
                        <a:t>0</a:t>
                      </a:r>
                    </a:p>
                  </a:txBody>
                  <a:tcPr marL="109728" marR="91440" anchor="ctr">
                    <a:solidFill>
                      <a:srgbClr val="FFFFFF"/>
                    </a:solidFill>
                  </a:tcPr>
                </a:tc>
                <a:tc>
                  <a:txBody>
                    <a:bodyPr/>
                    <a:lstStyle/>
                    <a:p>
                      <a:pPr algn="r"/>
                      <a:r>
                        <a:rPr sz="1500" b="0">
                          <a:solidFill>
                            <a:srgbClr val="1C2430"/>
                          </a:solidFill>
                          <a:latin typeface="Calibri"/>
                        </a:rPr>
                        <a:t>0</a:t>
                      </a:r>
                    </a:p>
                  </a:txBody>
                  <a:tcPr marL="109728" marR="91440" anchor="ctr">
                    <a:solidFill>
                      <a:srgbClr val="FFFFFF"/>
                    </a:solidFill>
                  </a:tcPr>
                </a:tc>
                <a:tc>
                  <a:txBody>
                    <a:bodyPr/>
                    <a:lstStyle/>
                    <a:p>
                      <a:pPr algn="r"/>
                      <a:r>
                        <a:rPr sz="1500" b="1">
                          <a:solidFill>
                            <a:srgbClr val="1C2430"/>
                          </a:solidFill>
                          <a:latin typeface="Calibri"/>
                        </a:rPr>
                        <a:t>0</a:t>
                      </a:r>
                    </a:p>
                  </a:txBody>
                  <a:tcPr marL="109728" marR="91440" anchor="ctr">
                    <a:solidFill>
                      <a:srgbClr val="FFFFFF"/>
                    </a:solidFill>
                  </a:tcPr>
                </a:tc>
                <a:tc>
                  <a:txBody>
                    <a:bodyPr/>
                    <a:lstStyle/>
                    <a:p>
                      <a:pPr algn="r"/>
                      <a:r>
                        <a:rPr sz="1500" b="0">
                          <a:solidFill>
                            <a:srgbClr val="1C2430"/>
                          </a:solidFill>
                          <a:latin typeface="Calibri"/>
                        </a:rPr>
                        <a:t>0%</a:t>
                      </a:r>
                    </a:p>
                  </a:txBody>
                  <a:tcPr marL="109728" marR="91440" anchor="ctr">
                    <a:solidFill>
                      <a:srgbClr val="FFFFFF"/>
                    </a:solidFill>
                  </a:tcPr>
                </a:tc>
              </a:tr>
              <a:tr h="457200">
                <a:tc>
                  <a:txBody>
                    <a:bodyPr/>
                    <a:lstStyle/>
                    <a:p>
                      <a:pPr algn="l"/>
                      <a:r>
                        <a:rPr sz="1500" b="1">
                          <a:solidFill>
                            <a:srgbClr val="FFFFFF"/>
                          </a:solidFill>
                          <a:latin typeface="Calibri"/>
                        </a:rPr>
                        <a:t>Total</a:t>
                      </a:r>
                    </a:p>
                  </a:txBody>
                  <a:tcPr marL="365760" marR="91440" anchor="ctr">
                    <a:solidFill>
                      <a:srgbClr val="0071C1"/>
                    </a:solidFill>
                  </a:tcPr>
                </a:tc>
                <a:tc>
                  <a:txBody>
                    <a:bodyPr/>
                    <a:lstStyle/>
                    <a:p>
                      <a:pPr algn="r"/>
                      <a:r>
                        <a:rPr sz="1500" b="1">
                          <a:solidFill>
                            <a:srgbClr val="FFFFFF"/>
                          </a:solidFill>
                          <a:latin typeface="Calibri"/>
                        </a:rPr>
                        <a:t>7.60</a:t>
                      </a:r>
                    </a:p>
                  </a:txBody>
                  <a:tcPr marL="109728" marR="91440" anchor="ctr">
                    <a:solidFill>
                      <a:srgbClr val="0071C1"/>
                    </a:solidFill>
                  </a:tcPr>
                </a:tc>
                <a:tc>
                  <a:txBody>
                    <a:bodyPr/>
                    <a:lstStyle/>
                    <a:p>
                      <a:pPr algn="r"/>
                      <a:r>
                        <a:rPr sz="1500" b="1">
                          <a:solidFill>
                            <a:srgbClr val="FFFFFF"/>
                          </a:solidFill>
                          <a:latin typeface="Calibri"/>
                        </a:rPr>
                        <a:t>7.40</a:t>
                      </a:r>
                    </a:p>
                  </a:txBody>
                  <a:tcPr marL="109728" marR="91440" anchor="ctr">
                    <a:solidFill>
                      <a:srgbClr val="0071C1"/>
                    </a:solidFill>
                  </a:tcPr>
                </a:tc>
                <a:tc>
                  <a:txBody>
                    <a:bodyPr/>
                    <a:lstStyle/>
                    <a:p>
                      <a:pPr algn="r"/>
                      <a:r>
                        <a:rPr sz="1500" b="1">
                          <a:solidFill>
                            <a:srgbClr val="FFFFFF"/>
                          </a:solidFill>
                          <a:latin typeface="Calibri"/>
                        </a:rPr>
                        <a:t>15.00</a:t>
                      </a:r>
                    </a:p>
                  </a:txBody>
                  <a:tcPr marL="109728" marR="91440" anchor="ctr">
                    <a:solidFill>
                      <a:srgbClr val="0071C1"/>
                    </a:solidFill>
                  </a:tcPr>
                </a:tc>
                <a:tc>
                  <a:txBody>
                    <a:bodyPr/>
                    <a:lstStyle/>
                    <a:p>
                      <a:pPr algn="r"/>
                      <a:r>
                        <a:rPr sz="1500" b="1">
                          <a:solidFill>
                            <a:srgbClr val="FFFFFF"/>
                          </a:solidFill>
                          <a:latin typeface="Calibri"/>
                        </a:rPr>
                        <a:t>100%</a:t>
                      </a:r>
                    </a:p>
                  </a:txBody>
                  <a:tcPr marL="109728" marR="91440" anchor="ctr">
                    <a:solidFill>
                      <a:srgbClr val="0071C1"/>
                    </a:solidFill>
                  </a:tcPr>
                </a:tc>
              </a:tr>
            </a:tbl>
          </a:graphicData>
        </a:graphic>
      </p:graphicFrame>
      <p:sp>
        <p:nvSpPr>
          <p:cNvPr id="14" name="Oval 13"/>
          <p:cNvSpPr/>
          <p:nvPr/>
        </p:nvSpPr>
        <p:spPr>
          <a:xfrm>
            <a:off x="5056632" y="1984248"/>
            <a:ext cx="146304" cy="146304"/>
          </a:xfrm>
          <a:prstGeom prst="ellipse">
            <a:avLst/>
          </a:prstGeom>
          <a:solidFill>
            <a:srgbClr val="0071C1"/>
          </a:solidFill>
          <a:ln>
            <a:noFill/>
          </a:ln>
        </p:spPr>
        <p:txBody>
          <a:bodyPr rtlCol="0" anchor="ctr"/>
          <a:lstStyle/>
          <a:p>
            <a:pPr algn="ctr"/>
          </a:p>
        </p:txBody>
      </p:sp>
      <p:sp>
        <p:nvSpPr>
          <p:cNvPr id="15" name="Oval 14"/>
          <p:cNvSpPr/>
          <p:nvPr/>
        </p:nvSpPr>
        <p:spPr>
          <a:xfrm>
            <a:off x="5056632" y="2441448"/>
            <a:ext cx="146304" cy="146304"/>
          </a:xfrm>
          <a:prstGeom prst="ellipse">
            <a:avLst/>
          </a:prstGeom>
          <a:solidFill>
            <a:srgbClr val="ED7D31"/>
          </a:solidFill>
          <a:ln>
            <a:noFill/>
          </a:ln>
        </p:spPr>
        <p:txBody>
          <a:bodyPr rtlCol="0" anchor="ctr"/>
          <a:lstStyle/>
          <a:p>
            <a:pPr algn="ctr"/>
          </a:p>
        </p:txBody>
      </p:sp>
      <p:sp>
        <p:nvSpPr>
          <p:cNvPr id="16" name="Oval 15"/>
          <p:cNvSpPr/>
          <p:nvPr/>
        </p:nvSpPr>
        <p:spPr>
          <a:xfrm>
            <a:off x="5056632" y="2898648"/>
            <a:ext cx="146304" cy="146304"/>
          </a:xfrm>
          <a:prstGeom prst="ellipse">
            <a:avLst/>
          </a:prstGeom>
          <a:solidFill>
            <a:srgbClr val="1B3A4B"/>
          </a:solidFill>
          <a:ln>
            <a:noFill/>
          </a:ln>
        </p:spPr>
        <p:txBody>
          <a:bodyPr rtlCol="0" anchor="ctr"/>
          <a:lstStyle/>
          <a:p>
            <a:pPr algn="ctr"/>
          </a:p>
        </p:txBody>
      </p:sp>
      <p:sp>
        <p:nvSpPr>
          <p:cNvPr id="17" name="Oval 16"/>
          <p:cNvSpPr/>
          <p:nvPr/>
        </p:nvSpPr>
        <p:spPr>
          <a:xfrm>
            <a:off x="5056632" y="3355848"/>
            <a:ext cx="146304" cy="146304"/>
          </a:xfrm>
          <a:prstGeom prst="ellipse">
            <a:avLst/>
          </a:prstGeom>
          <a:solidFill>
            <a:srgbClr val="A6A6A6"/>
          </a:solidFill>
          <a:ln>
            <a:noFill/>
          </a:ln>
        </p:spPr>
        <p:txBody>
          <a:bodyPr rtlCol="0" anchor="ctr"/>
          <a:lstStyle/>
          <a:p>
            <a:pPr algn="ctr"/>
          </a:p>
        </p:txBody>
      </p:sp>
      <p:sp>
        <p:nvSpPr>
          <p:cNvPr id="18" name="Oval 17"/>
          <p:cNvSpPr/>
          <p:nvPr/>
        </p:nvSpPr>
        <p:spPr>
          <a:xfrm>
            <a:off x="5056632" y="3813048"/>
            <a:ext cx="146304" cy="146304"/>
          </a:xfrm>
          <a:prstGeom prst="ellipse">
            <a:avLst/>
          </a:prstGeom>
          <a:solidFill>
            <a:srgbClr val="FFC000"/>
          </a:solidFill>
          <a:ln>
            <a:noFill/>
          </a:ln>
        </p:spPr>
        <p:txBody>
          <a:bodyPr rtlCol="0" anchor="ctr"/>
          <a:lstStyle/>
          <a:p>
            <a:pPr algn="ctr"/>
          </a:p>
        </p:txBody>
      </p:sp>
      <p:sp>
        <p:nvSpPr>
          <p:cNvPr id="19" name="Rounded Rectangle 18"/>
          <p:cNvSpPr/>
          <p:nvPr/>
        </p:nvSpPr>
        <p:spPr>
          <a:xfrm>
            <a:off x="457200" y="5532120"/>
            <a:ext cx="11292840" cy="86868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0" name="TextBox 19"/>
          <p:cNvSpPr txBox="1"/>
          <p:nvPr/>
        </p:nvSpPr>
        <p:spPr>
          <a:xfrm>
            <a:off x="594360" y="5550408"/>
            <a:ext cx="1828800" cy="822960"/>
          </a:xfrm>
          <a:prstGeom prst="rect">
            <a:avLst/>
          </a:prstGeom>
          <a:noFill/>
        </p:spPr>
        <p:txBody>
          <a:bodyPr wrap="square" lIns="45720" rIns="45720" tIns="27432" bIns="27432" anchor="ctr">
            <a:spAutoFit/>
          </a:bodyPr>
          <a:lstStyle/>
          <a:p>
            <a:pPr algn="l"/>
            <a:r>
              <a:rPr sz="1600" b="1" i="0">
                <a:solidFill>
                  <a:srgbClr val="C55A11"/>
                </a:solidFill>
                <a:latin typeface="Calibri"/>
              </a:rPr>
              <a:t>Equipment</a:t>
            </a:r>
          </a:p>
        </p:txBody>
      </p:sp>
      <p:sp>
        <p:nvSpPr>
          <p:cNvPr id="21" name="TextBox 20"/>
          <p:cNvSpPr txBox="1"/>
          <p:nvPr/>
        </p:nvSpPr>
        <p:spPr>
          <a:xfrm>
            <a:off x="2103120" y="5550408"/>
            <a:ext cx="9509760" cy="822960"/>
          </a:xfrm>
          <a:prstGeom prst="rect">
            <a:avLst/>
          </a:prstGeom>
          <a:noFill/>
        </p:spPr>
        <p:txBody>
          <a:bodyPr wrap="square" lIns="45720" rIns="45720" tIns="27432" bIns="27432" anchor="ctr">
            <a:spAutoFit/>
          </a:bodyPr>
          <a:lstStyle/>
          <a:p>
            <a:pPr algn="l"/>
            <a:r>
              <a:rPr sz="1350" b="1" i="0">
                <a:solidFill>
                  <a:srgbClr val="1B3A4B"/>
                </a:solidFill>
                <a:latin typeface="Calibri"/>
              </a:rPr>
              <a:t>Year 1: </a:t>
            </a:r>
            <a:r>
              <a:rPr sz="1350" b="0" i="0">
                <a:solidFill>
                  <a:srgbClr val="1C2430"/>
                </a:solidFill>
                <a:latin typeface="Calibri"/>
              </a:rPr>
              <a:t>FSO modules, pan-tilt, IMUs, controllers, cameras, LoRa and gateway, batteries, enclosures, edge computer, optics.   </a:t>
            </a:r>
            <a:r>
              <a:rPr sz="1350" b="1" i="0">
                <a:solidFill>
                  <a:srgbClr val="1B3A4B"/>
                </a:solidFill>
                <a:latin typeface="Calibri"/>
              </a:rPr>
              <a:t>Year 2: </a:t>
            </a:r>
            <a:r>
              <a:rPr sz="1350" b="0" i="0">
                <a:solidFill>
                  <a:srgbClr val="1C2430"/>
                </a:solidFill>
                <a:latin typeface="Calibri"/>
              </a:rPr>
              <a:t>LoRa antennas, PCB fabrication, 3D printer for mounts.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1B3A4B"/>
          </a:solidFill>
          <a:ln>
            <a:noFill/>
          </a:ln>
        </p:spPr>
        <p:txBody>
          <a:bodyPr rtlCol="0" anchor="ctr"/>
          <a:lstStyle/>
          <a:p>
            <a:pPr algn="ctr"/>
          </a:p>
        </p:txBody>
      </p:sp>
      <p:sp>
        <p:nvSpPr>
          <p:cNvPr id="3" name="TextBox 2"/>
          <p:cNvSpPr txBox="1"/>
          <p:nvPr/>
        </p:nvSpPr>
        <p:spPr>
          <a:xfrm>
            <a:off x="731520" y="914400"/>
            <a:ext cx="7315200" cy="365760"/>
          </a:xfrm>
          <a:prstGeom prst="rect">
            <a:avLst/>
          </a:prstGeom>
          <a:noFill/>
        </p:spPr>
        <p:txBody>
          <a:bodyPr wrap="square" lIns="45720" rIns="45720" tIns="27432" bIns="27432" anchor="t">
            <a:spAutoFit/>
          </a:bodyPr>
          <a:lstStyle/>
          <a:p>
            <a:pPr algn="l"/>
            <a:r>
              <a:rPr sz="1400" b="1" i="0">
                <a:solidFill>
                  <a:srgbClr val="FFD966"/>
                </a:solidFill>
                <a:latin typeface="Calibri"/>
              </a:rPr>
              <a:t>FTBI–TEXMiN MINING CPS CoE</a:t>
            </a:r>
          </a:p>
        </p:txBody>
      </p:sp>
      <p:sp>
        <p:nvSpPr>
          <p:cNvPr id="4" name="TextBox 3"/>
          <p:cNvSpPr txBox="1"/>
          <p:nvPr/>
        </p:nvSpPr>
        <p:spPr>
          <a:xfrm>
            <a:off x="731520" y="1371600"/>
            <a:ext cx="5943600" cy="1097280"/>
          </a:xfrm>
          <a:prstGeom prst="rect">
            <a:avLst/>
          </a:prstGeom>
          <a:noFill/>
        </p:spPr>
        <p:txBody>
          <a:bodyPr wrap="square" lIns="45720" rIns="45720" tIns="27432" bIns="27432" anchor="t">
            <a:spAutoFit/>
          </a:bodyPr>
          <a:lstStyle/>
          <a:p>
            <a:pPr algn="l"/>
            <a:r>
              <a:rPr sz="4800" b="1" i="0">
                <a:solidFill>
                  <a:srgbClr val="FFFFFF"/>
                </a:solidFill>
                <a:latin typeface="Calibri"/>
              </a:rPr>
              <a:t>Thank you.</a:t>
            </a:r>
          </a:p>
        </p:txBody>
      </p:sp>
      <p:sp>
        <p:nvSpPr>
          <p:cNvPr id="5" name="TextBox 4"/>
          <p:cNvSpPr txBox="1"/>
          <p:nvPr/>
        </p:nvSpPr>
        <p:spPr>
          <a:xfrm>
            <a:off x="731520" y="2651760"/>
            <a:ext cx="5669280" cy="1554480"/>
          </a:xfrm>
          <a:prstGeom prst="rect">
            <a:avLst/>
          </a:prstGeom>
          <a:noFill/>
        </p:spPr>
        <p:txBody>
          <a:bodyPr wrap="square" lIns="45720" rIns="45720" tIns="27432" bIns="27432" anchor="t">
            <a:spAutoFit/>
          </a:bodyPr>
          <a:lstStyle/>
          <a:p>
            <a:pPr algn="l"/>
            <a:r>
              <a:rPr sz="1900" b="0" i="0">
                <a:solidFill>
                  <a:srgbClr val="FFFFFF"/>
                </a:solidFill>
                <a:latin typeface="Calibri"/>
              </a:rPr>
              <a:t>Request: ₹15 lakh over 24 months, to take the department’s auto-tracking FSO prototype to a hybrid underground link, validated at TRL 5.</a:t>
            </a:r>
          </a:p>
        </p:txBody>
      </p:sp>
      <p:sp>
        <p:nvSpPr>
          <p:cNvPr id="6" name="Rectangle 5"/>
          <p:cNvSpPr/>
          <p:nvPr/>
        </p:nvSpPr>
        <p:spPr>
          <a:xfrm>
            <a:off x="731520" y="4480560"/>
            <a:ext cx="2011680" cy="18288"/>
          </a:xfrm>
          <a:prstGeom prst="rect">
            <a:avLst/>
          </a:prstGeom>
          <a:solidFill>
            <a:srgbClr val="ED7D31"/>
          </a:solidFill>
          <a:ln>
            <a:noFill/>
          </a:ln>
        </p:spPr>
        <p:txBody>
          <a:bodyPr rtlCol="0" anchor="ctr"/>
          <a:lstStyle/>
          <a:p>
            <a:pPr algn="ctr"/>
          </a:p>
        </p:txBody>
      </p:sp>
      <p:sp>
        <p:nvSpPr>
          <p:cNvPr id="7" name="TextBox 6"/>
          <p:cNvSpPr txBox="1"/>
          <p:nvPr/>
        </p:nvSpPr>
        <p:spPr>
          <a:xfrm>
            <a:off x="731520" y="4663440"/>
            <a:ext cx="5943600" cy="1097280"/>
          </a:xfrm>
          <a:prstGeom prst="rect">
            <a:avLst/>
          </a:prstGeom>
          <a:noFill/>
        </p:spPr>
        <p:txBody>
          <a:bodyPr wrap="square" lIns="45720" rIns="45720" tIns="27432" bIns="27432" anchor="t">
            <a:spAutoFit/>
          </a:bodyPr>
          <a:lstStyle/>
          <a:p>
            <a:pPr algn="l"/>
            <a:r>
              <a:rPr sz="2000" b="1" i="0">
                <a:solidFill>
                  <a:srgbClr val="FFFFFF"/>
                </a:solidFill>
                <a:latin typeface="Calibri"/>
              </a:rPr>
              <a:t>Prof. Sadananda Behera</a:t>
            </a:r>
          </a:p>
          <a:p>
            <a:pPr algn="l"/>
            <a:r>
              <a:rPr sz="1500" b="0" i="0">
                <a:solidFill>
                  <a:srgbClr val="FFFFFF"/>
                </a:solidFill>
                <a:latin typeface="Calibri"/>
              </a:rPr>
              <a:t>Assistant Professor, National Institute of Technology Rourkela</a:t>
            </a:r>
          </a:p>
          <a:p>
            <a:pPr algn="l"/>
            <a:r>
              <a:rPr sz="1500" b="0" i="0">
                <a:solidFill>
                  <a:srgbClr val="FFFFFF"/>
                </a:solidFill>
                <a:latin typeface="Calibri"/>
              </a:rPr>
              <a:t>98610 77539</a:t>
            </a:r>
          </a:p>
        </p:txBody>
      </p:sp>
      <p:sp>
        <p:nvSpPr>
          <p:cNvPr id="8" name="Rectangle 7"/>
          <p:cNvSpPr/>
          <p:nvPr/>
        </p:nvSpPr>
        <p:spPr>
          <a:xfrm>
            <a:off x="6949440" y="1188720"/>
            <a:ext cx="4572000" cy="868680"/>
          </a:xfrm>
          <a:prstGeom prst="rect">
            <a:avLst/>
          </a:prstGeom>
          <a:solidFill>
            <a:srgbClr val="F2F7FB"/>
          </a:solidFill>
          <a:ln>
            <a:noFill/>
          </a:ln>
        </p:spPr>
        <p:txBody>
          <a:bodyPr rtlCol="0" anchor="ctr"/>
          <a:lstStyle/>
          <a:p>
            <a:pPr algn="ctr"/>
          </a:p>
        </p:txBody>
      </p:sp>
      <p:sp>
        <p:nvSpPr>
          <p:cNvPr id="9" name="Rectangle 8"/>
          <p:cNvSpPr/>
          <p:nvPr/>
        </p:nvSpPr>
        <p:spPr>
          <a:xfrm>
            <a:off x="6949440" y="2057400"/>
            <a:ext cx="4572000" cy="73152"/>
          </a:xfrm>
          <a:prstGeom prst="rect">
            <a:avLst/>
          </a:prstGeom>
          <a:solidFill>
            <a:srgbClr val="7C9A5B"/>
          </a:solidFill>
          <a:ln>
            <a:noFill/>
          </a:ln>
        </p:spPr>
        <p:txBody>
          <a:bodyPr rtlCol="0" anchor="ctr"/>
          <a:lstStyle/>
          <a:p>
            <a:pPr algn="ctr"/>
          </a:p>
        </p:txBody>
      </p:sp>
      <p:pic>
        <p:nvPicPr>
          <p:cNvPr id="10" name="Picture 9" descr="rock2.jpg"/>
          <p:cNvPicPr>
            <a:picLocks noChangeAspect="1"/>
          </p:cNvPicPr>
          <p:nvPr/>
        </p:nvPicPr>
        <p:blipFill>
          <a:blip r:embed="rId2"/>
          <a:srcRect t="1149" b="3679"/>
          <a:stretch>
            <a:fillRect/>
          </a:stretch>
        </p:blipFill>
        <p:spPr>
          <a:xfrm>
            <a:off x="6949440" y="2130552"/>
            <a:ext cx="4572000" cy="731520"/>
          </a:xfrm>
          <a:prstGeom prst="rect">
            <a:avLst/>
          </a:prstGeom>
        </p:spPr>
      </p:pic>
      <p:sp>
        <p:nvSpPr>
          <p:cNvPr id="11" name="Rectangle 10"/>
          <p:cNvSpPr/>
          <p:nvPr/>
        </p:nvSpPr>
        <p:spPr>
          <a:xfrm>
            <a:off x="6949440" y="2862072"/>
            <a:ext cx="4572000" cy="1920240"/>
          </a:xfrm>
          <a:prstGeom prst="rect">
            <a:avLst/>
          </a:prstGeom>
          <a:solidFill>
            <a:srgbClr val="F4F1EC"/>
          </a:solidFill>
          <a:ln>
            <a:noFill/>
          </a:ln>
        </p:spPr>
        <p:txBody>
          <a:bodyPr rtlCol="0" anchor="ctr"/>
          <a:lstStyle/>
          <a:p>
            <a:pPr algn="ctr"/>
          </a:p>
        </p:txBody>
      </p:sp>
      <p:sp>
        <p:nvSpPr>
          <p:cNvPr id="12" name="Rectangle 11"/>
          <p:cNvSpPr/>
          <p:nvPr/>
        </p:nvSpPr>
        <p:spPr>
          <a:xfrm>
            <a:off x="6949440" y="4700016"/>
            <a:ext cx="4572000" cy="82296"/>
          </a:xfrm>
          <a:prstGeom prst="rect">
            <a:avLst/>
          </a:prstGeom>
          <a:solidFill>
            <a:srgbClr val="D8D2C6"/>
          </a:solidFill>
          <a:ln>
            <a:noFill/>
          </a:ln>
        </p:spPr>
        <p:txBody>
          <a:bodyPr rtlCol="0" anchor="ctr"/>
          <a:lstStyle/>
          <a:p>
            <a:pPr algn="ctr"/>
          </a:p>
        </p:txBody>
      </p:sp>
      <p:sp>
        <p:nvSpPr>
          <p:cNvPr id="13" name="Rectangle 12"/>
          <p:cNvSpPr/>
          <p:nvPr/>
        </p:nvSpPr>
        <p:spPr>
          <a:xfrm>
            <a:off x="6949440" y="2862072"/>
            <a:ext cx="4572000" cy="36576"/>
          </a:xfrm>
          <a:prstGeom prst="rect">
            <a:avLst/>
          </a:prstGeom>
          <a:solidFill>
            <a:srgbClr val="7A6350"/>
          </a:solidFill>
          <a:ln>
            <a:noFill/>
          </a:ln>
        </p:spPr>
        <p:txBody>
          <a:bodyPr rtlCol="0" anchor="ctr"/>
          <a:lstStyle/>
          <a:p>
            <a:pPr algn="ctr"/>
          </a:p>
        </p:txBody>
      </p:sp>
      <p:pic>
        <p:nvPicPr>
          <p:cNvPr id="14" name="Picture 13" descr="rock2.jpg"/>
          <p:cNvPicPr>
            <a:picLocks noChangeAspect="1"/>
          </p:cNvPicPr>
          <p:nvPr/>
        </p:nvPicPr>
        <p:blipFill>
          <a:blip r:embed="rId2"/>
          <a:srcRect l="3025" r="10318"/>
          <a:stretch>
            <a:fillRect/>
          </a:stretch>
        </p:blipFill>
        <p:spPr>
          <a:xfrm>
            <a:off x="6949440" y="4782312"/>
            <a:ext cx="4572000" cy="886968"/>
          </a:xfrm>
          <a:prstGeom prst="rect">
            <a:avLst/>
          </a:prstGeom>
        </p:spPr>
      </p:pic>
      <p:cxnSp>
        <p:nvCxnSpPr>
          <p:cNvPr id="15" name="Connector 14"/>
          <p:cNvCxnSpPr/>
          <p:nvPr/>
        </p:nvCxnSpPr>
        <p:spPr>
          <a:xfrm flipH="1">
            <a:off x="10665561" y="1325880"/>
            <a:ext cx="124359" cy="731520"/>
          </a:xfrm>
          <a:prstGeom prst="line">
            <a:avLst/>
          </a:prstGeom>
          <a:ln w="31750">
            <a:solidFill>
              <a:srgbClr val="1A1A1A"/>
            </a:solidFill>
          </a:ln>
        </p:spPr>
      </p:cxnSp>
      <p:cxnSp>
        <p:nvCxnSpPr>
          <p:cNvPr id="16" name="Connector 15"/>
          <p:cNvCxnSpPr/>
          <p:nvPr/>
        </p:nvCxnSpPr>
        <p:spPr>
          <a:xfrm>
            <a:off x="10789920" y="1325880"/>
            <a:ext cx="124358" cy="731520"/>
          </a:xfrm>
          <a:prstGeom prst="line">
            <a:avLst/>
          </a:prstGeom>
          <a:ln w="31750">
            <a:solidFill>
              <a:srgbClr val="1A1A1A"/>
            </a:solidFill>
          </a:ln>
        </p:spPr>
      </p:cxnSp>
      <p:cxnSp>
        <p:nvCxnSpPr>
          <p:cNvPr id="17" name="Connector 16"/>
          <p:cNvCxnSpPr/>
          <p:nvPr/>
        </p:nvCxnSpPr>
        <p:spPr>
          <a:xfrm>
            <a:off x="10716768" y="1837943"/>
            <a:ext cx="146304" cy="0"/>
          </a:xfrm>
          <a:prstGeom prst="line">
            <a:avLst/>
          </a:prstGeom>
          <a:ln w="19050">
            <a:solidFill>
              <a:srgbClr val="1A1A1A"/>
            </a:solidFill>
          </a:ln>
        </p:spPr>
      </p:cxnSp>
      <p:cxnSp>
        <p:nvCxnSpPr>
          <p:cNvPr id="18" name="Connector 17"/>
          <p:cNvCxnSpPr/>
          <p:nvPr/>
        </p:nvCxnSpPr>
        <p:spPr>
          <a:xfrm>
            <a:off x="10746028" y="1618488"/>
            <a:ext cx="87783" cy="0"/>
          </a:xfrm>
          <a:prstGeom prst="line">
            <a:avLst/>
          </a:prstGeom>
          <a:ln w="19050">
            <a:solidFill>
              <a:srgbClr val="1A1A1A"/>
            </a:solidFill>
          </a:ln>
        </p:spPr>
      </p:cxnSp>
      <p:sp>
        <p:nvSpPr>
          <p:cNvPr id="19" name="Oval 18"/>
          <p:cNvSpPr/>
          <p:nvPr/>
        </p:nvSpPr>
        <p:spPr>
          <a:xfrm>
            <a:off x="10738713" y="1274673"/>
            <a:ext cx="102412" cy="102412"/>
          </a:xfrm>
          <a:prstGeom prst="ellipse">
            <a:avLst/>
          </a:prstGeom>
          <a:solidFill>
            <a:srgbClr val="E8445A"/>
          </a:solidFill>
          <a:ln>
            <a:noFill/>
          </a:ln>
        </p:spPr>
        <p:txBody>
          <a:bodyPr rtlCol="0" anchor="ctr"/>
          <a:lstStyle/>
          <a:p>
            <a:pPr algn="ctr"/>
          </a:p>
        </p:txBody>
      </p:sp>
      <p:pic>
        <p:nvPicPr>
          <p:cNvPr id="20" name="Picture 19" descr="monitor.png"/>
          <p:cNvPicPr>
            <a:picLocks noChangeAspect="1"/>
          </p:cNvPicPr>
          <p:nvPr/>
        </p:nvPicPr>
        <p:blipFill>
          <a:blip r:embed="rId3"/>
          <a:stretch>
            <a:fillRect/>
          </a:stretch>
        </p:blipFill>
        <p:spPr>
          <a:xfrm>
            <a:off x="7772400" y="1463040"/>
            <a:ext cx="704088" cy="566928"/>
          </a:xfrm>
          <a:prstGeom prst="rect">
            <a:avLst/>
          </a:prstGeom>
        </p:spPr>
      </p:pic>
      <p:pic>
        <p:nvPicPr>
          <p:cNvPr id="21" name="Picture 20" descr="tripodL.png"/>
          <p:cNvPicPr>
            <a:picLocks noChangeAspect="1"/>
          </p:cNvPicPr>
          <p:nvPr/>
        </p:nvPicPr>
        <p:blipFill>
          <a:blip r:embed="rId4"/>
          <a:stretch>
            <a:fillRect/>
          </a:stretch>
        </p:blipFill>
        <p:spPr>
          <a:xfrm>
            <a:off x="7197520" y="3374136"/>
            <a:ext cx="783998" cy="1325880"/>
          </a:xfrm>
          <a:prstGeom prst="rect">
            <a:avLst/>
          </a:prstGeom>
        </p:spPr>
      </p:pic>
      <p:pic>
        <p:nvPicPr>
          <p:cNvPr id="22" name="Picture 21" descr="tripodR.png"/>
          <p:cNvPicPr>
            <a:picLocks noChangeAspect="1"/>
          </p:cNvPicPr>
          <p:nvPr/>
        </p:nvPicPr>
        <p:blipFill>
          <a:blip r:embed="rId5"/>
          <a:stretch>
            <a:fillRect/>
          </a:stretch>
        </p:blipFill>
        <p:spPr>
          <a:xfrm>
            <a:off x="8382066" y="3374136"/>
            <a:ext cx="968468" cy="1325880"/>
          </a:xfrm>
          <a:prstGeom prst="rect">
            <a:avLst/>
          </a:prstGeom>
        </p:spPr>
      </p:pic>
      <p:pic>
        <p:nvPicPr>
          <p:cNvPr id="23" name="Picture 22" descr="tripodL.png"/>
          <p:cNvPicPr>
            <a:picLocks noChangeAspect="1"/>
          </p:cNvPicPr>
          <p:nvPr/>
        </p:nvPicPr>
        <p:blipFill>
          <a:blip r:embed="rId4"/>
          <a:stretch>
            <a:fillRect/>
          </a:stretch>
        </p:blipFill>
        <p:spPr>
          <a:xfrm>
            <a:off x="9396255" y="3374136"/>
            <a:ext cx="783998" cy="1325880"/>
          </a:xfrm>
          <a:prstGeom prst="rect">
            <a:avLst/>
          </a:prstGeom>
        </p:spPr>
      </p:pic>
      <p:pic>
        <p:nvPicPr>
          <p:cNvPr id="24" name="Picture 23" descr="tripodR.png"/>
          <p:cNvPicPr>
            <a:picLocks noChangeAspect="1"/>
          </p:cNvPicPr>
          <p:nvPr/>
        </p:nvPicPr>
        <p:blipFill>
          <a:blip r:embed="rId5"/>
          <a:stretch>
            <a:fillRect/>
          </a:stretch>
        </p:blipFill>
        <p:spPr>
          <a:xfrm>
            <a:off x="10397125" y="3374136"/>
            <a:ext cx="968468" cy="1325880"/>
          </a:xfrm>
          <a:prstGeom prst="rect">
            <a:avLst/>
          </a:prstGeom>
        </p:spPr>
      </p:pic>
      <p:sp>
        <p:nvSpPr>
          <p:cNvPr id="25" name="Rectangle 24"/>
          <p:cNvSpPr/>
          <p:nvPr/>
        </p:nvSpPr>
        <p:spPr>
          <a:xfrm>
            <a:off x="7981519" y="3438875"/>
            <a:ext cx="400546" cy="146304"/>
          </a:xfrm>
          <a:prstGeom prst="rect">
            <a:avLst/>
          </a:prstGeom>
          <a:solidFill>
            <a:srgbClr val="ED7D31">
              <a:alpha val="28000"/>
            </a:srgbClr>
          </a:solidFill>
          <a:ln>
            <a:noFill/>
          </a:ln>
        </p:spPr>
        <p:txBody>
          <a:bodyPr rtlCol="0" anchor="ctr"/>
          <a:lstStyle/>
          <a:p>
            <a:pPr algn="ctr"/>
          </a:p>
        </p:txBody>
      </p:sp>
      <p:sp>
        <p:nvSpPr>
          <p:cNvPr id="26" name="Rectangle 25"/>
          <p:cNvSpPr/>
          <p:nvPr/>
        </p:nvSpPr>
        <p:spPr>
          <a:xfrm>
            <a:off x="7981519" y="3489167"/>
            <a:ext cx="400546" cy="45720"/>
          </a:xfrm>
          <a:prstGeom prst="rect">
            <a:avLst/>
          </a:prstGeom>
          <a:solidFill>
            <a:srgbClr val="ED7D31"/>
          </a:solidFill>
          <a:ln>
            <a:noFill/>
          </a:ln>
        </p:spPr>
        <p:txBody>
          <a:bodyPr rtlCol="0" anchor="ctr"/>
          <a:lstStyle/>
          <a:p>
            <a:pPr algn="ctr"/>
          </a:p>
        </p:txBody>
      </p:sp>
      <p:sp>
        <p:nvSpPr>
          <p:cNvPr id="27" name="Rectangle 26"/>
          <p:cNvSpPr/>
          <p:nvPr/>
        </p:nvSpPr>
        <p:spPr>
          <a:xfrm>
            <a:off x="10180253" y="3438875"/>
            <a:ext cx="216871" cy="146304"/>
          </a:xfrm>
          <a:prstGeom prst="rect">
            <a:avLst/>
          </a:prstGeom>
          <a:solidFill>
            <a:srgbClr val="ED7D31">
              <a:alpha val="28000"/>
            </a:srgbClr>
          </a:solidFill>
          <a:ln>
            <a:noFill/>
          </a:ln>
        </p:spPr>
        <p:txBody>
          <a:bodyPr rtlCol="0" anchor="ctr"/>
          <a:lstStyle/>
          <a:p>
            <a:pPr algn="ctr"/>
          </a:p>
        </p:txBody>
      </p:sp>
      <p:sp>
        <p:nvSpPr>
          <p:cNvPr id="28" name="Rectangle 27"/>
          <p:cNvSpPr/>
          <p:nvPr/>
        </p:nvSpPr>
        <p:spPr>
          <a:xfrm>
            <a:off x="10180253" y="3489167"/>
            <a:ext cx="216871" cy="45720"/>
          </a:xfrm>
          <a:prstGeom prst="rect">
            <a:avLst/>
          </a:prstGeom>
          <a:solidFill>
            <a:srgbClr val="ED7D31"/>
          </a:solidFill>
          <a:ln>
            <a:noFill/>
          </a:ln>
        </p:spPr>
        <p:txBody>
          <a:bodyPr rtlCol="0" anchor="ctr"/>
          <a:lstStyle/>
          <a:p>
            <a:pPr algn="ctr"/>
          </a:p>
        </p:txBody>
      </p:sp>
      <p:cxnSp>
        <p:nvCxnSpPr>
          <p:cNvPr id="29" name="Connector 28"/>
          <p:cNvCxnSpPr/>
          <p:nvPr/>
        </p:nvCxnSpPr>
        <p:spPr>
          <a:xfrm flipV="1">
            <a:off x="9281159" y="1600200"/>
            <a:ext cx="1508761" cy="1773936"/>
          </a:xfrm>
          <a:prstGeom prst="line">
            <a:avLst/>
          </a:prstGeom>
          <a:ln w="15875">
            <a:solidFill>
              <a:srgbClr val="404040"/>
            </a:solidFill>
            <a:prstDash val="sysDot"/>
          </a:ln>
        </p:spPr>
      </p:cxnSp>
      <p:sp>
        <p:nvSpPr>
          <p:cNvPr id="30"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3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9FB2BD"/>
                </a:solidFill>
                <a:latin typeface="Calibri"/>
              </a:rPr>
              <a:t>NIT Rourkela   ·   FTBI–TEXMiN   ·   Close</a:t>
            </a:r>
          </a:p>
        </p:txBody>
      </p:sp>
      <p:sp>
        <p:nvSpPr>
          <p:cNvPr id="3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9FB2BD"/>
                </a:solidFill>
                <a:latin typeface="Calibri"/>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Underground Audio/Video Communication System for Miner Safety and Monitoring</dc:title>
  <dc:subject>FTBI–TEXMiN Technology Development presentation</dc:subject>
  <dc:creator>Prof. Sadananda Behera, NIT Rourkela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